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23"/>
  </p:notesMasterIdLst>
  <p:handoutMasterIdLst>
    <p:handoutMasterId r:id="rId24"/>
  </p:handoutMasterIdLst>
  <p:sldIdLst>
    <p:sldId id="355" r:id="rId8"/>
    <p:sldId id="460" r:id="rId9"/>
    <p:sldId id="449" r:id="rId10"/>
    <p:sldId id="458" r:id="rId11"/>
    <p:sldId id="452" r:id="rId12"/>
    <p:sldId id="454" r:id="rId13"/>
    <p:sldId id="450" r:id="rId14"/>
    <p:sldId id="453" r:id="rId15"/>
    <p:sldId id="451" r:id="rId16"/>
    <p:sldId id="455" r:id="rId17"/>
    <p:sldId id="459" r:id="rId18"/>
    <p:sldId id="457" r:id="rId19"/>
    <p:sldId id="438" r:id="rId20"/>
    <p:sldId id="442" r:id="rId21"/>
    <p:sldId id="443" r:id="rId22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BD"/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1" autoAdjust="0"/>
    <p:restoredTop sz="86146" autoAdjust="0"/>
  </p:normalViewPr>
  <p:slideViewPr>
    <p:cSldViewPr snapToGrid="0">
      <p:cViewPr>
        <p:scale>
          <a:sx n="156" d="100"/>
          <a:sy n="156" d="100"/>
        </p:scale>
        <p:origin x="1480" y="784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DAD681E-D228-EC4A-A4C9-E4F766667671}" type="datetime4">
              <a:rPr lang="en-US" smtClean="0"/>
              <a:t>March 24, 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E3287B3-6190-0B4F-AFB7-0E726D0E0AAF}" type="datetime4">
              <a:rPr lang="en-US" smtClean="0"/>
              <a:t>March 24, 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69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w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wmf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sz="1100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047" y="680461"/>
            <a:ext cx="5113390" cy="4463039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19090" y="881762"/>
            <a:ext cx="8508999" cy="1294368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lang="en-US" sz="2800" b="1" dirty="0">
                <a:solidFill>
                  <a:srgbClr val="0064BD"/>
                </a:solidFill>
              </a:rPr>
              <a:t>T</a:t>
            </a:r>
            <a:r>
              <a:rPr lang="en-US" sz="2800" b="1" noProof="0" dirty="0">
                <a:solidFill>
                  <a:srgbClr val="0064BD"/>
                </a:solidFill>
              </a:rPr>
              <a:t>raining: </a:t>
            </a:r>
            <a:br>
              <a:rPr lang="en-US" sz="2800" b="1" noProof="0" dirty="0">
                <a:solidFill>
                  <a:srgbClr val="0064BD"/>
                </a:solidFill>
              </a:rPr>
            </a:br>
            <a:r>
              <a:rPr lang="en-US" sz="2800" b="1" noProof="0" dirty="0">
                <a:solidFill>
                  <a:srgbClr val="0064BD"/>
                </a:solidFill>
              </a:rPr>
              <a:t>Results</a:t>
            </a:r>
            <a:br>
              <a:rPr lang="en-US" sz="2800" b="1" noProof="0" dirty="0"/>
            </a:br>
            <a:br>
              <a:rPr lang="en-US" sz="1000" b="1" noProof="0" dirty="0"/>
            </a:br>
            <a:r>
              <a:rPr lang="de-DE" sz="1400" b="1" dirty="0"/>
              <a:t>Fraj Yassine Lakhal</a:t>
            </a:r>
            <a:br>
              <a:rPr lang="de-DE" sz="1100" dirty="0"/>
            </a:br>
            <a:r>
              <a:rPr lang="en-US" sz="1400" dirty="0"/>
              <a:t>TUM School of Computation, Information and Technology</a:t>
            </a:r>
            <a:br>
              <a:rPr lang="de-DE" sz="1800" dirty="0"/>
            </a:br>
            <a:endParaRPr lang="en-US" sz="2800" b="1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2" y="2590647"/>
            <a:ext cx="8512176" cy="2606968"/>
          </a:xfrm>
        </p:spPr>
        <p:txBody>
          <a:bodyPr/>
          <a:lstStyle/>
          <a:p>
            <a:r>
              <a:rPr lang="en-US" sz="900" b="1" dirty="0"/>
              <a:t>Functional Neuroimaging, LMU</a:t>
            </a:r>
          </a:p>
          <a:p>
            <a:r>
              <a:rPr lang="de-DE" sz="900" dirty="0">
                <a:solidFill>
                  <a:schemeClr val="bg1">
                    <a:lumMod val="50000"/>
                  </a:schemeClr>
                </a:solidFill>
              </a:rPr>
              <a:t>Supervisor: </a:t>
            </a:r>
            <a:r>
              <a:rPr lang="de-DE" sz="900" dirty="0"/>
              <a:t>Dr. med. Stephan Wunderlich</a:t>
            </a:r>
          </a:p>
          <a:p>
            <a:endParaRPr lang="de-DE" sz="900" i="1" dirty="0"/>
          </a:p>
          <a:p>
            <a:r>
              <a:rPr lang="en-US" sz="900" b="1" dirty="0"/>
              <a:t>Computer Aided Medical Procedures &amp; Augmented Reality, TUM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Supervisor(s): </a:t>
            </a:r>
            <a:r>
              <a:rPr lang="en-US" sz="900" dirty="0"/>
              <a:t>M.Sc. Chantal Pellegrini, Dr. Shahrooz Faghihroohi</a:t>
            </a:r>
            <a:endParaRPr lang="en-US" sz="900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4250C-65B7-1FC9-52C3-8EE2008FD156}"/>
              </a:ext>
            </a:extLst>
          </p:cNvPr>
          <p:cNvSpPr txBox="1"/>
          <p:nvPr/>
        </p:nvSpPr>
        <p:spPr>
          <a:xfrm>
            <a:off x="228851" y="4891328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dirty="0">
                <a:solidFill>
                  <a:schemeClr val="tx2"/>
                </a:solidFill>
              </a:rPr>
              <a:t>München, 24.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8DF7C9-BD20-1F6C-15E8-0861DE35F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Last Meeting’s Recap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– Consider Weighted Cost Averaging and cleaner data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Restricting Input to DMN (Binary Classifier: Converters vs. Non-Converters)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– Parcellate and restrict the input to the Schaefer Default Mode Network and compare results to the whole brain as input (DMN only model is smaller in dimension)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Weighted Cost Averaging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– Fixing Minority Class Issue</a:t>
            </a:r>
          </a:p>
          <a:p>
            <a:pPr marL="285750" indent="-285750">
              <a:buFontTx/>
              <a:buChar char="-"/>
            </a:pPr>
            <a:r>
              <a:rPr lang="en-US" dirty="0"/>
              <a:t>Prediction Robustness Testing (Pretext Model: All Cohorts)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– Alter Input of 5 correctly samples per cohort with different methods to see if the prediction changes 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24C0-7F74-A67E-596C-9443F87F41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9FD2C-957C-8CC2-C782-F7384C0410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578907-3864-29F2-20BD-CB1EB481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7500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422589-097D-3665-6537-B4B85A75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talking points: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Discussed Recommended Papers from Shahrooz</a:t>
            </a:r>
          </a:p>
          <a:p>
            <a:pPr marL="461963" lvl="1" indent="-285750">
              <a:buFont typeface="Courier New" panose="02070309020205020404" pitchFamily="49" charset="0"/>
              <a:buChar char="o"/>
            </a:pPr>
            <a:r>
              <a:rPr lang="en-US" dirty="0"/>
              <a:t>Diffusion Models and Contrastive Learning</a:t>
            </a:r>
          </a:p>
          <a:p>
            <a:pPr marL="461963" lvl="1" indent="-285750">
              <a:buFont typeface="Courier New" panose="02070309020205020404" pitchFamily="49" charset="0"/>
              <a:buChar char="o"/>
            </a:pPr>
            <a:r>
              <a:rPr lang="en-US" dirty="0"/>
              <a:t>Effective Connectivity</a:t>
            </a:r>
          </a:p>
          <a:p>
            <a:pPr marL="461963" lvl="1" indent="-285750">
              <a:buFont typeface="Courier New" panose="02070309020205020404" pitchFamily="49" charset="0"/>
              <a:buChar char="o"/>
            </a:pPr>
            <a:r>
              <a:rPr lang="en-US" dirty="0"/>
              <a:t>Weighted Cost Predictions for unbalanced dataset</a:t>
            </a:r>
          </a:p>
          <a:p>
            <a:pPr marL="461963" lvl="1" indent="-285750">
              <a:buFont typeface="Courier New" panose="02070309020205020404" pitchFamily="49" charset="0"/>
              <a:buChar char="o"/>
            </a:pPr>
            <a:r>
              <a:rPr lang="en-US" dirty="0"/>
              <a:t>Spatiotemporal Graphs</a:t>
            </a:r>
          </a:p>
          <a:p>
            <a:r>
              <a:rPr lang="en-US" dirty="0"/>
              <a:t>- Discussed the need for cleaner data due to data leakage (subjects appearing in multiple cohorts)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5441FA-E8E1-6682-AC6B-B0C7C0CE86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8339B-0FD1-2F53-28A5-C4DED39A163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7ABE19-2D93-1882-0247-C11821D8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Meeting’s Recap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662B04-C3A3-F282-EC83-DEDA710853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9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3487CF-1117-14DE-A20F-236654897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399" y="1946713"/>
            <a:ext cx="2944801" cy="2576702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A30DE-0AFA-069A-A74B-D9DB6FA1D8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220B4-6632-086D-01D9-CC23D34E6B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7F4A5-4E9F-AFB9-A21F-EF6CBD16E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 ended up with sticking to the “</a:t>
            </a:r>
            <a:r>
              <a:rPr lang="en-US" dirty="0" err="1"/>
              <a:t>prmdiag</a:t>
            </a:r>
            <a:r>
              <a:rPr lang="en-US" dirty="0"/>
              <a:t>” column from the DELCODE study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FE241F-719D-73B4-5ECF-5121C6C6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Stratification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22DD6C-BB25-56DC-3091-2B3BC935B8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Balanced split (with </a:t>
            </a:r>
            <a:r>
              <a:rPr lang="en-US" dirty="0" err="1"/>
              <a:t>followup</a:t>
            </a:r>
            <a:r>
              <a:rPr lang="en-US" dirty="0"/>
              <a:t> visits of same subjects only appearing at one split)</a:t>
            </a:r>
          </a:p>
        </p:txBody>
      </p:sp>
    </p:spTree>
    <p:extLst>
      <p:ext uri="{BB962C8B-B14F-4D97-AF65-F5344CB8AC3E}">
        <p14:creationId xmlns:p14="http://schemas.microsoft.com/office/powerpoint/2010/main" val="238659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5685A4-9387-1F90-0DE2-E770F61E6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50" y="1558555"/>
            <a:ext cx="4252910" cy="2900515"/>
          </a:xfrm>
        </p:spPr>
        <p:txBody>
          <a:bodyPr/>
          <a:lstStyle/>
          <a:p>
            <a:pPr lvl="1"/>
            <a:r>
              <a:rPr lang="en-US" sz="1200" b="1" i="1" u="sng" dirty="0"/>
              <a:t>DMN</a:t>
            </a:r>
          </a:p>
          <a:p>
            <a:pPr lvl="1"/>
            <a:r>
              <a:rPr lang="en-US" sz="1200" dirty="0"/>
              <a:t>Limbic region</a:t>
            </a:r>
          </a:p>
          <a:p>
            <a:pPr lvl="1"/>
            <a:r>
              <a:rPr lang="en-US" sz="1200" dirty="0"/>
              <a:t>Dorsal Attention</a:t>
            </a:r>
          </a:p>
          <a:p>
            <a:pPr marL="0" lvl="1" indent="0">
              <a:buNone/>
            </a:pPr>
            <a:r>
              <a:rPr lang="en-US" sz="1200" dirty="0">
                <a:solidFill>
                  <a:srgbClr val="00B050"/>
                </a:solidFill>
              </a:rPr>
              <a:t>→ useable using the Schaefer Atlas and selecting the mentioned brain region in the 7 Yeo Networks</a:t>
            </a:r>
          </a:p>
          <a:p>
            <a:pPr lvl="1"/>
            <a:endParaRPr lang="en-US" sz="1200" dirty="0"/>
          </a:p>
          <a:p>
            <a:pPr lvl="1"/>
            <a:r>
              <a:rPr lang="en-US" sz="1200" dirty="0"/>
              <a:t>DMN + Hippocampus</a:t>
            </a:r>
          </a:p>
          <a:p>
            <a:pPr lvl="1"/>
            <a:r>
              <a:rPr lang="en-US" sz="1200" dirty="0"/>
              <a:t>Hub regions highly connected regions</a:t>
            </a:r>
          </a:p>
          <a:p>
            <a:pPr lvl="1"/>
            <a:r>
              <a:rPr lang="en-US" sz="1200" dirty="0"/>
              <a:t>active mode network (</a:t>
            </a:r>
            <a:r>
              <a:rPr lang="en-US" sz="1200" dirty="0" err="1"/>
              <a:t>Dosenbach</a:t>
            </a:r>
            <a:r>
              <a:rPr lang="en-US" sz="1200" dirty="0"/>
              <a:t> et al.)</a:t>
            </a:r>
          </a:p>
          <a:p>
            <a:pPr lvl="1"/>
            <a:r>
              <a:rPr lang="en-US" sz="1200" dirty="0"/>
              <a:t>Attention Network (Dorsal)</a:t>
            </a:r>
          </a:p>
          <a:p>
            <a:pPr lvl="1"/>
            <a:r>
              <a:rPr lang="en-US" sz="1200" dirty="0"/>
              <a:t>Franzmeier </a:t>
            </a:r>
            <a:r>
              <a:rPr lang="en-US" sz="1200" dirty="0" err="1"/>
              <a:t>Hyperconn</a:t>
            </a:r>
            <a:r>
              <a:rPr lang="en-US" sz="1200" dirty="0"/>
              <a:t> drives tau spread</a:t>
            </a:r>
          </a:p>
          <a:p>
            <a:pPr marL="0" lvl="1" indent="0">
              <a:buNone/>
            </a:pPr>
            <a:r>
              <a:rPr lang="en-US" sz="1200" dirty="0">
                <a:solidFill>
                  <a:srgbClr val="FF0000"/>
                </a:solidFill>
              </a:rPr>
              <a:t>→ require more adaptation like using an additional atlas or cross-atlas mapping</a:t>
            </a:r>
          </a:p>
          <a:p>
            <a:pPr lvl="1"/>
            <a:endParaRPr lang="en-US" sz="1200" dirty="0"/>
          </a:p>
          <a:p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51EC4-22CF-7712-E5D5-5DA99177B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8EF78-04B1-FC69-F203-F2DAA076B6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1558DE-25A4-5BDE-7F87-AA1BBA8A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Restricting Input to DMN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1EF18-4B51-4E15-499E-B6297D299C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Different AD affected brain regions</a:t>
            </a:r>
          </a:p>
        </p:txBody>
      </p:sp>
      <p:pic>
        <p:nvPicPr>
          <p:cNvPr id="9" name="Picture 8" descr="A group of colorful brain models&#10;&#10;AI-generated content may be incorrect.">
            <a:extLst>
              <a:ext uri="{FF2B5EF4-FFF2-40B4-BE49-F238E27FC236}">
                <a16:creationId xmlns:a16="http://schemas.microsoft.com/office/drawing/2014/main" id="{EC1C3E8C-AC26-FDFC-AC28-D8FF0EDA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974" y="1360597"/>
            <a:ext cx="3245915" cy="29005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31B0CF-BE20-C3E9-F3C5-DE49A500CAB1}"/>
              </a:ext>
            </a:extLst>
          </p:cNvPr>
          <p:cNvSpPr txBox="1"/>
          <p:nvPr/>
        </p:nvSpPr>
        <p:spPr>
          <a:xfrm>
            <a:off x="4936738" y="4459070"/>
            <a:ext cx="36763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Yeo BTT,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Krienen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FM,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Sepulcre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J,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Sabuncu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MR, Lashkari D, Hollinshead M, Roffman JL, Smoller JW,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Zöllei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L, Polimeni JR, Fischl B, Liu H, Buckner RL. The organization of the human cerebral cortex estimated by intrinsic functional connectivity. J Neurophysiol.2011;106(3):1125-1165. doi:10.1152/jn.00338.2011.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Verfügbar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unter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 https://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pmc.ncbi.nlm.nih.gov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/articles/PMC3174820/ [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Zugriff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24.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Mär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2026].</a:t>
            </a:r>
          </a:p>
        </p:txBody>
      </p:sp>
    </p:spTree>
    <p:extLst>
      <p:ext uri="{BB962C8B-B14F-4D97-AF65-F5344CB8AC3E}">
        <p14:creationId xmlns:p14="http://schemas.microsoft.com/office/powerpoint/2010/main" val="737837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B631DD0D-7022-A0A0-970D-C11A25B97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800" y="2240008"/>
            <a:ext cx="4680052" cy="2219062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FA2658-BCB0-E8A7-6153-A74025914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D325B-C137-9A3D-D8AA-171C474416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287CD-4871-B4B7-959B-2CFFBBD405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Remark: using the z-transformed correlations values yields more stable predictions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12F7D8-8E34-1D37-EFA1-808C65507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Restricting Input to Specific Brain Regions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752ED9-365C-269F-001D-1F92D190B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Selecting DMN in the Schaefer atlas</a:t>
            </a:r>
          </a:p>
        </p:txBody>
      </p:sp>
    </p:spTree>
    <p:extLst>
      <p:ext uri="{BB962C8B-B14F-4D97-AF65-F5344CB8AC3E}">
        <p14:creationId xmlns:p14="http://schemas.microsoft.com/office/powerpoint/2010/main" val="37089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7C8FA662-53D2-813A-44DA-366357E7C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731" y="1378791"/>
            <a:ext cx="4244406" cy="314462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981E6-65D6-F987-3236-5F23D9701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A7781-401B-909B-287C-1414D38A03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B40FE0-AA07-7516-FF7D-58E8B1B5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80745"/>
          </a:xfrm>
        </p:spPr>
        <p:txBody>
          <a:bodyPr/>
          <a:lstStyle/>
          <a:p>
            <a:r>
              <a:rPr lang="en-US" sz="2400" dirty="0"/>
              <a:t>Converters vs. Non-converters - Cross Validation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8A1D16-335A-381E-0175-21FC235FB1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Whole Brain vs DMN Only as Input</a:t>
            </a:r>
          </a:p>
        </p:txBody>
      </p:sp>
      <p:pic>
        <p:nvPicPr>
          <p:cNvPr id="11" name="Picture 10" descr="A group of graphs with lines and a line&#10;&#10;AI-generated content may be incorrect.">
            <a:extLst>
              <a:ext uri="{FF2B5EF4-FFF2-40B4-BE49-F238E27FC236}">
                <a16:creationId xmlns:a16="http://schemas.microsoft.com/office/drawing/2014/main" id="{FAFBACF2-17CC-2071-991F-1FEE4AC5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27" y="1378791"/>
            <a:ext cx="4244406" cy="31446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9CA2C35-0473-D50B-5FE0-491FCD45595A}"/>
              </a:ext>
            </a:extLst>
          </p:cNvPr>
          <p:cNvSpPr/>
          <p:nvPr/>
        </p:nvSpPr>
        <p:spPr>
          <a:xfrm>
            <a:off x="108000" y="1303200"/>
            <a:ext cx="4464000" cy="327600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0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8470756-81B2-5A75-65A9-BF978EEEF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405" y="1312022"/>
            <a:ext cx="4267112" cy="131344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BC8F1-4993-4BB9-36D8-7A6CA13D65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6F40-5E9A-4AEE-8641-4498B70059A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225B12-5F1C-426D-109C-0CE8A2B4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Cost Averaging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008C83-C6B1-C5D4-1C43-CAFAC21BB7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Balancing converter and non-converter reconstruction loss</a:t>
            </a:r>
          </a:p>
        </p:txBody>
      </p:sp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A399C97-0780-C1F0-A351-9601B0E8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61" y="2832204"/>
            <a:ext cx="4197600" cy="1457788"/>
          </a:xfrm>
          <a:prstGeom prst="rect">
            <a:avLst/>
          </a:prstGeom>
        </p:spPr>
      </p:pic>
      <p:pic>
        <p:nvPicPr>
          <p:cNvPr id="13" name="Picture 1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9116B3E-3C35-88F9-2F9D-57F144839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66" y="1406944"/>
            <a:ext cx="3914830" cy="1609430"/>
          </a:xfrm>
          <a:prstGeom prst="rect">
            <a:avLst/>
          </a:prstGeom>
        </p:spPr>
      </p:pic>
      <p:pic>
        <p:nvPicPr>
          <p:cNvPr id="15" name="Picture 1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9626E7EC-EB58-A481-26E8-487FC6A55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66" y="3106088"/>
            <a:ext cx="4166434" cy="11839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C0ECAB-1A99-0A5B-E154-2EF33242FD0F}"/>
              </a:ext>
            </a:extLst>
          </p:cNvPr>
          <p:cNvSpPr txBox="1"/>
          <p:nvPr/>
        </p:nvSpPr>
        <p:spPr>
          <a:xfrm>
            <a:off x="3124800" y="4496734"/>
            <a:ext cx="34665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Hu Y, Wang J, Zhu H, Li J, Shi J. Cost-Sensitive Weighted Contrastive Learning Based on Graph Convolutional Networks for Imbalanced Alzheimer’s Disease Staging. *IEEE Trans Med Imaging.* 2024;43(9):3126-3136. doi:10.1109/TMI.2024.3389747.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Verfügbar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unter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https://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pubmed.ncbi.nlm.nih.gov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/38625767/ [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Zugriff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24.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Mär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2026]. [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pubmed.ncbi.nlm.nih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](https://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pubmed.ncbi.nlm.nih.gov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/38625767/)</a:t>
            </a:r>
          </a:p>
        </p:txBody>
      </p:sp>
    </p:spTree>
    <p:extLst>
      <p:ext uri="{BB962C8B-B14F-4D97-AF65-F5344CB8AC3E}">
        <p14:creationId xmlns:p14="http://schemas.microsoft.com/office/powerpoint/2010/main" val="151236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8BA1E962-94C9-1B71-885B-30CD0AA18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9327" y="1396419"/>
            <a:ext cx="4281346" cy="317199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1ADDD7-A230-5F48-EB1A-C3267DD1B6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ED9B7-4270-A972-1518-54EEAE9801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44E47E-7FBC-EB39-0706-D7BF9067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77796"/>
          </a:xfrm>
        </p:spPr>
        <p:txBody>
          <a:bodyPr/>
          <a:lstStyle/>
          <a:p>
            <a:r>
              <a:rPr lang="en-US" sz="2400" dirty="0"/>
              <a:t>Converters vs. Non-converters - Cross Validation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8D4D41-E768-2020-DA90-CE4EB91EA6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Unweighted vs. Cost Weighted Predictions</a:t>
            </a:r>
          </a:p>
        </p:txBody>
      </p:sp>
      <p:pic>
        <p:nvPicPr>
          <p:cNvPr id="11" name="Picture 10" descr="A group of graphs with lines and a line&#10;&#10;AI-generated content may be incorrect.">
            <a:extLst>
              <a:ext uri="{FF2B5EF4-FFF2-40B4-BE49-F238E27FC236}">
                <a16:creationId xmlns:a16="http://schemas.microsoft.com/office/drawing/2014/main" id="{0C805355-A534-C7ED-CB6A-392982B8C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7" y="1423788"/>
            <a:ext cx="4244406" cy="31446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C614AB9-1DD8-1579-A76C-5F52C2316D1A}"/>
              </a:ext>
            </a:extLst>
          </p:cNvPr>
          <p:cNvSpPr/>
          <p:nvPr/>
        </p:nvSpPr>
        <p:spPr>
          <a:xfrm>
            <a:off x="4428000" y="1292412"/>
            <a:ext cx="4464000" cy="327600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93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56B05349-84AF-5213-EBFF-7427BAB97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549" y="1700545"/>
            <a:ext cx="4986222" cy="224228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BF848-AD54-9998-8BCC-27CD4B923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D2F5D-BB24-84B2-2521-57BF6927D1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71AF7F-F34A-07DA-21B9-7BD5D434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Robustness Testing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203996-A0AC-D102-A273-9D3C1964D2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46256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08D9-7154-902F-CE55-00AA384F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440AF-C96F-F21B-C4A9-F0C97C13A7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E988E-ABCA-1AD9-3AD5-38FB715B61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93948E-0281-A4C8-8F32-25CF8234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Robustness Testing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93E161-8957-311E-1334-62CF2FF33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5" name="Picture 4" descr="A close-up of a paper&#10;&#10;AI-generated content may be incorrect.">
            <a:extLst>
              <a:ext uri="{FF2B5EF4-FFF2-40B4-BE49-F238E27FC236}">
                <a16:creationId xmlns:a16="http://schemas.microsoft.com/office/drawing/2014/main" id="{9E62658F-AC66-9E7A-AD1A-263C935B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50" y="1005840"/>
            <a:ext cx="4762500" cy="2608973"/>
          </a:xfrm>
          <a:prstGeom prst="rect">
            <a:avLst/>
          </a:prstGeom>
        </p:spPr>
      </p:pic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3D95F05-1ADB-EB03-73A2-D4BC42DC2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67" y="3663875"/>
            <a:ext cx="4366262" cy="132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69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B8FEDC-7A4F-067E-4150-0E74F1CCF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12" y="1390708"/>
            <a:ext cx="4361447" cy="153970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1C34F3-2BEF-300A-0E03-909BF7E5E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B6BAF-0793-1364-79D5-7239CF9DD6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22E775-C8C6-CD19-50E9-837E2EEC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6126"/>
          </a:xfrm>
        </p:spPr>
        <p:txBody>
          <a:bodyPr/>
          <a:lstStyle/>
          <a:p>
            <a:r>
              <a:rPr lang="en-US" sz="2000" dirty="0"/>
              <a:t>Prediction Robustness Testing on Pretext Model (all cohorts)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430983-791F-39CC-99E9-1102171E41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868A4-4396-7163-0B84-F62002E97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2" y="3076781"/>
            <a:ext cx="4361448" cy="1539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FDB251-8EB7-E054-ACCB-659DC3E74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607" y="3076781"/>
            <a:ext cx="4361447" cy="15397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EBB342-CF69-99F6-B8AC-AC8CC40D1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607" y="1390708"/>
            <a:ext cx="4361447" cy="15397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E47E11-68C0-ED0A-E179-404EE3C3D1F2}"/>
              </a:ext>
            </a:extLst>
          </p:cNvPr>
          <p:cNvSpPr txBox="1"/>
          <p:nvPr/>
        </p:nvSpPr>
        <p:spPr>
          <a:xfrm>
            <a:off x="2279659" y="47241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212121"/>
                </a:solidFill>
                <a:latin typeface="BlinkMacSystemFont"/>
              </a:rPr>
              <a:t>Noble S, Pradeep CS, Sinha N, Issac TG. Classification of Alzheimer's Dementia vs. Healthy subjects by studying structural disparities in fMRI Time-Series of DMN. *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arXiv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* [Preprint]. 2024:arXiv:2407.19990. doi:10.48550/arXiv.2407.19990. 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Verfügbar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 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unter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: https://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arxiv.org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/abs/2407.19990 [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Zugriff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: 24. 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Mär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 2026]. [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arxiv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](https://</a:t>
            </a:r>
            <a:r>
              <a:rPr lang="en-US" sz="600" dirty="0" err="1">
                <a:solidFill>
                  <a:srgbClr val="212121"/>
                </a:solidFill>
                <a:latin typeface="BlinkMacSystemFont"/>
              </a:rPr>
              <a:t>arxiv.org</a:t>
            </a:r>
            <a:r>
              <a:rPr lang="en-US" sz="600" dirty="0">
                <a:solidFill>
                  <a:srgbClr val="212121"/>
                </a:solidFill>
                <a:latin typeface="BlinkMacSystemFont"/>
              </a:rPr>
              <a:t>/abs/2407.19990)</a:t>
            </a:r>
          </a:p>
        </p:txBody>
      </p:sp>
    </p:spTree>
    <p:extLst>
      <p:ext uri="{BB962C8B-B14F-4D97-AF65-F5344CB8AC3E}">
        <p14:creationId xmlns:p14="http://schemas.microsoft.com/office/powerpoint/2010/main" val="1266874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1B4BF-D55F-AD5A-A71D-BE5A27D9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1" y="1375927"/>
            <a:ext cx="4537167" cy="3474113"/>
          </a:xfrm>
        </p:spPr>
        <p:txBody>
          <a:bodyPr/>
          <a:lstStyle/>
          <a:p>
            <a:r>
              <a:rPr lang="en-US" sz="1050" dirty="0">
                <a:solidFill>
                  <a:srgbClr val="FF0000"/>
                </a:solidFill>
              </a:rPr>
              <a:t>- ST-GCN (Spatio-temporal GCN)</a:t>
            </a:r>
          </a:p>
          <a:p>
            <a:pPr marL="228600" indent="-228600">
              <a:buAutoNum type="arabicPeriod"/>
            </a:pPr>
            <a:r>
              <a:rPr lang="en-US" sz="1050" dirty="0"/>
              <a:t>Pretext Model (Unsupervised)</a:t>
            </a:r>
          </a:p>
          <a:p>
            <a:pPr marL="228600" indent="-228600">
              <a:buAutoNum type="arabicPeriod"/>
            </a:pPr>
            <a:r>
              <a:rPr lang="en-US" sz="1050" dirty="0"/>
              <a:t>Fine-Tuning Model (Supervised)</a:t>
            </a:r>
          </a:p>
          <a:p>
            <a:r>
              <a:rPr lang="en-US" sz="1050" dirty="0"/>
              <a:t>They jointly model the brain's network structure and how that activity evolves</a:t>
            </a:r>
          </a:p>
          <a:p>
            <a:r>
              <a:rPr lang="en-US" sz="1050" u="sng" dirty="0"/>
              <a:t>Spatial Edges:</a:t>
            </a:r>
            <a:r>
              <a:rPr lang="en-US" sz="1050" dirty="0"/>
              <a:t> connect different ROIs (nodes) within the same time point using Pearson correlation (what we do so far)</a:t>
            </a:r>
          </a:p>
          <a:p>
            <a:r>
              <a:rPr lang="en-US" sz="1050" u="sng" dirty="0">
                <a:highlight>
                  <a:srgbClr val="FFFF00"/>
                </a:highlight>
              </a:rPr>
              <a:t>Temporal Edges:</a:t>
            </a:r>
            <a:r>
              <a:rPr lang="en-US" sz="1050" dirty="0">
                <a:highlight>
                  <a:srgbClr val="FFFF00"/>
                </a:highlight>
              </a:rPr>
              <a:t> no “edges”, but they rather apply a standard 1D convolution kernel (size 1×L) that slides across the time axis</a:t>
            </a:r>
          </a:p>
          <a:p>
            <a:endParaRPr lang="en-US" sz="1050" dirty="0">
              <a:highlight>
                <a:srgbClr val="FFFF00"/>
              </a:highlight>
            </a:endParaRPr>
          </a:p>
          <a:p>
            <a:r>
              <a:rPr lang="en-US" sz="1050" dirty="0">
                <a:solidFill>
                  <a:srgbClr val="FF0000"/>
                </a:solidFill>
              </a:rPr>
              <a:t>- Statistical Significance Analysis</a:t>
            </a:r>
          </a:p>
          <a:p>
            <a:r>
              <a:rPr lang="en-US" sz="1050" dirty="0"/>
              <a:t>Used a paired sample t-test to evaluate the difference in prediction probability distributions between their proposed UCGL model and nine competing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588876-642F-0378-E8A8-9679EF598E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4C661-6276-B05D-FC45-D7B74B6B35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01BA00-2FF2-ABBA-A2FC-2A92CCA4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Unsupervised contrastive graph learning for resting-state functional MRI analysis and brain disorder detection </a:t>
            </a:r>
            <a:br>
              <a:rPr lang="en-US" sz="1200" dirty="0"/>
            </a:br>
            <a:r>
              <a:rPr lang="en-US" sz="1200" dirty="0"/>
              <a:t>(Weng et al. 2023)</a:t>
            </a:r>
          </a:p>
        </p:txBody>
      </p:sp>
      <p:pic>
        <p:nvPicPr>
          <p:cNvPr id="10" name="Picture 9" descr="A diagram of a multi-layer structure&#10;&#10;AI-generated content may be incorrect.">
            <a:extLst>
              <a:ext uri="{FF2B5EF4-FFF2-40B4-BE49-F238E27FC236}">
                <a16:creationId xmlns:a16="http://schemas.microsoft.com/office/drawing/2014/main" id="{6808554B-D46C-DFBE-662D-E9182294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767" y="1635324"/>
            <a:ext cx="4018176" cy="20473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20B0C8-C84C-8208-DB41-7E4375E732D4}"/>
              </a:ext>
            </a:extLst>
          </p:cNvPr>
          <p:cNvSpPr txBox="1"/>
          <p:nvPr/>
        </p:nvSpPr>
        <p:spPr>
          <a:xfrm>
            <a:off x="5201660" y="3648197"/>
            <a:ext cx="3676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Wang X, Chu Y, Wang Q, Cao L, Qiao L, Zhang L, Liu M. Unsupervised contrastive graph learning for resting-state functional MRI analysis and brain disorder detection. Hum Brain Mapp. 2023 Dec 1;44(17):5672-5692.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doi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10.1002/hbm.26469. </a:t>
            </a:r>
            <a:r>
              <a:rPr lang="en-US" sz="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Epub</a:t>
            </a:r>
            <a:r>
              <a:rPr lang="en-US" sz="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2023 Sep 5. PMID: 37668327; PMCID: PMC10619386.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504430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98C0-F978-1C83-B9A1-8CBB3BBE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4EC9FF-2C73-4BF3-3D38-8CF993351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785785"/>
            <a:ext cx="4252910" cy="2900515"/>
          </a:xfrm>
        </p:spPr>
        <p:txBody>
          <a:bodyPr/>
          <a:lstStyle/>
          <a:p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- Bi-Graph Modeling with raw BOLD Signals: </a:t>
            </a:r>
          </a:p>
          <a:p>
            <a:r>
              <a:rPr lang="en-US" sz="1200" dirty="0"/>
              <a:t>They model the brain as a dual evolving system where Dynamic FC (undirected) captures spatial correlations and Dynamic EC (directed) captures temporal causal progression simultaneously.</a:t>
            </a:r>
          </a:p>
          <a:p>
            <a:pPr marL="285750" indent="-285750">
              <a:buFontTx/>
              <a:buChar char="-"/>
            </a:pP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- Grad-CAM</a:t>
            </a:r>
          </a:p>
          <a:p>
            <a:r>
              <a:rPr lang="en-US" sz="1200" dirty="0"/>
              <a:t>Authors analyze salient brain regions in the brain network, by using class activation value of all testing subjects in the multi-class classification task.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5EED34-348F-E56A-7F33-D17214D1AD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AC966-1744-82B7-3AC7-2BC47BDAA6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F4D194-3B1E-117C-E3FD-E32763FA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Guiding fusion of dynamic functional and effective connectivity in </a:t>
            </a:r>
            <a:r>
              <a:rPr lang="en-US" sz="1200" dirty="0" err="1"/>
              <a:t>spatio</a:t>
            </a:r>
            <a:r>
              <a:rPr lang="en-US" sz="1200" dirty="0"/>
              <a:t>-temporal graph neural network for brain disorder classification (Chen et al. 2025)</a:t>
            </a:r>
          </a:p>
        </p:txBody>
      </p:sp>
      <p:pic>
        <p:nvPicPr>
          <p:cNvPr id="9" name="Picture 8" descr="A diagram of a graphing process&#10;&#10;AI-generated content may be incorrect.">
            <a:extLst>
              <a:ext uri="{FF2B5EF4-FFF2-40B4-BE49-F238E27FC236}">
                <a16:creationId xmlns:a16="http://schemas.microsoft.com/office/drawing/2014/main" id="{E3763B7A-1177-A7F5-8C58-F94E950D1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474" y="2174145"/>
            <a:ext cx="4297526" cy="15774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BB1988-7D76-27C6-A2A3-64B181A78AF4}"/>
              </a:ext>
            </a:extLst>
          </p:cNvPr>
          <p:cNvSpPr txBox="1"/>
          <p:nvPr/>
        </p:nvSpPr>
        <p:spPr>
          <a:xfrm>
            <a:off x="5269503" y="3689482"/>
            <a:ext cx="3682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 err="1"/>
              <a:t>Dongdong</a:t>
            </a:r>
            <a:r>
              <a:rPr lang="en-US" sz="600" dirty="0"/>
              <a:t> Chen, </a:t>
            </a:r>
            <a:r>
              <a:rPr lang="en-US" sz="600" dirty="0" err="1"/>
              <a:t>Mengjun</a:t>
            </a:r>
            <a:r>
              <a:rPr lang="en-US" sz="600" dirty="0"/>
              <a:t> Liu, Sheng Wang, </a:t>
            </a:r>
            <a:r>
              <a:rPr lang="en-US" sz="600" dirty="0" err="1"/>
              <a:t>Zheren</a:t>
            </a:r>
            <a:r>
              <a:rPr lang="en-US" sz="600" dirty="0"/>
              <a:t> Li, Lu Bai, Qian Wang, </a:t>
            </a:r>
            <a:r>
              <a:rPr lang="en-US" sz="600" dirty="0" err="1"/>
              <a:t>Dinggang</a:t>
            </a:r>
            <a:r>
              <a:rPr lang="en-US" sz="600" dirty="0"/>
              <a:t> Shen, Lichi </a:t>
            </a:r>
            <a:r>
              <a:rPr lang="en-US" sz="600" dirty="0" err="1"/>
              <a:t>Zhang,Guiding</a:t>
            </a:r>
            <a:r>
              <a:rPr lang="en-US" sz="600" dirty="0"/>
              <a:t> fusion of dynamic functional and effective connectivity in </a:t>
            </a:r>
            <a:r>
              <a:rPr lang="en-US" sz="600" dirty="0" err="1"/>
              <a:t>spatio</a:t>
            </a:r>
            <a:r>
              <a:rPr lang="en-US" sz="600" dirty="0"/>
              <a:t>-temporal graph neural network for brain disorder </a:t>
            </a:r>
            <a:r>
              <a:rPr lang="en-US" sz="600" dirty="0" err="1"/>
              <a:t>classification,Knowledge</a:t>
            </a:r>
            <a:r>
              <a:rPr lang="en-US" sz="600" dirty="0"/>
              <a:t>-Based Systems, https://</a:t>
            </a:r>
            <a:r>
              <a:rPr lang="en-US" sz="600" dirty="0" err="1"/>
              <a:t>doi.org</a:t>
            </a:r>
            <a:r>
              <a:rPr lang="en-US" sz="600" dirty="0"/>
              <a:t>/10.1016/j.knosys.2024.112856.</a:t>
            </a:r>
          </a:p>
        </p:txBody>
      </p:sp>
    </p:spTree>
    <p:extLst>
      <p:ext uri="{BB962C8B-B14F-4D97-AF65-F5344CB8AC3E}">
        <p14:creationId xmlns:p14="http://schemas.microsoft.com/office/powerpoint/2010/main" val="38581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BA3D-8251-9A6B-10A5-1B3DF657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6F7470-11A8-CE56-AD7B-98E68087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785785"/>
            <a:ext cx="4547272" cy="2900515"/>
          </a:xfrm>
        </p:spPr>
        <p:txBody>
          <a:bodyPr/>
          <a:lstStyle/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- Minority Class Issue (Multi-View Contrastive Learning, Cost-Sensitive Weighting)</a:t>
            </a:r>
          </a:p>
          <a:p>
            <a:r>
              <a:rPr lang="en-US" sz="1200" dirty="0"/>
              <a:t>Under/Oversampling don’t capture more knowledge from minority class</a:t>
            </a:r>
          </a:p>
          <a:p>
            <a:r>
              <a:rPr lang="en-US" sz="1200" dirty="0"/>
              <a:t>Maximize agreement between FC and HOFC + while applying cost-sensitive weighting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9ADF5-8F61-46DE-62DA-F9DF6C3CBF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94882-CD80-6755-8552-ACBA90C498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15B2A1-180C-5C83-57D5-10F138C22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93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Cost-Sensitive Weighted Contrastive Learning Based on Graph Convolutional Networks for Imbalanced Alzheimer’s Disease Staging (Hu et al. 2024)</a:t>
            </a:r>
          </a:p>
        </p:txBody>
      </p:sp>
      <p:pic>
        <p:nvPicPr>
          <p:cNvPr id="9" name="Picture 8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65B8CA3A-494B-8698-F049-720ABF000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362" y="2461021"/>
            <a:ext cx="4177430" cy="12225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991A67-7908-58C0-9DC8-86B9C61BF304}"/>
              </a:ext>
            </a:extLst>
          </p:cNvPr>
          <p:cNvSpPr txBox="1"/>
          <p:nvPr/>
        </p:nvSpPr>
        <p:spPr>
          <a:xfrm>
            <a:off x="5602266" y="3852284"/>
            <a:ext cx="27056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Hu Y, Wang J, Zhu H, Li J, Shi J. Cost-Sensitive Weighted Contrastive Learning Based on Graph Convolutional Networks for Imbalanced Alzheimer's Disease Staging. IEEE Trans Med Imaging. 2024 Sep;43(9):3126-3136. </a:t>
            </a:r>
            <a:r>
              <a:rPr lang="en-US" sz="600" dirty="0" err="1"/>
              <a:t>doi</a:t>
            </a:r>
            <a:r>
              <a:rPr lang="en-US" sz="600" dirty="0"/>
              <a:t>: 10.1109/TMI.2024.3389747. </a:t>
            </a:r>
            <a:r>
              <a:rPr lang="en-US" sz="600" dirty="0" err="1"/>
              <a:t>Epub</a:t>
            </a:r>
            <a:r>
              <a:rPr lang="en-US" sz="600" dirty="0"/>
              <a:t> 2024 Sep 3. PMID: 38625767.</a:t>
            </a:r>
          </a:p>
        </p:txBody>
      </p:sp>
      <p:pic>
        <p:nvPicPr>
          <p:cNvPr id="14" name="Picture 13" descr="A black and white math equations&#10;&#10;AI-generated content may be incorrect.">
            <a:extLst>
              <a:ext uri="{FF2B5EF4-FFF2-40B4-BE49-F238E27FC236}">
                <a16:creationId xmlns:a16="http://schemas.microsoft.com/office/drawing/2014/main" id="{B7A603F3-AD66-E0E8-B6F3-41688E09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76" b="12412"/>
          <a:stretch>
            <a:fillRect/>
          </a:stretch>
        </p:blipFill>
        <p:spPr>
          <a:xfrm>
            <a:off x="1599599" y="4252692"/>
            <a:ext cx="612420" cy="3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62064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3160</TotalTime>
  <Words>1205</Words>
  <Application>Microsoft Macintosh PowerPoint</Application>
  <PresentationFormat>On-screen Show (16:9)</PresentationFormat>
  <Paragraphs>108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BlinkMacSystemFont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Training:  Results  Fraj Yassine Lakhal TUM School of Computation, Information and Technology </vt:lpstr>
      <vt:lpstr>Outline</vt:lpstr>
      <vt:lpstr>Last Meeting’s Recap</vt:lpstr>
      <vt:lpstr>Cohort Stratification</vt:lpstr>
      <vt:lpstr>Restricting Input to DMN</vt:lpstr>
      <vt:lpstr>Restricting Input to Specific Brain Regions</vt:lpstr>
      <vt:lpstr>Converters vs. Non-converters - Cross Validation Results</vt:lpstr>
      <vt:lpstr>Weighted Cost Averaging</vt:lpstr>
      <vt:lpstr>Converters vs. Non-converters - Cross Validation Results</vt:lpstr>
      <vt:lpstr>Prediction Robustness Testing</vt:lpstr>
      <vt:lpstr>Prediction Robustness Testing</vt:lpstr>
      <vt:lpstr>Prediction Robustness Testing on Pretext Model (all cohorts)</vt:lpstr>
      <vt:lpstr>Unsupervised contrastive graph learning for resting-state functional MRI analysis and brain disorder detection  (Weng et al. 2023)</vt:lpstr>
      <vt:lpstr>Guiding fusion of dynamic functional and effective connectivity in spatio-temporal graph neural network for brain disorder classification (Chen et al. 2025)</vt:lpstr>
      <vt:lpstr>Cost-Sensitive Weighted Contrastive Learning Based on Graph Convolutional Networks for Imbalanced Alzheimer’s Disease Staging (Hu et al. 2024)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Lakhal, Fraj Yassine</cp:lastModifiedBy>
  <cp:revision>21</cp:revision>
  <cp:lastPrinted>2015-07-30T14:04:45Z</cp:lastPrinted>
  <dcterms:created xsi:type="dcterms:W3CDTF">2020-10-03T23:03:33Z</dcterms:created>
  <dcterms:modified xsi:type="dcterms:W3CDTF">2026-03-24T17:13:21Z</dcterms:modified>
</cp:coreProperties>
</file>