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424" r:id="rId2"/>
    <p:sldId id="454" r:id="rId3"/>
    <p:sldId id="440" r:id="rId4"/>
    <p:sldId id="441" r:id="rId5"/>
    <p:sldId id="452" r:id="rId6"/>
    <p:sldId id="453" r:id="rId7"/>
    <p:sldId id="448" r:id="rId8"/>
    <p:sldId id="455" r:id="rId9"/>
    <p:sldId id="449" r:id="rId10"/>
    <p:sldId id="456" r:id="rId11"/>
    <p:sldId id="446" r:id="rId12"/>
    <p:sldId id="445" r:id="rId13"/>
    <p:sldId id="457" r:id="rId14"/>
    <p:sldId id="470" r:id="rId15"/>
    <p:sldId id="444" r:id="rId16"/>
    <p:sldId id="472" r:id="rId17"/>
    <p:sldId id="480" r:id="rId18"/>
    <p:sldId id="481" r:id="rId19"/>
    <p:sldId id="482" r:id="rId20"/>
    <p:sldId id="483" r:id="rId21"/>
    <p:sldId id="461" r:id="rId22"/>
    <p:sldId id="442" r:id="rId23"/>
    <p:sldId id="458" r:id="rId24"/>
    <p:sldId id="460" r:id="rId25"/>
    <p:sldId id="459" r:id="rId26"/>
    <p:sldId id="474" r:id="rId27"/>
    <p:sldId id="450" r:id="rId28"/>
    <p:sldId id="475" r:id="rId29"/>
    <p:sldId id="476" r:id="rId30"/>
    <p:sldId id="477" r:id="rId31"/>
    <p:sldId id="479" r:id="rId32"/>
    <p:sldId id="47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4"/>
    <p:restoredTop sz="93306"/>
  </p:normalViewPr>
  <p:slideViewPr>
    <p:cSldViewPr snapToGrid="0">
      <p:cViewPr>
        <p:scale>
          <a:sx n="121" d="100"/>
          <a:sy n="121" d="100"/>
        </p:scale>
        <p:origin x="3488" y="2016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05E7F-F5F1-1C44-B24C-AB335D825C4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2A932-D92D-F44D-8EC9-7008C692A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2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a bold plan for the thesis but I think it is feasible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0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If you report memory issues, a Primary Care Physician (PCP) will perform a short cognitive test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2) How it works: It detects phosphorylated tau protein in the blood, which correlates 90-95% with amyloid plaque buildup in the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5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39EA-9AAC-1121-E184-33B8B6F0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532BF-1FBB-0B41-9936-913F78653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A2C68-D1B0-CE22-5C8A-C4BE3D4C2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79307-2DEA-721B-A32F-9EC040688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79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FB30-ED0F-E413-13CE-75D6A55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6AF33-8364-D97F-75B7-798E69894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4972D-09FC-B286-8E84-CDF7FD8D5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4A309-83E0-483C-F799-DDEC57A31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DMN stands for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regions when a person is not focused on the outside 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69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end up with a symmetric N×N matrix where N is the number of ROIs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5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692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A2210-ED38-1070-F514-3F5D798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6669C-576D-5A56-8819-94ECB6E21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D9C6E-0534-C607-CEC0-DF1F54ED2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DAT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Dementia of the Alzheimer's Type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A+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amyloid positive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6F4B6-4C08-B69A-6F3F-E35C8EB3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432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new models? </a:t>
            </a:r>
            <a:br>
              <a:rPr lang="en-US" dirty="0"/>
            </a:br>
            <a:r>
              <a:rPr lang="en-US" dirty="0"/>
              <a:t>- Rational behind the GRU (Longitudinal Data not too long) and the VGAE (64 latent vector dimensions were not enough to reconstruct the </a:t>
            </a:r>
            <a:r>
              <a:rPr lang="en-US" dirty="0" err="1"/>
              <a:t>fmri</a:t>
            </a:r>
            <a:r>
              <a:rPr lang="en-US" dirty="0"/>
              <a:t>)?</a:t>
            </a:r>
          </a:p>
          <a:p>
            <a:r>
              <a:rPr lang="en-US" dirty="0"/>
              <a:t>- Rationale behind using tangent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855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6303F-FB59-F7EF-71D6-BD4F1321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D0337-4D42-4841-7219-E2E5718CE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2404C-7A1A-6ED8-C967-F66F463E9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new models? </a:t>
            </a:r>
            <a:br>
              <a:rPr lang="en-US" dirty="0"/>
            </a:br>
            <a:r>
              <a:rPr lang="en-US" dirty="0"/>
              <a:t>- Rational behind the GRU (Longitudinal Data not too long) and the VGAE (64 latent vector dimensions were not enough to reconstruct the </a:t>
            </a:r>
            <a:r>
              <a:rPr lang="en-US" dirty="0" err="1"/>
              <a:t>fmri</a:t>
            </a:r>
            <a:r>
              <a:rPr lang="en-US" dirty="0"/>
              <a:t>)?</a:t>
            </a:r>
          </a:p>
          <a:p>
            <a:r>
              <a:rPr lang="en-US" dirty="0"/>
              <a:t>- Rationale behind using tangent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3A148-FB22-C25F-556D-88628F61A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55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DC4C-BDB8-4F01-BC56-2B876E4B8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9A787-FAE7-7013-2A61-1B4140F7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7B22-49AB-3233-11A7-6C99A9E7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BE602-9CD5-4B29-2FD9-69C13525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127E-69C3-D7BC-70FB-55514C05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0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EA0D-ED85-3F92-50C9-A3C77F91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9941-EA37-5894-2027-5A2946FFB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D295-70A7-2458-6E59-F4952A4E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ED014-D167-5253-253F-ED1E02DA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1DD1C-092E-1CD4-D90B-49BFA3A4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1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1387-6EFD-E9F8-6275-71938DCE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2F8FD-53E2-6A11-68B4-6A5AF8E2C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153B-66FF-B3D7-2F9A-C979B0C0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087E-81EC-9782-CED7-2A8A8CED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D505C-93BA-31C5-5591-8194A4F7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5E5C-E1AF-3959-FC51-9A86D695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E291-AC67-2891-1CCB-4D048DCD1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A5BEA-395A-E2E9-7758-F7B716C39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1863-5EE7-1D24-D9CD-6F79CA54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6C530-3D11-EE14-2727-A9BE3936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0B3CE-9D7F-CAB5-2ACF-390D7E2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9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9EDC-367C-4B07-5BDF-B0D9ABBB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90D0-A890-17D3-2535-12A9FE97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091E1-A8F8-BB20-F354-B21D2A1AB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3B60C-3603-4CAC-E06E-41535F916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0AC8B-2843-105E-04AE-F69A0D562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28499-E2BE-79B2-44DE-0FC695AF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C71CF-3EB3-A01F-EDAB-630CD614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D80E3-0084-F644-39ED-E9F4A0CB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3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C7B8-18F7-1556-708B-2561312D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E0319-B08C-BC23-5B1E-8A5A58CC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DAA4B-BE4B-0729-1DF7-EA64E5F4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BAA36-E97B-D19E-B7C2-98F0ECDE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3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28589-445A-4A13-A3FF-9578EA97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2FB58-262F-F1F2-BFDD-B6B9D524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F34EB-2877-525F-49EA-5B2BC3F7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0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68D4-9B63-286E-DF4F-7A3B0628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7B8C-C588-9CA4-29CD-9BF020EC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0C825-9D51-5EC7-CB51-F7440386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B0F6A-61A6-A7A6-D032-2C9041EE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8C29-AD4B-2F9E-9D5F-DF8F782E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8CBD9-7FCC-8F36-9607-7821CAA4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6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5BB3-DD4B-49A3-E994-49CE34F5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04D4A1-DA8B-5C78-E672-978966E3B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E8653-4FF9-1D2F-9210-97A9B1601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BA8D-299B-0184-B32A-8A198A8D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CF720-1B19-ECAD-EF0C-98F049C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6DBA3-7615-B6AC-A214-39266C85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F45C-0FBE-0F3F-A5FD-AB3321A4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EC584-E00B-09A8-461E-DDF1454E3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3B57C-CE0C-204F-D371-04157566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D207-E348-5853-12EF-0960B9CD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1582-9B5B-67B4-1354-D8FE4336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4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BC118-4D2E-C06E-CE03-2380ECEF3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7F3AF-0A84-2424-F2BC-6353753A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9E364-2403-EFD4-FD35-474DB6F0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7F25B-8317-FF64-13AC-B056A681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9E262-8DC2-4CA2-6E0F-FF89C60A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97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3620" y="1968500"/>
            <a:ext cx="5092723" cy="444500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01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40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81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381048"/>
            <a:ext cx="11345332" cy="386735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3"/>
            <a:ext cx="11345332" cy="67373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79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008916"/>
            <a:ext cx="11345332" cy="423948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4882" y="1249119"/>
            <a:ext cx="11345332" cy="66358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15424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381048"/>
            <a:ext cx="11345332" cy="386735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3"/>
            <a:ext cx="11345332" cy="67373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06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E9B7A-0621-03D5-FD6A-AB342F2D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6FD41-D351-7A30-D6F9-15BA5A4FE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C1668-0B46-A0EB-AAE1-E4EF9D703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9C9BE-F6D1-C04E-B7B1-16B62C9BABD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2941-020B-4F4A-E4D2-2C6CAFB31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73E6-B270-95A9-049B-A52FAB177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6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B39F-ACCB-FE86-2BFE-3A1E77DA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Master Thesis: Alzheimer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595D-041C-B25A-2A49-280F3AC1F9C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Fraj Yassine Lakhal</a:t>
            </a:r>
          </a:p>
          <a:p>
            <a:r>
              <a:rPr lang="en-GB" dirty="0"/>
              <a:t>Munich, 3. December 2025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45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3415-EF71-F708-DCE7-0633304B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54084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2330-3C6A-FF0A-D26D-995DD4F0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photo of a vial of Leqembi over a computer rendering of neurons affected by Alzheimer’s disease.">
            <a:extLst>
              <a:ext uri="{FF2B5EF4-FFF2-40B4-BE49-F238E27FC236}">
                <a16:creationId xmlns:a16="http://schemas.microsoft.com/office/drawing/2014/main" id="{90E1260F-6BF7-B086-16E8-E944732B9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2" r="8256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Rectangle 106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3D7C0B-CF1F-5D8B-452A-8D0F047E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58" y="443671"/>
            <a:ext cx="4025981" cy="121750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Alzheimer’s Disease </a:t>
            </a:r>
            <a:br>
              <a:rPr lang="en-US" sz="4000" dirty="0"/>
            </a:br>
            <a:r>
              <a:rPr lang="en-US" sz="4000" dirty="0"/>
              <a:t>Modifying treatment</a:t>
            </a:r>
          </a:p>
        </p:txBody>
      </p:sp>
      <p:sp>
        <p:nvSpPr>
          <p:cNvPr id="1050" name="Content Placeholder 1049">
            <a:extLst>
              <a:ext uri="{FF2B5EF4-FFF2-40B4-BE49-F238E27FC236}">
                <a16:creationId xmlns:a16="http://schemas.microsoft.com/office/drawing/2014/main" id="{7A42EC2B-4C6B-2A74-8596-600B1D11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50" y="2388207"/>
            <a:ext cx="3822189" cy="374276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Lecanemab</a:t>
            </a:r>
            <a:r>
              <a:rPr lang="en-US" dirty="0"/>
              <a:t> approved for prescription on 15. April in Germany</a:t>
            </a:r>
          </a:p>
          <a:p>
            <a:pPr>
              <a:lnSpc>
                <a:spcPct val="90000"/>
              </a:lnSpc>
            </a:pPr>
            <a:r>
              <a:rPr lang="en-US" dirty="0"/>
              <a:t>Diagnosis is no longer just about memory tests; it now requires </a:t>
            </a:r>
            <a:r>
              <a:rPr lang="en-US" b="1" dirty="0"/>
              <a:t>biological proof</a:t>
            </a:r>
            <a:r>
              <a:rPr lang="en-US" dirty="0"/>
              <a:t> of Alzheimer's via biomarkers.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dirty="0"/>
              <a:t>Approved for </a:t>
            </a:r>
            <a:r>
              <a:rPr lang="en-US" b="1" dirty="0"/>
              <a:t>Early AD</a:t>
            </a:r>
            <a:r>
              <a:rPr lang="en-US" dirty="0"/>
              <a:t> (Mild Cognitive Impairment or Mild Dementia)</a:t>
            </a:r>
          </a:p>
          <a:p>
            <a:pPr>
              <a:lnSpc>
                <a:spcPct val="90000"/>
              </a:lnSpc>
            </a:pPr>
            <a:r>
              <a:rPr lang="en-US" dirty="0"/>
              <a:t>It clears amyloid plaques to slow cognitive decline by ~27%. It does not restore lost memory; it preserves what is left.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376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E02641-193F-0866-38E1-67F1B2B3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391280"/>
            <a:ext cx="11345332" cy="555601"/>
          </a:xfrm>
        </p:spPr>
        <p:txBody>
          <a:bodyPr/>
          <a:lstStyle/>
          <a:p>
            <a:r>
              <a:rPr lang="en-US" sz="3600" dirty="0"/>
              <a:t>Current Paradigm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5C27F0-4786-63B5-03AA-CE8DFC4ACDB1}"/>
              </a:ext>
            </a:extLst>
          </p:cNvPr>
          <p:cNvSpPr/>
          <p:nvPr/>
        </p:nvSpPr>
        <p:spPr>
          <a:xfrm>
            <a:off x="2693043" y="1473801"/>
            <a:ext cx="6805914" cy="551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1. Cognitive test: </a:t>
            </a:r>
            <a:r>
              <a:rPr lang="en-US" dirty="0"/>
              <a:t>e.g., MOCA or MMSE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E14408-DEEF-1BAD-130A-67DDC4EB3B2C}"/>
              </a:ext>
            </a:extLst>
          </p:cNvPr>
          <p:cNvSpPr/>
          <p:nvPr/>
        </p:nvSpPr>
        <p:spPr>
          <a:xfrm>
            <a:off x="4064643" y="2773869"/>
            <a:ext cx="4062714" cy="111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2. Blood test: </a:t>
            </a:r>
            <a:r>
              <a:rPr lang="en-US" dirty="0"/>
              <a:t>Plasma p-tau217</a:t>
            </a:r>
          </a:p>
          <a:p>
            <a:pPr algn="ctr"/>
            <a:r>
              <a:rPr lang="en-US" dirty="0"/>
              <a:t>radioactive tracer amyloid plaques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52C6F-7E6A-91CB-93C4-DA5C723B7ED6}"/>
              </a:ext>
            </a:extLst>
          </p:cNvPr>
          <p:cNvSpPr/>
          <p:nvPr/>
        </p:nvSpPr>
        <p:spPr>
          <a:xfrm>
            <a:off x="2992056" y="4632680"/>
            <a:ext cx="6207888" cy="1720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3. Scans</a:t>
            </a:r>
          </a:p>
          <a:p>
            <a:pPr algn="ctr"/>
            <a:r>
              <a:rPr lang="en-US" dirty="0"/>
              <a:t>Amyloid PET Scan: radioactive tracer amyloid plaques.</a:t>
            </a:r>
          </a:p>
          <a:p>
            <a:pPr algn="ctr"/>
            <a:r>
              <a:rPr lang="en-US" dirty="0"/>
              <a:t> or</a:t>
            </a:r>
          </a:p>
          <a:p>
            <a:pPr algn="ctr"/>
            <a:r>
              <a:rPr lang="en-US" dirty="0"/>
              <a:t>CSF Analysis (Lumbar Puncture): Spinal fluid is drawn to measure the ratio of amyloid/tau proteins.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EAB076-AC15-57E7-77EB-87EB5770BF8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2025603"/>
            <a:ext cx="0" cy="748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0F2F79-528C-B8BA-F13A-CADBCFCF3B20}"/>
              </a:ext>
            </a:extLst>
          </p:cNvPr>
          <p:cNvSpPr txBox="1"/>
          <p:nvPr/>
        </p:nvSpPr>
        <p:spPr>
          <a:xfrm>
            <a:off x="6096002" y="2144308"/>
            <a:ext cx="4062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If you score below a certain threshold </a:t>
            </a:r>
          </a:p>
          <a:p>
            <a:r>
              <a:rPr lang="en-US" sz="1200" dirty="0"/>
              <a:t>(e.g., &lt;26/30 on MOCA)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498B8-96F6-3BCD-8E5C-B82C500F7929}"/>
              </a:ext>
            </a:extLst>
          </p:cNvPr>
          <p:cNvSpPr txBox="1"/>
          <p:nvPr/>
        </p:nvSpPr>
        <p:spPr>
          <a:xfrm>
            <a:off x="6096000" y="3965426"/>
            <a:ext cx="3559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Highly suspicious for Alzheimer’s. The patient moves to the "Gold Standard" confirmation required for insurance and treatment approval.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6DF9F6-FF28-50D2-3F01-EF78A2480F2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3884413"/>
            <a:ext cx="0" cy="850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98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0328-75F7-3536-BC18-6BA84DE8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atient's diagnosis&#10;&#10;AI-generated content may be incorrect.">
            <a:extLst>
              <a:ext uri="{FF2B5EF4-FFF2-40B4-BE49-F238E27FC236}">
                <a16:creationId xmlns:a16="http://schemas.microsoft.com/office/drawing/2014/main" id="{98105FB6-E960-D8BF-E26E-7213C8DC63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81314" y="252706"/>
            <a:ext cx="11835941" cy="66052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24D506-57F4-D3A5-0A68-9039592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4" y="1635083"/>
            <a:ext cx="11345332" cy="2737673"/>
          </a:xfrm>
        </p:spPr>
        <p:txBody>
          <a:bodyPr/>
          <a:lstStyle/>
          <a:p>
            <a:r>
              <a:rPr lang="en-US" sz="2800" b="1" i="1" dirty="0"/>
              <a:t>Several Issues: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800" dirty="0"/>
              <a:t>1. Functional "Collapse" Precedes Structural Atrophy</a:t>
            </a:r>
            <a:br>
              <a:rPr lang="en-US" sz="2800" dirty="0"/>
            </a:br>
            <a:r>
              <a:rPr lang="en-US" sz="2800" dirty="0"/>
              <a:t>2. Burdensome for elderly patients.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4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E972-E02B-66F3-6985-91B294D1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atient's diagnosis&#10;&#10;AI-generated content may be incorrect.">
            <a:extLst>
              <a:ext uri="{FF2B5EF4-FFF2-40B4-BE49-F238E27FC236}">
                <a16:creationId xmlns:a16="http://schemas.microsoft.com/office/drawing/2014/main" id="{B91F1D18-2876-287C-C3AC-EC01F443A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81314" y="252706"/>
            <a:ext cx="11835941" cy="66052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5E2D85-BA48-D6CE-496F-0BE6AC3C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4" y="1635083"/>
            <a:ext cx="11345332" cy="3840539"/>
          </a:xfrm>
        </p:spPr>
        <p:txBody>
          <a:bodyPr/>
          <a:lstStyle/>
          <a:p>
            <a:r>
              <a:rPr lang="en-US" sz="2800" b="1" i="1" dirty="0"/>
              <a:t>Several Issues: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800" dirty="0"/>
              <a:t>1. Functional "Collapse" Precedes Structural Atrophy</a:t>
            </a:r>
            <a:br>
              <a:rPr lang="en-US" sz="2800" dirty="0"/>
            </a:br>
            <a:r>
              <a:rPr lang="en-US" sz="2800" dirty="0"/>
              <a:t>2. Burdensome for elderly patients.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Can  we identify functionally vulnerable patients early on?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06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74284F6C-5F0B-3897-08A0-9CC279D9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49B39C-AC69-7BE0-C71E-99DE5563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54661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Why combine with deep learning?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BD4E6-4AEC-1234-FBFC-140221482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/>
              <a:t>A human radiologist cannot "see" functional connectivity in raw data. 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/>
              <a:t>A DL model (e.g., a Graph Neural Network) can identify non-linear disruptions in the </a:t>
            </a:r>
            <a:r>
              <a:rPr lang="en-US" sz="2000" b="1" dirty="0"/>
              <a:t>Default Mode Network (DMN), </a:t>
            </a:r>
            <a:r>
              <a:rPr lang="en-US" sz="2000" dirty="0"/>
              <a:t>often years before atrophy is visible on T1 scans</a:t>
            </a:r>
            <a:r>
              <a:rPr lang="en-US" sz="1000" dirty="0"/>
              <a:t>1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DEE21C-400F-F4BB-0319-A6E828532AD3}"/>
              </a:ext>
            </a:extLst>
          </p:cNvPr>
          <p:cNvSpPr txBox="1"/>
          <p:nvPr/>
        </p:nvSpPr>
        <p:spPr>
          <a:xfrm>
            <a:off x="584039" y="6407947"/>
            <a:ext cx="11023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1 Xue, C., Yuan, B., Yue, Y., Xu, J., Wang, S., Wu, M., Ji, N., Zhou, X., Zhao, Y., Rao, J., Yang, W., Xiao, C., &amp; Chen, J. (2019). Distinct Disruptive Patterns of Default Mode Subnetwork Connectivity Across the Spectrum of Preclinical Alzheimer’s Disease. Frontiers in Aging Neuroscience, 11. https://</a:t>
            </a:r>
            <a:r>
              <a:rPr lang="en-US" sz="1000" dirty="0" err="1"/>
              <a:t>doi.org</a:t>
            </a:r>
            <a:r>
              <a:rPr lang="en-US" sz="1000" dirty="0"/>
              <a:t>/10.3389/fnagi.2019.00307</a:t>
            </a:r>
          </a:p>
        </p:txBody>
      </p:sp>
    </p:spTree>
    <p:extLst>
      <p:ext uri="{BB962C8B-B14F-4D97-AF65-F5344CB8AC3E}">
        <p14:creationId xmlns:p14="http://schemas.microsoft.com/office/powerpoint/2010/main" val="1533520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AA53-EAF6-F475-318D-1A4AF078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 err="1"/>
              <a:t>SoTA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271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114D89-BF78-8994-6EFC-84D908894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883" y="2732374"/>
            <a:ext cx="3322812" cy="136180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728091A-F7FD-1CB9-1882-D542642B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 Workflow for fMRI Preprocessing</a:t>
            </a:r>
          </a:p>
        </p:txBody>
      </p:sp>
      <p:sp>
        <p:nvSpPr>
          <p:cNvPr id="5" name="AutoShape 2" descr="ROI plot of Harvard-Oxford cortical parcellation atlas">
            <a:extLst>
              <a:ext uri="{FF2B5EF4-FFF2-40B4-BE49-F238E27FC236}">
                <a16:creationId xmlns:a16="http://schemas.microsoft.com/office/drawing/2014/main" id="{09FC7D11-4E62-F8CD-6070-14F5C470E9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2BD8D9-8793-0DB4-4AAC-3B5751375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01" y="3110053"/>
            <a:ext cx="2639259" cy="839764"/>
          </a:xfrm>
          <a:prstGeom prst="rect">
            <a:avLst/>
          </a:prstGeom>
        </p:spPr>
      </p:pic>
      <p:pic>
        <p:nvPicPr>
          <p:cNvPr id="10" name="Picture 9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5D5F525A-4EF9-2246-BE63-99D3CCFEB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069" y="2945887"/>
            <a:ext cx="2337721" cy="784470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1A29E95-5B8E-ADCE-C7AE-C84507BFF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3062" y="3813703"/>
            <a:ext cx="1357773" cy="44168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8620D4-ACC4-76F0-413B-2D1226471634}"/>
              </a:ext>
            </a:extLst>
          </p:cNvPr>
          <p:cNvSpPr/>
          <p:nvPr/>
        </p:nvSpPr>
        <p:spPr>
          <a:xfrm>
            <a:off x="809996" y="4318232"/>
            <a:ext cx="2523413" cy="612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1. ATLAS Parcellation</a:t>
            </a:r>
          </a:p>
          <a:p>
            <a:pPr algn="ctr"/>
            <a:r>
              <a:rPr lang="en-US" sz="1600" dirty="0"/>
              <a:t>e.g. Harvard Oxford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B25D9-9E27-F421-5EE3-DCE25E8AB0F9}"/>
              </a:ext>
            </a:extLst>
          </p:cNvPr>
          <p:cNvSpPr/>
          <p:nvPr/>
        </p:nvSpPr>
        <p:spPr>
          <a:xfrm>
            <a:off x="4776370" y="4367347"/>
            <a:ext cx="2639259" cy="514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2. Compute mean at time 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1F4A0A-A4A0-ADE0-AAFC-2AE7FBB93258}"/>
              </a:ext>
            </a:extLst>
          </p:cNvPr>
          <p:cNvSpPr/>
          <p:nvPr/>
        </p:nvSpPr>
        <p:spPr>
          <a:xfrm>
            <a:off x="8869666" y="4367347"/>
            <a:ext cx="2172525" cy="514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3. Pearson Correlation</a:t>
            </a:r>
          </a:p>
        </p:txBody>
      </p:sp>
    </p:spTree>
    <p:extLst>
      <p:ext uri="{BB962C8B-B14F-4D97-AF65-F5344CB8AC3E}">
        <p14:creationId xmlns:p14="http://schemas.microsoft.com/office/powerpoint/2010/main" val="242877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9209-5994-6B17-0B8A-085DCC68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CD27-A33D-C047-5281-7C4A0B97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Theoretical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575512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F3C4-8DE9-5529-700E-8BF37B96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391280"/>
            <a:ext cx="11345332" cy="498791"/>
          </a:xfrm>
        </p:spPr>
        <p:txBody>
          <a:bodyPr/>
          <a:lstStyle/>
          <a:p>
            <a:r>
              <a:rPr lang="en-US" sz="2400" i="1" dirty="0"/>
              <a:t>Theoretical Framework: </a:t>
            </a:r>
            <a:r>
              <a:rPr lang="en-US" sz="2400" dirty="0"/>
              <a:t>fMRI as a Reliable Method for Brain Pathologies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89613F-C2C6-8E3C-1A5E-37120E5B1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AE581-9E98-CA86-AB47-4269A0630B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(Stoecklein et al., 2020)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CC482-452E-D8FE-A53E-3554C9D5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" t="2128" r="42430" b="1643"/>
          <a:stretch>
            <a:fillRect/>
          </a:stretch>
        </p:blipFill>
        <p:spPr>
          <a:xfrm>
            <a:off x="779489" y="1707820"/>
            <a:ext cx="4351257" cy="440079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E3191FE-EE6D-39A3-D1B0-AB51CD29E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3287" y="1439224"/>
            <a:ext cx="532319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b="1" dirty="0"/>
              <a:t>Find damage beyond the Lesion: </a:t>
            </a:r>
          </a:p>
          <a:p>
            <a:r>
              <a:rPr lang="en-US" dirty="0"/>
              <a:t>abnormalities in functional connectivity could be detected not only adjacent to the visible lesion but also in distant brain tissue, even in the contralesional hemisphere.</a:t>
            </a:r>
          </a:p>
          <a:p>
            <a:endParaRPr lang="en-US" altLang="en-US" dirty="0"/>
          </a:p>
          <a:p>
            <a:r>
              <a:rPr lang="en-US" altLang="en-US" b="1" dirty="0"/>
              <a:t>Define imaging markers to quantify disease Aggressiveness: </a:t>
            </a:r>
          </a:p>
          <a:p>
            <a:r>
              <a:rPr lang="en-US" altLang="en-US" dirty="0"/>
              <a:t>ABI* showed a close correlation with the aggressiveness of the tumor: correlates with MOCA tests, IDH Mutation Status and WHO Grade (Pathological Severity)</a:t>
            </a:r>
          </a:p>
          <a:p>
            <a:endParaRPr lang="en-US" altLang="en-US" dirty="0"/>
          </a:p>
          <a:p>
            <a:r>
              <a:rPr lang="en-US" altLang="en-US" b="1" dirty="0"/>
              <a:t>Feasibility:</a:t>
            </a:r>
          </a:p>
          <a:p>
            <a:r>
              <a:rPr lang="en-US" altLang="en-US" dirty="0"/>
              <a:t>fMRI sequences can be "tacked onto a clinical routine MRI scan without major modification to the scanning procedure," and the post-analysis can be done automatically</a:t>
            </a:r>
          </a:p>
          <a:p>
            <a:endParaRPr lang="en-US" altLang="en-US" dirty="0"/>
          </a:p>
          <a:p>
            <a:r>
              <a:rPr lang="en-US" altLang="en-US" sz="1200" dirty="0"/>
              <a:t>*quantitative imaging marker, quantifies whole-brain functional connectivity damage</a:t>
            </a:r>
            <a:endParaRPr lang="en-US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6C7E8-52B0-71BB-C16D-CC7A19D28815}"/>
              </a:ext>
            </a:extLst>
          </p:cNvPr>
          <p:cNvSpPr txBox="1"/>
          <p:nvPr/>
        </p:nvSpPr>
        <p:spPr>
          <a:xfrm>
            <a:off x="2082745" y="6147337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7" dirty="0"/>
              <a:t>(Stoecklein et al., 2020)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2CB3B-DDF4-12BC-A5AB-CF3A242B9200}"/>
              </a:ext>
            </a:extLst>
          </p:cNvPr>
          <p:cNvSpPr txBox="1"/>
          <p:nvPr/>
        </p:nvSpPr>
        <p:spPr>
          <a:xfrm>
            <a:off x="1" y="6525478"/>
            <a:ext cx="11682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Stoecklein VM, Stoecklein S, </a:t>
            </a:r>
            <a:r>
              <a:rPr lang="en-US" sz="800" dirty="0" err="1"/>
              <a:t>Galiè</a:t>
            </a:r>
            <a:r>
              <a:rPr lang="en-US" sz="800" dirty="0"/>
              <a:t> F, Ren J, Schmutzer M, </a:t>
            </a:r>
            <a:r>
              <a:rPr lang="en-US" sz="800" dirty="0" err="1"/>
              <a:t>Unterrainer</a:t>
            </a:r>
            <a:r>
              <a:rPr lang="en-US" sz="800" dirty="0"/>
              <a:t> M, Albert NL, Kreth FW, Thon N, Liebig T, Ertl-Wagner B, Tonn JC, Liu H. Resting-state fMRI detects alterations in whole brain connectivity related to tumor biology in glioma patients. Neuro Oncol. 2020 Sep 29;22(9):1388-1398.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neuonc</a:t>
            </a:r>
            <a:r>
              <a:rPr lang="en-US" sz="800" dirty="0"/>
              <a:t>/noaa044. PMID: 32107555; PMCID: PMC7523460.</a:t>
            </a:r>
          </a:p>
        </p:txBody>
      </p:sp>
    </p:spTree>
    <p:extLst>
      <p:ext uri="{BB962C8B-B14F-4D97-AF65-F5344CB8AC3E}">
        <p14:creationId xmlns:p14="http://schemas.microsoft.com/office/powerpoint/2010/main" val="387210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10D9-C652-3F03-253E-DA64D026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041E-8970-BF89-29DB-42DF81FF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391281"/>
            <a:ext cx="11345332" cy="508344"/>
          </a:xfrm>
        </p:spPr>
        <p:txBody>
          <a:bodyPr/>
          <a:lstStyle/>
          <a:p>
            <a:r>
              <a:rPr lang="en-US" sz="2667" i="1" dirty="0"/>
              <a:t>Theoretical Framework: </a:t>
            </a:r>
            <a:r>
              <a:rPr lang="en-US" sz="2667" dirty="0"/>
              <a:t>MCI and The Alzheimer’s Disease Continuum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0ACB3-9BD7-3F14-2615-2ED4DB334A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C1584-54B9-C6E4-D01C-B1C17E3010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(Jessen et al., 2023)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475E9D-5A56-DD4E-2A86-49D334A76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82" y="2022292"/>
            <a:ext cx="5510997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b="1" dirty="0"/>
              <a:t>AD Continuum is defined:</a:t>
            </a:r>
          </a:p>
          <a:p>
            <a:r>
              <a:rPr lang="en-US" altLang="en-US" dirty="0"/>
              <a:t>Stage 1 (asymptomatic, A+ Controls) </a:t>
            </a:r>
          </a:p>
          <a:p>
            <a:r>
              <a:rPr lang="en-US" altLang="en-US" dirty="0"/>
              <a:t>→ Stage 2 (SCD-A+) </a:t>
            </a:r>
          </a:p>
          <a:p>
            <a:r>
              <a:rPr lang="en-US" altLang="en-US" dirty="0"/>
              <a:t>→ Stage 3 (MCI-A+) </a:t>
            </a:r>
          </a:p>
          <a:p>
            <a:r>
              <a:rPr lang="en-US" altLang="en-US" dirty="0"/>
              <a:t>→ Stage 4 (DAT-A+)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Cognitive and Aß define the AD Continuum: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en-US" dirty="0"/>
              <a:t>Preclinical Alzheimer's Cognitive Composite (PACC5) drastic cognitive decline as the disease progresses 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en-US" dirty="0"/>
              <a:t>A</a:t>
            </a:r>
            <a:r>
              <a:rPr lang="el-GR" altLang="en-US" dirty="0"/>
              <a:t>β </a:t>
            </a:r>
            <a:r>
              <a:rPr lang="en-US" altLang="en-US" dirty="0"/>
              <a:t>positivity (A+) based on the A</a:t>
            </a:r>
            <a:r>
              <a:rPr lang="el-GR" altLang="en-US" dirty="0"/>
              <a:t>β42/</a:t>
            </a:r>
            <a:r>
              <a:rPr lang="en-US" altLang="en-US" dirty="0"/>
              <a:t>A</a:t>
            </a:r>
            <a:r>
              <a:rPr lang="el-GR" altLang="en-US" dirty="0"/>
              <a:t>β40 </a:t>
            </a:r>
            <a:r>
              <a:rPr lang="en-US" altLang="en-US" dirty="0"/>
              <a:t>ratio cut-off to define all cases</a:t>
            </a:r>
          </a:p>
        </p:txBody>
      </p:sp>
      <p:pic>
        <p:nvPicPr>
          <p:cNvPr id="7" name="Picture 6" descr="A chart of different colored lines&#10;&#10;AI-generated content may be incorrect.">
            <a:extLst>
              <a:ext uri="{FF2B5EF4-FFF2-40B4-BE49-F238E27FC236}">
                <a16:creationId xmlns:a16="http://schemas.microsoft.com/office/drawing/2014/main" id="{CB6FD816-6D94-EFCF-6994-932B27B1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45" y="1341120"/>
            <a:ext cx="5412752" cy="46590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83E700-FC79-770F-32B4-6966FEA1119F}"/>
              </a:ext>
            </a:extLst>
          </p:cNvPr>
          <p:cNvSpPr txBox="1"/>
          <p:nvPr/>
        </p:nvSpPr>
        <p:spPr>
          <a:xfrm>
            <a:off x="8254583" y="6003183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7" dirty="0"/>
              <a:t>(Jessen et al., 2023)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AA8F0-0F0B-5DF6-1929-67D3BA89BBB9}"/>
              </a:ext>
            </a:extLst>
          </p:cNvPr>
          <p:cNvSpPr txBox="1"/>
          <p:nvPr/>
        </p:nvSpPr>
        <p:spPr>
          <a:xfrm>
            <a:off x="37319" y="6365558"/>
            <a:ext cx="117771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Jessen F, </a:t>
            </a:r>
            <a:r>
              <a:rPr lang="en-US" sz="800" dirty="0" err="1"/>
              <a:t>Wolfsgruber</a:t>
            </a:r>
            <a:r>
              <a:rPr lang="en-US" sz="800" dirty="0"/>
              <a:t> S, </a:t>
            </a:r>
            <a:r>
              <a:rPr lang="en-US" sz="800" dirty="0" err="1"/>
              <a:t>Kleineindam</a:t>
            </a:r>
            <a:r>
              <a:rPr lang="en-US" sz="800" dirty="0"/>
              <a:t> L, </a:t>
            </a:r>
            <a:r>
              <a:rPr lang="en-US" sz="800" dirty="0" err="1"/>
              <a:t>Spottke</a:t>
            </a:r>
            <a:r>
              <a:rPr lang="en-US" sz="800" dirty="0"/>
              <a:t> A, Altenstein S, Bartels C, Berger M, </a:t>
            </a:r>
            <a:r>
              <a:rPr lang="en-US" sz="800" dirty="0" err="1"/>
              <a:t>Brosseron</a:t>
            </a:r>
            <a:r>
              <a:rPr lang="en-US" sz="800" dirty="0"/>
              <a:t> F, </a:t>
            </a:r>
            <a:r>
              <a:rPr lang="en-US" sz="800" dirty="0" err="1"/>
              <a:t>Daamen</a:t>
            </a:r>
            <a:r>
              <a:rPr lang="en-US" sz="800" dirty="0"/>
              <a:t> M, </a:t>
            </a:r>
            <a:r>
              <a:rPr lang="en-US" sz="800" dirty="0" err="1"/>
              <a:t>Dichgans</a:t>
            </a:r>
            <a:r>
              <a:rPr lang="en-US" sz="800" dirty="0"/>
              <a:t> M, </a:t>
            </a:r>
            <a:r>
              <a:rPr lang="en-US" sz="800" dirty="0" err="1"/>
              <a:t>Dobisch</a:t>
            </a:r>
            <a:r>
              <a:rPr lang="en-US" sz="800" dirty="0"/>
              <a:t> L, Ewers M, </a:t>
            </a:r>
            <a:r>
              <a:rPr lang="en-US" sz="800" dirty="0" err="1"/>
              <a:t>Fenski</a:t>
            </a:r>
            <a:r>
              <a:rPr lang="en-US" sz="800" dirty="0"/>
              <a:t> F, </a:t>
            </a:r>
            <a:r>
              <a:rPr lang="en-US" sz="800" dirty="0" err="1"/>
              <a:t>Fliessbach</a:t>
            </a:r>
            <a:r>
              <a:rPr lang="en-US" sz="800" dirty="0"/>
              <a:t> K, Freiesleben SD, Glanz W, </a:t>
            </a:r>
            <a:r>
              <a:rPr lang="en-US" sz="800" dirty="0" err="1"/>
              <a:t>Görß</a:t>
            </a:r>
            <a:r>
              <a:rPr lang="en-US" sz="800" dirty="0"/>
              <a:t> D, Gürsel S, Janowitz D, </a:t>
            </a:r>
            <a:r>
              <a:rPr lang="en-US" sz="800" dirty="0" err="1"/>
              <a:t>Kilimann</a:t>
            </a:r>
            <a:r>
              <a:rPr lang="en-US" sz="800" dirty="0"/>
              <a:t> I, </a:t>
            </a:r>
            <a:r>
              <a:rPr lang="en-US" sz="800" dirty="0" err="1"/>
              <a:t>Kobeleva</a:t>
            </a:r>
            <a:r>
              <a:rPr lang="en-US" sz="800" dirty="0"/>
              <a:t> X, Lohse A, Maier F, Metzger C, Munk M, Preis L, Sanzenbacher C, </a:t>
            </a:r>
            <a:r>
              <a:rPr lang="en-US" sz="800" dirty="0" err="1"/>
              <a:t>Spruth</a:t>
            </a:r>
            <a:r>
              <a:rPr lang="en-US" sz="800" dirty="0"/>
              <a:t> E, </a:t>
            </a:r>
            <a:r>
              <a:rPr lang="en-US" sz="800" dirty="0" err="1"/>
              <a:t>Rauchmann</a:t>
            </a:r>
            <a:r>
              <a:rPr lang="en-US" sz="800" dirty="0"/>
              <a:t> B, Vukovich R, Yakupov R, Weyrauch AS, Ziegler G, Schmid M, Laske C, Perneczky R, Schneider A, Wiltfang J, Teipel S, Bürger K, Priller J, Peters O, Ramirez A, Boecker H, </a:t>
            </a:r>
            <a:r>
              <a:rPr lang="en-US" sz="800" dirty="0" err="1"/>
              <a:t>Heneka</a:t>
            </a:r>
            <a:r>
              <a:rPr lang="en-US" sz="800" dirty="0"/>
              <a:t> MT, Wagner M, </a:t>
            </a:r>
            <a:r>
              <a:rPr lang="en-US" sz="800" dirty="0" err="1"/>
              <a:t>Düzel</a:t>
            </a:r>
            <a:r>
              <a:rPr lang="en-US" sz="800" dirty="0"/>
              <a:t> E. Subjective cognitive decline and stage 2 of Alzheimer disease in patients from memory centers. </a:t>
            </a:r>
            <a:r>
              <a:rPr lang="en-US" sz="800" dirty="0" err="1"/>
              <a:t>Alzheimers</a:t>
            </a:r>
            <a:r>
              <a:rPr lang="en-US" sz="800" dirty="0"/>
              <a:t> Dement. 2023 Feb;19(2):487-497. </a:t>
            </a:r>
            <a:r>
              <a:rPr lang="en-US" sz="800" dirty="0" err="1"/>
              <a:t>doi</a:t>
            </a:r>
            <a:r>
              <a:rPr lang="en-US" sz="800" dirty="0"/>
              <a:t>: 10.1002/alz.12674. </a:t>
            </a:r>
            <a:r>
              <a:rPr lang="en-US" sz="800" dirty="0" err="1"/>
              <a:t>Epub</a:t>
            </a:r>
            <a:r>
              <a:rPr lang="en-US" sz="800" dirty="0"/>
              <a:t> 2022 Apr 22. PMID: 35451563.</a:t>
            </a:r>
          </a:p>
        </p:txBody>
      </p:sp>
    </p:spTree>
    <p:extLst>
      <p:ext uri="{BB962C8B-B14F-4D97-AF65-F5344CB8AC3E}">
        <p14:creationId xmlns:p14="http://schemas.microsoft.com/office/powerpoint/2010/main" val="393742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4D0623-80AC-9ED9-D7EB-7079FF4C2E1F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Latent Vector Study</a:t>
            </a:r>
          </a:p>
        </p:txBody>
      </p:sp>
    </p:spTree>
    <p:extLst>
      <p:ext uri="{BB962C8B-B14F-4D97-AF65-F5344CB8AC3E}">
        <p14:creationId xmlns:p14="http://schemas.microsoft.com/office/powerpoint/2010/main" val="278662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29A80-E1C7-86DE-8EA7-2D9A2F858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1706" y="1544535"/>
            <a:ext cx="6686015" cy="4240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098E6-33F8-16C0-0859-DACFF9ADC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881" y="1439122"/>
            <a:ext cx="4659317" cy="4831047"/>
          </a:xfrm>
        </p:spPr>
        <p:txBody>
          <a:bodyPr>
            <a:noAutofit/>
          </a:bodyPr>
          <a:lstStyle/>
          <a:p>
            <a:r>
              <a:rPr lang="en-US" sz="1600" dirty="0"/>
              <a:t>Each fMRI connectivity matrix is encoded by the frozen GAAE into a 64-dimensional latent vector via mean-pooling over node embeddings</a:t>
            </a:r>
          </a:p>
          <a:p>
            <a:r>
              <a:rPr lang="en-US" sz="1600" dirty="0"/>
              <a:t>All latent vectors are z-</a:t>
            </a:r>
            <a:r>
              <a:rPr lang="en-US" sz="1600" dirty="0" err="1"/>
              <a:t>standardised</a:t>
            </a:r>
            <a:r>
              <a:rPr lang="en-US" sz="1600" dirty="0"/>
              <a:t> across the training set before any downstream analysis</a:t>
            </a:r>
          </a:p>
          <a:p>
            <a:r>
              <a:rPr lang="en-US" sz="1600" dirty="0"/>
              <a:t>A L2-regularised logistic regression is fitted on the </a:t>
            </a:r>
            <a:r>
              <a:rPr lang="en-US" sz="1600" dirty="0" err="1"/>
              <a:t>standardised</a:t>
            </a:r>
            <a:r>
              <a:rPr lang="en-US" sz="1600" dirty="0"/>
              <a:t> embeddings to classify MCI-stable vs. converter</a:t>
            </a:r>
          </a:p>
          <a:p>
            <a:pPr marL="0" indent="0">
              <a:buNone/>
            </a:pPr>
            <a:r>
              <a:rPr lang="en-US" sz="1600" dirty="0"/>
              <a:t>→ the resulting weight vector w̃ ∈ </a:t>
            </a:r>
            <a:r>
              <a:rPr lang="en-US" sz="1600" dirty="0" err="1"/>
              <a:t>ℝ</a:t>
            </a:r>
            <a:r>
              <a:rPr lang="en-US" sz="1600" dirty="0"/>
              <a:t>⁶⁴ defines the disease axis: the linear direction in latent space most predictive of conversion</a:t>
            </a:r>
          </a:p>
          <a:p>
            <a:r>
              <a:rPr lang="en-US" sz="1600" dirty="0"/>
              <a:t>Every scan is projected onto this unit-</a:t>
            </a:r>
            <a:r>
              <a:rPr lang="en-US" sz="1600" dirty="0" err="1"/>
              <a:t>normalised</a:t>
            </a:r>
            <a:r>
              <a:rPr lang="en-US" sz="1600" dirty="0"/>
              <a:t> axis to yield a scalar disease score s = z · </a:t>
            </a:r>
            <a:r>
              <a:rPr lang="en-US" sz="1600" dirty="0" err="1"/>
              <a:t>ŵ</a:t>
            </a:r>
            <a:r>
              <a:rPr lang="en-US" sz="1600" dirty="0"/>
              <a:t>, where positive values indicate proximity to the converter class and negative values to stable MCI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AEDC5B-517F-E8CF-A82E-9D85D0DA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GAAE Latent Vector (Disease Progression)</a:t>
            </a:r>
          </a:p>
        </p:txBody>
      </p:sp>
    </p:spTree>
    <p:extLst>
      <p:ext uri="{BB962C8B-B14F-4D97-AF65-F5344CB8AC3E}">
        <p14:creationId xmlns:p14="http://schemas.microsoft.com/office/powerpoint/2010/main" val="2881694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0DE8180B-2F71-81CB-F3E9-375F26153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82" y="2372047"/>
            <a:ext cx="5126325" cy="386714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52EC7-5B36-45DC-6465-D4EC96ED53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FDCA2-05BD-EC21-3F35-49B925DA97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60B18-61FE-8E61-28DD-C2B23F329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A91C5F-6139-C70E-71C6-E2A2368A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Pretrained Model: Latent Vector Study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D7C6EC-9E8F-0EDB-A993-7FD639C0EA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Encoder Trained on All Cohorts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4DF7056D-136A-0ECB-FDA1-21ADB7C12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034" y="2430124"/>
            <a:ext cx="5675433" cy="1997752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09E31947-093C-7A3B-ADFF-0D11B6C8F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263" y="4468966"/>
            <a:ext cx="5675436" cy="199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73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7D8B-0BF7-D9DB-D368-777AF56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17B0B1-D25D-AA16-56B5-DC7DC83C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GAAE Latent Vector (Predictions in UMAP)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0F543-C13E-1156-A35B-3146D0CA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85" y="2425388"/>
            <a:ext cx="10631701" cy="29341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09C970-D318-9A65-1F41-DB12F67E74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Using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918333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263E56-A5E1-3F28-DD53-6125AD82B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FE358-4225-66D0-707A-C151F8FB1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F716EA-A4A8-26CF-EF8D-5827D3EC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28E3C-222A-8871-0064-CE255E0E4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2190750"/>
            <a:ext cx="75438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0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53D91-CFC3-02E1-14D7-5C517AE2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8FE7E-2DCE-D211-533C-35D20B831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3B210C-F19E-D49B-1AB2-1A4D2C10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1D133-4227-0D66-7D3A-63A69E4B7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3559"/>
            <a:ext cx="7772400" cy="61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3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8679D-B23F-ED42-A7B2-F588972DC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85192-6684-4929-0AF4-9748A505E2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609654-6C23-8471-CDCE-5CFB8973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30A50-E28D-7221-8332-66A0AEE9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20559"/>
            <a:ext cx="7772400" cy="261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00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F44085-7EF3-8C9A-B4FE-F48876A9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E5E15-3E1A-960A-94A9-F04450F7E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AF4E2D-E541-CA19-2B9D-99A80E2F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B69B3-EEE8-96F4-BA6C-56751697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4843"/>
            <a:ext cx="12093743" cy="271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60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AC77-1CD1-9B71-092F-EB683D0D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EEF53-7470-EA4D-CB44-D03FD48846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AA83D4-B19D-651E-B480-9C009124F05E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VAE</a:t>
            </a:r>
          </a:p>
        </p:txBody>
      </p:sp>
    </p:spTree>
    <p:extLst>
      <p:ext uri="{BB962C8B-B14F-4D97-AF65-F5344CB8AC3E}">
        <p14:creationId xmlns:p14="http://schemas.microsoft.com/office/powerpoint/2010/main" val="4164052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6A6A72-5733-02DD-65EB-738E513778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399EB0-CEA1-6D34-6D90-B2BD11B7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Recent Results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56D70FD-067B-43C6-8D54-84D142E4A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82" y="1044735"/>
            <a:ext cx="11345332" cy="673739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Moving to a VAE for the GAAE (Pretext model)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650EB50-8185-0082-DFDF-DCC4A65D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393" y="1464490"/>
            <a:ext cx="6780308" cy="21223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E2F219-2489-D808-B358-58E059B53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391" y="3598062"/>
            <a:ext cx="6780308" cy="21174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3B226E-A01C-79B4-2F14-9F8C90B74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390" y="5771489"/>
            <a:ext cx="6780308" cy="884388"/>
          </a:xfrm>
          <a:prstGeom prst="rect">
            <a:avLst/>
          </a:prstGeom>
        </p:spPr>
      </p:pic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DF5B54-E2AB-AA68-D63C-DDF39606CB95}"/>
              </a:ext>
            </a:extLst>
          </p:cNvPr>
          <p:cNvSpPr txBox="1">
            <a:spLocks/>
          </p:cNvSpPr>
          <p:nvPr/>
        </p:nvSpPr>
        <p:spPr>
          <a:xfrm>
            <a:off x="414879" y="2409039"/>
            <a:ext cx="2282508" cy="224714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 i="1" u="sng" dirty="0">
                <a:solidFill>
                  <a:srgbClr val="FF0000"/>
                </a:solidFill>
              </a:rPr>
              <a:t>TODO 2:</a:t>
            </a:r>
            <a:br>
              <a:rPr lang="en-US" sz="1467" b="1" dirty="0">
                <a:solidFill>
                  <a:srgbClr val="FF0000"/>
                </a:solidFill>
              </a:rPr>
            </a:br>
            <a:r>
              <a:rPr lang="en-US" sz="1467" b="1" dirty="0">
                <a:solidFill>
                  <a:srgbClr val="FF0000"/>
                </a:solidFill>
              </a:rPr>
              <a:t>Check if the Pretext model even helps the classifier, so how the performance of the classifier looks like without it</a:t>
            </a:r>
            <a:endParaRPr lang="en-US" sz="1467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57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341F68-0A89-4032-4B11-05D3FA70592E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Noise Perturbated Input</a:t>
            </a:r>
          </a:p>
        </p:txBody>
      </p:sp>
    </p:spTree>
    <p:extLst>
      <p:ext uri="{BB962C8B-B14F-4D97-AF65-F5344CB8AC3E}">
        <p14:creationId xmlns:p14="http://schemas.microsoft.com/office/powerpoint/2010/main" val="419225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D8348C-11E3-07B8-1CF3-B99E70C7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69" y="1047718"/>
            <a:ext cx="5090795" cy="2381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9A610-69BC-54B8-7F73-5BAB37DE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36" y="3988172"/>
            <a:ext cx="5336309" cy="2200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D5E20-D541-0C53-B005-4E4C9242E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02" y="668939"/>
            <a:ext cx="4716329" cy="2856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14462B-03AF-E31C-1495-62EEED412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037" y="4268827"/>
            <a:ext cx="4257677" cy="192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62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6EC9-77DB-981B-8EBE-FA72295D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43941-863E-1680-D274-EC9CD37D3F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F8531-3F55-9F78-74C4-D21742E4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07" y="1533605"/>
            <a:ext cx="6714281" cy="2370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77FF9-E610-47ED-45A8-DE1766AB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7" y="4136438"/>
            <a:ext cx="6600881" cy="23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48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E4CD9-E23C-F21A-D826-E71B1F07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1CFA-2976-9029-9019-B8FC1298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CA560-5D65-1FFA-319E-63F4F55E82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267822-318C-EA42-4061-902A774711B7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LSTM / GRU</a:t>
            </a:r>
          </a:p>
        </p:txBody>
      </p:sp>
    </p:spTree>
    <p:extLst>
      <p:ext uri="{BB962C8B-B14F-4D97-AF65-F5344CB8AC3E}">
        <p14:creationId xmlns:p14="http://schemas.microsoft.com/office/powerpoint/2010/main" val="3319135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7612-840B-B6A5-B0CE-8A20229A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3D4356B-9E82-0F86-B54C-E51C7247F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883" y="1618338"/>
            <a:ext cx="6678971" cy="25628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4E84F-FC7A-EE2C-CF6B-1F5F3AED8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D93406-61F7-5992-E980-5C8FA66C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Recent 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226848-723F-4EDB-74B4-2CAD956AC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137" y="1835508"/>
            <a:ext cx="3414719" cy="22192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ED8E9F-BCE0-2CC9-C447-2579D4565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04" y="4181199"/>
            <a:ext cx="6924928" cy="2657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22EC96-C6FC-CEDF-0772-2B9949B1F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710" y="4488922"/>
            <a:ext cx="3602189" cy="2041793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522C54-8E88-05F1-4752-C82BF3741C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82" y="1044735"/>
            <a:ext cx="11345332" cy="673739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LSTM vs GRU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55EF0-4C51-7DCE-9837-2695BC748006}"/>
              </a:ext>
            </a:extLst>
          </p:cNvPr>
          <p:cNvSpPr/>
          <p:nvPr/>
        </p:nvSpPr>
        <p:spPr>
          <a:xfrm>
            <a:off x="9358804" y="4225337"/>
            <a:ext cx="2588621" cy="83507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1400" dirty="0"/>
              <a:t>GRU perform in general better on shorter longitudinal than LSTMs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48D5D-6D53-6816-9C30-CBAC3BB95545}"/>
              </a:ext>
            </a:extLst>
          </p:cNvPr>
          <p:cNvSpPr/>
          <p:nvPr/>
        </p:nvSpPr>
        <p:spPr>
          <a:xfrm>
            <a:off x="3966072" y="4488921"/>
            <a:ext cx="1520328" cy="299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25287-39B7-5505-D17F-A9BE65350A6F}"/>
              </a:ext>
            </a:extLst>
          </p:cNvPr>
          <p:cNvSpPr/>
          <p:nvPr/>
        </p:nvSpPr>
        <p:spPr>
          <a:xfrm>
            <a:off x="3966072" y="1927903"/>
            <a:ext cx="1520328" cy="299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1815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9418-8F6D-160B-A866-CE21EDE1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99D8-8EB2-2DE2-B53E-A2CBE5C3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4B3A3-C5A5-54FB-676E-7556905465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ED6079-0BDD-2A85-63C2-A2B770F74A4A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AUC on BRAIN ROIs</a:t>
            </a:r>
          </a:p>
        </p:txBody>
      </p:sp>
    </p:spTree>
    <p:extLst>
      <p:ext uri="{BB962C8B-B14F-4D97-AF65-F5344CB8AC3E}">
        <p14:creationId xmlns:p14="http://schemas.microsoft.com/office/powerpoint/2010/main" val="3978811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7FD582-DD3C-C74B-1035-FE88B1FC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1577"/>
            <a:ext cx="8094262" cy="3209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B61A35-4359-4B61-D331-10B30697E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62" y="2109386"/>
            <a:ext cx="3835400" cy="37338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D7281C-4597-28C6-ED47-DA78387C9C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33786" y="1526434"/>
            <a:ext cx="3305780" cy="428547"/>
          </a:xfrm>
        </p:spPr>
        <p:txBody>
          <a:bodyPr>
            <a:norm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Heatmap - region x model AUC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BFDEB9D-801C-1E94-6423-A2EF731288FF}"/>
              </a:ext>
            </a:extLst>
          </p:cNvPr>
          <p:cNvSpPr txBox="1">
            <a:spLocks/>
          </p:cNvSpPr>
          <p:nvPr/>
        </p:nvSpPr>
        <p:spPr>
          <a:xfrm>
            <a:off x="2995593" y="1740708"/>
            <a:ext cx="3305780" cy="428547"/>
          </a:xfrm>
          <a:prstGeom prst="rect">
            <a:avLst/>
          </a:prstGeom>
        </p:spPr>
        <p:txBody>
          <a:bodyPr vert="horz" lIns="0" tIns="93600" rIns="0" bIns="0" rtlCol="0">
            <a:normAutofit/>
          </a:bodyPr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94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47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</a:rPr>
              <a:t>Forest plot - AUC per (model, region)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9711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9FB9-31B0-95D8-41FE-CCCC1210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7D4F-8BFA-A981-25DF-9F1B283039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F9342-8464-2781-3096-5A5858968F9E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SCANNER/SCANNING PROCEDURE DRIFT</a:t>
            </a:r>
          </a:p>
        </p:txBody>
      </p:sp>
    </p:spTree>
    <p:extLst>
      <p:ext uri="{BB962C8B-B14F-4D97-AF65-F5344CB8AC3E}">
        <p14:creationId xmlns:p14="http://schemas.microsoft.com/office/powerpoint/2010/main" val="1726544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C2B2-C018-5E4E-CA14-0118334C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F1BE0-24C5-8326-00D1-BE77277485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F056D-81F7-7144-25D8-9B61432A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41" y="2209367"/>
            <a:ext cx="10503797" cy="35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45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26D70B-6C42-A8FB-65E5-E5C857F9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6" y="4622961"/>
            <a:ext cx="7351754" cy="1956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EBC09A-B521-9726-8586-35C32050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082" y="2437823"/>
            <a:ext cx="2908300" cy="298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FEAA7A-8947-A5FD-8336-C167998CC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83" y="709668"/>
            <a:ext cx="7772400" cy="363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8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1348</Words>
  <Application>Microsoft Macintosh PowerPoint</Application>
  <PresentationFormat>Widescreen</PresentationFormat>
  <Paragraphs>116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Master Thesis: Alzheimer Prediction</vt:lpstr>
      <vt:lpstr>Motivation</vt:lpstr>
      <vt:lpstr>Alzheimer’s Disease  Modifying treatment</vt:lpstr>
      <vt:lpstr>Current Paradigm</vt:lpstr>
      <vt:lpstr>Several Issues:  1. Functional "Collapse" Precedes Structural Atrophy 2. Burdensome for elderly patients. </vt:lpstr>
      <vt:lpstr>Several Issues:  1. Functional "Collapse" Precedes Structural Atrophy 2. Burdensome for elderly patients.  Can  we identify functionally vulnerable patients early on? </vt:lpstr>
      <vt:lpstr>Why combine with deep learning?</vt:lpstr>
      <vt:lpstr>SoTA</vt:lpstr>
      <vt:lpstr>Usual Workflow for fMRI Preprocessing</vt:lpstr>
      <vt:lpstr>Theoretical Background</vt:lpstr>
      <vt:lpstr>Theoretical Framework: fMRI as a Reliable Method for Brain Pathologies</vt:lpstr>
      <vt:lpstr>Theoretical Framework: MCI and The Alzheimer’s Disease Continuum</vt:lpstr>
      <vt:lpstr>PowerPoint Presentation</vt:lpstr>
      <vt:lpstr>Evaluating the GAAE Latent Vector (Disease Progression)</vt:lpstr>
      <vt:lpstr>Pretrained Model: Latent Vector Study</vt:lpstr>
      <vt:lpstr>Evaluating the GAAE Latent Vector (Predictions in UMAP)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Most Recent Results</vt:lpstr>
      <vt:lpstr>PowerPoint Presentation</vt:lpstr>
      <vt:lpstr>PowerPoint Presentation</vt:lpstr>
      <vt:lpstr>PowerPoint Presentation</vt:lpstr>
      <vt:lpstr>PowerPoint Presentation</vt:lpstr>
      <vt:lpstr>Most Recent Results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Lakhal, Fraj Yassine</dc:creator>
  <cp:lastModifiedBy>Lakhal, Fraj Yassine</cp:lastModifiedBy>
  <cp:revision>3</cp:revision>
  <dcterms:created xsi:type="dcterms:W3CDTF">2025-12-02T16:03:13Z</dcterms:created>
  <dcterms:modified xsi:type="dcterms:W3CDTF">2026-06-25T10:51:08Z</dcterms:modified>
</cp:coreProperties>
</file>