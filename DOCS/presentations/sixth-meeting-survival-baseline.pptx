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355" r:id="rId2"/>
    <p:sldId id="461" r:id="rId3"/>
    <p:sldId id="464" r:id="rId4"/>
    <p:sldId id="466" r:id="rId5"/>
    <p:sldId id="467" r:id="rId6"/>
    <p:sldId id="472" r:id="rId7"/>
    <p:sldId id="468" r:id="rId8"/>
    <p:sldId id="470" r:id="rId9"/>
    <p:sldId id="471" r:id="rId10"/>
    <p:sldId id="4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03"/>
    <p:restoredTop sz="94635"/>
  </p:normalViewPr>
  <p:slideViewPr>
    <p:cSldViewPr snapToGrid="0">
      <p:cViewPr varScale="1">
        <p:scale>
          <a:sx n="144" d="100"/>
          <a:sy n="144" d="100"/>
        </p:scale>
        <p:origin x="216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447B64-E666-0C40-B810-72B670920E3E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91A097-1234-CD44-90F8-1F0981463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272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740025" y="500063"/>
            <a:ext cx="4445000" cy="250031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372D8-CFB9-B041-07A8-2896022E2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2D69C-BBAA-1004-2EEA-57F1051CE4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10FB7-8E55-9829-EDBC-CB9A549F7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B5844-B70D-4F4D-BE46-022780FFE2C6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32743-6CBB-B319-0310-61258E89E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29786-BD7E-DBFB-6087-4070971B1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AC200-7A57-C145-AD8F-6D00390B4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927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D1272-2748-564C-1AE4-FCCFC5136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EC681-CACB-A8AF-6870-D6C5C26F1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9AFAD-5077-9AB7-D356-3369B562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B5844-B70D-4F4D-BE46-022780FFE2C6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CCB9C-77A7-93A3-A8DA-BA2BC8550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B3AAB-62CF-FEDF-9E45-7702E6881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AC200-7A57-C145-AD8F-6D00390B4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946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4C7E1-37A9-1412-358E-F1050A4A2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30EEC-7F0B-E2D5-2539-4692CC6EA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3B6FB-5CF8-3682-043B-BAD006038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B5844-B70D-4F4D-BE46-022780FFE2C6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518FE-8CB1-2570-F237-3BA7C272D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D650C-20AE-5F7C-93DE-9EC6D776D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AC200-7A57-C145-AD8F-6D00390B4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062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D02DD-6FB7-5191-6066-BFBCAF180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C2B7C-8E74-3FBD-547A-F6BAB02C8D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9F4C0F-FF6A-C0DF-2087-A7F5E69B4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0FE90-E73B-0B50-6EB2-A27549282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B5844-B70D-4F4D-BE46-022780FFE2C6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5B9E9-448F-83B4-1E9F-FC7E835C2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91DC9-3629-8307-3714-8EB96F89A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AC200-7A57-C145-AD8F-6D00390B4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01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82C3C-8703-9209-0CBF-210CB1445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FDF1D-43F3-2695-861B-709B26667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4E4A1A-DC8C-7B5D-82D5-1EB0D23E9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034D9-B778-A2FF-ACB5-A48478E967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F8B3A4-81D4-E73D-4626-7C0D71069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98F23D-A60F-1069-0BAE-352870807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B5844-B70D-4F4D-BE46-022780FFE2C6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1A77EE-69A6-091C-8BF8-CEF95E98C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C4B077-4388-E3DF-669B-2338133A8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AC200-7A57-C145-AD8F-6D00390B4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409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B038-BAF5-8AF4-E9B8-12EE03671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DF75BD-AFA2-EBAE-1E3F-4004D0CF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B5844-B70D-4F4D-BE46-022780FFE2C6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692A77-486B-96EA-0544-984C11210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DD48E-56DA-DB56-F392-38E75C663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AC200-7A57-C145-AD8F-6D00390B4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97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CBFC8C-66CF-4B3B-5C3F-7BBCAE140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B5844-B70D-4F4D-BE46-022780FFE2C6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16DD7F-6B47-DFE7-F314-1768B7A09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0886A-1596-FBEF-AC98-C6A86C8BC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AC200-7A57-C145-AD8F-6D00390B4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472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9F970-0373-B103-7AC5-315CD3AB6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DD75E-AAB2-29AD-B5BF-261D617C6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7A709-03DB-26EC-B7FC-83E3EC132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6990A-C4DD-CA9C-3451-7BD2B94A8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B5844-B70D-4F4D-BE46-022780FFE2C6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286BE8-4E51-14DE-A3F1-09FB8C608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FD498E-6C90-A527-CDA0-09C43689D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AC200-7A57-C145-AD8F-6D00390B4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828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43B1A-5079-D1D7-6170-83A5A2EA7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08B186-E9C6-0261-F9B4-41B66B7F52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69C0CD-83C4-C9D7-8409-F30C8C8B2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1252C2-85C1-9F91-E689-9FDC5E5B2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B5844-B70D-4F4D-BE46-022780FFE2C6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0B7E4D-2160-9E37-BC78-1E46890AA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AF508-3CBA-165C-6DF6-943DA98DE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AC200-7A57-C145-AD8F-6D00390B4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530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14676-C9D8-F157-B956-DC338B42D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53B9F5-FB8F-45E2-4AD3-B54F5036BA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A2776-AE12-29B5-033C-5DB00B8D4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B5844-B70D-4F4D-BE46-022780FFE2C6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F5CFB-C8C2-D794-D26B-71BCB5353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E12A7-7531-1910-9AF5-C633F3328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AC200-7A57-C145-AD8F-6D00390B4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171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1714FB-B9C3-02CB-A15B-9E46DCF83F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E7A6AD-0522-130F-31F5-2E76034FF5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AF783-9411-A797-B2F2-953482E66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B5844-B70D-4F4D-BE46-022780FFE2C6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52D08-C43A-437F-43B0-93DA9FC04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8775F-5FB3-F2E6-6406-F79F4004B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AC200-7A57-C145-AD8F-6D00390B4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08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1296001"/>
            <a:ext cx="11345332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425451" y="1978720"/>
            <a:ext cx="11345332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867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11130180" y="6408271"/>
            <a:ext cx="766981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667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819404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2008916"/>
            <a:ext cx="11345332" cy="423948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  <a:lvl2pPr>
              <a:lnSpc>
                <a:spcPct val="114000"/>
              </a:lnSpc>
              <a:defRPr lang="de-DE" sz="1867" noProof="0" dirty="0" smtClean="0"/>
            </a:lvl2pPr>
            <a:lvl3pPr>
              <a:defRPr sz="1867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14882" y="1249119"/>
            <a:ext cx="11345332" cy="66358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883" y="391280"/>
            <a:ext cx="11345332" cy="53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94737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95592E-1DB5-4463-B018-4791BEE8D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932DB6-72FE-8AA3-10E3-2DC0B50D8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0494C-745A-164E-7483-1D238B2C3E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B5844-B70D-4F4D-BE46-022780FFE2C6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4B593-9462-A7F5-A01E-0AAE0BB6C3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57198-D3C4-1C04-DA2B-C7B399AA72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9AC200-7A57-C145-AD8F-6D00390B4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45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 4" descr="TUM_Glockenturm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730" y="907282"/>
            <a:ext cx="6817853" cy="5950719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25454" y="1175683"/>
            <a:ext cx="11345332" cy="17258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133"/>
              </a:spcAft>
            </a:pPr>
            <a:r>
              <a:rPr lang="en-US" sz="3733" b="1" dirty="0">
                <a:solidFill>
                  <a:srgbClr val="0064BD"/>
                </a:solidFill>
              </a:rPr>
              <a:t>Longitudinal Data Results</a:t>
            </a:r>
            <a:br>
              <a:rPr lang="en-US" sz="1333" b="1" dirty="0"/>
            </a:br>
            <a:r>
              <a:rPr lang="de-DE" sz="1867" b="1" dirty="0"/>
              <a:t>Fraj Yassine Lakhal</a:t>
            </a:r>
            <a:br>
              <a:rPr lang="de-DE" sz="1467" dirty="0"/>
            </a:br>
            <a:r>
              <a:rPr lang="en-US" sz="1867" dirty="0"/>
              <a:t>TUM School of Computation, Information and Technology</a:t>
            </a:r>
            <a:br>
              <a:rPr lang="de-DE" sz="2400" dirty="0"/>
            </a:br>
            <a:endParaRPr lang="en-US" sz="3733" b="1" dirty="0"/>
          </a:p>
        </p:txBody>
      </p:sp>
      <p:sp>
        <p:nvSpPr>
          <p:cNvPr id="3" name="Inhaltsplatzhalter 2"/>
          <p:cNvSpPr>
            <a:spLocks noGrp="1"/>
          </p:cNvSpPr>
          <p:nvPr>
            <p:ph idx="10"/>
          </p:nvPr>
        </p:nvSpPr>
        <p:spPr>
          <a:xfrm>
            <a:off x="421216" y="3454196"/>
            <a:ext cx="11349568" cy="3475957"/>
          </a:xfrm>
        </p:spPr>
        <p:txBody>
          <a:bodyPr/>
          <a:lstStyle/>
          <a:p>
            <a:r>
              <a:rPr lang="en-US" sz="1200" b="1" dirty="0"/>
              <a:t>Functional Neuroimaging, LMU</a:t>
            </a:r>
          </a:p>
          <a:p>
            <a:r>
              <a:rPr lang="de-DE" sz="1200" dirty="0">
                <a:solidFill>
                  <a:schemeClr val="bg1">
                    <a:lumMod val="50000"/>
                  </a:schemeClr>
                </a:solidFill>
              </a:rPr>
              <a:t>Supervisor: </a:t>
            </a:r>
            <a:r>
              <a:rPr lang="de-DE" sz="1200" dirty="0"/>
              <a:t>Dr. med. Stephan Wunderlich</a:t>
            </a:r>
          </a:p>
          <a:p>
            <a:endParaRPr lang="de-DE" sz="1200" i="1" dirty="0"/>
          </a:p>
          <a:p>
            <a:r>
              <a:rPr lang="en-US" sz="1200" b="1" dirty="0"/>
              <a:t>Computer Aided Medical Procedures &amp; Augmented Reality, TUM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Supervisor(s): </a:t>
            </a:r>
            <a:r>
              <a:rPr lang="en-US" sz="1200" dirty="0"/>
              <a:t>M.Sc. Chantal Pellegrini, Dr. Shahrooz Faghihroohi</a:t>
            </a:r>
            <a:endParaRPr lang="en-US" sz="1200" i="1" dirty="0"/>
          </a:p>
          <a:p>
            <a:endParaRPr lang="en-US" i="1" dirty="0"/>
          </a:p>
          <a:p>
            <a:endParaRPr lang="en-US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84250C-65B7-1FC9-52C3-8EE2008FD156}"/>
              </a:ext>
            </a:extLst>
          </p:cNvPr>
          <p:cNvSpPr txBox="1"/>
          <p:nvPr/>
        </p:nvSpPr>
        <p:spPr>
          <a:xfrm>
            <a:off x="305135" y="6521771"/>
            <a:ext cx="6096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67" b="1" dirty="0">
                <a:solidFill>
                  <a:schemeClr val="tx2"/>
                </a:solidFill>
              </a:rPr>
              <a:t>München, 24.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D20769-53E8-CB9C-02BC-F4D968A0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883" y="1103660"/>
            <a:ext cx="5391557" cy="4239485"/>
          </a:xfrm>
        </p:spPr>
        <p:txBody>
          <a:bodyPr/>
          <a:lstStyle/>
          <a:p>
            <a:r>
              <a:rPr lang="en-US" sz="1800" dirty="0"/>
              <a:t>Significant imbalance between converters (Longitudinal 196 scans) vs non-converters or stable mci (Baseline only 99 Scans) </a:t>
            </a:r>
          </a:p>
          <a:p>
            <a:pPr marL="0" indent="0">
              <a:buNone/>
            </a:pPr>
            <a:r>
              <a:rPr lang="en-US" sz="1800" dirty="0"/>
              <a:t>→ Workaround: Use Weighted Cost Averaging </a:t>
            </a:r>
          </a:p>
          <a:p>
            <a:endParaRPr lang="en-US" sz="1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18A2B1-2477-DA49-64A8-5A30D0587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pic>
        <p:nvPicPr>
          <p:cNvPr id="8" name="Picture 7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FAD4F943-7509-EBB2-5E7A-353703EA7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923220"/>
            <a:ext cx="6020215" cy="17106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34962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FDD2B-1823-E37B-95F1-0F48A71AF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BB1641-E60D-A188-4B32-9C7288F7D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883" y="1103660"/>
            <a:ext cx="5391557" cy="4239485"/>
          </a:xfrm>
        </p:spPr>
        <p:txBody>
          <a:bodyPr/>
          <a:lstStyle/>
          <a:p>
            <a:r>
              <a:rPr lang="en-US" sz="1800" dirty="0"/>
              <a:t>Significant imbalance between converters (Longitudinal 196 scans) vs non-converters or stable mci (Baseline only 99 Scans) </a:t>
            </a:r>
          </a:p>
          <a:p>
            <a:pPr marL="0" indent="0">
              <a:buNone/>
            </a:pPr>
            <a:r>
              <a:rPr lang="en-US" sz="1800" dirty="0"/>
              <a:t>→ Workaround: Use Weighted Cost Averaging </a:t>
            </a:r>
          </a:p>
          <a:p>
            <a:endParaRPr lang="en-US" sz="1800" dirty="0"/>
          </a:p>
          <a:p>
            <a:r>
              <a:rPr lang="en-US" sz="1800" dirty="0"/>
              <a:t>Adding Gaussian Noise to the patient graphs and seeing the effect on the classification error to understand bad performance</a:t>
            </a:r>
          </a:p>
          <a:p>
            <a:pPr marL="0" indent="0">
              <a:buNone/>
            </a:pPr>
            <a:r>
              <a:rPr lang="en-US" sz="1800" dirty="0"/>
              <a:t>→ Deprioritized: much better results </a:t>
            </a:r>
          </a:p>
          <a:p>
            <a:pPr marL="0" indent="0">
              <a:buNone/>
            </a:pPr>
            <a:r>
              <a:rPr lang="en-US" sz="1800" dirty="0"/>
              <a:t>with new longitudinal stable mci data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FB84C77-FDA7-0882-E138-D69739FDA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pic>
        <p:nvPicPr>
          <p:cNvPr id="6" name="Picture 5" descr="A group of graphs with text&#10;&#10;AI-generated content may be incorrect.">
            <a:extLst>
              <a:ext uri="{FF2B5EF4-FFF2-40B4-BE49-F238E27FC236}">
                <a16:creationId xmlns:a16="http://schemas.microsoft.com/office/drawing/2014/main" id="{71C66978-4DD7-4886-F2B1-F185F252A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938" y="3705232"/>
            <a:ext cx="7772400" cy="29744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F607BB4A-AB1A-BE86-773E-1634E1F9B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123" y="923220"/>
            <a:ext cx="6020215" cy="17106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95522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E3100-9C58-B707-8FCB-1C17FFEE4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F2A33C-2EF9-E75F-8870-5444EAC04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883" y="1103660"/>
            <a:ext cx="11345332" cy="4239485"/>
          </a:xfrm>
        </p:spPr>
        <p:txBody>
          <a:bodyPr/>
          <a:lstStyle/>
          <a:p>
            <a:r>
              <a:rPr lang="en-US" sz="1800" dirty="0"/>
              <a:t>Limiting the input to the DMN and comparing to the whole brain</a:t>
            </a:r>
          </a:p>
          <a:p>
            <a:pPr marL="0" indent="0">
              <a:buNone/>
            </a:pPr>
            <a:r>
              <a:rPr lang="en-US" sz="1800" dirty="0"/>
              <a:t>→ Replace Youden’s index (prioritizes Sens and Spec) with Better F1 to find optimal threshold</a:t>
            </a:r>
          </a:p>
          <a:p>
            <a:endParaRPr lang="en-US" sz="1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5C4247-3B11-BBB2-2814-A2F4A7BAB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pic>
        <p:nvPicPr>
          <p:cNvPr id="6" name="Picture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9CA66E64-5FFC-3D3F-5464-24DDB4E3A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624" y="2448912"/>
            <a:ext cx="8087850" cy="36090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87560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5157AB-FEB9-4189-92A3-D6F22A9889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730" y="2152535"/>
            <a:ext cx="7918833" cy="35494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D74F5ED-9BE3-53FD-830B-68673BFC2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230990F-6831-45A9-6DCC-FC57628A25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4883" y="5992536"/>
            <a:ext cx="11345332" cy="663584"/>
          </a:xfrm>
        </p:spPr>
        <p:txBody>
          <a:bodyPr/>
          <a:lstStyle/>
          <a:p>
            <a:r>
              <a:rPr lang="en-US" b="1" u="sng" dirty="0"/>
              <a:t>Issue</a:t>
            </a:r>
            <a:r>
              <a:rPr lang="en-US" dirty="0"/>
              <a:t>: test data is small 14 Subjects – 78 Scans</a:t>
            </a:r>
          </a:p>
        </p:txBody>
      </p:sp>
      <p:pic>
        <p:nvPicPr>
          <p:cNvPr id="8" name="Content Placeholder 5" descr="A screen shot of a number&#10;&#10;AI-generated content may be incorrect.">
            <a:extLst>
              <a:ext uri="{FF2B5EF4-FFF2-40B4-BE49-F238E27FC236}">
                <a16:creationId xmlns:a16="http://schemas.microsoft.com/office/drawing/2014/main" id="{1CAEA45A-8EC2-40BD-7F1F-9D0180FB2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347" y="635667"/>
            <a:ext cx="6553200" cy="9144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A21340-01C1-2909-15B5-0C91D53D4385}"/>
              </a:ext>
            </a:extLst>
          </p:cNvPr>
          <p:cNvSpPr txBox="1"/>
          <p:nvPr/>
        </p:nvSpPr>
        <p:spPr>
          <a:xfrm>
            <a:off x="9224502" y="1794454"/>
            <a:ext cx="19795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Test Dataset Results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48CD45-9B94-C7C5-E3F1-41D048AD9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6563" y="2152533"/>
            <a:ext cx="4072311" cy="35494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B5E9284-28C1-1888-1D44-016CAE04967D}"/>
              </a:ext>
            </a:extLst>
          </p:cNvPr>
          <p:cNvSpPr txBox="1"/>
          <p:nvPr/>
        </p:nvSpPr>
        <p:spPr>
          <a:xfrm>
            <a:off x="3195766" y="1794454"/>
            <a:ext cx="1149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CV Results</a:t>
            </a:r>
          </a:p>
        </p:txBody>
      </p:sp>
    </p:spTree>
    <p:extLst>
      <p:ext uri="{BB962C8B-B14F-4D97-AF65-F5344CB8AC3E}">
        <p14:creationId xmlns:p14="http://schemas.microsoft.com/office/powerpoint/2010/main" val="3040143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F185B-D4EE-07D3-50ED-78FA749A5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F25BA3-5866-D98E-ED53-7CF79CA627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570" y="2770542"/>
            <a:ext cx="10689123" cy="35090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21FE7-5F36-4230-2A2D-5A6166E96A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4883" y="1605379"/>
            <a:ext cx="11345332" cy="663584"/>
          </a:xfrm>
        </p:spPr>
        <p:txBody>
          <a:bodyPr>
            <a:normAutofit/>
          </a:bodyPr>
          <a:lstStyle/>
          <a:p>
            <a:r>
              <a:rPr lang="en-US" dirty="0"/>
              <a:t>FDR_j = |</a:t>
            </a:r>
            <a:r>
              <a:rPr lang="el-GR" dirty="0"/>
              <a:t>μ_</a:t>
            </a:r>
            <a:r>
              <a:rPr lang="en-US" dirty="0"/>
              <a:t>conv_j - </a:t>
            </a:r>
            <a:r>
              <a:rPr lang="el-GR" dirty="0"/>
              <a:t>μ_</a:t>
            </a:r>
            <a:r>
              <a:rPr lang="en-US" dirty="0"/>
              <a:t>mci_j|² / (</a:t>
            </a:r>
            <a:r>
              <a:rPr lang="el-GR" dirty="0"/>
              <a:t>σ²_</a:t>
            </a:r>
            <a:r>
              <a:rPr lang="en-US" dirty="0"/>
              <a:t>conv_j + </a:t>
            </a:r>
            <a:r>
              <a:rPr lang="el-GR" dirty="0"/>
              <a:t>σ²_</a:t>
            </a:r>
            <a:r>
              <a:rPr lang="en-US" dirty="0"/>
              <a:t>mci_j) for each dimension j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FE2265-C7BB-2D6C-FAC1-0B367B4F4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883" y="391280"/>
            <a:ext cx="11345332" cy="1083374"/>
          </a:xfrm>
        </p:spPr>
        <p:txBody>
          <a:bodyPr/>
          <a:lstStyle/>
          <a:p>
            <a:r>
              <a:rPr lang="en-US" dirty="0"/>
              <a:t>Evaluating the GAAE Latent Vector (Relevant Dimensions 64D Latent Vector)</a:t>
            </a:r>
          </a:p>
        </p:txBody>
      </p:sp>
    </p:spTree>
    <p:extLst>
      <p:ext uri="{BB962C8B-B14F-4D97-AF65-F5344CB8AC3E}">
        <p14:creationId xmlns:p14="http://schemas.microsoft.com/office/powerpoint/2010/main" val="879522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72437-A60A-1F35-7452-8F3332508F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FDR_j = |</a:t>
            </a:r>
            <a:r>
              <a:rPr lang="el-GR" dirty="0"/>
              <a:t>μ_</a:t>
            </a:r>
            <a:r>
              <a:rPr lang="en-US" dirty="0"/>
              <a:t>conv_j - </a:t>
            </a:r>
            <a:r>
              <a:rPr lang="el-GR" dirty="0"/>
              <a:t>μ_</a:t>
            </a:r>
            <a:r>
              <a:rPr lang="en-US" dirty="0"/>
              <a:t>mci_j|² / (</a:t>
            </a:r>
            <a:r>
              <a:rPr lang="el-GR" dirty="0"/>
              <a:t>σ²_</a:t>
            </a:r>
            <a:r>
              <a:rPr lang="en-US" dirty="0"/>
              <a:t>conv_j + </a:t>
            </a:r>
            <a:r>
              <a:rPr lang="el-GR" dirty="0"/>
              <a:t>σ²_</a:t>
            </a:r>
            <a:r>
              <a:rPr lang="en-US" dirty="0"/>
              <a:t>mci_j) for each dimension j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CB76CD-F5C0-4030-AE96-CA842AEF8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the GAAE Latent Vector (Brain ROIs)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00502A-4335-BBAD-EEAF-21ECE5D7F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52" y="1975689"/>
            <a:ext cx="11232982" cy="37820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59185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429A80-E1C7-86DE-8EA7-2D9A2F858B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11706" y="1544535"/>
            <a:ext cx="6686015" cy="42402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098E6-33F8-16C0-0859-DACFF9ADC2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9881" y="1439122"/>
            <a:ext cx="4659317" cy="4831047"/>
          </a:xfrm>
        </p:spPr>
        <p:txBody>
          <a:bodyPr>
            <a:noAutofit/>
          </a:bodyPr>
          <a:lstStyle/>
          <a:p>
            <a:r>
              <a:rPr lang="en-US" sz="1600" dirty="0"/>
              <a:t>Each fMRI connectivity matrix is encoded by the frozen GAAE into a 64-dimensional latent vector via mean-pooling over node embeddings</a:t>
            </a:r>
          </a:p>
          <a:p>
            <a:r>
              <a:rPr lang="en-US" sz="1600" dirty="0"/>
              <a:t>All latent vectors are z-</a:t>
            </a:r>
            <a:r>
              <a:rPr lang="en-US" sz="1600" dirty="0" err="1"/>
              <a:t>standardised</a:t>
            </a:r>
            <a:r>
              <a:rPr lang="en-US" sz="1600" dirty="0"/>
              <a:t> across the training set before any downstream analysis</a:t>
            </a:r>
          </a:p>
          <a:p>
            <a:r>
              <a:rPr lang="en-US" sz="1600" dirty="0"/>
              <a:t>A L2-regularised logistic regression is fitted on the </a:t>
            </a:r>
            <a:r>
              <a:rPr lang="en-US" sz="1600" dirty="0" err="1"/>
              <a:t>standardised</a:t>
            </a:r>
            <a:r>
              <a:rPr lang="en-US" sz="1600" dirty="0"/>
              <a:t> embeddings to classify MCI-stable vs. converter</a:t>
            </a:r>
          </a:p>
          <a:p>
            <a:pPr marL="0" indent="0">
              <a:buNone/>
            </a:pPr>
            <a:r>
              <a:rPr lang="en-US" sz="1600" dirty="0"/>
              <a:t>→ the resulting weight vector w̃ ∈ </a:t>
            </a:r>
            <a:r>
              <a:rPr lang="en-US" sz="1600" dirty="0" err="1"/>
              <a:t>ℝ</a:t>
            </a:r>
            <a:r>
              <a:rPr lang="en-US" sz="1600" dirty="0"/>
              <a:t>⁶⁴ defines the disease axis: the linear direction in latent space most predictive of conversion</a:t>
            </a:r>
          </a:p>
          <a:p>
            <a:r>
              <a:rPr lang="en-US" sz="1600" dirty="0"/>
              <a:t>Every scan is projected onto this unit-</a:t>
            </a:r>
            <a:r>
              <a:rPr lang="en-US" sz="1600" dirty="0" err="1"/>
              <a:t>normalised</a:t>
            </a:r>
            <a:r>
              <a:rPr lang="en-US" sz="1600" dirty="0"/>
              <a:t> axis to yield a scalar disease score s = z · </a:t>
            </a:r>
            <a:r>
              <a:rPr lang="en-US" sz="1600" dirty="0" err="1"/>
              <a:t>ŵ</a:t>
            </a:r>
            <a:r>
              <a:rPr lang="en-US" sz="1600" dirty="0"/>
              <a:t>, where positive values indicate proximity to the converter class and negative values to stable MCI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DAEDC5B-517F-E8CF-A82E-9D85D0DA4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the GAAE Latent Vector (Disease Progression)</a:t>
            </a:r>
          </a:p>
        </p:txBody>
      </p:sp>
    </p:spTree>
    <p:extLst>
      <p:ext uri="{BB962C8B-B14F-4D97-AF65-F5344CB8AC3E}">
        <p14:creationId xmlns:p14="http://schemas.microsoft.com/office/powerpoint/2010/main" val="2881694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47D8B-0BF7-D9DB-D368-777AF56F2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17B0B1-D25D-AA16-56B5-DC7DC83CC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the GAAE Latent Vector (Predictions in UMAP)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90F543-C13E-1156-A35B-3146D0CA4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85" y="2425388"/>
            <a:ext cx="10631701" cy="29341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409C970-D318-9A65-1F41-DB12F67E74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Using 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2918333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E721D5-B0C4-8DAF-8478-4DD854A219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4352" y="2157579"/>
            <a:ext cx="11345863" cy="25428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DF4EFD0-850A-3405-C9BB-81DBBAA02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FC Matrix MCI vs Converter </a:t>
            </a:r>
          </a:p>
        </p:txBody>
      </p:sp>
    </p:spTree>
    <p:extLst>
      <p:ext uri="{BB962C8B-B14F-4D97-AF65-F5344CB8AC3E}">
        <p14:creationId xmlns:p14="http://schemas.microsoft.com/office/powerpoint/2010/main" val="456402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</TotalTime>
  <Words>423</Words>
  <Application>Microsoft Macintosh PowerPoint</Application>
  <PresentationFormat>Widescreen</PresentationFormat>
  <Paragraphs>38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Longitudinal Data Results Fraj Yassine Lakhal TUM School of Computation, Information and Technology </vt:lpstr>
      <vt:lpstr>Recap</vt:lpstr>
      <vt:lpstr>Recap</vt:lpstr>
      <vt:lpstr>Recap</vt:lpstr>
      <vt:lpstr>Model Comparisons</vt:lpstr>
      <vt:lpstr>Evaluating the GAAE Latent Vector (Relevant Dimensions 64D Latent Vector)</vt:lpstr>
      <vt:lpstr>Evaluating the GAAE Latent Vector (Brain ROIs)</vt:lpstr>
      <vt:lpstr>Evaluating the GAAE Latent Vector (Disease Progression)</vt:lpstr>
      <vt:lpstr>Evaluating the GAAE Latent Vector (Predictions in UMAP)</vt:lpstr>
      <vt:lpstr>FC Matrix MCI vs Converter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Lakhal, Fraj Yassine</dc:creator>
  <cp:lastModifiedBy>Lakhal, Fraj Yassine</cp:lastModifiedBy>
  <cp:revision>4</cp:revision>
  <dcterms:created xsi:type="dcterms:W3CDTF">2026-05-07T13:12:44Z</dcterms:created>
  <dcterms:modified xsi:type="dcterms:W3CDTF">2026-05-08T19:27:16Z</dcterms:modified>
</cp:coreProperties>
</file>