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23"/>
  </p:notesMasterIdLst>
  <p:handoutMasterIdLst>
    <p:handoutMasterId r:id="rId24"/>
  </p:handoutMasterIdLst>
  <p:sldIdLst>
    <p:sldId id="355" r:id="rId8"/>
    <p:sldId id="437" r:id="rId9"/>
    <p:sldId id="439" r:id="rId10"/>
    <p:sldId id="441" r:id="rId11"/>
    <p:sldId id="440" r:id="rId12"/>
    <p:sldId id="442" r:id="rId13"/>
    <p:sldId id="443" r:id="rId14"/>
    <p:sldId id="445" r:id="rId15"/>
    <p:sldId id="444" r:id="rId16"/>
    <p:sldId id="446" r:id="rId17"/>
    <p:sldId id="448" r:id="rId18"/>
    <p:sldId id="447" r:id="rId19"/>
    <p:sldId id="450" r:id="rId20"/>
    <p:sldId id="449" r:id="rId21"/>
    <p:sldId id="451" r:id="rId22"/>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BD"/>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78" autoAdjust="0"/>
    <p:restoredTop sz="86146" autoAdjust="0"/>
  </p:normalViewPr>
  <p:slideViewPr>
    <p:cSldViewPr snapToGrid="0">
      <p:cViewPr varScale="1">
        <p:scale>
          <a:sx n="194" d="100"/>
          <a:sy n="194" d="100"/>
        </p:scale>
        <p:origin x="760" y="176"/>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8DAD681E-D228-EC4A-A4C9-E4F766667671}" type="datetime4">
              <a:rPr lang="en-US" smtClean="0"/>
              <a:t>January 28, 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DE3287B3-6190-0B4F-AFB7-0E726D0E0AAF}" type="datetime4">
              <a:rPr lang="en-US" smtClean="0"/>
              <a:t>January 28, 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2</a:t>
            </a:fld>
            <a:endParaRPr lang="en-GB"/>
          </a:p>
        </p:txBody>
      </p:sp>
    </p:spTree>
    <p:extLst>
      <p:ext uri="{BB962C8B-B14F-4D97-AF65-F5344CB8AC3E}">
        <p14:creationId xmlns:p14="http://schemas.microsoft.com/office/powerpoint/2010/main" val="49363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PERMANOVA tests whether the overall connectivity patterns differ between converters and non-converters. </a:t>
            </a:r>
            <a:br>
              <a:rPr lang="en-US" sz="1200" b="0" kern="1200" dirty="0">
                <a:solidFill>
                  <a:schemeClr val="tx1"/>
                </a:solidFill>
                <a:effectLst/>
                <a:latin typeface="Arial" pitchFamily="34" charset="0"/>
                <a:ea typeface="+mn-ea"/>
                <a:cs typeface="Arial" pitchFamily="34" charset="0"/>
              </a:rPr>
            </a:b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A significant p-value (&lt; 0.05) indicates that the groups have different multivariate distributions. The R² value shows how much variance is explained by group membership.</a:t>
            </a:r>
          </a:p>
          <a:p>
            <a:endParaRPr lang="en-US" sz="1200" b="1" i="0" kern="1200" dirty="0">
              <a:solidFill>
                <a:schemeClr val="tx1"/>
              </a:solidFill>
              <a:effectLst/>
              <a:latin typeface="Arial" pitchFamily="34" charset="0"/>
              <a:ea typeface="+mn-ea"/>
              <a:cs typeface="Arial" pitchFamily="34" charset="0"/>
            </a:endParaRPr>
          </a:p>
          <a:p>
            <a:r>
              <a:rPr lang="en-US" sz="1200" b="1" i="0" kern="1200" dirty="0">
                <a:solidFill>
                  <a:schemeClr val="tx1"/>
                </a:solidFill>
                <a:effectLst/>
                <a:latin typeface="Arial" pitchFamily="34" charset="0"/>
                <a:ea typeface="+mn-ea"/>
                <a:cs typeface="Arial" pitchFamily="34" charset="0"/>
              </a:rPr>
              <a:t>F &lt; 1</a:t>
            </a:r>
            <a:r>
              <a:rPr lang="en-US" sz="1200" b="0" i="0" kern="1200" dirty="0">
                <a:solidFill>
                  <a:schemeClr val="tx1"/>
                </a:solidFill>
                <a:effectLst/>
                <a:latin typeface="Arial" pitchFamily="34" charset="0"/>
                <a:ea typeface="+mn-ea"/>
                <a:cs typeface="Arial" pitchFamily="34" charset="0"/>
              </a:rPr>
              <a:t>: Within-group variation is larger than between-group differences</a:t>
            </a:r>
          </a:p>
          <a:p>
            <a:br>
              <a:rPr lang="en-US" dirty="0"/>
            </a:br>
            <a:r>
              <a:rPr lang="el-GR" sz="1200" b="0" i="0" kern="1200" dirty="0">
                <a:solidFill>
                  <a:schemeClr val="tx1"/>
                </a:solidFill>
                <a:effectLst/>
                <a:latin typeface="Arial" pitchFamily="34" charset="0"/>
                <a:ea typeface="+mn-ea"/>
                <a:cs typeface="Arial" pitchFamily="34" charset="0"/>
              </a:rPr>
              <a:t>α = 0.05 </a:t>
            </a:r>
            <a:r>
              <a:rPr lang="en-US" sz="1200" b="0" i="0" kern="1200" dirty="0">
                <a:solidFill>
                  <a:schemeClr val="tx1"/>
                </a:solidFill>
                <a:effectLst/>
                <a:latin typeface="Arial" pitchFamily="34" charset="0"/>
                <a:ea typeface="+mn-ea"/>
                <a:cs typeface="Arial" pitchFamily="34" charset="0"/>
              </a:rPr>
              <a:t>means you're willing to accept a </a:t>
            </a:r>
            <a:r>
              <a:rPr lang="en-US" sz="1200" b="1" i="0" kern="1200" dirty="0">
                <a:solidFill>
                  <a:schemeClr val="tx1"/>
                </a:solidFill>
                <a:effectLst/>
                <a:latin typeface="Arial" pitchFamily="34" charset="0"/>
                <a:ea typeface="+mn-ea"/>
                <a:cs typeface="Arial" pitchFamily="34" charset="0"/>
              </a:rPr>
              <a:t>5% chance of a false positive</a:t>
            </a:r>
            <a:r>
              <a:rPr lang="en-US" sz="1200" b="0" i="0" kern="1200" dirty="0">
                <a:solidFill>
                  <a:schemeClr val="tx1"/>
                </a:solidFill>
                <a:effectLst/>
                <a:latin typeface="Arial" pitchFamily="34" charset="0"/>
                <a:ea typeface="+mn-ea"/>
                <a:cs typeface="Arial" pitchFamily="34" charset="0"/>
              </a:rPr>
              <a:t> (Type I error)</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119436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Network-Based Statistic (NBS) identifies connected components of edges that show group differences.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The left plot shows the distribution of t-statistics for all edges, with red areas indicating suprathreshold edges.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The right plot compares observed component sizes to the null distribution. Only components larger than expected by chance (above the orange line) are significant. </a:t>
            </a:r>
            <a:r>
              <a:rPr lang="en-US" sz="1200" b="0" kern="1200" dirty="0">
                <a:solidFill>
                  <a:schemeClr val="tx1"/>
                </a:solidFill>
                <a:effectLst/>
                <a:latin typeface="Arial" pitchFamily="34" charset="0"/>
                <a:ea typeface="+mn-ea"/>
                <a:cs typeface="Arial" pitchFamily="34" charset="0"/>
                <a:sym typeface="Wingdings" pitchFamily="2" charset="2"/>
              </a:rPr>
              <a:t> </a:t>
            </a:r>
            <a:r>
              <a:rPr lang="en-US" sz="1200" b="0" i="0" kern="1200" dirty="0">
                <a:solidFill>
                  <a:schemeClr val="tx1"/>
                </a:solidFill>
                <a:effectLst/>
                <a:latin typeface="Arial" pitchFamily="34" charset="0"/>
                <a:ea typeface="+mn-ea"/>
                <a:cs typeface="Arial" pitchFamily="34" charset="0"/>
              </a:rPr>
              <a:t>NBS identified 1 significant network component(s), suggesting localized connectivity differences.</a:t>
            </a:r>
            <a:endParaRPr lang="en-US" sz="1200" b="0" kern="1200" dirty="0">
              <a:solidFill>
                <a:schemeClr val="tx1"/>
              </a:solidFill>
              <a:effectLst/>
              <a:latin typeface="Arial" pitchFamily="34" charset="0"/>
              <a:ea typeface="+mn-ea"/>
              <a:cs typeface="Arial"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2810629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Left: Individual network components detected by NBS, with significance indicated by color (green = significant, red = not significant). </a:t>
            </a:r>
          </a:p>
          <a:p>
            <a:pPr marL="0" marR="0" lvl="0" indent="0" algn="l" defTabSz="914400" rtl="0" eaLnBrk="1" fontAlgn="base" latinLnBrk="0" hangingPunct="1">
              <a:lnSpc>
                <a:spcPct val="100000"/>
              </a:lnSpc>
              <a:spcBef>
                <a:spcPct val="30000"/>
              </a:spcBef>
              <a:spcAft>
                <a:spcPct val="0"/>
              </a:spcAft>
              <a:buClrTx/>
              <a:buSzTx/>
              <a:buFontTx/>
              <a:buNone/>
              <a:tabLst/>
              <a:defRPr/>
            </a:pPr>
            <a:br>
              <a:rPr lang="en-US" sz="1200" b="0" kern="1200" dirty="0">
                <a:solidFill>
                  <a:schemeClr val="tx1"/>
                </a:solidFill>
                <a:effectLst/>
                <a:latin typeface="Arial" pitchFamily="34" charset="0"/>
                <a:ea typeface="+mn-ea"/>
                <a:cs typeface="Arial" pitchFamily="34" charset="0"/>
              </a:rPr>
            </a:br>
            <a:r>
              <a:rPr lang="en-US" sz="1200" b="0" kern="1200" dirty="0">
                <a:solidFill>
                  <a:schemeClr val="tx1"/>
                </a:solidFill>
                <a:effectLst/>
                <a:latin typeface="Arial" pitchFamily="34" charset="0"/>
                <a:ea typeface="+mn-ea"/>
                <a:cs typeface="Arial" pitchFamily="34" charset="0"/>
              </a:rPr>
              <a:t>Right: Quality metrics for the analysis. Small sample sizes or low signal can affect reliability and increase caution.</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1445741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Arial" pitchFamily="34" charset="0"/>
                <a:ea typeface="+mn-ea"/>
                <a:cs typeface="Arial" pitchFamily="34" charset="0"/>
              </a:rPr>
              <a:t>Left: P-value distribution shows enrichment at low values (green bars), indicating true effects beyond chance. A uniform distribution would suggest no real differences. </a:t>
            </a:r>
          </a:p>
          <a:p>
            <a:pPr marL="0" marR="0" lvl="0" indent="0" algn="l" defTabSz="914400" rtl="0" eaLnBrk="1" fontAlgn="base" latinLnBrk="0" hangingPunct="1">
              <a:lnSpc>
                <a:spcPct val="100000"/>
              </a:lnSpc>
              <a:spcBef>
                <a:spcPct val="30000"/>
              </a:spcBef>
              <a:spcAft>
                <a:spcPct val="0"/>
              </a:spcAft>
              <a:buClrTx/>
              <a:buSzTx/>
              <a:buFontTx/>
              <a:buNone/>
              <a:tabLst/>
              <a:defRPr/>
            </a:pPr>
            <a:br>
              <a:rPr lang="en-US" sz="1200" b="0" kern="1200" dirty="0">
                <a:solidFill>
                  <a:schemeClr val="tx1"/>
                </a:solidFill>
                <a:effectLst/>
                <a:latin typeface="Arial" pitchFamily="34" charset="0"/>
                <a:ea typeface="+mn-ea"/>
                <a:cs typeface="Arial" pitchFamily="34" charset="0"/>
              </a:rPr>
            </a:br>
            <a:r>
              <a:rPr lang="en-US" sz="1200" b="0" kern="1200" dirty="0">
                <a:solidFill>
                  <a:schemeClr val="tx1"/>
                </a:solidFill>
                <a:effectLst/>
                <a:latin typeface="Arial" pitchFamily="34" charset="0"/>
                <a:ea typeface="+mn-ea"/>
                <a:cs typeface="Arial" pitchFamily="34" charset="0"/>
              </a:rPr>
              <a:t>Right: Effect sizes (Cohen's d) show the magnitude of differences. Most effects are small (d &lt; 0.3), which is typical for brain connectivity studies.</a:t>
            </a:r>
          </a:p>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445274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10</a:t>
            </a:fld>
            <a:endParaRPr lang="en-GB"/>
          </a:p>
        </p:txBody>
      </p:sp>
    </p:spTree>
    <p:extLst>
      <p:ext uri="{BB962C8B-B14F-4D97-AF65-F5344CB8AC3E}">
        <p14:creationId xmlns:p14="http://schemas.microsoft.com/office/powerpoint/2010/main" val="219621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Fraj Yassine Lakhal (TUM)</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Fraj Yassine Lakhal (TUM)</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Fraj Yassine Lakhal (TUM)</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Fraj Yassine Lakhal (TUM)</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a:t>Fraj Yassine Lakhal (TUM)</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Fraj Yassine Lakhal (TUM)</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Fraj Yassine Lakhal (TUM)</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Fraj Yassine Lakhal (TUM)</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Fraj Yassine Lakhal (TUM)</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emf"/><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w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theme" Target="../theme/theme5.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Fraj Yassine Lakhal (TUM)</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Fraj Yassine Lakhal (TUM)</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800">
                <a:solidFill>
                  <a:schemeClr val="tx1"/>
                </a:solidFill>
              </a:defRPr>
            </a:lvl1pPr>
          </a:lstStyle>
          <a:p>
            <a:r>
              <a:rPr lang="de-DE"/>
              <a:t>Fraj Yassine Lakhal (TUM)</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800">
                <a:solidFill>
                  <a:schemeClr val="tx1"/>
                </a:solidFill>
              </a:defRPr>
            </a:lvl1pPr>
          </a:lstStyle>
          <a:p>
            <a:r>
              <a:rPr lang="de-DE"/>
              <a:t>Fraj Yassine Lakhal (TUM)</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sz="1100"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Fraj Yassine Lakhal (TUM)</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Fraj Yassine Lakhal (TUM)</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hyperlink" Target="https://doi.org/10.1371/journal.pone.0187281"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hyperlink" Target="https://doi.org/10.1016/j.neuroimage.2010.06.04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doi.org/10.1016/j.neuroimage.2010.06.041"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295555" y="796701"/>
            <a:ext cx="5113390" cy="4463039"/>
          </a:xfrm>
          <a:prstGeom prst="rect">
            <a:avLst/>
          </a:prstGeom>
        </p:spPr>
      </p:pic>
      <p:sp>
        <p:nvSpPr>
          <p:cNvPr id="5" name="Titel 4"/>
          <p:cNvSpPr>
            <a:spLocks noGrp="1"/>
          </p:cNvSpPr>
          <p:nvPr>
            <p:ph type="title"/>
          </p:nvPr>
        </p:nvSpPr>
        <p:spPr>
          <a:xfrm>
            <a:off x="319090" y="881762"/>
            <a:ext cx="8508999" cy="1294368"/>
          </a:xfrm>
        </p:spPr>
        <p:txBody>
          <a:bodyPr/>
          <a:lstStyle/>
          <a:p>
            <a:pPr>
              <a:lnSpc>
                <a:spcPts val="2500"/>
              </a:lnSpc>
            </a:pPr>
            <a:r>
              <a:rPr lang="en-US" sz="2800" b="1" noProof="0" dirty="0">
                <a:solidFill>
                  <a:srgbClr val="0064BD"/>
                </a:solidFill>
              </a:rPr>
              <a:t>Pretraining: Model Architecture</a:t>
            </a:r>
            <a:br>
              <a:rPr lang="en-US" sz="2800" b="1" noProof="0" dirty="0"/>
            </a:br>
            <a:r>
              <a:rPr lang="de-DE" sz="1400" b="1" dirty="0"/>
              <a:t>Fraj Yassine Lakhal</a:t>
            </a:r>
            <a:br>
              <a:rPr lang="de-DE" sz="1100" dirty="0"/>
            </a:br>
            <a:r>
              <a:rPr lang="en-US" sz="1400" dirty="0"/>
              <a:t>TUM School of Computation, Information and Technology</a:t>
            </a:r>
            <a:br>
              <a:rPr lang="de-DE" sz="1800" dirty="0"/>
            </a:br>
            <a:endParaRPr lang="en-US" sz="2800" b="1" noProof="0" dirty="0"/>
          </a:p>
        </p:txBody>
      </p:sp>
      <p:sp>
        <p:nvSpPr>
          <p:cNvPr id="3" name="Inhaltsplatzhalter 2"/>
          <p:cNvSpPr>
            <a:spLocks noGrp="1"/>
          </p:cNvSpPr>
          <p:nvPr>
            <p:ph idx="10"/>
          </p:nvPr>
        </p:nvSpPr>
        <p:spPr>
          <a:xfrm>
            <a:off x="312734" y="2034362"/>
            <a:ext cx="8512176" cy="2606968"/>
          </a:xfrm>
        </p:spPr>
        <p:txBody>
          <a:bodyPr/>
          <a:lstStyle/>
          <a:p>
            <a:r>
              <a:rPr lang="en-US" sz="900" b="1" dirty="0"/>
              <a:t>Functional Neuroimaging, LMU</a:t>
            </a:r>
          </a:p>
          <a:p>
            <a:r>
              <a:rPr lang="de-DE" sz="900" dirty="0">
                <a:solidFill>
                  <a:schemeClr val="bg1">
                    <a:lumMod val="50000"/>
                  </a:schemeClr>
                </a:solidFill>
              </a:rPr>
              <a:t>Supervisor: </a:t>
            </a:r>
            <a:r>
              <a:rPr lang="de-DE" sz="900" dirty="0"/>
              <a:t>Dr. med. Stephan Wunderlich</a:t>
            </a:r>
          </a:p>
          <a:p>
            <a:endParaRPr lang="de-DE" sz="900" i="1" dirty="0"/>
          </a:p>
          <a:p>
            <a:r>
              <a:rPr lang="en-US" sz="900" b="1" dirty="0"/>
              <a:t>Computer Aided Medical Procedures &amp; Augmented Reality, TUM</a:t>
            </a:r>
          </a:p>
          <a:p>
            <a:r>
              <a:rPr lang="en-US" sz="900" dirty="0">
                <a:solidFill>
                  <a:schemeClr val="bg1">
                    <a:lumMod val="50000"/>
                  </a:schemeClr>
                </a:solidFill>
              </a:rPr>
              <a:t>Supervisor(s): </a:t>
            </a:r>
            <a:r>
              <a:rPr lang="en-US" sz="900" dirty="0"/>
              <a:t>M.Sc. Chantal Pellegrini, Dr. Shahrooz Faghihroohi</a:t>
            </a:r>
            <a:endParaRPr lang="en-US" sz="900"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228851" y="4891328"/>
            <a:ext cx="4572000" cy="215444"/>
          </a:xfrm>
          <a:prstGeom prst="rect">
            <a:avLst/>
          </a:prstGeom>
          <a:noFill/>
        </p:spPr>
        <p:txBody>
          <a:bodyPr wrap="square">
            <a:spAutoFit/>
          </a:bodyPr>
          <a:lstStyle/>
          <a:p>
            <a:r>
              <a:rPr lang="de-DE" sz="800" b="1" dirty="0">
                <a:solidFill>
                  <a:schemeClr val="tx2"/>
                </a:solidFill>
              </a:rPr>
              <a:t>München, 13. Januar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44761F-6EB7-9A91-4E6D-D2668F96A028}"/>
              </a:ext>
            </a:extLst>
          </p:cNvPr>
          <p:cNvSpPr>
            <a:spLocks noGrp="1"/>
          </p:cNvSpPr>
          <p:nvPr>
            <p:ph idx="1"/>
          </p:nvPr>
        </p:nvSpPr>
        <p:spPr/>
        <p:txBody>
          <a:bodyPr/>
          <a:lstStyle/>
          <a:p>
            <a:pPr marL="342900" indent="-342900">
              <a:buFont typeface="+mj-lt"/>
              <a:buAutoNum type="arabicPeriod"/>
            </a:pPr>
            <a:r>
              <a:rPr lang="en-US" dirty="0"/>
              <a:t>DELCODE Dataset</a:t>
            </a:r>
          </a:p>
          <a:p>
            <a:pPr marL="342900" indent="-342900">
              <a:buFont typeface="+mj-lt"/>
              <a:buAutoNum type="arabicPeriod"/>
            </a:pPr>
            <a:r>
              <a:rPr lang="en-US" dirty="0"/>
              <a:t>Statistical Tests </a:t>
            </a:r>
          </a:p>
          <a:p>
            <a:pPr marL="342900" indent="-342900">
              <a:buFont typeface="+mj-lt"/>
              <a:buAutoNum type="arabicPeriod"/>
            </a:pPr>
            <a:r>
              <a:rPr lang="en-US" dirty="0"/>
              <a:t>Pretrained Model Architecture: Supervised vs Unsupervised Learning</a:t>
            </a:r>
          </a:p>
        </p:txBody>
      </p:sp>
      <p:sp>
        <p:nvSpPr>
          <p:cNvPr id="3" name="Slide Number Placeholder 2">
            <a:extLst>
              <a:ext uri="{FF2B5EF4-FFF2-40B4-BE49-F238E27FC236}">
                <a16:creationId xmlns:a16="http://schemas.microsoft.com/office/drawing/2014/main" id="{F2128D28-3560-142B-A0AB-5D7D8B99B4BE}"/>
              </a:ext>
            </a:extLst>
          </p:cNvPr>
          <p:cNvSpPr>
            <a:spLocks noGrp="1"/>
          </p:cNvSpPr>
          <p:nvPr>
            <p:ph type="sldNum" sz="quarter" idx="11"/>
          </p:nvPr>
        </p:nvSpPr>
        <p:spPr/>
        <p:txBody>
          <a:bodyPr/>
          <a:lstStyle/>
          <a:p>
            <a:fld id="{CE58CB1E-F828-4F11-99E0-327109AF9DA4}" type="slidenum">
              <a:rPr lang="de-DE" smtClean="0"/>
              <a:pPr/>
              <a:t>2</a:t>
            </a:fld>
            <a:endParaRPr lang="de-DE" dirty="0"/>
          </a:p>
        </p:txBody>
      </p:sp>
      <p:sp>
        <p:nvSpPr>
          <p:cNvPr id="4" name="Footer Placeholder 3">
            <a:extLst>
              <a:ext uri="{FF2B5EF4-FFF2-40B4-BE49-F238E27FC236}">
                <a16:creationId xmlns:a16="http://schemas.microsoft.com/office/drawing/2014/main" id="{54A1DCA1-8162-C9D6-6570-F540DE8A8EF2}"/>
              </a:ext>
            </a:extLst>
          </p:cNvPr>
          <p:cNvSpPr>
            <a:spLocks noGrp="1"/>
          </p:cNvSpPr>
          <p:nvPr>
            <p:ph type="ftr" sz="quarter" idx="12"/>
          </p:nvPr>
        </p:nvSpPr>
        <p:spPr/>
        <p:txBody>
          <a:bodyPr/>
          <a:lstStyle/>
          <a:p>
            <a:r>
              <a:rPr lang="de-DE" sz="800" dirty="0"/>
              <a:t>Fraj Yassine Lakhal (TUM)</a:t>
            </a:r>
            <a:endParaRPr lang="en-US" sz="800" dirty="0"/>
          </a:p>
        </p:txBody>
      </p:sp>
      <p:sp>
        <p:nvSpPr>
          <p:cNvPr id="6" name="Title 5">
            <a:extLst>
              <a:ext uri="{FF2B5EF4-FFF2-40B4-BE49-F238E27FC236}">
                <a16:creationId xmlns:a16="http://schemas.microsoft.com/office/drawing/2014/main" id="{7E271AD9-A94F-EB48-25C6-61C781FF1439}"/>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367249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FA3D1A-4E27-FE38-5CE4-BEBEB2672667}"/>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4" name="Footer Placeholder 3">
            <a:extLst>
              <a:ext uri="{FF2B5EF4-FFF2-40B4-BE49-F238E27FC236}">
                <a16:creationId xmlns:a16="http://schemas.microsoft.com/office/drawing/2014/main" id="{D489F214-98D1-8CA9-22DD-A0E72C408F91}"/>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D75F33AD-E58F-6408-8AE1-61A04A4785A6}"/>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A450FC7C-7DFA-14EA-CE77-F1655C10E2B0}"/>
              </a:ext>
            </a:extLst>
          </p:cNvPr>
          <p:cNvSpPr>
            <a:spLocks noGrp="1"/>
          </p:cNvSpPr>
          <p:nvPr>
            <p:ph type="body" sz="quarter" idx="14"/>
          </p:nvPr>
        </p:nvSpPr>
        <p:spPr/>
        <p:txBody>
          <a:bodyPr/>
          <a:lstStyle/>
          <a:p>
            <a:r>
              <a:rPr lang="en-US" b="1" dirty="0"/>
              <a:t>Cohorts</a:t>
            </a:r>
          </a:p>
        </p:txBody>
      </p:sp>
      <p:pic>
        <p:nvPicPr>
          <p:cNvPr id="13" name="Picture 12" descr="A screenshot of a medical code&#10;&#10;AI-generated content may be incorrect.">
            <a:extLst>
              <a:ext uri="{FF2B5EF4-FFF2-40B4-BE49-F238E27FC236}">
                <a16:creationId xmlns:a16="http://schemas.microsoft.com/office/drawing/2014/main" id="{AD532809-D453-19B4-5623-4A7FEAF9B398}"/>
              </a:ext>
            </a:extLst>
          </p:cNvPr>
          <p:cNvPicPr>
            <a:picLocks noChangeAspect="1"/>
          </p:cNvPicPr>
          <p:nvPr/>
        </p:nvPicPr>
        <p:blipFill>
          <a:blip r:embed="rId2"/>
          <a:srcRect t="21125"/>
          <a:stretch>
            <a:fillRect/>
          </a:stretch>
        </p:blipFill>
        <p:spPr>
          <a:xfrm>
            <a:off x="217456" y="1380968"/>
            <a:ext cx="3669865" cy="1472250"/>
          </a:xfrm>
          <a:prstGeom prst="rect">
            <a:avLst/>
          </a:prstGeom>
        </p:spPr>
      </p:pic>
      <p:pic>
        <p:nvPicPr>
          <p:cNvPr id="15" name="Picture 14" descr="A table with numbers and symbols&#10;&#10;AI-generated content may be incorrect.">
            <a:extLst>
              <a:ext uri="{FF2B5EF4-FFF2-40B4-BE49-F238E27FC236}">
                <a16:creationId xmlns:a16="http://schemas.microsoft.com/office/drawing/2014/main" id="{72B66211-5929-365E-ECFF-E803A36CBE4B}"/>
              </a:ext>
            </a:extLst>
          </p:cNvPr>
          <p:cNvPicPr>
            <a:picLocks noChangeAspect="1"/>
          </p:cNvPicPr>
          <p:nvPr/>
        </p:nvPicPr>
        <p:blipFill>
          <a:blip r:embed="rId3"/>
          <a:stretch>
            <a:fillRect/>
          </a:stretch>
        </p:blipFill>
        <p:spPr>
          <a:xfrm>
            <a:off x="4229582" y="1485739"/>
            <a:ext cx="4226817" cy="1397353"/>
          </a:xfrm>
          <a:prstGeom prst="rect">
            <a:avLst/>
          </a:prstGeom>
        </p:spPr>
      </p:pic>
      <p:pic>
        <p:nvPicPr>
          <p:cNvPr id="17" name="Picture 16" descr="A close up of a text&#10;&#10;AI-generated content may be incorrect.">
            <a:extLst>
              <a:ext uri="{FF2B5EF4-FFF2-40B4-BE49-F238E27FC236}">
                <a16:creationId xmlns:a16="http://schemas.microsoft.com/office/drawing/2014/main" id="{F0DFC5F3-67E9-5A56-B58B-5AE5DFBA8379}"/>
              </a:ext>
            </a:extLst>
          </p:cNvPr>
          <p:cNvPicPr>
            <a:picLocks noChangeAspect="1"/>
          </p:cNvPicPr>
          <p:nvPr/>
        </p:nvPicPr>
        <p:blipFill>
          <a:blip r:embed="rId4"/>
          <a:stretch>
            <a:fillRect/>
          </a:stretch>
        </p:blipFill>
        <p:spPr>
          <a:xfrm>
            <a:off x="4356029" y="1205072"/>
            <a:ext cx="2153762" cy="316888"/>
          </a:xfrm>
          <a:prstGeom prst="rect">
            <a:avLst/>
          </a:prstGeom>
        </p:spPr>
      </p:pic>
      <p:pic>
        <p:nvPicPr>
          <p:cNvPr id="19" name="Picture 18" descr="A table with numbers and a number&#10;&#10;AI-generated content may be incorrect.">
            <a:extLst>
              <a:ext uri="{FF2B5EF4-FFF2-40B4-BE49-F238E27FC236}">
                <a16:creationId xmlns:a16="http://schemas.microsoft.com/office/drawing/2014/main" id="{DBAC7385-BB60-DF06-E5C1-477E8A1BF859}"/>
              </a:ext>
            </a:extLst>
          </p:cNvPr>
          <p:cNvPicPr>
            <a:picLocks noChangeAspect="1"/>
          </p:cNvPicPr>
          <p:nvPr/>
        </p:nvPicPr>
        <p:blipFill>
          <a:blip r:embed="rId5"/>
          <a:stretch>
            <a:fillRect/>
          </a:stretch>
        </p:blipFill>
        <p:spPr>
          <a:xfrm>
            <a:off x="2167589" y="2932738"/>
            <a:ext cx="3973924" cy="1917302"/>
          </a:xfrm>
          <a:prstGeom prst="rect">
            <a:avLst/>
          </a:prstGeom>
        </p:spPr>
      </p:pic>
      <p:pic>
        <p:nvPicPr>
          <p:cNvPr id="20" name="Picture 19" descr="A screenshot of a medical code&#10;&#10;AI-generated content may be incorrect.">
            <a:extLst>
              <a:ext uri="{FF2B5EF4-FFF2-40B4-BE49-F238E27FC236}">
                <a16:creationId xmlns:a16="http://schemas.microsoft.com/office/drawing/2014/main" id="{76AAC5C3-CDBD-B179-D397-4FEC2DA787FD}"/>
              </a:ext>
            </a:extLst>
          </p:cNvPr>
          <p:cNvPicPr>
            <a:picLocks noChangeAspect="1"/>
          </p:cNvPicPr>
          <p:nvPr/>
        </p:nvPicPr>
        <p:blipFill>
          <a:blip r:embed="rId2"/>
          <a:srcRect t="3745" b="78113"/>
          <a:stretch>
            <a:fillRect/>
          </a:stretch>
        </p:blipFill>
        <p:spPr>
          <a:xfrm>
            <a:off x="366260" y="1205072"/>
            <a:ext cx="1956311" cy="180519"/>
          </a:xfrm>
          <a:prstGeom prst="rect">
            <a:avLst/>
          </a:prstGeom>
        </p:spPr>
      </p:pic>
      <p:sp>
        <p:nvSpPr>
          <p:cNvPr id="2" name="TextBox 1">
            <a:extLst>
              <a:ext uri="{FF2B5EF4-FFF2-40B4-BE49-F238E27FC236}">
                <a16:creationId xmlns:a16="http://schemas.microsoft.com/office/drawing/2014/main" id="{D1ACE1B4-023D-22DD-3C22-E8A984CA54AC}"/>
              </a:ext>
            </a:extLst>
          </p:cNvPr>
          <p:cNvSpPr txBox="1"/>
          <p:nvPr/>
        </p:nvSpPr>
        <p:spPr>
          <a:xfrm>
            <a:off x="2399718" y="796113"/>
            <a:ext cx="4842811" cy="266483"/>
          </a:xfrm>
          <a:prstGeom prst="rect">
            <a:avLst/>
          </a:prstGeom>
          <a:noFill/>
        </p:spPr>
        <p:txBody>
          <a:bodyPr wrap="square" lIns="0" tIns="0" rIns="0" bIns="0" rtlCol="0">
            <a:spAutoFit/>
          </a:bodyPr>
          <a:lstStyle/>
          <a:p>
            <a:pPr>
              <a:lnSpc>
                <a:spcPct val="114000"/>
              </a:lnSpc>
            </a:pPr>
            <a:r>
              <a:rPr lang="en-US" sz="1600" dirty="0">
                <a:solidFill>
                  <a:srgbClr val="FF0000"/>
                </a:solidFill>
              </a:rPr>
              <a:t>⚠️ </a:t>
            </a:r>
            <a:r>
              <a:rPr lang="en-US" sz="1600" dirty="0">
                <a:solidFill>
                  <a:srgbClr val="FF0000"/>
                </a:solidFill>
                <a:latin typeface="+mn-lt"/>
              </a:rPr>
              <a:t>Counts only baseline fMRIs</a:t>
            </a:r>
            <a:r>
              <a:rPr lang="en-US" sz="1600" dirty="0">
                <a:solidFill>
                  <a:srgbClr val="FF0000"/>
                </a:solidFill>
              </a:rPr>
              <a:t> ⚠️</a:t>
            </a:r>
            <a:r>
              <a:rPr lang="en-US" sz="1600" dirty="0">
                <a:solidFill>
                  <a:srgbClr val="FF0000"/>
                </a:solidFill>
                <a:latin typeface="+mn-lt"/>
              </a:rPr>
              <a:t> </a:t>
            </a:r>
          </a:p>
        </p:txBody>
      </p:sp>
    </p:spTree>
    <p:extLst>
      <p:ext uri="{BB962C8B-B14F-4D97-AF65-F5344CB8AC3E}">
        <p14:creationId xmlns:p14="http://schemas.microsoft.com/office/powerpoint/2010/main" val="762808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medical report&#10;&#10;AI-generated content may be incorrect.">
            <a:extLst>
              <a:ext uri="{FF2B5EF4-FFF2-40B4-BE49-F238E27FC236}">
                <a16:creationId xmlns:a16="http://schemas.microsoft.com/office/drawing/2014/main" id="{BBBFCF18-90C7-02C6-B3C8-304AE374930F}"/>
              </a:ext>
            </a:extLst>
          </p:cNvPr>
          <p:cNvPicPr>
            <a:picLocks noGrp="1" noChangeAspect="1"/>
          </p:cNvPicPr>
          <p:nvPr>
            <p:ph idx="1"/>
          </p:nvPr>
        </p:nvPicPr>
        <p:blipFill>
          <a:blip r:embed="rId2"/>
          <a:srcRect r="1672"/>
          <a:stretch>
            <a:fillRect/>
          </a:stretch>
        </p:blipFill>
        <p:spPr>
          <a:xfrm>
            <a:off x="2595966" y="1715018"/>
            <a:ext cx="3432876" cy="2430789"/>
          </a:xfrm>
        </p:spPr>
      </p:pic>
      <p:sp>
        <p:nvSpPr>
          <p:cNvPr id="3" name="Slide Number Placeholder 2">
            <a:extLst>
              <a:ext uri="{FF2B5EF4-FFF2-40B4-BE49-F238E27FC236}">
                <a16:creationId xmlns:a16="http://schemas.microsoft.com/office/drawing/2014/main" id="{85777A20-8213-4510-E72C-3142DF1E71A0}"/>
              </a:ext>
            </a:extLst>
          </p:cNvPr>
          <p:cNvSpPr>
            <a:spLocks noGrp="1"/>
          </p:cNvSpPr>
          <p:nvPr>
            <p:ph type="sldNum" sz="quarter" idx="11"/>
          </p:nvPr>
        </p:nvSpPr>
        <p:spPr/>
        <p:txBody>
          <a:bodyPr/>
          <a:lstStyle/>
          <a:p>
            <a:fld id="{CE58CB1E-F828-4F11-99E0-327109AF9DA4}" type="slidenum">
              <a:rPr lang="de-DE" smtClean="0"/>
              <a:pPr/>
              <a:t>4</a:t>
            </a:fld>
            <a:endParaRPr lang="de-DE" dirty="0"/>
          </a:p>
        </p:txBody>
      </p:sp>
      <p:sp>
        <p:nvSpPr>
          <p:cNvPr id="4" name="Footer Placeholder 3">
            <a:extLst>
              <a:ext uri="{FF2B5EF4-FFF2-40B4-BE49-F238E27FC236}">
                <a16:creationId xmlns:a16="http://schemas.microsoft.com/office/drawing/2014/main" id="{56BDBC62-C57C-36F1-E55E-64E471D4D9A9}"/>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37DB13B5-5A67-1C83-F7F7-EA76D7E1178B}"/>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E0986081-E52D-7555-2315-5EE0011C17F1}"/>
              </a:ext>
            </a:extLst>
          </p:cNvPr>
          <p:cNvSpPr>
            <a:spLocks noGrp="1"/>
          </p:cNvSpPr>
          <p:nvPr>
            <p:ph type="body" sz="quarter" idx="14"/>
          </p:nvPr>
        </p:nvSpPr>
        <p:spPr/>
        <p:txBody>
          <a:bodyPr/>
          <a:lstStyle/>
          <a:p>
            <a:r>
              <a:rPr lang="en-US" b="1" dirty="0"/>
              <a:t>Scanning Procedure</a:t>
            </a:r>
          </a:p>
        </p:txBody>
      </p:sp>
    </p:spTree>
    <p:extLst>
      <p:ext uri="{BB962C8B-B14F-4D97-AF65-F5344CB8AC3E}">
        <p14:creationId xmlns:p14="http://schemas.microsoft.com/office/powerpoint/2010/main" val="124260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DF6933-C1A4-E001-E7D7-E40DC707C9CE}"/>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4" name="Footer Placeholder 3">
            <a:extLst>
              <a:ext uri="{FF2B5EF4-FFF2-40B4-BE49-F238E27FC236}">
                <a16:creationId xmlns:a16="http://schemas.microsoft.com/office/drawing/2014/main" id="{7DF5BA95-A17C-0046-9518-0ADD81A7314D}"/>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A54B474A-B420-42B0-8E1D-5FEFAFC2129E}"/>
              </a:ext>
            </a:extLst>
          </p:cNvPr>
          <p:cNvSpPr>
            <a:spLocks noGrp="1"/>
          </p:cNvSpPr>
          <p:nvPr>
            <p:ph type="title"/>
          </p:nvPr>
        </p:nvSpPr>
        <p:spPr/>
        <p:txBody>
          <a:bodyPr/>
          <a:lstStyle/>
          <a:p>
            <a:r>
              <a:rPr lang="en-US" dirty="0"/>
              <a:t>DELCODE Dataset</a:t>
            </a:r>
          </a:p>
        </p:txBody>
      </p:sp>
      <p:sp>
        <p:nvSpPr>
          <p:cNvPr id="7" name="Text Placeholder 6">
            <a:extLst>
              <a:ext uri="{FF2B5EF4-FFF2-40B4-BE49-F238E27FC236}">
                <a16:creationId xmlns:a16="http://schemas.microsoft.com/office/drawing/2014/main" id="{8EECA2DE-F875-D365-C883-4A8751A017CA}"/>
              </a:ext>
            </a:extLst>
          </p:cNvPr>
          <p:cNvSpPr>
            <a:spLocks noGrp="1"/>
          </p:cNvSpPr>
          <p:nvPr>
            <p:ph type="body" sz="quarter" idx="14"/>
          </p:nvPr>
        </p:nvSpPr>
        <p:spPr/>
        <p:txBody>
          <a:bodyPr/>
          <a:lstStyle/>
          <a:p>
            <a:r>
              <a:rPr lang="en-US" b="1" dirty="0"/>
              <a:t>Clinical Biomarkers</a:t>
            </a:r>
          </a:p>
        </p:txBody>
      </p:sp>
      <p:pic>
        <p:nvPicPr>
          <p:cNvPr id="13" name="Picture 12" descr="A close-up of a list of medical information&#10;&#10;AI-generated content may be incorrect.">
            <a:extLst>
              <a:ext uri="{FF2B5EF4-FFF2-40B4-BE49-F238E27FC236}">
                <a16:creationId xmlns:a16="http://schemas.microsoft.com/office/drawing/2014/main" id="{418C4964-6ECB-06A2-306D-9D83393F589E}"/>
              </a:ext>
            </a:extLst>
          </p:cNvPr>
          <p:cNvPicPr>
            <a:picLocks noChangeAspect="1"/>
          </p:cNvPicPr>
          <p:nvPr/>
        </p:nvPicPr>
        <p:blipFill>
          <a:blip r:embed="rId2"/>
          <a:stretch>
            <a:fillRect/>
          </a:stretch>
        </p:blipFill>
        <p:spPr>
          <a:xfrm>
            <a:off x="616336" y="2954130"/>
            <a:ext cx="3087758" cy="1083742"/>
          </a:xfrm>
          <a:prstGeom prst="rect">
            <a:avLst/>
          </a:prstGeom>
        </p:spPr>
      </p:pic>
      <p:pic>
        <p:nvPicPr>
          <p:cNvPr id="15" name="Picture 14" descr="A screenshot of a test&#10;&#10;AI-generated content may be incorrect.">
            <a:extLst>
              <a:ext uri="{FF2B5EF4-FFF2-40B4-BE49-F238E27FC236}">
                <a16:creationId xmlns:a16="http://schemas.microsoft.com/office/drawing/2014/main" id="{3F7AE476-B73D-D132-17A4-2DAD8B54F1A1}"/>
              </a:ext>
            </a:extLst>
          </p:cNvPr>
          <p:cNvPicPr>
            <a:picLocks noChangeAspect="1"/>
          </p:cNvPicPr>
          <p:nvPr/>
        </p:nvPicPr>
        <p:blipFill>
          <a:blip r:embed="rId3"/>
          <a:stretch>
            <a:fillRect/>
          </a:stretch>
        </p:blipFill>
        <p:spPr>
          <a:xfrm>
            <a:off x="5045450" y="3095618"/>
            <a:ext cx="3087758" cy="800766"/>
          </a:xfrm>
          <a:prstGeom prst="rect">
            <a:avLst/>
          </a:prstGeom>
        </p:spPr>
      </p:pic>
      <p:pic>
        <p:nvPicPr>
          <p:cNvPr id="17" name="Picture 16" descr="A close-up of a cell&#10;&#10;AI-generated content may be incorrect.">
            <a:extLst>
              <a:ext uri="{FF2B5EF4-FFF2-40B4-BE49-F238E27FC236}">
                <a16:creationId xmlns:a16="http://schemas.microsoft.com/office/drawing/2014/main" id="{1509F402-FCC0-44A6-FF07-0F2FDEFA86A2}"/>
              </a:ext>
            </a:extLst>
          </p:cNvPr>
          <p:cNvPicPr>
            <a:picLocks noChangeAspect="1"/>
          </p:cNvPicPr>
          <p:nvPr/>
        </p:nvPicPr>
        <p:blipFill>
          <a:blip r:embed="rId4"/>
          <a:stretch>
            <a:fillRect/>
          </a:stretch>
        </p:blipFill>
        <p:spPr>
          <a:xfrm>
            <a:off x="5078789" y="4038078"/>
            <a:ext cx="3392289" cy="778048"/>
          </a:xfrm>
          <a:prstGeom prst="rect">
            <a:avLst/>
          </a:prstGeom>
        </p:spPr>
      </p:pic>
      <p:pic>
        <p:nvPicPr>
          <p:cNvPr id="19" name="Picture 18" descr="A close up of a text&#10;&#10;AI-generated content may be incorrect.">
            <a:extLst>
              <a:ext uri="{FF2B5EF4-FFF2-40B4-BE49-F238E27FC236}">
                <a16:creationId xmlns:a16="http://schemas.microsoft.com/office/drawing/2014/main" id="{6D9AFF52-17C8-8BF5-9F28-31F3447884D9}"/>
              </a:ext>
            </a:extLst>
          </p:cNvPr>
          <p:cNvPicPr>
            <a:picLocks noChangeAspect="1"/>
          </p:cNvPicPr>
          <p:nvPr/>
        </p:nvPicPr>
        <p:blipFill>
          <a:blip r:embed="rId5"/>
          <a:stretch>
            <a:fillRect/>
          </a:stretch>
        </p:blipFill>
        <p:spPr>
          <a:xfrm>
            <a:off x="478530" y="4059078"/>
            <a:ext cx="4566920" cy="867136"/>
          </a:xfrm>
          <a:prstGeom prst="rect">
            <a:avLst/>
          </a:prstGeom>
        </p:spPr>
      </p:pic>
      <p:pic>
        <p:nvPicPr>
          <p:cNvPr id="21" name="Content Placeholder 8" descr="A screenshot of a computer&#10;&#10;AI-generated content may be incorrect.">
            <a:extLst>
              <a:ext uri="{FF2B5EF4-FFF2-40B4-BE49-F238E27FC236}">
                <a16:creationId xmlns:a16="http://schemas.microsoft.com/office/drawing/2014/main" id="{DD31A84D-CD43-9B1C-19B7-059D48CCD871}"/>
              </a:ext>
            </a:extLst>
          </p:cNvPr>
          <p:cNvPicPr>
            <a:picLocks noGrp="1" noChangeAspect="1"/>
          </p:cNvPicPr>
          <p:nvPr>
            <p:ph idx="1"/>
          </p:nvPr>
        </p:nvPicPr>
        <p:blipFill>
          <a:blip r:embed="rId6"/>
          <a:stretch>
            <a:fillRect/>
          </a:stretch>
        </p:blipFill>
        <p:spPr>
          <a:xfrm>
            <a:off x="1418447" y="1138901"/>
            <a:ext cx="5945990" cy="1875370"/>
          </a:xfrm>
        </p:spPr>
      </p:pic>
    </p:spTree>
    <p:extLst>
      <p:ext uri="{BB962C8B-B14F-4D97-AF65-F5344CB8AC3E}">
        <p14:creationId xmlns:p14="http://schemas.microsoft.com/office/powerpoint/2010/main" val="368252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326549-830C-7B6F-7D61-85D04751712B}"/>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4" name="Footer Placeholder 3">
            <a:extLst>
              <a:ext uri="{FF2B5EF4-FFF2-40B4-BE49-F238E27FC236}">
                <a16:creationId xmlns:a16="http://schemas.microsoft.com/office/drawing/2014/main" id="{43402C12-C21D-6BD8-0F13-DE624B4ECD8D}"/>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C4276165-C245-36F6-6154-8E9B8EC51343}"/>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668C0405-1AAD-EC82-A554-5C64B71F46DD}"/>
              </a:ext>
            </a:extLst>
          </p:cNvPr>
          <p:cNvSpPr>
            <a:spLocks noGrp="1"/>
          </p:cNvSpPr>
          <p:nvPr>
            <p:ph type="body" sz="quarter" idx="14"/>
          </p:nvPr>
        </p:nvSpPr>
        <p:spPr/>
        <p:txBody>
          <a:bodyPr/>
          <a:lstStyle/>
          <a:p>
            <a:r>
              <a:rPr lang="en-US" b="1" dirty="0"/>
              <a:t>PERMANOVA Test</a:t>
            </a:r>
          </a:p>
        </p:txBody>
      </p:sp>
      <p:pic>
        <p:nvPicPr>
          <p:cNvPr id="17" name="Picture 16" descr="A graph with a number of permutations&#10;&#10;AI-generated content may be incorrect.">
            <a:extLst>
              <a:ext uri="{FF2B5EF4-FFF2-40B4-BE49-F238E27FC236}">
                <a16:creationId xmlns:a16="http://schemas.microsoft.com/office/drawing/2014/main" id="{1ABBE3F7-9EAB-CCC8-AAA7-BD6660A54552}"/>
              </a:ext>
            </a:extLst>
          </p:cNvPr>
          <p:cNvPicPr>
            <a:picLocks noChangeAspect="1"/>
          </p:cNvPicPr>
          <p:nvPr/>
        </p:nvPicPr>
        <p:blipFill>
          <a:blip r:embed="rId3"/>
          <a:stretch>
            <a:fillRect/>
          </a:stretch>
        </p:blipFill>
        <p:spPr>
          <a:xfrm>
            <a:off x="1561713" y="1312306"/>
            <a:ext cx="5411935" cy="2648120"/>
          </a:xfrm>
          <a:prstGeom prst="rect">
            <a:avLst/>
          </a:prstGeom>
        </p:spPr>
      </p:pic>
      <p:sp>
        <p:nvSpPr>
          <p:cNvPr id="20" name="TextBox 19">
            <a:extLst>
              <a:ext uri="{FF2B5EF4-FFF2-40B4-BE49-F238E27FC236}">
                <a16:creationId xmlns:a16="http://schemas.microsoft.com/office/drawing/2014/main" id="{34017C3A-C59F-5D11-654B-BFDCDE429115}"/>
              </a:ext>
            </a:extLst>
          </p:cNvPr>
          <p:cNvSpPr txBox="1"/>
          <p:nvPr/>
        </p:nvSpPr>
        <p:spPr>
          <a:xfrm>
            <a:off x="3072338" y="3960426"/>
            <a:ext cx="3291710" cy="307072"/>
          </a:xfrm>
          <a:prstGeom prst="rect">
            <a:avLst/>
          </a:prstGeom>
          <a:noFill/>
        </p:spPr>
        <p:txBody>
          <a:bodyPr wrap="square" lIns="0" tIns="0" rIns="0" bIns="0" rtlCol="0">
            <a:spAutoFit/>
          </a:bodyPr>
          <a:lstStyle/>
          <a:p>
            <a:pPr>
              <a:lnSpc>
                <a:spcPct val="114000"/>
              </a:lnSpc>
            </a:pPr>
            <a:r>
              <a:rPr lang="en-US" sz="600" dirty="0" err="1"/>
              <a:t>Rasero</a:t>
            </a:r>
            <a:r>
              <a:rPr lang="en-US" sz="600" dirty="0"/>
              <a:t>, J., Amoroso, N., La Rocca, M., Tangaro, S., Bellotti, R., &amp; Stramaglia, S. (2017). </a:t>
            </a:r>
            <a:br>
              <a:rPr lang="en-US" sz="600" dirty="0"/>
            </a:br>
            <a:r>
              <a:rPr lang="en-US" sz="600" dirty="0"/>
              <a:t>Multivariate regression analysis of structural MRI connectivity matrices in Alzheimer's disease. </a:t>
            </a:r>
            <a:br>
              <a:rPr lang="en-US" sz="600" dirty="0"/>
            </a:br>
            <a:r>
              <a:rPr lang="en-US" sz="600" i="1" dirty="0"/>
              <a:t>PLOS ONE</a:t>
            </a:r>
            <a:r>
              <a:rPr lang="en-US" sz="600" dirty="0"/>
              <a:t>, </a:t>
            </a:r>
            <a:r>
              <a:rPr lang="en-US" sz="600" i="1" dirty="0"/>
              <a:t>12</a:t>
            </a:r>
            <a:r>
              <a:rPr lang="en-US" sz="600" dirty="0"/>
              <a:t>(11), e0187281. </a:t>
            </a:r>
            <a:r>
              <a:rPr lang="en-US" sz="600" dirty="0">
                <a:hlinkClick r:id="rId4"/>
              </a:rPr>
              <a:t>https://doi.org/10.1371/journal.pone.0187281</a:t>
            </a:r>
            <a:endParaRPr lang="en-US" sz="600" dirty="0">
              <a:latin typeface="+mn-lt"/>
            </a:endParaRPr>
          </a:p>
        </p:txBody>
      </p:sp>
    </p:spTree>
    <p:extLst>
      <p:ext uri="{BB962C8B-B14F-4D97-AF65-F5344CB8AC3E}">
        <p14:creationId xmlns:p14="http://schemas.microsoft.com/office/powerpoint/2010/main" val="1174747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number of graphs&#10;&#10;AI-generated content may be incorrect.">
            <a:extLst>
              <a:ext uri="{FF2B5EF4-FFF2-40B4-BE49-F238E27FC236}">
                <a16:creationId xmlns:a16="http://schemas.microsoft.com/office/drawing/2014/main" id="{A96C523D-589B-3A01-5CAD-14151B590A66}"/>
              </a:ext>
            </a:extLst>
          </p:cNvPr>
          <p:cNvPicPr>
            <a:picLocks noGrp="1" noChangeAspect="1"/>
          </p:cNvPicPr>
          <p:nvPr>
            <p:ph idx="1"/>
          </p:nvPr>
        </p:nvPicPr>
        <p:blipFill>
          <a:blip r:embed="rId3"/>
          <a:stretch>
            <a:fillRect/>
          </a:stretch>
        </p:blipFill>
        <p:spPr>
          <a:xfrm>
            <a:off x="311160" y="1558555"/>
            <a:ext cx="8508999" cy="2900515"/>
          </a:xfrm>
        </p:spPr>
      </p:pic>
      <p:sp>
        <p:nvSpPr>
          <p:cNvPr id="3" name="Slide Number Placeholder 2">
            <a:extLst>
              <a:ext uri="{FF2B5EF4-FFF2-40B4-BE49-F238E27FC236}">
                <a16:creationId xmlns:a16="http://schemas.microsoft.com/office/drawing/2014/main" id="{EEC18936-5A86-F6ED-9AED-F7AB1124FBDE}"/>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4" name="Footer Placeholder 3">
            <a:extLst>
              <a:ext uri="{FF2B5EF4-FFF2-40B4-BE49-F238E27FC236}">
                <a16:creationId xmlns:a16="http://schemas.microsoft.com/office/drawing/2014/main" id="{C7F7DD30-2447-7C22-0A0A-E687B14F8309}"/>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57418D35-EE57-060A-7848-88C5EF453A2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742D4139-1710-4DE3-1A05-D09E7A9E8DF8}"/>
              </a:ext>
            </a:extLst>
          </p:cNvPr>
          <p:cNvSpPr>
            <a:spLocks noGrp="1"/>
          </p:cNvSpPr>
          <p:nvPr>
            <p:ph type="body" sz="quarter" idx="14"/>
          </p:nvPr>
        </p:nvSpPr>
        <p:spPr/>
        <p:txBody>
          <a:bodyPr/>
          <a:lstStyle/>
          <a:p>
            <a:r>
              <a:rPr lang="en-US" b="1" dirty="0"/>
              <a:t>NBS Tests</a:t>
            </a:r>
          </a:p>
        </p:txBody>
      </p:sp>
      <p:sp>
        <p:nvSpPr>
          <p:cNvPr id="11" name="TextBox 10">
            <a:extLst>
              <a:ext uri="{FF2B5EF4-FFF2-40B4-BE49-F238E27FC236}">
                <a16:creationId xmlns:a16="http://schemas.microsoft.com/office/drawing/2014/main" id="{6DDF2C81-18D9-5B57-CA5F-AAFA6AABF49E}"/>
              </a:ext>
            </a:extLst>
          </p:cNvPr>
          <p:cNvSpPr txBox="1"/>
          <p:nvPr/>
        </p:nvSpPr>
        <p:spPr>
          <a:xfrm>
            <a:off x="2092272" y="4518528"/>
            <a:ext cx="4572000" cy="276999"/>
          </a:xfrm>
          <a:prstGeom prst="rect">
            <a:avLst/>
          </a:prstGeom>
          <a:noFill/>
        </p:spPr>
        <p:txBody>
          <a:bodyPr wrap="square">
            <a:spAutoFit/>
          </a:bodyPr>
          <a:lstStyle/>
          <a:p>
            <a:r>
              <a:rPr lang="en-US" sz="600" b="0" i="0" u="none" strike="noStrike" dirty="0">
                <a:effectLst/>
                <a:latin typeface="fkGroteskNeue"/>
              </a:rPr>
              <a:t>Zalesky, A., </a:t>
            </a:r>
            <a:r>
              <a:rPr lang="en-US" sz="600" b="0" i="0" u="none" strike="noStrike" dirty="0" err="1">
                <a:effectLst/>
                <a:latin typeface="fkGroteskNeue"/>
              </a:rPr>
              <a:t>Fornito</a:t>
            </a:r>
            <a:r>
              <a:rPr lang="en-US" sz="600" b="0" i="0" u="none" strike="noStrike" dirty="0">
                <a:effectLst/>
                <a:latin typeface="fkGroteskNeue"/>
              </a:rPr>
              <a:t>, A., &amp; Bullmore, E. (2010). Network-based statistic: Identifying differences in brain networks. </a:t>
            </a:r>
            <a:r>
              <a:rPr lang="en-US" sz="600" b="0" i="1" dirty="0" err="1">
                <a:effectLst/>
                <a:latin typeface="fkGroteskNeue"/>
              </a:rPr>
              <a:t>NeuroImage</a:t>
            </a:r>
            <a:r>
              <a:rPr lang="en-US" sz="600" b="0" i="0" u="none" strike="noStrike" dirty="0">
                <a:effectLst/>
                <a:latin typeface="fkGroteskNeue"/>
              </a:rPr>
              <a:t>, </a:t>
            </a:r>
            <a:r>
              <a:rPr lang="en-US" sz="600" b="0" i="1" dirty="0">
                <a:effectLst/>
                <a:latin typeface="fkGroteskNeue"/>
              </a:rPr>
              <a:t>53</a:t>
            </a:r>
            <a:r>
              <a:rPr lang="en-US" sz="600" b="0" i="0" u="none" strike="noStrike" dirty="0">
                <a:effectLst/>
                <a:latin typeface="fkGroteskNeue"/>
              </a:rPr>
              <a:t>(4), 1197-1207. </a:t>
            </a:r>
            <a:r>
              <a:rPr lang="en-US" sz="600" i="0" dirty="0">
                <a:effectLst/>
                <a:latin typeface="fkGroteskNeue"/>
                <a:hlinkClick r:id="rId4"/>
              </a:rPr>
              <a:t>https://doi.org/10.1016/j.neuroimage.2010.06.041</a:t>
            </a:r>
            <a:endParaRPr lang="en-US" sz="600" dirty="0"/>
          </a:p>
        </p:txBody>
      </p:sp>
    </p:spTree>
    <p:extLst>
      <p:ext uri="{BB962C8B-B14F-4D97-AF65-F5344CB8AC3E}">
        <p14:creationId xmlns:p14="http://schemas.microsoft.com/office/powerpoint/2010/main" val="932527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een bar chart with orange and green lines&#10;&#10;AI-generated content may be incorrect.">
            <a:extLst>
              <a:ext uri="{FF2B5EF4-FFF2-40B4-BE49-F238E27FC236}">
                <a16:creationId xmlns:a16="http://schemas.microsoft.com/office/drawing/2014/main" id="{67E5AA75-7030-4BC5-8D9B-E1B938C41ECD}"/>
              </a:ext>
            </a:extLst>
          </p:cNvPr>
          <p:cNvPicPr>
            <a:picLocks noGrp="1" noChangeAspect="1"/>
          </p:cNvPicPr>
          <p:nvPr>
            <p:ph idx="1"/>
          </p:nvPr>
        </p:nvPicPr>
        <p:blipFill>
          <a:blip r:embed="rId3"/>
          <a:stretch>
            <a:fillRect/>
          </a:stretch>
        </p:blipFill>
        <p:spPr>
          <a:xfrm>
            <a:off x="328974" y="1623053"/>
            <a:ext cx="8473371" cy="2900362"/>
          </a:xfrm>
        </p:spPr>
      </p:pic>
      <p:sp>
        <p:nvSpPr>
          <p:cNvPr id="3" name="Slide Number Placeholder 2">
            <a:extLst>
              <a:ext uri="{FF2B5EF4-FFF2-40B4-BE49-F238E27FC236}">
                <a16:creationId xmlns:a16="http://schemas.microsoft.com/office/drawing/2014/main" id="{20D87AD9-FA45-A33B-7426-A7803F010EAD}"/>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4" name="Footer Placeholder 3">
            <a:extLst>
              <a:ext uri="{FF2B5EF4-FFF2-40B4-BE49-F238E27FC236}">
                <a16:creationId xmlns:a16="http://schemas.microsoft.com/office/drawing/2014/main" id="{78D15B63-580D-2F47-1B24-357477DDCB7E}"/>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D467DFFC-9812-B061-9BB8-65BBEE4A5891}"/>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33CDC6D0-27A2-E116-A1E5-884A669F5FD9}"/>
              </a:ext>
            </a:extLst>
          </p:cNvPr>
          <p:cNvSpPr>
            <a:spLocks noGrp="1"/>
          </p:cNvSpPr>
          <p:nvPr>
            <p:ph type="body" sz="quarter" idx="14"/>
          </p:nvPr>
        </p:nvSpPr>
        <p:spPr/>
        <p:txBody>
          <a:bodyPr/>
          <a:lstStyle/>
          <a:p>
            <a:r>
              <a:rPr lang="en-US" b="1" dirty="0"/>
              <a:t>NBS Tests</a:t>
            </a:r>
          </a:p>
        </p:txBody>
      </p:sp>
      <p:sp>
        <p:nvSpPr>
          <p:cNvPr id="10" name="TextBox 9">
            <a:extLst>
              <a:ext uri="{FF2B5EF4-FFF2-40B4-BE49-F238E27FC236}">
                <a16:creationId xmlns:a16="http://schemas.microsoft.com/office/drawing/2014/main" id="{71705560-7589-8936-85AD-C54FB24769A9}"/>
              </a:ext>
            </a:extLst>
          </p:cNvPr>
          <p:cNvSpPr txBox="1"/>
          <p:nvPr/>
        </p:nvSpPr>
        <p:spPr>
          <a:xfrm>
            <a:off x="2471981" y="4523415"/>
            <a:ext cx="4572000" cy="276999"/>
          </a:xfrm>
          <a:prstGeom prst="rect">
            <a:avLst/>
          </a:prstGeom>
          <a:noFill/>
        </p:spPr>
        <p:txBody>
          <a:bodyPr wrap="square">
            <a:spAutoFit/>
          </a:bodyPr>
          <a:lstStyle/>
          <a:p>
            <a:r>
              <a:rPr lang="en-US" sz="600" b="0" i="0" u="none" strike="noStrike" dirty="0">
                <a:effectLst/>
                <a:latin typeface="fkGroteskNeue"/>
              </a:rPr>
              <a:t>Zalesky, A., </a:t>
            </a:r>
            <a:r>
              <a:rPr lang="en-US" sz="600" b="0" i="0" u="none" strike="noStrike" dirty="0" err="1">
                <a:effectLst/>
                <a:latin typeface="fkGroteskNeue"/>
              </a:rPr>
              <a:t>Fornito</a:t>
            </a:r>
            <a:r>
              <a:rPr lang="en-US" sz="600" b="0" i="0" u="none" strike="noStrike" dirty="0">
                <a:effectLst/>
                <a:latin typeface="fkGroteskNeue"/>
              </a:rPr>
              <a:t>, A., &amp; Bullmore, E. (2010). Network-based statistic: Identifying differences in brain networks. </a:t>
            </a:r>
            <a:r>
              <a:rPr lang="en-US" sz="600" b="0" i="1" dirty="0" err="1">
                <a:effectLst/>
                <a:latin typeface="fkGroteskNeue"/>
              </a:rPr>
              <a:t>NeuroImage</a:t>
            </a:r>
            <a:r>
              <a:rPr lang="en-US" sz="600" b="0" i="0" u="none" strike="noStrike" dirty="0">
                <a:effectLst/>
                <a:latin typeface="fkGroteskNeue"/>
              </a:rPr>
              <a:t>, </a:t>
            </a:r>
            <a:r>
              <a:rPr lang="en-US" sz="600" b="0" i="1" dirty="0">
                <a:effectLst/>
                <a:latin typeface="fkGroteskNeue"/>
              </a:rPr>
              <a:t>53</a:t>
            </a:r>
            <a:r>
              <a:rPr lang="en-US" sz="600" b="0" i="0" u="none" strike="noStrike" dirty="0">
                <a:effectLst/>
                <a:latin typeface="fkGroteskNeue"/>
              </a:rPr>
              <a:t>(4), 1197-1207. </a:t>
            </a:r>
            <a:r>
              <a:rPr lang="en-US" sz="600" i="0" dirty="0">
                <a:effectLst/>
                <a:latin typeface="fkGroteskNeue"/>
                <a:hlinkClick r:id="rId4"/>
              </a:rPr>
              <a:t>https://doi.org/10.1016/j.neuroimage.2010.06.041</a:t>
            </a:r>
            <a:endParaRPr lang="en-US" sz="600" dirty="0"/>
          </a:p>
        </p:txBody>
      </p:sp>
    </p:spTree>
    <p:extLst>
      <p:ext uri="{BB962C8B-B14F-4D97-AF65-F5344CB8AC3E}">
        <p14:creationId xmlns:p14="http://schemas.microsoft.com/office/powerpoint/2010/main" val="2280813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different sizes and colors&#10;&#10;AI-generated content may be incorrect.">
            <a:extLst>
              <a:ext uri="{FF2B5EF4-FFF2-40B4-BE49-F238E27FC236}">
                <a16:creationId xmlns:a16="http://schemas.microsoft.com/office/drawing/2014/main" id="{55E01426-F477-256C-3940-8D5BF35CA77D}"/>
              </a:ext>
            </a:extLst>
          </p:cNvPr>
          <p:cNvPicPr>
            <a:picLocks noGrp="1" noChangeAspect="1"/>
          </p:cNvPicPr>
          <p:nvPr>
            <p:ph idx="1"/>
          </p:nvPr>
        </p:nvPicPr>
        <p:blipFill>
          <a:blip r:embed="rId3"/>
          <a:stretch>
            <a:fillRect/>
          </a:stretch>
        </p:blipFill>
        <p:spPr>
          <a:xfrm>
            <a:off x="318009" y="1480155"/>
            <a:ext cx="8508999" cy="2900515"/>
          </a:xfrm>
        </p:spPr>
      </p:pic>
      <p:sp>
        <p:nvSpPr>
          <p:cNvPr id="3" name="Slide Number Placeholder 2">
            <a:extLst>
              <a:ext uri="{FF2B5EF4-FFF2-40B4-BE49-F238E27FC236}">
                <a16:creationId xmlns:a16="http://schemas.microsoft.com/office/drawing/2014/main" id="{1D673000-F8AD-110E-393C-75CB153F2CE6}"/>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4" name="Footer Placeholder 3">
            <a:extLst>
              <a:ext uri="{FF2B5EF4-FFF2-40B4-BE49-F238E27FC236}">
                <a16:creationId xmlns:a16="http://schemas.microsoft.com/office/drawing/2014/main" id="{A66DCFD5-5C99-A664-4B68-1137CF079743}"/>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E38D7C77-CC91-8CB0-B90A-BCBEA2B0DF3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41EE289C-51DB-078A-180E-992AA41A7344}"/>
              </a:ext>
            </a:extLst>
          </p:cNvPr>
          <p:cNvSpPr>
            <a:spLocks noGrp="1"/>
          </p:cNvSpPr>
          <p:nvPr>
            <p:ph type="body" sz="quarter" idx="14"/>
          </p:nvPr>
        </p:nvSpPr>
        <p:spPr/>
        <p:txBody>
          <a:bodyPr/>
          <a:lstStyle/>
          <a:p>
            <a:r>
              <a:rPr lang="en-US" b="1" dirty="0"/>
              <a:t>FDR, Cohen’s d</a:t>
            </a:r>
          </a:p>
        </p:txBody>
      </p:sp>
      <p:sp>
        <p:nvSpPr>
          <p:cNvPr id="12" name="TextBox 11">
            <a:extLst>
              <a:ext uri="{FF2B5EF4-FFF2-40B4-BE49-F238E27FC236}">
                <a16:creationId xmlns:a16="http://schemas.microsoft.com/office/drawing/2014/main" id="{5819A151-FF1C-09A8-4EDB-ECDF0EFE317E}"/>
              </a:ext>
            </a:extLst>
          </p:cNvPr>
          <p:cNvSpPr txBox="1"/>
          <p:nvPr/>
        </p:nvSpPr>
        <p:spPr>
          <a:xfrm>
            <a:off x="4936210" y="4338749"/>
            <a:ext cx="4029560" cy="369332"/>
          </a:xfrm>
          <a:prstGeom prst="rect">
            <a:avLst/>
          </a:prstGeom>
          <a:noFill/>
        </p:spPr>
        <p:txBody>
          <a:bodyPr wrap="square">
            <a:spAutoFit/>
          </a:bodyPr>
          <a:lstStyle/>
          <a:p>
            <a:pPr algn="ctr"/>
            <a:r>
              <a:rPr lang="en-US" sz="600" dirty="0"/>
              <a:t>Miao D, Zhou X, Wu X, Chen C, Tian L. (2022). Distinct profiles of functional connectivity density aberrance in Alzheimer's disease and mild cognitive impairment. Frontiers in Psychiatry, 13:1079149. </a:t>
            </a:r>
            <a:r>
              <a:rPr lang="en-US" sz="600" dirty="0" err="1"/>
              <a:t>doi</a:t>
            </a:r>
            <a:r>
              <a:rPr lang="en-US" sz="600" dirty="0"/>
              <a:t>: 10.3389/fpsyt.2022.1079149</a:t>
            </a:r>
          </a:p>
        </p:txBody>
      </p:sp>
      <p:sp>
        <p:nvSpPr>
          <p:cNvPr id="15" name="TextBox 14">
            <a:extLst>
              <a:ext uri="{FF2B5EF4-FFF2-40B4-BE49-F238E27FC236}">
                <a16:creationId xmlns:a16="http://schemas.microsoft.com/office/drawing/2014/main" id="{F8B08B70-9028-12C2-D2E1-347FDB89DDD1}"/>
              </a:ext>
            </a:extLst>
          </p:cNvPr>
          <p:cNvSpPr txBox="1"/>
          <p:nvPr/>
        </p:nvSpPr>
        <p:spPr>
          <a:xfrm>
            <a:off x="902923" y="4313543"/>
            <a:ext cx="3448373" cy="461665"/>
          </a:xfrm>
          <a:prstGeom prst="rect">
            <a:avLst/>
          </a:prstGeom>
          <a:noFill/>
        </p:spPr>
        <p:txBody>
          <a:bodyPr wrap="square">
            <a:spAutoFit/>
          </a:bodyPr>
          <a:lstStyle/>
          <a:p>
            <a:pPr algn="ctr"/>
            <a:r>
              <a:rPr lang="en-US" sz="600" dirty="0" err="1"/>
              <a:t>Rechberger</a:t>
            </a:r>
            <a:r>
              <a:rPr lang="en-US" sz="600" dirty="0"/>
              <a:t> S, Li Y, Kopetzky SJ, Butz-Ostendorf M; for the Alzheimer's Disease Neuroimaging Initiative. (2022). Automated High-Definition MRI Processing Routine Robustly Detects Longitudinal Morphometry Changes in Alzheimer's Disease Patients. Frontiers in Aging Neuroscience, 14:832828. </a:t>
            </a:r>
            <a:r>
              <a:rPr lang="en-US" sz="600" dirty="0" err="1"/>
              <a:t>doi</a:t>
            </a:r>
            <a:r>
              <a:rPr lang="en-US" sz="600" dirty="0"/>
              <a:t>: 10.3389/fnagi.2022.832828</a:t>
            </a:r>
          </a:p>
        </p:txBody>
      </p:sp>
    </p:spTree>
    <p:extLst>
      <p:ext uri="{BB962C8B-B14F-4D97-AF65-F5344CB8AC3E}">
        <p14:creationId xmlns:p14="http://schemas.microsoft.com/office/powerpoint/2010/main" val="2091747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number of people&#10;&#10;AI-generated content may be incorrect.">
            <a:extLst>
              <a:ext uri="{FF2B5EF4-FFF2-40B4-BE49-F238E27FC236}">
                <a16:creationId xmlns:a16="http://schemas.microsoft.com/office/drawing/2014/main" id="{0A7E799B-7691-15C6-59E5-10AD43F04D87}"/>
              </a:ext>
            </a:extLst>
          </p:cNvPr>
          <p:cNvPicPr>
            <a:picLocks noGrp="1" noChangeAspect="1"/>
          </p:cNvPicPr>
          <p:nvPr>
            <p:ph idx="1"/>
          </p:nvPr>
        </p:nvPicPr>
        <p:blipFill>
          <a:blip r:embed="rId3"/>
          <a:srcRect r="45166"/>
          <a:stretch>
            <a:fillRect/>
          </a:stretch>
        </p:blipFill>
        <p:spPr>
          <a:xfrm>
            <a:off x="2229837" y="1680664"/>
            <a:ext cx="3999378" cy="2499496"/>
          </a:xfrm>
        </p:spPr>
      </p:pic>
      <p:sp>
        <p:nvSpPr>
          <p:cNvPr id="3" name="Slide Number Placeholder 2">
            <a:extLst>
              <a:ext uri="{FF2B5EF4-FFF2-40B4-BE49-F238E27FC236}">
                <a16:creationId xmlns:a16="http://schemas.microsoft.com/office/drawing/2014/main" id="{2B6C6D29-86D4-50CB-D71D-C5DF03E101F4}"/>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4" name="Footer Placeholder 3">
            <a:extLst>
              <a:ext uri="{FF2B5EF4-FFF2-40B4-BE49-F238E27FC236}">
                <a16:creationId xmlns:a16="http://schemas.microsoft.com/office/drawing/2014/main" id="{4E84AE1A-6B6A-D36C-4BFA-0A01D942EA24}"/>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3A57FBD6-4731-0B9A-9D75-6709F3A8A272}"/>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1F3BF3C9-3427-B5B7-E427-30CE66626263}"/>
              </a:ext>
            </a:extLst>
          </p:cNvPr>
          <p:cNvSpPr>
            <a:spLocks noGrp="1"/>
          </p:cNvSpPr>
          <p:nvPr>
            <p:ph type="body" sz="quarter" idx="14"/>
          </p:nvPr>
        </p:nvSpPr>
        <p:spPr/>
        <p:txBody>
          <a:bodyPr/>
          <a:lstStyle/>
          <a:p>
            <a:r>
              <a:rPr lang="en-US" b="1" dirty="0"/>
              <a:t>Age Effect: Age distribution</a:t>
            </a:r>
          </a:p>
        </p:txBody>
      </p:sp>
    </p:spTree>
    <p:extLst>
      <p:ext uri="{BB962C8B-B14F-4D97-AF65-F5344CB8AC3E}">
        <p14:creationId xmlns:p14="http://schemas.microsoft.com/office/powerpoint/2010/main" val="276221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809AC4-12B0-B392-321B-AC63DB42A2F0}"/>
              </a:ext>
            </a:extLst>
          </p:cNvPr>
          <p:cNvSpPr>
            <a:spLocks noGrp="1"/>
          </p:cNvSpPr>
          <p:nvPr>
            <p:ph idx="1"/>
          </p:nvPr>
        </p:nvSpPr>
        <p:spPr/>
        <p:txBody>
          <a:bodyPr/>
          <a:lstStyle/>
          <a:p>
            <a:r>
              <a:rPr lang="en-US" dirty="0"/>
              <a:t>1) </a:t>
            </a:r>
            <a:r>
              <a:rPr lang="en-US" b="1" dirty="0"/>
              <a:t>Connectivity = </a:t>
            </a:r>
            <a:r>
              <a:rPr lang="el-GR" b="1" dirty="0"/>
              <a:t>β₀ + β₁ × </a:t>
            </a:r>
            <a:r>
              <a:rPr lang="en-US" b="1" dirty="0"/>
              <a:t>Age + </a:t>
            </a:r>
            <a:r>
              <a:rPr lang="el-GR" b="1" dirty="0"/>
              <a:t>ε</a:t>
            </a:r>
            <a:endParaRPr lang="de-DE" b="1" dirty="0"/>
          </a:p>
          <a:p>
            <a:r>
              <a:rPr lang="en-US" dirty="0"/>
              <a:t>We fit a linear regression model</a:t>
            </a:r>
          </a:p>
          <a:p>
            <a:endParaRPr lang="en-US" dirty="0"/>
          </a:p>
          <a:p>
            <a:r>
              <a:rPr lang="en-US" dirty="0"/>
              <a:t>2) </a:t>
            </a:r>
            <a:r>
              <a:rPr lang="en-US" b="1" dirty="0"/>
              <a:t>Cᵢⱼᶜᵒ</a:t>
            </a:r>
            <a:r>
              <a:rPr lang="en-US" b="1" dirty="0" err="1"/>
              <a:t>ʳʳ</a:t>
            </a:r>
            <a:r>
              <a:rPr lang="en-US" b="1" dirty="0"/>
              <a:t>ᵉᶜᵗᵉᵈ = Cᵢⱼ - </a:t>
            </a:r>
            <a:r>
              <a:rPr lang="el-GR" b="1" dirty="0"/>
              <a:t>β₁ × </a:t>
            </a:r>
            <a:r>
              <a:rPr lang="en-US" b="1" dirty="0"/>
              <a:t>Ageᵢ + </a:t>
            </a:r>
            <a:r>
              <a:rPr lang="el-GR" b="1" dirty="0"/>
              <a:t>β₁ × </a:t>
            </a:r>
            <a:r>
              <a:rPr lang="en-US" b="1" dirty="0" err="1"/>
              <a:t>Age_mean</a:t>
            </a:r>
            <a:endParaRPr lang="en-US" b="1" dirty="0"/>
          </a:p>
          <a:p>
            <a:r>
              <a:rPr lang="en-US" dirty="0"/>
              <a:t>For each subject, we predict their connectivity based solely on their age using this model, then subtract this age-driven prediction from their actual connectivity values. </a:t>
            </a:r>
          </a:p>
          <a:p>
            <a:r>
              <a:rPr lang="en-US" dirty="0"/>
              <a:t>We add back the mean connectivity so the corrected values stay in a meaningful range</a:t>
            </a:r>
          </a:p>
        </p:txBody>
      </p:sp>
      <p:sp>
        <p:nvSpPr>
          <p:cNvPr id="3" name="Slide Number Placeholder 2">
            <a:extLst>
              <a:ext uri="{FF2B5EF4-FFF2-40B4-BE49-F238E27FC236}">
                <a16:creationId xmlns:a16="http://schemas.microsoft.com/office/drawing/2014/main" id="{FA9B1A1D-1DC4-F64B-8153-B901ABA69D87}"/>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4" name="Footer Placeholder 3">
            <a:extLst>
              <a:ext uri="{FF2B5EF4-FFF2-40B4-BE49-F238E27FC236}">
                <a16:creationId xmlns:a16="http://schemas.microsoft.com/office/drawing/2014/main" id="{5F6A4189-8C58-434F-B5A7-660E1239DC86}"/>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7596F0F7-297F-8C84-968B-17F94348C4AA}"/>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EED47019-E36C-EFEC-D3A4-05AD6605EE19}"/>
              </a:ext>
            </a:extLst>
          </p:cNvPr>
          <p:cNvSpPr>
            <a:spLocks noGrp="1"/>
          </p:cNvSpPr>
          <p:nvPr>
            <p:ph type="body" sz="quarter" idx="14"/>
          </p:nvPr>
        </p:nvSpPr>
        <p:spPr/>
        <p:txBody>
          <a:bodyPr/>
          <a:lstStyle/>
          <a:p>
            <a:r>
              <a:rPr lang="en-US" b="1" dirty="0"/>
              <a:t>Age Effect: Regressing out the age</a:t>
            </a:r>
          </a:p>
        </p:txBody>
      </p:sp>
    </p:spTree>
    <p:extLst>
      <p:ext uri="{BB962C8B-B14F-4D97-AF65-F5344CB8AC3E}">
        <p14:creationId xmlns:p14="http://schemas.microsoft.com/office/powerpoint/2010/main" val="1392250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een and red distribution graph&#10;&#10;AI-generated content may be incorrect.">
            <a:extLst>
              <a:ext uri="{FF2B5EF4-FFF2-40B4-BE49-F238E27FC236}">
                <a16:creationId xmlns:a16="http://schemas.microsoft.com/office/drawing/2014/main" id="{07E75429-9C6E-757A-2121-16A575425F8D}"/>
              </a:ext>
            </a:extLst>
          </p:cNvPr>
          <p:cNvPicPr>
            <a:picLocks noGrp="1" noChangeAspect="1"/>
          </p:cNvPicPr>
          <p:nvPr>
            <p:ph idx="1"/>
          </p:nvPr>
        </p:nvPicPr>
        <p:blipFill>
          <a:blip r:embed="rId2"/>
          <a:stretch>
            <a:fillRect/>
          </a:stretch>
        </p:blipFill>
        <p:spPr>
          <a:xfrm>
            <a:off x="272196" y="2033608"/>
            <a:ext cx="8509000" cy="2425462"/>
          </a:xfrm>
        </p:spPr>
      </p:pic>
      <p:sp>
        <p:nvSpPr>
          <p:cNvPr id="3" name="Slide Number Placeholder 2">
            <a:extLst>
              <a:ext uri="{FF2B5EF4-FFF2-40B4-BE49-F238E27FC236}">
                <a16:creationId xmlns:a16="http://schemas.microsoft.com/office/drawing/2014/main" id="{847C0C52-A522-F921-6FC0-957103F01121}"/>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4" name="Footer Placeholder 3">
            <a:extLst>
              <a:ext uri="{FF2B5EF4-FFF2-40B4-BE49-F238E27FC236}">
                <a16:creationId xmlns:a16="http://schemas.microsoft.com/office/drawing/2014/main" id="{D3853C22-9946-DC48-251F-313C80011AD5}"/>
              </a:ext>
            </a:extLst>
          </p:cNvPr>
          <p:cNvSpPr>
            <a:spLocks noGrp="1"/>
          </p:cNvSpPr>
          <p:nvPr>
            <p:ph type="ftr" sz="quarter" idx="12"/>
          </p:nvPr>
        </p:nvSpPr>
        <p:spPr/>
        <p:txBody>
          <a:bodyPr/>
          <a:lstStyle/>
          <a:p>
            <a:r>
              <a:rPr lang="de-DE"/>
              <a:t>Fraj Yassine Lakhal (TUM)</a:t>
            </a:r>
            <a:endParaRPr lang="en-US" dirty="0"/>
          </a:p>
        </p:txBody>
      </p:sp>
      <p:sp>
        <p:nvSpPr>
          <p:cNvPr id="6" name="Title 5">
            <a:extLst>
              <a:ext uri="{FF2B5EF4-FFF2-40B4-BE49-F238E27FC236}">
                <a16:creationId xmlns:a16="http://schemas.microsoft.com/office/drawing/2014/main" id="{B356E6B7-329F-07E3-FB4B-BED3508DA5AD}"/>
              </a:ext>
            </a:extLst>
          </p:cNvPr>
          <p:cNvSpPr>
            <a:spLocks noGrp="1"/>
          </p:cNvSpPr>
          <p:nvPr>
            <p:ph type="title"/>
          </p:nvPr>
        </p:nvSpPr>
        <p:spPr/>
        <p:txBody>
          <a:bodyPr/>
          <a:lstStyle/>
          <a:p>
            <a:r>
              <a:rPr lang="en-US" dirty="0"/>
              <a:t>Statistical Tests (Converters vs non-Converters)</a:t>
            </a:r>
          </a:p>
        </p:txBody>
      </p:sp>
      <p:sp>
        <p:nvSpPr>
          <p:cNvPr id="7" name="Text Placeholder 6">
            <a:extLst>
              <a:ext uri="{FF2B5EF4-FFF2-40B4-BE49-F238E27FC236}">
                <a16:creationId xmlns:a16="http://schemas.microsoft.com/office/drawing/2014/main" id="{F38B31E3-8F14-8B26-04CA-B981C82B6B43}"/>
              </a:ext>
            </a:extLst>
          </p:cNvPr>
          <p:cNvSpPr>
            <a:spLocks noGrp="1"/>
          </p:cNvSpPr>
          <p:nvPr>
            <p:ph type="body" sz="quarter" idx="14"/>
          </p:nvPr>
        </p:nvSpPr>
        <p:spPr/>
        <p:txBody>
          <a:bodyPr/>
          <a:lstStyle/>
          <a:p>
            <a:r>
              <a:rPr lang="en-US" b="1" dirty="0"/>
              <a:t>Age Effect: Before and after regressing out the age</a:t>
            </a:r>
          </a:p>
          <a:p>
            <a:endParaRPr lang="en-US" b="1" dirty="0"/>
          </a:p>
        </p:txBody>
      </p:sp>
    </p:spTree>
    <p:extLst>
      <p:ext uri="{BB962C8B-B14F-4D97-AF65-F5344CB8AC3E}">
        <p14:creationId xmlns:p14="http://schemas.microsoft.com/office/powerpoint/2010/main" val="1778945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computer&#10;&#10;AI-generated content may be incorrect.">
            <a:extLst>
              <a:ext uri="{FF2B5EF4-FFF2-40B4-BE49-F238E27FC236}">
                <a16:creationId xmlns:a16="http://schemas.microsoft.com/office/drawing/2014/main" id="{E51C662C-DE76-97DB-261A-980806B9F8B5}"/>
              </a:ext>
            </a:extLst>
          </p:cNvPr>
          <p:cNvPicPr>
            <a:picLocks noGrp="1" noChangeAspect="1"/>
          </p:cNvPicPr>
          <p:nvPr>
            <p:ph idx="1"/>
          </p:nvPr>
        </p:nvPicPr>
        <p:blipFill>
          <a:blip r:embed="rId2"/>
          <a:stretch>
            <a:fillRect/>
          </a:stretch>
        </p:blipFill>
        <p:spPr>
          <a:xfrm>
            <a:off x="423603" y="1144424"/>
            <a:ext cx="3890928" cy="3758956"/>
          </a:xfrm>
        </p:spPr>
      </p:pic>
      <p:sp>
        <p:nvSpPr>
          <p:cNvPr id="3" name="Slide Number Placeholder 2">
            <a:extLst>
              <a:ext uri="{FF2B5EF4-FFF2-40B4-BE49-F238E27FC236}">
                <a16:creationId xmlns:a16="http://schemas.microsoft.com/office/drawing/2014/main" id="{8A56FD0C-1F1F-454C-A688-B38F1DC25331}"/>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4" name="Footer Placeholder 3">
            <a:extLst>
              <a:ext uri="{FF2B5EF4-FFF2-40B4-BE49-F238E27FC236}">
                <a16:creationId xmlns:a16="http://schemas.microsoft.com/office/drawing/2014/main" id="{6F211E44-B32F-58BE-71FA-F39A2EFD23C0}"/>
              </a:ext>
            </a:extLst>
          </p:cNvPr>
          <p:cNvSpPr>
            <a:spLocks noGrp="1"/>
          </p:cNvSpPr>
          <p:nvPr>
            <p:ph type="ftr" sz="quarter" idx="12"/>
          </p:nvPr>
        </p:nvSpPr>
        <p:spPr/>
        <p:txBody>
          <a:bodyPr/>
          <a:lstStyle/>
          <a:p>
            <a:r>
              <a:rPr lang="de-DE"/>
              <a:t>Fraj Yassine Lakhal (TUM)</a:t>
            </a:r>
            <a:endParaRPr lang="en-US" dirty="0"/>
          </a:p>
        </p:txBody>
      </p:sp>
      <p:pic>
        <p:nvPicPr>
          <p:cNvPr id="11" name="Picture 10" descr="A diagram of a computer&#10;&#10;AI-generated content may be incorrect.">
            <a:extLst>
              <a:ext uri="{FF2B5EF4-FFF2-40B4-BE49-F238E27FC236}">
                <a16:creationId xmlns:a16="http://schemas.microsoft.com/office/drawing/2014/main" id="{153EBEE4-9C86-D636-F751-734F1AF1EC90}"/>
              </a:ext>
            </a:extLst>
          </p:cNvPr>
          <p:cNvPicPr>
            <a:picLocks noChangeAspect="1"/>
          </p:cNvPicPr>
          <p:nvPr/>
        </p:nvPicPr>
        <p:blipFill>
          <a:blip r:embed="rId3"/>
          <a:stretch>
            <a:fillRect/>
          </a:stretch>
        </p:blipFill>
        <p:spPr>
          <a:xfrm>
            <a:off x="4654486" y="958921"/>
            <a:ext cx="3453193" cy="3757480"/>
          </a:xfrm>
          <a:prstGeom prst="rect">
            <a:avLst/>
          </a:prstGeom>
        </p:spPr>
      </p:pic>
      <p:sp>
        <p:nvSpPr>
          <p:cNvPr id="12" name="Title 5">
            <a:extLst>
              <a:ext uri="{FF2B5EF4-FFF2-40B4-BE49-F238E27FC236}">
                <a16:creationId xmlns:a16="http://schemas.microsoft.com/office/drawing/2014/main" id="{D071BD28-2CA4-9E49-82AD-641682EA575B}"/>
              </a:ext>
            </a:extLst>
          </p:cNvPr>
          <p:cNvSpPr>
            <a:spLocks noGrp="1"/>
          </p:cNvSpPr>
          <p:nvPr>
            <p:ph type="title"/>
          </p:nvPr>
        </p:nvSpPr>
        <p:spPr>
          <a:xfrm>
            <a:off x="311162" y="293460"/>
            <a:ext cx="8508999" cy="380810"/>
          </a:xfrm>
        </p:spPr>
        <p:txBody>
          <a:bodyPr/>
          <a:lstStyle/>
          <a:p>
            <a:r>
              <a:rPr lang="en-US" dirty="0"/>
              <a:t>Pretrained Model Architecture</a:t>
            </a:r>
          </a:p>
        </p:txBody>
      </p:sp>
      <p:sp>
        <p:nvSpPr>
          <p:cNvPr id="13" name="Text Placeholder 6">
            <a:extLst>
              <a:ext uri="{FF2B5EF4-FFF2-40B4-BE49-F238E27FC236}">
                <a16:creationId xmlns:a16="http://schemas.microsoft.com/office/drawing/2014/main" id="{B1AAB18C-337B-1E43-FCF7-426B21179538}"/>
              </a:ext>
            </a:extLst>
          </p:cNvPr>
          <p:cNvSpPr txBox="1">
            <a:spLocks/>
          </p:cNvSpPr>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kern="1200">
                <a:solidFill>
                  <a:schemeClr val="bg2"/>
                </a:solidFill>
                <a:latin typeface="+mj-lt"/>
                <a:ea typeface="+mn-ea"/>
                <a:cs typeface="+mn-cs"/>
              </a:defRPr>
            </a:lvl1pPr>
            <a:lvl2pPr marL="0" indent="0" algn="l" rtl="0" eaLnBrk="0" fontAlgn="base" hangingPunct="0">
              <a:lnSpc>
                <a:spcPct val="100000"/>
              </a:lnSpc>
              <a:spcBef>
                <a:spcPct val="0"/>
              </a:spcBef>
              <a:spcAft>
                <a:spcPct val="0"/>
              </a:spcAft>
              <a:buFont typeface="Arial" charset="0"/>
              <a:buNone/>
              <a:defRPr sz="1600" kern="1200">
                <a:solidFill>
                  <a:schemeClr val="tx1"/>
                </a:solidFill>
                <a:latin typeface="+mn-lt"/>
                <a:ea typeface="+mn-ea"/>
                <a:cs typeface="+mn-cs"/>
              </a:defRPr>
            </a:lvl2pPr>
            <a:lvl3pPr marL="176213"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3pPr>
            <a:lvl4pPr marL="360363"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4pPr>
            <a:lvl5pPr marL="538162" indent="0" algn="l" rtl="0" eaLnBrk="0" fontAlgn="base" hangingPunct="0">
              <a:lnSpc>
                <a:spcPct val="125000"/>
              </a:lnSpc>
              <a:spcBef>
                <a:spcPct val="0"/>
              </a:spcBef>
              <a:spcAft>
                <a:spcPct val="0"/>
              </a:spcAft>
              <a:buFont typeface="Symbol" pitchFamily="18" charset="2"/>
              <a:buNone/>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GAAE vs GEC: Architectures</a:t>
            </a:r>
          </a:p>
        </p:txBody>
      </p:sp>
    </p:spTree>
    <p:extLst>
      <p:ext uri="{BB962C8B-B14F-4D97-AF65-F5344CB8AC3E}">
        <p14:creationId xmlns:p14="http://schemas.microsoft.com/office/powerpoint/2010/main" val="1431459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and a diagram&#10;&#10;AI-generated content may be incorrect.">
            <a:extLst>
              <a:ext uri="{FF2B5EF4-FFF2-40B4-BE49-F238E27FC236}">
                <a16:creationId xmlns:a16="http://schemas.microsoft.com/office/drawing/2014/main" id="{F052F937-F1AD-1205-914A-104A415A4DD3}"/>
              </a:ext>
            </a:extLst>
          </p:cNvPr>
          <p:cNvPicPr>
            <a:picLocks noGrp="1" noChangeAspect="1"/>
          </p:cNvPicPr>
          <p:nvPr>
            <p:ph idx="1"/>
          </p:nvPr>
        </p:nvPicPr>
        <p:blipFill>
          <a:blip r:embed="rId2"/>
          <a:stretch>
            <a:fillRect/>
          </a:stretch>
        </p:blipFill>
        <p:spPr>
          <a:xfrm>
            <a:off x="4811543" y="2104282"/>
            <a:ext cx="4177536" cy="1816693"/>
          </a:xfrm>
        </p:spPr>
      </p:pic>
      <p:sp>
        <p:nvSpPr>
          <p:cNvPr id="3" name="Slide Number Placeholder 2">
            <a:extLst>
              <a:ext uri="{FF2B5EF4-FFF2-40B4-BE49-F238E27FC236}">
                <a16:creationId xmlns:a16="http://schemas.microsoft.com/office/drawing/2014/main" id="{4A7CCB29-3A69-341C-EB5C-0F7E400C0968}"/>
              </a:ext>
            </a:extLst>
          </p:cNvPr>
          <p:cNvSpPr>
            <a:spLocks noGrp="1"/>
          </p:cNvSpPr>
          <p:nvPr>
            <p:ph type="sldNum" sz="quarter" idx="11"/>
          </p:nvPr>
        </p:nvSpPr>
        <p:spPr/>
        <p:txBody>
          <a:bodyPr/>
          <a:lstStyle/>
          <a:p>
            <a:fld id="{CE58CB1E-F828-4F11-99E0-327109AF9DA4}" type="slidenum">
              <a:rPr lang="de-DE" smtClean="0"/>
              <a:pPr/>
              <a:t>14</a:t>
            </a:fld>
            <a:endParaRPr lang="de-DE" dirty="0"/>
          </a:p>
        </p:txBody>
      </p:sp>
      <p:sp>
        <p:nvSpPr>
          <p:cNvPr id="4" name="Footer Placeholder 3">
            <a:extLst>
              <a:ext uri="{FF2B5EF4-FFF2-40B4-BE49-F238E27FC236}">
                <a16:creationId xmlns:a16="http://schemas.microsoft.com/office/drawing/2014/main" id="{A66FAC69-55BE-0238-36C8-2BAD851E70F8}"/>
              </a:ext>
            </a:extLst>
          </p:cNvPr>
          <p:cNvSpPr>
            <a:spLocks noGrp="1"/>
          </p:cNvSpPr>
          <p:nvPr>
            <p:ph type="ftr" sz="quarter" idx="12"/>
          </p:nvPr>
        </p:nvSpPr>
        <p:spPr/>
        <p:txBody>
          <a:bodyPr/>
          <a:lstStyle/>
          <a:p>
            <a:r>
              <a:rPr lang="de-DE" dirty="0"/>
              <a:t>Fraj Yassine Lakhal (TUM)</a:t>
            </a:r>
            <a:endParaRPr lang="en-US" dirty="0"/>
          </a:p>
        </p:txBody>
      </p:sp>
      <p:sp>
        <p:nvSpPr>
          <p:cNvPr id="6" name="Title 5">
            <a:extLst>
              <a:ext uri="{FF2B5EF4-FFF2-40B4-BE49-F238E27FC236}">
                <a16:creationId xmlns:a16="http://schemas.microsoft.com/office/drawing/2014/main" id="{9BBB13DB-2E32-AD6C-B28F-47B99B4CE355}"/>
              </a:ext>
            </a:extLst>
          </p:cNvPr>
          <p:cNvSpPr>
            <a:spLocks noGrp="1"/>
          </p:cNvSpPr>
          <p:nvPr>
            <p:ph type="title"/>
          </p:nvPr>
        </p:nvSpPr>
        <p:spPr/>
        <p:txBody>
          <a:bodyPr/>
          <a:lstStyle/>
          <a:p>
            <a:r>
              <a:rPr lang="en-US" dirty="0"/>
              <a:t>Pretrained Model Architecture</a:t>
            </a:r>
          </a:p>
        </p:txBody>
      </p:sp>
      <p:sp>
        <p:nvSpPr>
          <p:cNvPr id="7" name="Text Placeholder 6">
            <a:extLst>
              <a:ext uri="{FF2B5EF4-FFF2-40B4-BE49-F238E27FC236}">
                <a16:creationId xmlns:a16="http://schemas.microsoft.com/office/drawing/2014/main" id="{30A0163C-5848-9B69-4793-A7744AE0DC49}"/>
              </a:ext>
            </a:extLst>
          </p:cNvPr>
          <p:cNvSpPr>
            <a:spLocks noGrp="1"/>
          </p:cNvSpPr>
          <p:nvPr>
            <p:ph type="body" sz="quarter" idx="14"/>
          </p:nvPr>
        </p:nvSpPr>
        <p:spPr/>
        <p:txBody>
          <a:bodyPr/>
          <a:lstStyle/>
          <a:p>
            <a:r>
              <a:rPr lang="en-US" dirty="0"/>
              <a:t>GAAE vs GEC: Evaluation on Classification</a:t>
            </a:r>
          </a:p>
        </p:txBody>
      </p:sp>
      <p:pic>
        <p:nvPicPr>
          <p:cNvPr id="11" name="Picture 10" descr="A graph and diagram of a function&#10;&#10;AI-generated content may be incorrect.">
            <a:extLst>
              <a:ext uri="{FF2B5EF4-FFF2-40B4-BE49-F238E27FC236}">
                <a16:creationId xmlns:a16="http://schemas.microsoft.com/office/drawing/2014/main" id="{6FFC9430-F014-B10D-D3F8-F2DDE974D14A}"/>
              </a:ext>
            </a:extLst>
          </p:cNvPr>
          <p:cNvPicPr>
            <a:picLocks noChangeAspect="1"/>
          </p:cNvPicPr>
          <p:nvPr/>
        </p:nvPicPr>
        <p:blipFill>
          <a:blip r:embed="rId3"/>
          <a:stretch>
            <a:fillRect/>
          </a:stretch>
        </p:blipFill>
        <p:spPr>
          <a:xfrm>
            <a:off x="154921" y="2123049"/>
            <a:ext cx="4134382" cy="1797926"/>
          </a:xfrm>
          <a:prstGeom prst="rect">
            <a:avLst/>
          </a:prstGeom>
        </p:spPr>
      </p:pic>
      <p:sp>
        <p:nvSpPr>
          <p:cNvPr id="12" name="TextBox 11">
            <a:extLst>
              <a:ext uri="{FF2B5EF4-FFF2-40B4-BE49-F238E27FC236}">
                <a16:creationId xmlns:a16="http://schemas.microsoft.com/office/drawing/2014/main" id="{C2FE1463-45B7-D103-42A6-7F28CDE9067C}"/>
              </a:ext>
            </a:extLst>
          </p:cNvPr>
          <p:cNvSpPr txBox="1"/>
          <p:nvPr/>
        </p:nvSpPr>
        <p:spPr>
          <a:xfrm>
            <a:off x="5862023" y="4021958"/>
            <a:ext cx="1825821" cy="160750"/>
          </a:xfrm>
          <a:prstGeom prst="rect">
            <a:avLst/>
          </a:prstGeom>
          <a:noFill/>
        </p:spPr>
        <p:txBody>
          <a:bodyPr wrap="none" lIns="0" tIns="0" rIns="0" bIns="0" rtlCol="0">
            <a:spAutoFit/>
          </a:bodyPr>
          <a:lstStyle/>
          <a:p>
            <a:pPr>
              <a:lnSpc>
                <a:spcPct val="114000"/>
              </a:lnSpc>
            </a:pPr>
            <a:r>
              <a:rPr lang="en-US" sz="1000" dirty="0">
                <a:latin typeface="+mn-lt"/>
              </a:rPr>
              <a:t>Graph Encoder Classifier (GEC)</a:t>
            </a:r>
          </a:p>
        </p:txBody>
      </p:sp>
      <p:sp>
        <p:nvSpPr>
          <p:cNvPr id="13" name="TextBox 12">
            <a:extLst>
              <a:ext uri="{FF2B5EF4-FFF2-40B4-BE49-F238E27FC236}">
                <a16:creationId xmlns:a16="http://schemas.microsoft.com/office/drawing/2014/main" id="{CEB3EAC7-ACE5-4835-8DF5-5F7C1A9855C9}"/>
              </a:ext>
            </a:extLst>
          </p:cNvPr>
          <p:cNvSpPr txBox="1"/>
          <p:nvPr/>
        </p:nvSpPr>
        <p:spPr>
          <a:xfrm>
            <a:off x="1369314" y="4021958"/>
            <a:ext cx="2181687" cy="160750"/>
          </a:xfrm>
          <a:prstGeom prst="rect">
            <a:avLst/>
          </a:prstGeom>
          <a:noFill/>
        </p:spPr>
        <p:txBody>
          <a:bodyPr wrap="none" lIns="0" tIns="0" rIns="0" bIns="0" rtlCol="0">
            <a:spAutoFit/>
          </a:bodyPr>
          <a:lstStyle/>
          <a:p>
            <a:pPr>
              <a:lnSpc>
                <a:spcPct val="114000"/>
              </a:lnSpc>
            </a:pPr>
            <a:r>
              <a:rPr lang="en-US" sz="1000" dirty="0">
                <a:latin typeface="+mn-lt"/>
              </a:rPr>
              <a:t>Graph Attention Auto-Encoder (GAAE)</a:t>
            </a:r>
          </a:p>
        </p:txBody>
      </p:sp>
    </p:spTree>
    <p:extLst>
      <p:ext uri="{BB962C8B-B14F-4D97-AF65-F5344CB8AC3E}">
        <p14:creationId xmlns:p14="http://schemas.microsoft.com/office/powerpoint/2010/main" val="4031464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2416-8B9D-43E6-3998-FF7DE42332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DB813B-5BF7-8704-FF1B-5D10C5671024}"/>
              </a:ext>
            </a:extLst>
          </p:cNvPr>
          <p:cNvSpPr>
            <a:spLocks noGrp="1"/>
          </p:cNvSpPr>
          <p:nvPr>
            <p:ph type="sldNum" sz="quarter" idx="11"/>
          </p:nvPr>
        </p:nvSpPr>
        <p:spPr/>
        <p:txBody>
          <a:bodyPr/>
          <a:lstStyle/>
          <a:p>
            <a:fld id="{CE58CB1E-F828-4F11-99E0-327109AF9DA4}" type="slidenum">
              <a:rPr lang="de-DE" smtClean="0"/>
              <a:pPr/>
              <a:t>15</a:t>
            </a:fld>
            <a:endParaRPr lang="de-DE" dirty="0"/>
          </a:p>
        </p:txBody>
      </p:sp>
      <p:sp>
        <p:nvSpPr>
          <p:cNvPr id="4" name="Footer Placeholder 3">
            <a:extLst>
              <a:ext uri="{FF2B5EF4-FFF2-40B4-BE49-F238E27FC236}">
                <a16:creationId xmlns:a16="http://schemas.microsoft.com/office/drawing/2014/main" id="{333E3ED3-A877-580E-AF11-DEBA7531ED87}"/>
              </a:ext>
            </a:extLst>
          </p:cNvPr>
          <p:cNvSpPr>
            <a:spLocks noGrp="1"/>
          </p:cNvSpPr>
          <p:nvPr>
            <p:ph type="ftr" sz="quarter" idx="12"/>
          </p:nvPr>
        </p:nvSpPr>
        <p:spPr/>
        <p:txBody>
          <a:bodyPr/>
          <a:lstStyle/>
          <a:p>
            <a:r>
              <a:rPr lang="de-DE" dirty="0"/>
              <a:t>Fraj Yassine Lakhal (TUM)</a:t>
            </a:r>
            <a:endParaRPr lang="en-US" dirty="0"/>
          </a:p>
        </p:txBody>
      </p:sp>
      <p:sp>
        <p:nvSpPr>
          <p:cNvPr id="6" name="Title 5">
            <a:extLst>
              <a:ext uri="{FF2B5EF4-FFF2-40B4-BE49-F238E27FC236}">
                <a16:creationId xmlns:a16="http://schemas.microsoft.com/office/drawing/2014/main" id="{C0F2A077-F3BD-5F4B-A7B9-3210C0BD2AFE}"/>
              </a:ext>
            </a:extLst>
          </p:cNvPr>
          <p:cNvSpPr>
            <a:spLocks noGrp="1"/>
          </p:cNvSpPr>
          <p:nvPr>
            <p:ph type="title"/>
          </p:nvPr>
        </p:nvSpPr>
        <p:spPr/>
        <p:txBody>
          <a:bodyPr/>
          <a:lstStyle/>
          <a:p>
            <a:r>
              <a:rPr lang="en-US" dirty="0"/>
              <a:t>Pretrained Model Architecture</a:t>
            </a:r>
          </a:p>
        </p:txBody>
      </p:sp>
      <p:sp>
        <p:nvSpPr>
          <p:cNvPr id="7" name="Text Placeholder 6">
            <a:extLst>
              <a:ext uri="{FF2B5EF4-FFF2-40B4-BE49-F238E27FC236}">
                <a16:creationId xmlns:a16="http://schemas.microsoft.com/office/drawing/2014/main" id="{FD203512-02E0-525B-EA9F-C4CAB94D44D6}"/>
              </a:ext>
            </a:extLst>
          </p:cNvPr>
          <p:cNvSpPr>
            <a:spLocks noGrp="1"/>
          </p:cNvSpPr>
          <p:nvPr>
            <p:ph type="body" sz="quarter" idx="14"/>
          </p:nvPr>
        </p:nvSpPr>
        <p:spPr/>
        <p:txBody>
          <a:bodyPr/>
          <a:lstStyle/>
          <a:p>
            <a:r>
              <a:rPr lang="en-US" dirty="0"/>
              <a:t>GAAE vs GEC: Evaluation on Classification</a:t>
            </a:r>
          </a:p>
        </p:txBody>
      </p:sp>
      <p:sp>
        <p:nvSpPr>
          <p:cNvPr id="8" name="Rectangle 1">
            <a:extLst>
              <a:ext uri="{FF2B5EF4-FFF2-40B4-BE49-F238E27FC236}">
                <a16:creationId xmlns:a16="http://schemas.microsoft.com/office/drawing/2014/main" id="{D78A75F4-3FBB-4A61-28E9-894D7BE30F4D}"/>
              </a:ext>
            </a:extLst>
          </p:cNvPr>
          <p:cNvSpPr>
            <a:spLocks noGrp="1" noChangeArrowheads="1"/>
          </p:cNvSpPr>
          <p:nvPr>
            <p:ph idx="1"/>
          </p:nvPr>
        </p:nvSpPr>
        <p:spPr bwMode="auto">
          <a:xfrm>
            <a:off x="311161" y="2065601"/>
            <a:ext cx="8253719"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50" b="1" i="0" u="none" strike="noStrike" cap="none" normalizeH="0" baseline="0" dirty="0">
                <a:ln>
                  <a:noFill/>
                </a:ln>
                <a:solidFill>
                  <a:srgbClr val="000000"/>
                </a:solidFill>
                <a:effectLst/>
                <a:latin typeface="Arial" panose="020B0604020202020204" pitchFamily="34" charset="0"/>
              </a:rPr>
              <a:t>Discriminative Learning (Inter-Cohort Variability):</a:t>
            </a:r>
            <a:r>
              <a:rPr kumimoji="0" lang="en-US" altLang="en-US" sz="1050" b="0" i="0" u="none" strike="noStrike" cap="none" normalizeH="0" baseline="0" dirty="0">
                <a:ln>
                  <a:noFill/>
                </a:ln>
                <a:solidFill>
                  <a:srgbClr val="000000"/>
                </a:solidFill>
                <a:effectLst/>
                <a:latin typeface="Arial" panose="020B0604020202020204" pitchFamily="34" charset="0"/>
              </a:rPr>
              <a:t> The GEC uses supervised learning with labeled data, which forces the model to focus on the variability </a:t>
            </a:r>
            <a:r>
              <a:rPr kumimoji="0" lang="en-US" altLang="en-US" sz="1050" b="0" i="1" u="none" strike="noStrike" cap="none" normalizeH="0" baseline="0" dirty="0">
                <a:ln>
                  <a:noFill/>
                </a:ln>
                <a:solidFill>
                  <a:srgbClr val="000000"/>
                </a:solidFill>
                <a:effectLst/>
                <a:latin typeface="Arial" panose="020B0604020202020204" pitchFamily="34" charset="0"/>
              </a:rPr>
              <a:t>between</a:t>
            </a:r>
            <a:r>
              <a:rPr kumimoji="0" lang="en-US" altLang="en-US" sz="1050" b="0" i="0" u="none" strike="noStrike" cap="none" normalizeH="0" baseline="0" dirty="0">
                <a:ln>
                  <a:noFill/>
                </a:ln>
                <a:solidFill>
                  <a:srgbClr val="000000"/>
                </a:solidFill>
                <a:effectLst/>
                <a:latin typeface="Arial" panose="020B0604020202020204" pitchFamily="34" charset="0"/>
              </a:rPr>
              <a:t> cohorts (e.g., Converters vs. Non-Converters) rather than the variability within them.</a:t>
            </a:r>
          </a:p>
          <a:p>
            <a:pPr marR="0" lvl="0" algn="l" defTabSz="914400" rtl="0" eaLnBrk="0" fontAlgn="base" latinLnBrk="0" hangingPunct="0">
              <a:lnSpc>
                <a:spcPct val="100000"/>
              </a:lnSpc>
              <a:spcBef>
                <a:spcPct val="0"/>
              </a:spcBef>
              <a:spcAft>
                <a:spcPct val="0"/>
              </a:spcAft>
              <a:buClrTx/>
              <a:buSzTx/>
              <a:tabLst/>
            </a:pPr>
            <a:endParaRPr lang="en-US" altLang="en-US" sz="1050" dirty="0">
              <a:solidFill>
                <a:srgbClr val="000000"/>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1050" dirty="0">
                <a:solidFill>
                  <a:srgbClr val="000000"/>
                </a:solidFill>
                <a:latin typeface="Arial" panose="020B0604020202020204" pitchFamily="34" charset="0"/>
              </a:rPr>
              <a:t>→ The GEC allows the model to identify specific nodes and edges in the brain graph that are critical for differentiating the cohorts, rather than trying to model the global brain structure.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050" b="0" i="0" u="none" strike="noStrike" cap="none" normalizeH="0" baseline="0" dirty="0">
              <a:ln>
                <a:noFill/>
              </a:ln>
              <a:solidFill>
                <a:srgbClr val="000000"/>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050" b="1" i="0" u="none" strike="noStrike" cap="none" normalizeH="0" baseline="0" dirty="0">
              <a:ln>
                <a:noFill/>
              </a:ln>
              <a:solidFill>
                <a:srgbClr val="000000"/>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50" b="1" i="0" u="none" strike="noStrike" cap="none" normalizeH="0" baseline="0" dirty="0">
                <a:ln>
                  <a:noFill/>
                </a:ln>
                <a:solidFill>
                  <a:srgbClr val="000000"/>
                </a:solidFill>
                <a:effectLst/>
                <a:latin typeface="Arial" panose="020B0604020202020204" pitchFamily="34" charset="0"/>
              </a:rPr>
              <a:t>Noise Reduction:</a:t>
            </a:r>
            <a:r>
              <a:rPr kumimoji="0" lang="en-US" altLang="en-US" sz="1050" b="0" i="0" u="none" strike="noStrike" cap="none" normalizeH="0" baseline="0" dirty="0">
                <a:ln>
                  <a:noFill/>
                </a:ln>
                <a:solidFill>
                  <a:srgbClr val="000000"/>
                </a:solidFill>
                <a:effectLst/>
                <a:latin typeface="Arial" panose="020B0604020202020204" pitchFamily="34" charset="0"/>
              </a:rPr>
              <a:t> The reconstruction-based GAAE approach learned "noisy features" because the differences between patients </a:t>
            </a:r>
            <a:r>
              <a:rPr kumimoji="0" lang="en-US" altLang="en-US" sz="1050" b="0" i="1" u="none" strike="noStrike" cap="none" normalizeH="0" baseline="0" dirty="0">
                <a:ln>
                  <a:noFill/>
                </a:ln>
                <a:solidFill>
                  <a:srgbClr val="000000"/>
                </a:solidFill>
                <a:effectLst/>
                <a:latin typeface="Arial" panose="020B0604020202020204" pitchFamily="34" charset="0"/>
              </a:rPr>
              <a:t>within</a:t>
            </a:r>
            <a:r>
              <a:rPr kumimoji="0" lang="en-US" altLang="en-US" sz="1050" b="0" i="0" u="none" strike="noStrike" cap="none" normalizeH="0" baseline="0" dirty="0">
                <a:ln>
                  <a:noFill/>
                </a:ln>
                <a:solidFill>
                  <a:srgbClr val="000000"/>
                </a:solidFill>
                <a:effectLst/>
                <a:latin typeface="Arial" panose="020B0604020202020204" pitchFamily="34" charset="0"/>
              </a:rPr>
              <a:t> the same group were large.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050" dirty="0">
              <a:solidFill>
                <a:srgbClr val="000000"/>
              </a:solidFill>
              <a:latin typeface="Arial" panose="020B0604020202020204" pitchFamily="34" charset="0"/>
            </a:endParaRPr>
          </a:p>
        </p:txBody>
      </p:sp>
    </p:spTree>
    <p:extLst>
      <p:ext uri="{BB962C8B-B14F-4D97-AF65-F5344CB8AC3E}">
        <p14:creationId xmlns:p14="http://schemas.microsoft.com/office/powerpoint/2010/main" val="1717774205"/>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1932</TotalTime>
  <Words>1002</Words>
  <Application>Microsoft Macintosh PowerPoint</Application>
  <PresentationFormat>On-screen Show (16:9)</PresentationFormat>
  <Paragraphs>106</Paragraphs>
  <Slides>15</Slides>
  <Notes>7</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15</vt:i4>
      </vt:variant>
    </vt:vector>
  </HeadingPairs>
  <TitlesOfParts>
    <vt:vector size="28" baseType="lpstr">
      <vt:lpstr>Arial</vt:lpstr>
      <vt:lpstr>Calibri</vt:lpstr>
      <vt:lpstr>Courier New</vt:lpstr>
      <vt:lpstr>fkGroteskNeue</vt:lpstr>
      <vt:lpstr>Symbol</vt:lpstr>
      <vt:lpstr>Wingdings</vt:lpstr>
      <vt:lpstr>Titel 1</vt:lpstr>
      <vt:lpstr>Title Blank</vt:lpstr>
      <vt:lpstr>Titel 2</vt:lpstr>
      <vt:lpstr>Titel 3</vt:lpstr>
      <vt:lpstr>Inhalt</vt:lpstr>
      <vt:lpstr>Kapiteltrenner blau</vt:lpstr>
      <vt:lpstr>Kapiteltrenner schwarz</vt:lpstr>
      <vt:lpstr>Pretraining: Model Architecture Fraj Yassine Lakhal TUM School of Computation, Information and Technology </vt:lpstr>
      <vt:lpstr>Outline</vt:lpstr>
      <vt:lpstr>DELCODE Dataset</vt:lpstr>
      <vt:lpstr>DELCODE Dataset</vt:lpstr>
      <vt:lpstr>DELCODE Dataset</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Statistical Tests (Converters vs non-Converters)</vt:lpstr>
      <vt:lpstr>Pretrained Model Architecture</vt:lpstr>
      <vt:lpstr>Pretrained Model Architecture</vt:lpstr>
      <vt:lpstr>Pretrained Model Architecture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Lakhal, Fraj Yassine</cp:lastModifiedBy>
  <cp:revision>16</cp:revision>
  <cp:lastPrinted>2015-07-30T14:04:45Z</cp:lastPrinted>
  <dcterms:created xsi:type="dcterms:W3CDTF">2020-10-03T23:03:33Z</dcterms:created>
  <dcterms:modified xsi:type="dcterms:W3CDTF">2026-01-28T15:31:02Z</dcterms:modified>
</cp:coreProperties>
</file>