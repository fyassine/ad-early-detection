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424" r:id="rId2"/>
    <p:sldId id="454" r:id="rId3"/>
    <p:sldId id="440" r:id="rId4"/>
    <p:sldId id="441" r:id="rId5"/>
    <p:sldId id="452" r:id="rId6"/>
    <p:sldId id="453" r:id="rId7"/>
    <p:sldId id="439" r:id="rId8"/>
    <p:sldId id="448" r:id="rId9"/>
    <p:sldId id="455" r:id="rId10"/>
    <p:sldId id="449" r:id="rId11"/>
    <p:sldId id="457" r:id="rId12"/>
    <p:sldId id="456" r:id="rId13"/>
    <p:sldId id="450" r:id="rId14"/>
    <p:sldId id="303" r:id="rId15"/>
    <p:sldId id="466" r:id="rId16"/>
    <p:sldId id="443" r:id="rId17"/>
    <p:sldId id="444" r:id="rId18"/>
    <p:sldId id="458" r:id="rId19"/>
    <p:sldId id="459" r:id="rId20"/>
    <p:sldId id="447" r:id="rId21"/>
    <p:sldId id="460" r:id="rId22"/>
    <p:sldId id="462" r:id="rId23"/>
    <p:sldId id="461" r:id="rId24"/>
    <p:sldId id="463" r:id="rId25"/>
    <p:sldId id="464" r:id="rId26"/>
    <p:sldId id="465" r:id="rId27"/>
    <p:sldId id="467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80"/>
    <p:restoredTop sz="66806"/>
  </p:normalViewPr>
  <p:slideViewPr>
    <p:cSldViewPr snapToGrid="0">
      <p:cViewPr>
        <p:scale>
          <a:sx n="111" d="100"/>
          <a:sy n="111" d="100"/>
        </p:scale>
        <p:origin x="768" y="184"/>
      </p:cViewPr>
      <p:guideLst/>
    </p:cSldViewPr>
  </p:slideViewPr>
  <p:notesTextViewPr>
    <p:cViewPr>
      <p:scale>
        <a:sx n="170" d="100"/>
        <a:sy n="17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90F9C3-F05D-44AD-BDDE-25C522C560C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BCBD322-33DA-435C-B446-E70051A1B856}">
      <dgm:prSet custT="1"/>
      <dgm:spPr/>
      <dgm:t>
        <a:bodyPr/>
        <a:lstStyle/>
        <a:p>
          <a:r>
            <a:rPr lang="en-US" sz="2000" b="1" i="1" dirty="0"/>
            <a:t>A. Detecting "Synaptic Failure" Before "Cell Death”</a:t>
          </a:r>
        </a:p>
        <a:p>
          <a:r>
            <a:rPr lang="en-US" sz="1400" dirty="0" err="1"/>
            <a:t>rs</a:t>
          </a:r>
          <a:r>
            <a:rPr lang="en-US" sz="1400" dirty="0"/>
            <a:t>-fMRI detects </a:t>
          </a:r>
          <a:r>
            <a:rPr lang="en-US" sz="1400" b="1" dirty="0"/>
            <a:t>functional connectivity breakdown</a:t>
          </a:r>
          <a:r>
            <a:rPr lang="en-US" sz="1400" dirty="0"/>
            <a:t>. Often, synapses usually fail </a:t>
          </a:r>
          <a:r>
            <a:rPr lang="en-US" sz="1400" i="1" dirty="0"/>
            <a:t>before</a:t>
          </a:r>
          <a:r>
            <a:rPr lang="en-US" sz="1400" dirty="0"/>
            <a:t> neurons die.</a:t>
          </a:r>
        </a:p>
      </dgm:t>
    </dgm:pt>
    <dgm:pt modelId="{0F79A37A-AC8B-45EC-A095-D07D803EC751}" type="parTrans" cxnId="{51972603-A80E-45F8-801E-4F231258BE85}">
      <dgm:prSet/>
      <dgm:spPr/>
      <dgm:t>
        <a:bodyPr/>
        <a:lstStyle/>
        <a:p>
          <a:endParaRPr lang="en-US"/>
        </a:p>
      </dgm:t>
    </dgm:pt>
    <dgm:pt modelId="{20CD198D-77D7-46AC-802F-0C653532A849}" type="sibTrans" cxnId="{51972603-A80E-45F8-801E-4F231258BE85}">
      <dgm:prSet/>
      <dgm:spPr/>
      <dgm:t>
        <a:bodyPr/>
        <a:lstStyle/>
        <a:p>
          <a:endParaRPr lang="en-US"/>
        </a:p>
      </dgm:t>
    </dgm:pt>
    <dgm:pt modelId="{0BFBF9FA-59F4-4E54-BA77-6329F16D1EE3}">
      <dgm:prSet custT="1"/>
      <dgm:spPr/>
      <dgm:t>
        <a:bodyPr anchor="ctr"/>
        <a:lstStyle/>
        <a:p>
          <a:pPr algn="ctr"/>
          <a:r>
            <a:rPr lang="en-US" sz="2700" b="1" i="1" dirty="0"/>
            <a:t>B. Safety (Radiation)</a:t>
          </a:r>
        </a:p>
        <a:p>
          <a:pPr algn="ctr"/>
          <a:r>
            <a:rPr lang="en-US" sz="1400" dirty="0"/>
            <a:t>Amyloid PET scans expose patients to radiation (~3–7 mSv, equivalent/more to a year of natural background radiation).</a:t>
          </a:r>
        </a:p>
      </dgm:t>
    </dgm:pt>
    <dgm:pt modelId="{BD2267BA-E84B-4953-8371-4B3E8F856E1F}" type="parTrans" cxnId="{4E71A1AC-8EC6-4D58-8E75-546619EE50B8}">
      <dgm:prSet/>
      <dgm:spPr/>
      <dgm:t>
        <a:bodyPr/>
        <a:lstStyle/>
        <a:p>
          <a:endParaRPr lang="en-US"/>
        </a:p>
      </dgm:t>
    </dgm:pt>
    <dgm:pt modelId="{95A92C50-F1FD-47BB-BD30-9EA747AD2459}" type="sibTrans" cxnId="{4E71A1AC-8EC6-4D58-8E75-546619EE50B8}">
      <dgm:prSet/>
      <dgm:spPr/>
      <dgm:t>
        <a:bodyPr/>
        <a:lstStyle/>
        <a:p>
          <a:endParaRPr lang="en-US"/>
        </a:p>
      </dgm:t>
    </dgm:pt>
    <dgm:pt modelId="{A688B40A-AC7E-034A-B2FE-41583118DBC8}">
      <dgm:prSet custT="1"/>
      <dgm:spPr/>
      <dgm:t>
        <a:bodyPr/>
        <a:lstStyle/>
        <a:p>
          <a:pPr marL="0" lvl="0" algn="ctr" defTabSz="889000">
            <a:lnSpc>
              <a:spcPct val="90000"/>
            </a:lnSpc>
            <a:spcBef>
              <a:spcPct val="0"/>
            </a:spcBef>
            <a:spcAft>
              <a:spcPts val="1134"/>
            </a:spcAft>
            <a:buNone/>
          </a:pPr>
          <a:r>
            <a:rPr lang="en-US" sz="2800" b="1" i="1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C. Scalability</a:t>
          </a:r>
        </a:p>
        <a:p>
          <a:pPr marL="0" lvl="0" algn="ctr" defTabSz="889000">
            <a:lnSpc>
              <a:spcPct val="90000"/>
            </a:lnSpc>
            <a:spcBef>
              <a:spcPct val="0"/>
            </a:spcBef>
            <a:spcAft>
              <a:spcPts val="1134"/>
            </a:spcAft>
            <a:buNone/>
          </a:pPr>
          <a:r>
            <a:rPr lang="en-US" sz="300" b="1" i="1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.</a:t>
          </a:r>
          <a:br>
            <a:rPr lang="en-US" sz="2000" b="1" i="1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</a:br>
          <a:r>
            <a:rPr lang="en-US" sz="1400" b="0" i="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PET: $2,300 to over $9,5001 + Rare in rural areas (radioactive tracers' availability) </a:t>
          </a:r>
        </a:p>
        <a:p>
          <a:pPr marL="0" lvl="0" algn="ctr" defTabSz="889000">
            <a:lnSpc>
              <a:spcPct val="90000"/>
            </a:lnSpc>
            <a:spcBef>
              <a:spcPct val="0"/>
            </a:spcBef>
            <a:spcAft>
              <a:spcPts val="1134"/>
            </a:spcAft>
            <a:buNone/>
          </a:pPr>
          <a:r>
            <a:rPr lang="en-US" sz="1400" b="0" i="0" kern="1200" dirty="0" err="1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rs</a:t>
          </a:r>
          <a:r>
            <a:rPr lang="en-US" sz="1400" b="0" i="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-fMRI: &lt;$8003 has zero radiation.</a:t>
          </a:r>
        </a:p>
      </dgm:t>
    </dgm:pt>
    <dgm:pt modelId="{E7E680ED-482E-8E43-94A2-BEC71BC7C15C}" type="parTrans" cxnId="{66B5ADCB-DC23-9F44-833C-608BA9CF1A98}">
      <dgm:prSet/>
      <dgm:spPr/>
      <dgm:t>
        <a:bodyPr/>
        <a:lstStyle/>
        <a:p>
          <a:endParaRPr lang="en-US"/>
        </a:p>
      </dgm:t>
    </dgm:pt>
    <dgm:pt modelId="{49017216-C5FE-6848-A78D-835F9D2DCE86}" type="sibTrans" cxnId="{66B5ADCB-DC23-9F44-833C-608BA9CF1A98}">
      <dgm:prSet/>
      <dgm:spPr/>
      <dgm:t>
        <a:bodyPr/>
        <a:lstStyle/>
        <a:p>
          <a:endParaRPr lang="en-US"/>
        </a:p>
      </dgm:t>
    </dgm:pt>
    <dgm:pt modelId="{598912CA-E391-C642-8458-F200B2805273}" type="pres">
      <dgm:prSet presAssocID="{5D90F9C3-F05D-44AD-BDDE-25C522C560C6}" presName="diagram" presStyleCnt="0">
        <dgm:presLayoutVars>
          <dgm:dir/>
          <dgm:resizeHandles val="exact"/>
        </dgm:presLayoutVars>
      </dgm:prSet>
      <dgm:spPr/>
    </dgm:pt>
    <dgm:pt modelId="{93CB9F71-A88E-3043-975C-B9004AE4F08B}" type="pres">
      <dgm:prSet presAssocID="{EBCBD322-33DA-435C-B446-E70051A1B856}" presName="node" presStyleLbl="node1" presStyleIdx="0" presStyleCnt="3">
        <dgm:presLayoutVars>
          <dgm:bulletEnabled val="1"/>
        </dgm:presLayoutVars>
      </dgm:prSet>
      <dgm:spPr/>
    </dgm:pt>
    <dgm:pt modelId="{8ABE8F7F-2752-1D4F-9DB1-8AA76FEF283B}" type="pres">
      <dgm:prSet presAssocID="{20CD198D-77D7-46AC-802F-0C653532A849}" presName="sibTrans" presStyleCnt="0"/>
      <dgm:spPr/>
    </dgm:pt>
    <dgm:pt modelId="{822227CA-4A6B-F34F-8F0C-FFE15A2FF189}" type="pres">
      <dgm:prSet presAssocID="{0BFBF9FA-59F4-4E54-BA77-6329F16D1EE3}" presName="node" presStyleLbl="node1" presStyleIdx="1" presStyleCnt="3">
        <dgm:presLayoutVars>
          <dgm:bulletEnabled val="1"/>
        </dgm:presLayoutVars>
      </dgm:prSet>
      <dgm:spPr/>
    </dgm:pt>
    <dgm:pt modelId="{EBB56D03-948C-584F-8A79-EABCFF35095B}" type="pres">
      <dgm:prSet presAssocID="{95A92C50-F1FD-47BB-BD30-9EA747AD2459}" presName="sibTrans" presStyleCnt="0"/>
      <dgm:spPr/>
    </dgm:pt>
    <dgm:pt modelId="{57499AE7-F289-4741-951D-F69724E5C59A}" type="pres">
      <dgm:prSet presAssocID="{A688B40A-AC7E-034A-B2FE-41583118DBC8}" presName="node" presStyleLbl="node1" presStyleIdx="2" presStyleCnt="3">
        <dgm:presLayoutVars>
          <dgm:bulletEnabled val="1"/>
        </dgm:presLayoutVars>
      </dgm:prSet>
      <dgm:spPr/>
    </dgm:pt>
  </dgm:ptLst>
  <dgm:cxnLst>
    <dgm:cxn modelId="{51972603-A80E-45F8-801E-4F231258BE85}" srcId="{5D90F9C3-F05D-44AD-BDDE-25C522C560C6}" destId="{EBCBD322-33DA-435C-B446-E70051A1B856}" srcOrd="0" destOrd="0" parTransId="{0F79A37A-AC8B-45EC-A095-D07D803EC751}" sibTransId="{20CD198D-77D7-46AC-802F-0C653532A849}"/>
    <dgm:cxn modelId="{DC510931-046A-9745-843E-2A330B2D980D}" type="presOf" srcId="{A688B40A-AC7E-034A-B2FE-41583118DBC8}" destId="{57499AE7-F289-4741-951D-F69724E5C59A}" srcOrd="0" destOrd="0" presId="urn:microsoft.com/office/officeart/2005/8/layout/default"/>
    <dgm:cxn modelId="{72462239-C518-FA49-A5CC-0A2876A84FAB}" type="presOf" srcId="{0BFBF9FA-59F4-4E54-BA77-6329F16D1EE3}" destId="{822227CA-4A6B-F34F-8F0C-FFE15A2FF189}" srcOrd="0" destOrd="0" presId="urn:microsoft.com/office/officeart/2005/8/layout/default"/>
    <dgm:cxn modelId="{F23CA087-1C00-3E4B-9C43-E0470E1ABA36}" type="presOf" srcId="{EBCBD322-33DA-435C-B446-E70051A1B856}" destId="{93CB9F71-A88E-3043-975C-B9004AE4F08B}" srcOrd="0" destOrd="0" presId="urn:microsoft.com/office/officeart/2005/8/layout/default"/>
    <dgm:cxn modelId="{3FB62F92-F312-AB46-8A82-EFB6105D69F0}" type="presOf" srcId="{5D90F9C3-F05D-44AD-BDDE-25C522C560C6}" destId="{598912CA-E391-C642-8458-F200B2805273}" srcOrd="0" destOrd="0" presId="urn:microsoft.com/office/officeart/2005/8/layout/default"/>
    <dgm:cxn modelId="{4E71A1AC-8EC6-4D58-8E75-546619EE50B8}" srcId="{5D90F9C3-F05D-44AD-BDDE-25C522C560C6}" destId="{0BFBF9FA-59F4-4E54-BA77-6329F16D1EE3}" srcOrd="1" destOrd="0" parTransId="{BD2267BA-E84B-4953-8371-4B3E8F856E1F}" sibTransId="{95A92C50-F1FD-47BB-BD30-9EA747AD2459}"/>
    <dgm:cxn modelId="{66B5ADCB-DC23-9F44-833C-608BA9CF1A98}" srcId="{5D90F9C3-F05D-44AD-BDDE-25C522C560C6}" destId="{A688B40A-AC7E-034A-B2FE-41583118DBC8}" srcOrd="2" destOrd="0" parTransId="{E7E680ED-482E-8E43-94A2-BEC71BC7C15C}" sibTransId="{49017216-C5FE-6848-A78D-835F9D2DCE86}"/>
    <dgm:cxn modelId="{88E34D95-5247-9547-92EE-0FA5351C069A}" type="presParOf" srcId="{598912CA-E391-C642-8458-F200B2805273}" destId="{93CB9F71-A88E-3043-975C-B9004AE4F08B}" srcOrd="0" destOrd="0" presId="urn:microsoft.com/office/officeart/2005/8/layout/default"/>
    <dgm:cxn modelId="{21150C2F-9E17-C345-B5D6-743516510E44}" type="presParOf" srcId="{598912CA-E391-C642-8458-F200B2805273}" destId="{8ABE8F7F-2752-1D4F-9DB1-8AA76FEF283B}" srcOrd="1" destOrd="0" presId="urn:microsoft.com/office/officeart/2005/8/layout/default"/>
    <dgm:cxn modelId="{FA7DF0CF-814C-3A4F-978F-38228CDA1AA0}" type="presParOf" srcId="{598912CA-E391-C642-8458-F200B2805273}" destId="{822227CA-4A6B-F34F-8F0C-FFE15A2FF189}" srcOrd="2" destOrd="0" presId="urn:microsoft.com/office/officeart/2005/8/layout/default"/>
    <dgm:cxn modelId="{4A9B17F2-611A-394B-B559-BA8349410182}" type="presParOf" srcId="{598912CA-E391-C642-8458-F200B2805273}" destId="{EBB56D03-948C-584F-8A79-EABCFF35095B}" srcOrd="3" destOrd="0" presId="urn:microsoft.com/office/officeart/2005/8/layout/default"/>
    <dgm:cxn modelId="{84109277-3B8F-ED46-91FC-4682C8B92C16}" type="presParOf" srcId="{598912CA-E391-C642-8458-F200B2805273}" destId="{57499AE7-F289-4741-951D-F69724E5C59A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CB9F71-A88E-3043-975C-B9004AE4F08B}">
      <dsp:nvSpPr>
        <dsp:cNvPr id="0" name=""/>
        <dsp:cNvSpPr/>
      </dsp:nvSpPr>
      <dsp:spPr>
        <a:xfrm>
          <a:off x="0" y="1097197"/>
          <a:ext cx="3545416" cy="21272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1" kern="1200" dirty="0"/>
            <a:t>A. Detecting "Synaptic Failure" Before "Cell Death”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rs</a:t>
          </a:r>
          <a:r>
            <a:rPr lang="en-US" sz="1400" kern="1200" dirty="0"/>
            <a:t>-fMRI detects </a:t>
          </a:r>
          <a:r>
            <a:rPr lang="en-US" sz="1400" b="1" kern="1200" dirty="0"/>
            <a:t>functional connectivity breakdown</a:t>
          </a:r>
          <a:r>
            <a:rPr lang="en-US" sz="1400" kern="1200" dirty="0"/>
            <a:t>. Often, synapses usually fail </a:t>
          </a:r>
          <a:r>
            <a:rPr lang="en-US" sz="1400" i="1" kern="1200" dirty="0"/>
            <a:t>before</a:t>
          </a:r>
          <a:r>
            <a:rPr lang="en-US" sz="1400" kern="1200" dirty="0"/>
            <a:t> neurons die.</a:t>
          </a:r>
        </a:p>
      </dsp:txBody>
      <dsp:txXfrm>
        <a:off x="0" y="1097197"/>
        <a:ext cx="3545416" cy="2127249"/>
      </dsp:txXfrm>
    </dsp:sp>
    <dsp:sp modelId="{822227CA-4A6B-F34F-8F0C-FFE15A2FF189}">
      <dsp:nvSpPr>
        <dsp:cNvPr id="0" name=""/>
        <dsp:cNvSpPr/>
      </dsp:nvSpPr>
      <dsp:spPr>
        <a:xfrm>
          <a:off x="3899957" y="1097197"/>
          <a:ext cx="3545416" cy="21272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i="1" kern="1200" dirty="0"/>
            <a:t>B. Safety (Radiation)</a:t>
          </a:r>
        </a:p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Amyloid PET scans expose patients to radiation (~3–7 mSv, equivalent/more to a year of natural background radiation).</a:t>
          </a:r>
        </a:p>
      </dsp:txBody>
      <dsp:txXfrm>
        <a:off x="3899957" y="1097197"/>
        <a:ext cx="3545416" cy="2127249"/>
      </dsp:txXfrm>
    </dsp:sp>
    <dsp:sp modelId="{57499AE7-F289-4741-951D-F69724E5C59A}">
      <dsp:nvSpPr>
        <dsp:cNvPr id="0" name=""/>
        <dsp:cNvSpPr/>
      </dsp:nvSpPr>
      <dsp:spPr>
        <a:xfrm>
          <a:off x="7799915" y="1097197"/>
          <a:ext cx="3545416" cy="21272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ts val="1134"/>
            </a:spcAft>
            <a:buNone/>
          </a:pPr>
          <a:r>
            <a:rPr lang="en-US" sz="2800" b="1" i="1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C. Scalability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ts val="1134"/>
            </a:spcAft>
            <a:buNone/>
          </a:pPr>
          <a:r>
            <a:rPr lang="en-US" sz="300" b="1" i="1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.</a:t>
          </a:r>
          <a:br>
            <a:rPr lang="en-US" sz="2000" b="1" i="1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</a:br>
          <a:r>
            <a:rPr lang="en-US" sz="1400" b="0" i="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PET: $2,300 to over $9,5001 + Rare in rural areas (radioactive tracers' availability)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ts val="1134"/>
            </a:spcAft>
            <a:buNone/>
          </a:pPr>
          <a:r>
            <a:rPr lang="en-US" sz="1400" b="0" i="0" kern="1200" dirty="0" err="1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rs</a:t>
          </a:r>
          <a:r>
            <a:rPr lang="en-US" sz="1400" b="0" i="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-fMRI: &lt;$8003 has zero radiation.</a:t>
          </a:r>
        </a:p>
      </dsp:txBody>
      <dsp:txXfrm>
        <a:off x="7799915" y="1097197"/>
        <a:ext cx="3545416" cy="21272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105E7F-F5F1-1C44-B24C-AB335D825C47}" type="datetimeFigureOut">
              <a:rPr lang="en-US" smtClean="0"/>
              <a:t>12/2/25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E2A932-D92D-F44D-8EC9-7008C692A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729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have a bold plan for the thesis but I think it is feasible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E2A932-D92D-F44D-8EC9-7008C692AB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304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If you report memory issues, a Primary Care Physician (PCP) will perform a short cognitive test 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2) How it works: It detects phosphorylated tau protein in the blood, which correlates 90-95% with amyloid plaque buildup in the brain.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E2A932-D92D-F44D-8EC9-7008C692AB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4597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F39EA-9AAC-1121-E184-33B8B6F00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6532BF-1FBB-0B41-9936-913F786536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8A2C68-D1B0-CE22-5C8A-C4BE3D4C20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079307-2DEA-721B-A32F-9EC0406884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E2A932-D92D-F44D-8EC9-7008C692AB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5793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1FB30-ED0F-E413-13CE-75D6A55BE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16AF33-8364-D97F-75B7-798E698946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E4972D-09FC-B286-8E84-CDF7FD8D5B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E4A309-83E0-483C-F799-DDEC57A310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E2A932-D92D-F44D-8EC9-7008C692AB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14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/>
              <a:t>A. </a:t>
            </a:r>
            <a:r>
              <a:rPr lang="en-US" sz="2000" b="1" dirty="0"/>
              <a:t>Deep Learning’s Role:</a:t>
            </a:r>
            <a:r>
              <a:rPr lang="en-US" sz="2000" dirty="0"/>
              <a:t> A human radiologist cannot "see" functional connectivity in raw data. A DL model (e.g., a Graph Neural Network or 4D-CNN) can identify non-linear disruptions in the </a:t>
            </a:r>
            <a:r>
              <a:rPr lang="en-US" sz="2000" b="1" dirty="0"/>
              <a:t>Default Mode Network (DMN)</a:t>
            </a:r>
            <a:r>
              <a:rPr lang="en-US" sz="2000" dirty="0"/>
              <a:t>—specifically the uncoupling between the Posterior Cingulate Cortex (PCC) and the hippocampus—often years before atrophy is visible on T1 scans.</a:t>
            </a:r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E2A932-D92D-F44D-8EC9-7008C692AB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3664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DMN stands for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active regions when a person is not focused on the outside world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E2A932-D92D-F44D-8EC9-7008C692AB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9694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end up with a symmetric N×N matrix where N is the number of ROIs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E2A932-D92D-F44D-8EC9-7008C692AB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0657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can send you a list of the related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E2A932-D92D-F44D-8EC9-7008C692AB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0564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I don’t want my work to end up on a shelf, I want to propose a tool</a:t>
            </a:r>
          </a:p>
          <a:p>
            <a:endParaRPr lang="en-US" dirty="0"/>
          </a:p>
          <a:p>
            <a:r>
              <a:rPr lang="en-US" dirty="0"/>
              <a:t>Stephan mentioned that this could very interesting 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E2A932-D92D-F44D-8EC9-7008C692AB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6479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E2A932-D92D-F44D-8EC9-7008C692AB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033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E2A932-D92D-F44D-8EC9-7008C692AB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5196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1:</a:t>
            </a:r>
          </a:p>
          <a:p>
            <a:endParaRPr lang="en-US" dirty="0"/>
          </a:p>
          <a:p>
            <a:r>
              <a:rPr lang="en-US" dirty="0"/>
              <a:t>Step 3:</a:t>
            </a:r>
          </a:p>
          <a:p>
            <a:r>
              <a:rPr lang="en-US" dirty="0"/>
              <a:t>The ROI-to-voxel connectivity vectors are:</a:t>
            </a:r>
          </a:p>
          <a:p>
            <a:pPr fontAlgn="ctr"/>
            <a:r>
              <a:rPr lang="en-US" dirty="0"/>
              <a:t>Projected to lower dimensions via PCA</a:t>
            </a:r>
          </a:p>
          <a:p>
            <a:pPr fontAlgn="ctr"/>
            <a:r>
              <a:rPr lang="en-US" dirty="0"/>
              <a:t>Organized into multi-channel brain maps in 3D space</a:t>
            </a:r>
          </a:p>
          <a:p>
            <a:pPr fontAlgn="ctr"/>
            <a:r>
              <a:rPr lang="en-US" dirty="0"/>
              <a:t>Partitioned into overlapping 3D blocks</a:t>
            </a:r>
          </a:p>
          <a:p>
            <a:pPr fontAlgn="ctr"/>
            <a:r>
              <a:rPr lang="en-US" dirty="0"/>
              <a:t>Processed through </a:t>
            </a:r>
            <a:r>
              <a:rPr lang="en-US" i="1" dirty="0"/>
              <a:t>TRANSFORMER </a:t>
            </a:r>
            <a:r>
              <a:rPr lang="en-US" dirty="0"/>
              <a:t>architecture (self-attention) to learn standardized representations​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E2A932-D92D-F44D-8EC9-7008C692AB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7218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912B7-33B3-9C48-5DF6-D3E9F17ED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5BB54E-922D-97DB-0653-CB200ACBFB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A88CDF-C1F4-ED90-E39D-F915F254C1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1:</a:t>
            </a:r>
          </a:p>
          <a:p>
            <a:endParaRPr lang="en-US" dirty="0"/>
          </a:p>
          <a:p>
            <a:r>
              <a:rPr lang="en-US" dirty="0"/>
              <a:t>Step 3:</a:t>
            </a:r>
          </a:p>
          <a:p>
            <a:r>
              <a:rPr lang="en-US" dirty="0"/>
              <a:t>The ROI-to-voxel connectivity vectors are:</a:t>
            </a:r>
          </a:p>
          <a:p>
            <a:pPr fontAlgn="ctr"/>
            <a:r>
              <a:rPr lang="en-US" dirty="0"/>
              <a:t>Projected to lower dimensions via PCA</a:t>
            </a:r>
          </a:p>
          <a:p>
            <a:pPr fontAlgn="ctr"/>
            <a:r>
              <a:rPr lang="en-US" dirty="0"/>
              <a:t>Organized into multi-channel brain maps in 3D space</a:t>
            </a:r>
          </a:p>
          <a:p>
            <a:pPr fontAlgn="ctr"/>
            <a:r>
              <a:rPr lang="en-US" dirty="0"/>
              <a:t>Partitioned into overlapping 3D blocks</a:t>
            </a:r>
          </a:p>
          <a:p>
            <a:pPr fontAlgn="ctr"/>
            <a:r>
              <a:rPr lang="en-US" dirty="0"/>
              <a:t>Processed through </a:t>
            </a:r>
            <a:r>
              <a:rPr lang="en-US" i="1" dirty="0"/>
              <a:t>TRANSFORMER </a:t>
            </a:r>
            <a:r>
              <a:rPr lang="en-US" dirty="0"/>
              <a:t>architecture (self-attention) to learn standardized representations​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5194E8-6AA3-D877-669B-2AFC6F2FB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E2A932-D92D-F44D-8EC9-7008C692AB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6938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B515C-A5B5-FFCB-CF03-79166583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06F3AB-670C-E07B-1F7A-0822CB8CE3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FE62E2-2233-557C-D716-CC60EDEAD4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1:</a:t>
            </a:r>
          </a:p>
          <a:p>
            <a:endParaRPr lang="en-US" dirty="0"/>
          </a:p>
          <a:p>
            <a:r>
              <a:rPr lang="en-US" dirty="0"/>
              <a:t>Step 3:</a:t>
            </a:r>
          </a:p>
          <a:p>
            <a:r>
              <a:rPr lang="en-US" dirty="0"/>
              <a:t>The ROI-to-voxel connectivity vectors are:</a:t>
            </a:r>
          </a:p>
          <a:p>
            <a:pPr fontAlgn="ctr"/>
            <a:r>
              <a:rPr lang="en-US" dirty="0"/>
              <a:t>Projected to lower dimensions via PCA</a:t>
            </a:r>
          </a:p>
          <a:p>
            <a:pPr fontAlgn="ctr"/>
            <a:r>
              <a:rPr lang="en-US" dirty="0"/>
              <a:t>Organized into multi-channel brain maps in 3D space</a:t>
            </a:r>
          </a:p>
          <a:p>
            <a:pPr fontAlgn="ctr"/>
            <a:r>
              <a:rPr lang="en-US" dirty="0"/>
              <a:t>Partitioned into overlapping 3D blocks</a:t>
            </a:r>
          </a:p>
          <a:p>
            <a:pPr fontAlgn="ctr"/>
            <a:r>
              <a:rPr lang="en-US" dirty="0"/>
              <a:t>Processed through </a:t>
            </a:r>
            <a:r>
              <a:rPr lang="en-US" i="1" dirty="0"/>
              <a:t>TRANSFORMER </a:t>
            </a:r>
            <a:r>
              <a:rPr lang="en-US" dirty="0"/>
              <a:t>architecture (self-attention) to learn standardized representations​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DDE1C9-3533-BD2C-B48A-D5F5A3BEE5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E2A932-D92D-F44D-8EC9-7008C692AB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4497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Since we want to keep GNNs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GNNExplainer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explains a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de-DE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 a trained GNN by learning:</a:t>
            </a:r>
          </a:p>
          <a:p>
            <a:pPr rtl="0" fontAlgn="ctr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de-DE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edge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mask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(important subgraph), and</a:t>
            </a:r>
          </a:p>
          <a:p>
            <a:pPr rtl="0" fontAlgn="ctr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 </a:t>
            </a:r>
            <a:r>
              <a:rPr lang="de-DE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mask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(important feature dimensions),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such that, using only the masked graph/features, the model’s output for that target stays almost the same.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---&gt;Then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GNNExplainer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tell you: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de-DE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neighboring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nodes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de-DE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edges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 affect that reconstruction,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de-DE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feature </a:t>
            </a:r>
            <a:r>
              <a:rPr lang="de-DE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dimensions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(of node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</a:t>
            </a:r>
            <a:r>
              <a:rPr lang="de-DE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its neighbors) matter most.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E2A932-D92D-F44D-8EC9-7008C692AB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2644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I don’t want my focus just to improve the accuracy of a single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E2A932-D92D-F44D-8EC9-7008C692AB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249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BDC4C-BDB8-4F01-BC56-2B876E4B81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69A787-FAE7-7013-2A61-1B4140F7E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67B22-49AB-3233-11A7-6C99A9E7A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9C9BE-F6D1-C04E-B7B1-16B62C9BABD5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BE602-9CD5-4B29-2FD9-69C135251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D127E-69C3-D7BC-70FB-55514C05D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EAF46-E5D7-A54D-846B-F63594653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903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4EA0D-ED85-3F92-50C9-A3C77F917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E9941-EA37-5894-2027-5A2946FFB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8D295-70A7-2458-6E59-F4952A4E7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9C9BE-F6D1-C04E-B7B1-16B62C9BABD5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ED014-D167-5253-253F-ED1E02DAD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1DD1C-092E-1CD4-D90B-49BFA3A45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EAF46-E5D7-A54D-846B-F63594653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17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51387-6EFD-E9F8-6275-71938DCE0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12F8FD-53E2-6A11-68B4-6A5AF8E2C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7153B-66FF-B3D7-2F9A-C979B0C04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9C9BE-F6D1-C04E-B7B1-16B62C9BABD5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A087E-81EC-9782-CED7-2A8A8CED9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D505C-93BA-31C5-5591-8194A4F74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EAF46-E5D7-A54D-846B-F63594653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708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55E5C-E1AF-3959-FC51-9A86D695D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FE291-AC67-2891-1CCB-4D048DCD1C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8A5BEA-395A-E2E9-7758-F7B716C398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9B1863-5EE7-1D24-D9CD-6F79CA545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9C9BE-F6D1-C04E-B7B1-16B62C9BABD5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A6C530-3D11-EE14-2727-A9BE3936C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30B3CE-9D7F-CAB5-2ACF-390D7E22C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EAF46-E5D7-A54D-846B-F63594653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295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9EDC-367C-4B07-5BDF-B0D9ABBBB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5890D0-A890-17D3-2535-12A9FE97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091E1-A8F8-BB20-F354-B21D2A1AB4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43B60C-3603-4CAC-E06E-41535F916A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80AC8B-2843-105E-04AE-F69A0D562C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228499-E2BE-79B2-44DE-0FC695AF0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9C9BE-F6D1-C04E-B7B1-16B62C9BABD5}" type="datetimeFigureOut">
              <a:rPr lang="en-US" smtClean="0"/>
              <a:t>12/2/25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AC71CF-3EB3-A01F-EDAB-630CD614E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BD80E3-0084-F644-39ED-E9F4A0CBE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EAF46-E5D7-A54D-846B-F63594653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536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1C7B8-18F7-1556-708B-2561312DD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6E0319-B08C-BC23-5B1E-8A5A58CC2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9C9BE-F6D1-C04E-B7B1-16B62C9BABD5}" type="datetimeFigureOut">
              <a:rPr lang="en-US" smtClean="0"/>
              <a:t>12/2/25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9DAA4B-BE4B-0729-1DF7-EA64E5F41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1BAA36-E97B-D19E-B7C2-98F0ECDE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EAF46-E5D7-A54D-846B-F63594653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330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028589-445A-4A13-A3FF-9578EA97D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9C9BE-F6D1-C04E-B7B1-16B62C9BABD5}" type="datetimeFigureOut">
              <a:rPr lang="en-US" smtClean="0"/>
              <a:t>12/2/25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D2FB58-262F-F1F2-BFDD-B6B9D524A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F34EB-2877-525F-49EA-5B2BC3F7A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EAF46-E5D7-A54D-846B-F63594653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902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C68D4-9B63-286E-DF4F-7A3B06286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67B8C-C588-9CA4-29CD-9BF020EC7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D0C825-9D51-5EC7-CB51-F7440386C0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CB0F6A-61A6-A7A6-D032-2C9041EE1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9C9BE-F6D1-C04E-B7B1-16B62C9BABD5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658C29-AD4B-2F9E-9D5F-DF8F782EE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98CBD9-7FCC-8F36-9607-7821CAA48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EAF46-E5D7-A54D-846B-F63594653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461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55BB3-DD4B-49A3-E994-49CE34F51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04D4A1-DA8B-5C78-E672-978966E3B3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CE8653-4FF9-1D2F-9210-97A9B16019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9DBA8D-299B-0184-B32A-8A198A8D6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9C9BE-F6D1-C04E-B7B1-16B62C9BABD5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4CF720-1B19-ECAD-EF0C-98F049C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D6DBA3-7615-B6AC-A214-39266C856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EAF46-E5D7-A54D-846B-F63594653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668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2F45C-0FBE-0F3F-A5FD-AB3321A4B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2EC584-E00B-09A8-461E-DDF1454E33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3B57C-CE0C-204F-D371-041575662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9C9BE-F6D1-C04E-B7B1-16B62C9BABD5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AD207-E348-5853-12EF-0960B9CDE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F1582-9B5B-67B4-1354-D8FE43361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EAF46-E5D7-A54D-846B-F63594653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145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8BC118-4D2E-C06E-CE03-2380ECEF35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57F3AF-0A84-2424-F2BC-6353753A22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9E364-2403-EFD4-FD35-474DB6F02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9C9BE-F6D1-C04E-B7B1-16B62C9BABD5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F7F25B-8317-FF64-13AC-B056A681F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9E262-8DC2-4CA2-6E0F-FF89C60A9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EAF46-E5D7-A54D-846B-F63594653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7970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4" descr="TUM_Glockenturm.tif">
            <a:extLst>
              <a:ext uri="{FF2B5EF4-FFF2-40B4-BE49-F238E27FC236}">
                <a16:creationId xmlns:a16="http://schemas.microsoft.com/office/drawing/2014/main" id="{186CB456-4823-F0CE-7635-2DF9E971C7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33620" y="1968500"/>
            <a:ext cx="5092723" cy="4445000"/>
          </a:xfrm>
          <a:prstGeom prst="rect">
            <a:avLst/>
          </a:prstGeom>
        </p:spPr>
      </p:pic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1296000"/>
            <a:ext cx="11345332" cy="501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4267"/>
              </a:lnSpc>
              <a:defRPr lang="de-DE" sz="3333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425451" y="1978720"/>
            <a:ext cx="11345332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867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11130180" y="6408271"/>
            <a:ext cx="766981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667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270160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25454" y="1630034"/>
            <a:ext cx="11345332" cy="4618367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867" noProof="0" dirty="0" smtClean="0"/>
            </a:lvl1pPr>
            <a:lvl2pPr>
              <a:lnSpc>
                <a:spcPct val="114000"/>
              </a:lnSpc>
              <a:defRPr lang="de-DE" sz="1867" noProof="0" dirty="0" smtClean="0"/>
            </a:lvl2pPr>
            <a:lvl3pPr>
              <a:defRPr sz="1867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883" y="391280"/>
            <a:ext cx="11345332" cy="531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4267"/>
              </a:lnSpc>
              <a:defRPr lang="de-DE" sz="3333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293133E1-5289-7056-E483-775294333E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4882" y="912573"/>
            <a:ext cx="11345332" cy="428547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1219170" rtl="0" eaLnBrk="0" fontAlgn="base" latinLnBrk="0" hangingPunct="0">
              <a:lnSpc>
                <a:spcPts val="24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234945" indent="0">
              <a:buNone/>
              <a:defRPr/>
            </a:lvl3pPr>
            <a:lvl4pPr marL="480472" indent="0">
              <a:buNone/>
              <a:defRPr/>
            </a:lvl4pPr>
            <a:lvl5pPr marL="717531" indent="0">
              <a:buNone/>
              <a:defRPr/>
            </a:lvl5pPr>
          </a:lstStyle>
          <a:p>
            <a:pPr marL="0" marR="0" lvl="0" indent="0" algn="l" defTabSz="1219170" rtl="0" eaLnBrk="0" fontAlgn="base" latinLnBrk="0" hangingPunct="0">
              <a:lnSpc>
                <a:spcPts val="24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2400" noProof="0" dirty="0"/>
              <a:t>Untert</a:t>
            </a:r>
            <a:r>
              <a:rPr lang="de-DE" sz="24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340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EE9B7A-0621-03D5-FD6A-AB342F2D2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46FD41-D351-7A30-D6F9-15BA5A4FE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C1668-0B46-A0EB-AAE1-E4EF9D703B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29C9BE-F6D1-C04E-B7B1-16B62C9BABD5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82941-020B-4F4A-E4D2-2C6CAFB314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773E6-B270-95A9-049B-A52FAB177A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AEAF46-E5D7-A54D-846B-F63594653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364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academic.oup.com/neuro-oncology/article/22/9/1388/5764143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8B39F-ACCB-FE86-2BFE-3A1E77DA2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Master Thesis: Alzheimer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E595D-041C-B25A-2A49-280F3AC1F9C7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GB" dirty="0"/>
              <a:t>Fraj Yassine Lakhal</a:t>
            </a:r>
          </a:p>
          <a:p>
            <a:r>
              <a:rPr lang="en-GB" dirty="0"/>
              <a:t>Munich, 3. December 2025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88459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23415-EF71-F708-DCE7-0633304B9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b="1" i="1" dirty="0"/>
              <a:t>Motivation</a:t>
            </a:r>
          </a:p>
        </p:txBody>
      </p:sp>
    </p:spTree>
    <p:extLst>
      <p:ext uri="{BB962C8B-B14F-4D97-AF65-F5344CB8AC3E}">
        <p14:creationId xmlns:p14="http://schemas.microsoft.com/office/powerpoint/2010/main" val="1540847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292330-3C6A-FF0A-D26D-995DD4F06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66" name="Rectangle 106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A photo of a vial of Leqembi over a computer rendering of neurons affected by Alzheimer’s disease.">
            <a:extLst>
              <a:ext uri="{FF2B5EF4-FFF2-40B4-BE49-F238E27FC236}">
                <a16:creationId xmlns:a16="http://schemas.microsoft.com/office/drawing/2014/main" id="{90E1260F-6BF7-B086-16E8-E944732B9A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2" r="8256"/>
          <a:stretch>
            <a:fillRect/>
          </a:stretch>
        </p:blipFill>
        <p:spPr bwMode="auto">
          <a:xfrm>
            <a:off x="2522358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7" name="Rectangle 106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03D7C0B-CF1F-5D8B-452A-8D0F047EB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258" y="443671"/>
            <a:ext cx="4025981" cy="121750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000" dirty="0"/>
              <a:t>Alzheimer’s Disease </a:t>
            </a:r>
            <a:br>
              <a:rPr lang="en-US" sz="4000" dirty="0"/>
            </a:br>
            <a:r>
              <a:rPr lang="en-US" sz="4000" dirty="0"/>
              <a:t>Modifying treatment</a:t>
            </a:r>
          </a:p>
        </p:txBody>
      </p:sp>
      <p:sp>
        <p:nvSpPr>
          <p:cNvPr id="1050" name="Content Placeholder 1049">
            <a:extLst>
              <a:ext uri="{FF2B5EF4-FFF2-40B4-BE49-F238E27FC236}">
                <a16:creationId xmlns:a16="http://schemas.microsoft.com/office/drawing/2014/main" id="{7A42EC2B-4C6B-2A74-8596-600B1D111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050" y="2388207"/>
            <a:ext cx="3822189" cy="3742762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dirty="0" err="1"/>
              <a:t>Lecanemab</a:t>
            </a:r>
            <a:r>
              <a:rPr lang="en-US" dirty="0"/>
              <a:t> approved for prescription on 15. April in Germany</a:t>
            </a:r>
          </a:p>
          <a:p>
            <a:pPr>
              <a:lnSpc>
                <a:spcPct val="90000"/>
              </a:lnSpc>
            </a:pPr>
            <a:r>
              <a:rPr lang="en-US" dirty="0"/>
              <a:t>Diagnosis is no longer just about memory tests; it now requires </a:t>
            </a:r>
            <a:r>
              <a:rPr lang="en-US" b="1" dirty="0"/>
              <a:t>biological proof</a:t>
            </a:r>
            <a:r>
              <a:rPr lang="en-US" dirty="0"/>
              <a:t> of Alzheimer's via biomarkers.</a:t>
            </a:r>
            <a:endParaRPr lang="en-US" sz="2000" dirty="0"/>
          </a:p>
          <a:p>
            <a:pPr>
              <a:lnSpc>
                <a:spcPct val="90000"/>
              </a:lnSpc>
            </a:pPr>
            <a:r>
              <a:rPr lang="en-US" dirty="0"/>
              <a:t>Approved for </a:t>
            </a:r>
            <a:r>
              <a:rPr lang="en-US" b="1" dirty="0"/>
              <a:t>Early AD</a:t>
            </a:r>
            <a:r>
              <a:rPr lang="en-US" dirty="0"/>
              <a:t> (Mild Cognitive Impairment or Mild Dementia)</a:t>
            </a:r>
          </a:p>
          <a:p>
            <a:pPr>
              <a:lnSpc>
                <a:spcPct val="90000"/>
              </a:lnSpc>
            </a:pPr>
            <a:r>
              <a:rPr lang="en-US" dirty="0"/>
              <a:t>It clears amyloid plaques to slow cognitive decline by ~27%. It does not restore lost memory; it preserves what is left.</a:t>
            </a:r>
            <a:endParaRPr lang="en-US" sz="2000" dirty="0"/>
          </a:p>
          <a:p>
            <a:pPr>
              <a:lnSpc>
                <a:spcPct val="9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13765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EE02641-193F-0866-38E1-67F1B2B34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883" y="391280"/>
            <a:ext cx="11345332" cy="555601"/>
          </a:xfrm>
        </p:spPr>
        <p:txBody>
          <a:bodyPr/>
          <a:lstStyle/>
          <a:p>
            <a:r>
              <a:rPr lang="en-US" sz="3600" dirty="0"/>
              <a:t>Current Paradigm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5C27F0-4786-63B5-03AA-CE8DFC4ACDB1}"/>
              </a:ext>
            </a:extLst>
          </p:cNvPr>
          <p:cNvSpPr/>
          <p:nvPr/>
        </p:nvSpPr>
        <p:spPr>
          <a:xfrm>
            <a:off x="2693043" y="1473801"/>
            <a:ext cx="6805914" cy="5518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/>
              <a:t>1. Cognitive test: </a:t>
            </a:r>
            <a:r>
              <a:rPr lang="en-US" dirty="0"/>
              <a:t>e.g., MOCA or MMSE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E14408-DEEF-1BAD-130A-67DDC4EB3B2C}"/>
              </a:ext>
            </a:extLst>
          </p:cNvPr>
          <p:cNvSpPr/>
          <p:nvPr/>
        </p:nvSpPr>
        <p:spPr>
          <a:xfrm>
            <a:off x="4064643" y="2773869"/>
            <a:ext cx="4062714" cy="1110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/>
              <a:t>2. Blood test: </a:t>
            </a:r>
            <a:r>
              <a:rPr lang="en-US" dirty="0"/>
              <a:t>Plasma p-tau217</a:t>
            </a:r>
          </a:p>
          <a:p>
            <a:pPr algn="ctr"/>
            <a:r>
              <a:rPr lang="en-US" dirty="0"/>
              <a:t>radioactive tracer amyloid plaques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E52C6F-7E6A-91CB-93C4-DA5C723B7ED6}"/>
              </a:ext>
            </a:extLst>
          </p:cNvPr>
          <p:cNvSpPr/>
          <p:nvPr/>
        </p:nvSpPr>
        <p:spPr>
          <a:xfrm>
            <a:off x="2992056" y="4632680"/>
            <a:ext cx="6207888" cy="17206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/>
              <a:t>3. Scans</a:t>
            </a:r>
          </a:p>
          <a:p>
            <a:pPr algn="ctr"/>
            <a:r>
              <a:rPr lang="en-US" dirty="0"/>
              <a:t>Amyloid PET Scan: radioactive tracer amyloid plaques.</a:t>
            </a:r>
          </a:p>
          <a:p>
            <a:pPr algn="ctr"/>
            <a:r>
              <a:rPr lang="en-US" dirty="0"/>
              <a:t> or</a:t>
            </a:r>
          </a:p>
          <a:p>
            <a:pPr algn="ctr"/>
            <a:r>
              <a:rPr lang="en-US" dirty="0"/>
              <a:t>CSF Analysis (Lumbar Puncture): Spinal fluid is drawn to measure the ratio of amyloid/tau proteins.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5EAB076-AC15-57E7-77EB-87EB5770BF8F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6096000" y="2025603"/>
            <a:ext cx="0" cy="7482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D0F2F79-528C-B8BA-F13A-CADBCFCF3B20}"/>
              </a:ext>
            </a:extLst>
          </p:cNvPr>
          <p:cNvSpPr txBox="1"/>
          <p:nvPr/>
        </p:nvSpPr>
        <p:spPr>
          <a:xfrm>
            <a:off x="6096002" y="2144308"/>
            <a:ext cx="4062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If you score below a certain threshold </a:t>
            </a:r>
          </a:p>
          <a:p>
            <a:r>
              <a:rPr lang="en-US" sz="1200" dirty="0"/>
              <a:t>(e.g., &lt;26/30 on MOCA)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4498B8-96F6-3BCD-8E5C-B82C500F7929}"/>
              </a:ext>
            </a:extLst>
          </p:cNvPr>
          <p:cNvSpPr txBox="1"/>
          <p:nvPr/>
        </p:nvSpPr>
        <p:spPr>
          <a:xfrm>
            <a:off x="6096000" y="3965426"/>
            <a:ext cx="35592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Highly suspicious for Alzheimer’s. The patient moves to the "Gold Standard" confirmation required for insurance and treatment approval.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96DF9F6-FF28-50D2-3F01-EF78A2480F23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6096000" y="3884413"/>
            <a:ext cx="0" cy="8502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1989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A0328-75F7-3536-BC18-6BA84DE86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diagram of a patient's diagnosis&#10;&#10;AI-generated content may be incorrect.">
            <a:extLst>
              <a:ext uri="{FF2B5EF4-FFF2-40B4-BE49-F238E27FC236}">
                <a16:creationId xmlns:a16="http://schemas.microsoft.com/office/drawing/2014/main" id="{98105FB6-E960-D8BF-E26E-7213C8DC63F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281314" y="252706"/>
            <a:ext cx="11835941" cy="6605294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A24D506-57F4-D3A5-0A68-9039592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354" y="1635083"/>
            <a:ext cx="11345332" cy="2737673"/>
          </a:xfrm>
        </p:spPr>
        <p:txBody>
          <a:bodyPr/>
          <a:lstStyle/>
          <a:p>
            <a:r>
              <a:rPr lang="en-US" sz="2800" b="1" i="1" dirty="0"/>
              <a:t>Several Issues:</a:t>
            </a:r>
            <a:br>
              <a:rPr lang="en-US" sz="2800" b="1" i="1" dirty="0"/>
            </a:br>
            <a:br>
              <a:rPr lang="en-US" sz="2800" dirty="0"/>
            </a:br>
            <a:r>
              <a:rPr lang="en-US" sz="2800" dirty="0"/>
              <a:t>1. Functional "Collapse" Precedes Structural Atrophy</a:t>
            </a:r>
            <a:br>
              <a:rPr lang="en-US" sz="2800" dirty="0"/>
            </a:br>
            <a:r>
              <a:rPr lang="en-US" sz="2800" dirty="0"/>
              <a:t>2. Burdensome for elderly patients.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947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FE972-E02B-66F3-6985-91B294D18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diagram of a patient's diagnosis&#10;&#10;AI-generated content may be incorrect.">
            <a:extLst>
              <a:ext uri="{FF2B5EF4-FFF2-40B4-BE49-F238E27FC236}">
                <a16:creationId xmlns:a16="http://schemas.microsoft.com/office/drawing/2014/main" id="{B91F1D18-2876-287C-C3AC-EC01F443A90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281314" y="252706"/>
            <a:ext cx="11835941" cy="6605294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F5E2D85-BA48-D6CE-496F-0BE6AC3C6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354" y="1635083"/>
            <a:ext cx="11345332" cy="3840539"/>
          </a:xfrm>
        </p:spPr>
        <p:txBody>
          <a:bodyPr/>
          <a:lstStyle/>
          <a:p>
            <a:r>
              <a:rPr lang="en-US" sz="2800" b="1" i="1" dirty="0"/>
              <a:t>Several Issues:</a:t>
            </a:r>
            <a:br>
              <a:rPr lang="en-US" sz="2800" b="1" i="1" dirty="0"/>
            </a:br>
            <a:br>
              <a:rPr lang="en-US" sz="2800" dirty="0"/>
            </a:br>
            <a:r>
              <a:rPr lang="en-US" sz="2800" dirty="0"/>
              <a:t>1. Functional "Collapse" Precedes Structural Atrophy</a:t>
            </a:r>
            <a:br>
              <a:rPr lang="en-US" sz="2800" dirty="0"/>
            </a:br>
            <a:r>
              <a:rPr lang="en-US" sz="2800" dirty="0"/>
              <a:t>2. Burdensome for elderly patients.</a:t>
            </a:r>
            <a:br>
              <a:rPr lang="en-US" dirty="0"/>
            </a:br>
            <a:br>
              <a:rPr lang="en-US" dirty="0"/>
            </a:br>
            <a:r>
              <a:rPr lang="en-US" sz="3600" dirty="0"/>
              <a:t>Can  we identify functionally vulnerable patients early on?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067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ontent Placeholder 1">
            <a:extLst>
              <a:ext uri="{FF2B5EF4-FFF2-40B4-BE49-F238E27FC236}">
                <a16:creationId xmlns:a16="http://schemas.microsoft.com/office/drawing/2014/main" id="{49CF7048-F5D9-51FB-F8CB-0DC394830D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0241112"/>
              </p:ext>
            </p:extLst>
          </p:nvPr>
        </p:nvGraphicFramePr>
        <p:xfrm>
          <a:off x="414883" y="1523575"/>
          <a:ext cx="11345332" cy="43216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8DFADC1E-5B2C-E840-DE7E-CD18F6449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resting-state fMRI?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7146C5-5C44-5527-D940-914432A3AFE3}"/>
              </a:ext>
            </a:extLst>
          </p:cNvPr>
          <p:cNvSpPr txBox="1"/>
          <p:nvPr/>
        </p:nvSpPr>
        <p:spPr>
          <a:xfrm>
            <a:off x="150472" y="5987472"/>
            <a:ext cx="1221039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 https://</a:t>
            </a:r>
            <a:r>
              <a:rPr lang="en-US" sz="1000" dirty="0" err="1"/>
              <a:t>www.carecredit.com</a:t>
            </a:r>
            <a:r>
              <a:rPr lang="en-US" sz="1000" dirty="0"/>
              <a:t>/well-u/health-wellness/pet-scan-cost/#:~:text=Depending%20on%20the%20specific%20type%20of%20procedure,range%20between%20$1711%20and%20$12848.%20Learn%20more.</a:t>
            </a:r>
          </a:p>
          <a:p>
            <a:r>
              <a:rPr lang="en-US" sz="1000" dirty="0"/>
              <a:t>2 Young P, Heeman F, Axelsson J, </a:t>
            </a:r>
            <a:r>
              <a:rPr lang="en-US" sz="1000" dirty="0" err="1"/>
              <a:t>Collij</a:t>
            </a:r>
            <a:r>
              <a:rPr lang="en-US" sz="1000" dirty="0"/>
              <a:t> LE, Hitzel A, </a:t>
            </a:r>
            <a:r>
              <a:rPr lang="en-US" sz="1000" dirty="0" err="1"/>
              <a:t>Sanaat</a:t>
            </a:r>
            <a:r>
              <a:rPr lang="en-US" sz="1000" dirty="0"/>
              <a:t> A, </a:t>
            </a:r>
            <a:r>
              <a:rPr lang="en-US" sz="1000" dirty="0" err="1"/>
              <a:t>Niñerola</a:t>
            </a:r>
            <a:r>
              <a:rPr lang="en-US" sz="1000" dirty="0"/>
              <a:t>-Baizan A, </a:t>
            </a:r>
            <a:r>
              <a:rPr lang="en-US" sz="1000" dirty="0" err="1"/>
              <a:t>Perissinotti</a:t>
            </a:r>
            <a:r>
              <a:rPr lang="en-US" sz="1000" dirty="0"/>
              <a:t> A, </a:t>
            </a:r>
            <a:r>
              <a:rPr lang="en-US" sz="1000" dirty="0" err="1"/>
              <a:t>Lubberink</a:t>
            </a:r>
            <a:r>
              <a:rPr lang="en-US" sz="1000" dirty="0"/>
              <a:t> M, </a:t>
            </a:r>
            <a:r>
              <a:rPr lang="en-US" sz="1000" dirty="0" err="1"/>
              <a:t>Frisoni</a:t>
            </a:r>
            <a:r>
              <a:rPr lang="en-US" sz="1000" dirty="0"/>
              <a:t> GB, Zaidi H, </a:t>
            </a:r>
            <a:r>
              <a:rPr lang="en-US" sz="1000" dirty="0" err="1"/>
              <a:t>Barkhof</a:t>
            </a:r>
            <a:r>
              <a:rPr lang="en-US" sz="1000" dirty="0"/>
              <a:t> F, Farrar G, Baker S, Gispert JD, </a:t>
            </a:r>
            <a:r>
              <a:rPr lang="en-US" sz="1000" dirty="0" err="1"/>
              <a:t>Garibotto</a:t>
            </a:r>
            <a:r>
              <a:rPr lang="en-US" sz="1000" dirty="0"/>
              <a:t> V, Rieckmann A, </a:t>
            </a:r>
            <a:r>
              <a:rPr lang="en-US" sz="1000" dirty="0" err="1"/>
              <a:t>Schöll</a:t>
            </a:r>
            <a:r>
              <a:rPr lang="en-US" sz="1000" dirty="0"/>
              <a:t> M; AMYPAD </a:t>
            </a:r>
          </a:p>
          <a:p>
            <a:r>
              <a:rPr lang="en-US" sz="1000" dirty="0"/>
              <a:t>consortium. Impact of simulated reduced injected dose on the assessment of amyloid PET scans. </a:t>
            </a:r>
            <a:r>
              <a:rPr lang="en-US" sz="1000" dirty="0" err="1"/>
              <a:t>Eur</a:t>
            </a:r>
            <a:r>
              <a:rPr lang="en-US" sz="1000" dirty="0"/>
              <a:t> J </a:t>
            </a:r>
            <a:r>
              <a:rPr lang="en-US" sz="1000" dirty="0" err="1"/>
              <a:t>Nucl</a:t>
            </a:r>
            <a:r>
              <a:rPr lang="en-US" sz="1000" dirty="0"/>
              <a:t> Med Mol Imaging. 2024 Feb;51(3):734-748. </a:t>
            </a:r>
            <a:r>
              <a:rPr lang="en-US" sz="1000" dirty="0" err="1"/>
              <a:t>doi</a:t>
            </a:r>
            <a:r>
              <a:rPr lang="en-US" sz="1000" dirty="0"/>
              <a:t>: 10.1007/s00259-023-06481-0. </a:t>
            </a:r>
            <a:r>
              <a:rPr lang="en-US" sz="1000" dirty="0" err="1"/>
              <a:t>Epub</a:t>
            </a:r>
            <a:r>
              <a:rPr lang="en-US" sz="1000" dirty="0"/>
              <a:t> 2023 Oct 28. </a:t>
            </a:r>
          </a:p>
          <a:p>
            <a:r>
              <a:rPr lang="en-US" sz="1000" dirty="0"/>
              <a:t>PMID: 37897616; PMCID: PMC10796642.</a:t>
            </a:r>
          </a:p>
          <a:p>
            <a:r>
              <a:rPr lang="en-US" sz="1000" dirty="0"/>
              <a:t>3 https://</a:t>
            </a:r>
            <a:r>
              <a:rPr lang="en-US" sz="1000" dirty="0" err="1"/>
              <a:t>www.mdsave.com</a:t>
            </a:r>
            <a:r>
              <a:rPr lang="en-US" sz="1000" dirty="0"/>
              <a:t>/procedures/functional-</a:t>
            </a:r>
            <a:r>
              <a:rPr lang="en-US" sz="1000" dirty="0" err="1"/>
              <a:t>mri</a:t>
            </a:r>
            <a:r>
              <a:rPr lang="en-US" sz="1000" dirty="0"/>
              <a:t>-</a:t>
            </a:r>
            <a:r>
              <a:rPr lang="en-US" sz="1000" dirty="0" err="1"/>
              <a:t>fmri</a:t>
            </a:r>
            <a:r>
              <a:rPr lang="en-US" sz="1000" dirty="0"/>
              <a:t>/d584f5cc</a:t>
            </a:r>
          </a:p>
        </p:txBody>
      </p:sp>
    </p:spTree>
    <p:extLst>
      <p:ext uri="{BB962C8B-B14F-4D97-AF65-F5344CB8AC3E}">
        <p14:creationId xmlns:p14="http://schemas.microsoft.com/office/powerpoint/2010/main" val="135188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can of a human brain in a neurology clinic">
            <a:extLst>
              <a:ext uri="{FF2B5EF4-FFF2-40B4-BE49-F238E27FC236}">
                <a16:creationId xmlns:a16="http://schemas.microsoft.com/office/drawing/2014/main" id="{74284F6C-5F0B-3897-08A0-9CC279D936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36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749B39C-AC69-7BE0-C71E-99DE5563F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254661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dirty="0"/>
              <a:t>Why combine with deep learning?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EBD4E6-4AEC-1234-FBFC-140221482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pPr marL="0" lv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defRPr/>
            </a:pPr>
            <a:endParaRPr lang="en-US" sz="2000" dirty="0"/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2000" dirty="0"/>
              <a:t>A human radiologist cannot "see" functional connectivity in raw data. 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defRPr/>
            </a:pPr>
            <a:endParaRPr lang="en-US" sz="2000" dirty="0"/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2000" dirty="0"/>
              <a:t>A DL model (e.g., a Graph Neural Network) can identify non-linear disruptions in the </a:t>
            </a:r>
            <a:r>
              <a:rPr lang="en-US" sz="2000" b="1" dirty="0"/>
              <a:t>Default Mode Network (DMN), </a:t>
            </a:r>
            <a:r>
              <a:rPr lang="en-US" sz="2000" dirty="0"/>
              <a:t>often years before atrophy is visible on T1 scans</a:t>
            </a:r>
            <a:r>
              <a:rPr lang="en-US" sz="1000" dirty="0"/>
              <a:t>1</a:t>
            </a:r>
            <a:r>
              <a:rPr lang="en-US" sz="200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DEE21C-400F-F4BB-0319-A6E828532AD3}"/>
              </a:ext>
            </a:extLst>
          </p:cNvPr>
          <p:cNvSpPr txBox="1"/>
          <p:nvPr/>
        </p:nvSpPr>
        <p:spPr>
          <a:xfrm>
            <a:off x="584039" y="6407947"/>
            <a:ext cx="110239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1 Xue, C., Yuan, B., Yue, Y., Xu, J., Wang, S., Wu, M., Ji, N., Zhou, X., Zhao, Y., Rao, J., Yang, W., Xiao, C., &amp; Chen, J. (2019). Distinct Disruptive Patterns of Default Mode Subnetwork Connectivity Across the Spectrum of Preclinical Alzheimer’s Disease. Frontiers in Aging Neuroscience, 11. https://</a:t>
            </a:r>
            <a:r>
              <a:rPr lang="en-US" sz="1000" dirty="0" err="1"/>
              <a:t>doi.org</a:t>
            </a:r>
            <a:r>
              <a:rPr lang="en-US" sz="1000" dirty="0"/>
              <a:t>/10.3389/fnagi.2019.00307</a:t>
            </a:r>
          </a:p>
        </p:txBody>
      </p:sp>
    </p:spTree>
    <p:extLst>
      <p:ext uri="{BB962C8B-B14F-4D97-AF65-F5344CB8AC3E}">
        <p14:creationId xmlns:p14="http://schemas.microsoft.com/office/powerpoint/2010/main" val="1533520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DAA53-EAF6-F475-318D-1A4AF0788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b="1" i="1" dirty="0" err="1"/>
              <a:t>SoTA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3332711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F114D89-BF78-8994-6EFC-84D9088946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14883" y="2732374"/>
            <a:ext cx="3322812" cy="1361808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728091A-F7FD-1CB9-1882-D542642BF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Usual Workflow for fMRI Preprocessing</a:t>
            </a:r>
          </a:p>
        </p:txBody>
      </p:sp>
      <p:sp>
        <p:nvSpPr>
          <p:cNvPr id="5" name="AutoShape 2" descr="ROI plot of Harvard-Oxford cortical parcellation atlas">
            <a:extLst>
              <a:ext uri="{FF2B5EF4-FFF2-40B4-BE49-F238E27FC236}">
                <a16:creationId xmlns:a16="http://schemas.microsoft.com/office/drawing/2014/main" id="{09FC7D11-4E62-F8CD-6070-14F5C470E9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2BD8D9-8793-0DB4-4AAC-3B5751375C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701" y="3110053"/>
            <a:ext cx="2639259" cy="839764"/>
          </a:xfrm>
          <a:prstGeom prst="rect">
            <a:avLst/>
          </a:prstGeom>
        </p:spPr>
      </p:pic>
      <p:pic>
        <p:nvPicPr>
          <p:cNvPr id="10" name="Picture 9" descr="A mathematical equation with black text&#10;&#10;AI-generated content may be incorrect.">
            <a:extLst>
              <a:ext uri="{FF2B5EF4-FFF2-40B4-BE49-F238E27FC236}">
                <a16:creationId xmlns:a16="http://schemas.microsoft.com/office/drawing/2014/main" id="{5D5F525A-4EF9-2246-BE63-99D3CCFEB0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7069" y="2945887"/>
            <a:ext cx="2337721" cy="784470"/>
          </a:xfrm>
          <a:prstGeom prst="rect">
            <a:avLst/>
          </a:prstGeom>
        </p:spPr>
      </p:pic>
      <p:pic>
        <p:nvPicPr>
          <p:cNvPr id="12" name="Picture 11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B1A29E95-5B8E-ADCE-C7AE-C84507BFF2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3062" y="3813703"/>
            <a:ext cx="1357773" cy="44168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18620D4-ACC4-76F0-413B-2D1226471634}"/>
              </a:ext>
            </a:extLst>
          </p:cNvPr>
          <p:cNvSpPr/>
          <p:nvPr/>
        </p:nvSpPr>
        <p:spPr>
          <a:xfrm>
            <a:off x="809996" y="4318232"/>
            <a:ext cx="2523413" cy="6125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1. ATLAS Parcellation</a:t>
            </a:r>
          </a:p>
          <a:p>
            <a:pPr algn="ctr"/>
            <a:r>
              <a:rPr lang="en-US" sz="1600" dirty="0"/>
              <a:t>e.g. Harvard Oxford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AB25D9-9E27-F421-5EE3-DCE25E8AB0F9}"/>
              </a:ext>
            </a:extLst>
          </p:cNvPr>
          <p:cNvSpPr/>
          <p:nvPr/>
        </p:nvSpPr>
        <p:spPr>
          <a:xfrm>
            <a:off x="4776370" y="4367347"/>
            <a:ext cx="2639259" cy="5143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2. Compute mean at time 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1F4A0A-A4A0-ADE0-AAFC-2AE7FBB93258}"/>
              </a:ext>
            </a:extLst>
          </p:cNvPr>
          <p:cNvSpPr/>
          <p:nvPr/>
        </p:nvSpPr>
        <p:spPr>
          <a:xfrm>
            <a:off x="8869666" y="4367347"/>
            <a:ext cx="2172525" cy="5143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3. Pearson Correlation</a:t>
            </a:r>
          </a:p>
        </p:txBody>
      </p:sp>
    </p:spTree>
    <p:extLst>
      <p:ext uri="{BB962C8B-B14F-4D97-AF65-F5344CB8AC3E}">
        <p14:creationId xmlns:p14="http://schemas.microsoft.com/office/powerpoint/2010/main" val="2428772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0B0898-6163-8BBA-327B-2930DA0EA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DL Frameworks (Related Work)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27B176-6DAB-9F71-6E74-D33432538B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14884" y="1179149"/>
            <a:ext cx="5499780" cy="21367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31FF0E-D1F9-2EBE-11AC-FE46DE0F08C2}"/>
              </a:ext>
            </a:extLst>
          </p:cNvPr>
          <p:cNvSpPr txBox="1"/>
          <p:nvPr/>
        </p:nvSpPr>
        <p:spPr>
          <a:xfrm>
            <a:off x="1963871" y="3315940"/>
            <a:ext cx="25075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Graph Neural Networks</a:t>
            </a:r>
          </a:p>
          <a:p>
            <a:pPr algn="ctr"/>
            <a:r>
              <a:rPr lang="en-US" dirty="0"/>
              <a:t>(e.g. GAAE)</a:t>
            </a:r>
          </a:p>
        </p:txBody>
      </p:sp>
      <p:pic>
        <p:nvPicPr>
          <p:cNvPr id="8" name="Picture 7" descr="A diagram of a brain network&#10;&#10;AI-generated content may be incorrect.">
            <a:extLst>
              <a:ext uri="{FF2B5EF4-FFF2-40B4-BE49-F238E27FC236}">
                <a16:creationId xmlns:a16="http://schemas.microsoft.com/office/drawing/2014/main" id="{CEDB6517-B32B-ED86-3FB1-5F628860C9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3033" y="1078235"/>
            <a:ext cx="5116372" cy="23507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227572B-B01E-BCCE-1FB4-3ADBECF6FC2B}"/>
              </a:ext>
            </a:extLst>
          </p:cNvPr>
          <p:cNvSpPr txBox="1"/>
          <p:nvPr/>
        </p:nvSpPr>
        <p:spPr>
          <a:xfrm>
            <a:off x="8486174" y="3399349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Transformers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920D5342-BBAA-19DF-5D9F-9F4ED9ADCA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1065" y="3922176"/>
            <a:ext cx="4189869" cy="2373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157C87-4770-2F50-E354-0D7F14B454E2}"/>
              </a:ext>
            </a:extLst>
          </p:cNvPr>
          <p:cNvSpPr txBox="1"/>
          <p:nvPr/>
        </p:nvSpPr>
        <p:spPr>
          <a:xfrm>
            <a:off x="5522569" y="6419716"/>
            <a:ext cx="784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CNNs</a:t>
            </a:r>
          </a:p>
        </p:txBody>
      </p:sp>
    </p:spTree>
    <p:extLst>
      <p:ext uri="{BB962C8B-B14F-4D97-AF65-F5344CB8AC3E}">
        <p14:creationId xmlns:p14="http://schemas.microsoft.com/office/powerpoint/2010/main" val="1286447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EDA0-3CFA-EF5D-ACD3-DBB582D15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b="1" i="1" dirty="0"/>
              <a:t>Proposal</a:t>
            </a:r>
          </a:p>
        </p:txBody>
      </p:sp>
    </p:spTree>
    <p:extLst>
      <p:ext uri="{BB962C8B-B14F-4D97-AF65-F5344CB8AC3E}">
        <p14:creationId xmlns:p14="http://schemas.microsoft.com/office/powerpoint/2010/main" val="3237058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97BE96-3DD5-4A90-174C-365AF5866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Proposal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CD9173-4469-4633-AA5C-1355D84215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 platform for diagnosis: from 4D fMRI Scans to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xAI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Diagnosis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09CB0965-0F37-42D1-FE4B-0D40B3B08F9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63" b="9564"/>
          <a:stretch>
            <a:fillRect/>
          </a:stretch>
        </p:blipFill>
        <p:spPr bwMode="auto">
          <a:xfrm>
            <a:off x="7339907" y="3517532"/>
            <a:ext cx="3249352" cy="2650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17EEE2A-70EF-4F60-3542-564C98D005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686" y="3671482"/>
            <a:ext cx="5430808" cy="234270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3740FB6-8081-9FDF-EDFD-A6FB7A08E2B6}"/>
              </a:ext>
            </a:extLst>
          </p:cNvPr>
          <p:cNvSpPr txBox="1"/>
          <p:nvPr/>
        </p:nvSpPr>
        <p:spPr>
          <a:xfrm>
            <a:off x="216609" y="6359944"/>
            <a:ext cx="11543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Burduja, Mihail &amp; Ionescu, Radu Tudor &amp; Verga, Nicolae. (2020). Accurate and Efficient Intracranial Hemorrhage Detection and Subtype Classification in 3D CT Scans with Convolutional and Long Short-Term Memory Neural Networks. Sensors. 20. 10.3390/s20195611.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0A7713-8366-EDF2-EE84-17AFCBC6CDF8}"/>
              </a:ext>
            </a:extLst>
          </p:cNvPr>
          <p:cNvSpPr txBox="1"/>
          <p:nvPr/>
        </p:nvSpPr>
        <p:spPr>
          <a:xfrm>
            <a:off x="3153021" y="1837873"/>
            <a:ext cx="631294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i="1" dirty="0"/>
              <a:t>Code free </a:t>
            </a:r>
          </a:p>
          <a:p>
            <a:pPr algn="ctr"/>
            <a:r>
              <a:rPr lang="en-US" sz="2800" b="1" i="1" dirty="0"/>
              <a:t>Visualization (e.g. </a:t>
            </a:r>
            <a:r>
              <a:rPr lang="en-US" sz="2800" b="1" i="1" dirty="0" err="1"/>
              <a:t>gradCAM</a:t>
            </a:r>
            <a:r>
              <a:rPr lang="en-US" sz="2800" b="1" i="1" dirty="0"/>
              <a:t>) +</a:t>
            </a:r>
          </a:p>
          <a:p>
            <a:pPr algn="ctr"/>
            <a:r>
              <a:rPr lang="en-US" sz="2800" b="1" i="1" dirty="0"/>
              <a:t> Detailed Diagnosis (e.g. clinical LLM) </a:t>
            </a:r>
          </a:p>
        </p:txBody>
      </p:sp>
    </p:spTree>
    <p:extLst>
      <p:ext uri="{BB962C8B-B14F-4D97-AF65-F5344CB8AC3E}">
        <p14:creationId xmlns:p14="http://schemas.microsoft.com/office/powerpoint/2010/main" val="36375596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08885B03-B833-97CE-2BDF-F1F47C9D2B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33" b="16572"/>
          <a:stretch>
            <a:fillRect/>
          </a:stretch>
        </p:blipFill>
        <p:spPr>
          <a:xfrm>
            <a:off x="2052310" y="2576662"/>
            <a:ext cx="3875434" cy="39737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A9D1A9-ECD6-EC03-9170-669BFCA54C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7744" y="3530769"/>
            <a:ext cx="2917764" cy="1184713"/>
          </a:xfrm>
          <a:prstGeom prst="rect">
            <a:avLst/>
          </a:prstGeom>
        </p:spPr>
      </p:pic>
      <p:pic>
        <p:nvPicPr>
          <p:cNvPr id="6" name="Picture 5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796BEBB8-4052-638A-01EE-8D16FB62EF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4136" r="-129"/>
          <a:stretch>
            <a:fillRect/>
          </a:stretch>
        </p:blipFill>
        <p:spPr>
          <a:xfrm>
            <a:off x="5745846" y="2863687"/>
            <a:ext cx="3880417" cy="75531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1D8177A-6488-F331-49C5-D9F283889E79}"/>
              </a:ext>
            </a:extLst>
          </p:cNvPr>
          <p:cNvSpPr/>
          <p:nvPr/>
        </p:nvSpPr>
        <p:spPr>
          <a:xfrm>
            <a:off x="2341615" y="3618999"/>
            <a:ext cx="2854527" cy="2010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701165-EED4-0C9F-6798-7ED58E56F114}"/>
              </a:ext>
            </a:extLst>
          </p:cNvPr>
          <p:cNvSpPr/>
          <p:nvPr/>
        </p:nvSpPr>
        <p:spPr>
          <a:xfrm>
            <a:off x="2341614" y="4148616"/>
            <a:ext cx="2173591" cy="2118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88B2F9-4131-04A3-DABC-252CB08140AE}"/>
              </a:ext>
            </a:extLst>
          </p:cNvPr>
          <p:cNvSpPr/>
          <p:nvPr/>
        </p:nvSpPr>
        <p:spPr>
          <a:xfrm>
            <a:off x="6035022" y="2913446"/>
            <a:ext cx="2703208" cy="2064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B8006A29-C6A1-1C59-127C-03F7BE98DBE6}"/>
              </a:ext>
            </a:extLst>
          </p:cNvPr>
          <p:cNvSpPr txBox="1"/>
          <p:nvPr/>
        </p:nvSpPr>
        <p:spPr>
          <a:xfrm>
            <a:off x="4445679" y="1681193"/>
            <a:ext cx="4292551" cy="89255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u="sng" dirty="0"/>
              <a:t>Deliverable: </a:t>
            </a:r>
          </a:p>
          <a:p>
            <a:r>
              <a:rPr lang="en-US" sz="1100" dirty="0"/>
              <a:t>PDF File for the ENT Doctor</a:t>
            </a:r>
          </a:p>
          <a:p>
            <a:r>
              <a:rPr lang="en-US" sz="1100" dirty="0"/>
              <a:t>(what the doctor sees in the report)</a:t>
            </a:r>
            <a:endParaRPr lang="en-US" sz="1050" dirty="0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C467BB53-B4E2-DCED-E971-BB9D658F9401}"/>
              </a:ext>
            </a:extLst>
          </p:cNvPr>
          <p:cNvSpPr txBox="1">
            <a:spLocks/>
          </p:cNvSpPr>
          <p:nvPr/>
        </p:nvSpPr>
        <p:spPr>
          <a:xfrm>
            <a:off x="414883" y="391280"/>
            <a:ext cx="11345332" cy="60414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Inspiration (Project Week Applied Surgineering)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6CEDD384-75F1-DEC2-2732-3BF9B583ADED}"/>
              </a:ext>
            </a:extLst>
          </p:cNvPr>
          <p:cNvSpPr txBox="1">
            <a:spLocks/>
          </p:cNvSpPr>
          <p:nvPr/>
        </p:nvSpPr>
        <p:spPr>
          <a:xfrm>
            <a:off x="414882" y="912573"/>
            <a:ext cx="11345332" cy="4285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1409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098AD-6389-4148-E2FB-9ED026655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0683"/>
            <a:ext cx="10515600" cy="2592730"/>
          </a:xfrm>
        </p:spPr>
        <p:txBody>
          <a:bodyPr>
            <a:normAutofit fontScale="90000"/>
          </a:bodyPr>
          <a:lstStyle/>
          <a:p>
            <a:r>
              <a:rPr lang="en-US" b="1" i="1" dirty="0"/>
              <a:t>FOUR Parts for my Proposal</a:t>
            </a:r>
            <a:br>
              <a:rPr lang="en-US" b="1" i="1" dirty="0"/>
            </a:br>
            <a:br>
              <a:rPr lang="en-US" b="1" i="1" dirty="0"/>
            </a:br>
            <a:r>
              <a:rPr lang="en-US" i="1" dirty="0"/>
              <a:t>1. Explore other Parcellation Techniques</a:t>
            </a:r>
            <a:br>
              <a:rPr lang="en-US" i="1" dirty="0"/>
            </a:br>
            <a:r>
              <a:rPr lang="en-US" i="1" dirty="0"/>
              <a:t>2. Improve Model + Explore </a:t>
            </a:r>
            <a:r>
              <a:rPr lang="en-US" i="1" dirty="0" err="1"/>
              <a:t>SoTA</a:t>
            </a:r>
            <a:r>
              <a:rPr lang="en-US" i="1" dirty="0"/>
              <a:t> Approaches</a:t>
            </a:r>
            <a:br>
              <a:rPr lang="en-US" i="1" dirty="0"/>
            </a:br>
            <a:r>
              <a:rPr lang="en-US" i="1" dirty="0"/>
              <a:t>3. Explainability</a:t>
            </a:r>
            <a:br>
              <a:rPr lang="en-US" i="1" dirty="0"/>
            </a:br>
            <a:r>
              <a:rPr lang="en-US" i="1" dirty="0"/>
              <a:t>4. Packaging in a UI Friendly Tool 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1026503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B8BC79-F708-29DE-C2AB-1300F8F16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334" y="1799520"/>
            <a:ext cx="11345332" cy="4618367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2800" b="1" i="1" dirty="0">
                <a:solidFill>
                  <a:srgbClr val="FF0000"/>
                </a:solidFill>
              </a:rPr>
              <a:t>Going beyond the mean</a:t>
            </a:r>
          </a:p>
          <a:p>
            <a:pPr marL="0" indent="0">
              <a:buNone/>
            </a:pPr>
            <a:r>
              <a:rPr lang="en-US" b="1" dirty="0"/>
              <a:t>Principal component extraction</a:t>
            </a:r>
            <a:r>
              <a:rPr lang="en-US" dirty="0"/>
              <a:t>: Instead of mean, use first principal component of voxel time series within ROI to capture dominant signal pattern</a:t>
            </a:r>
          </a:p>
          <a:p>
            <a:pPr marL="0" indent="0">
              <a:buNone/>
            </a:pPr>
            <a:r>
              <a:rPr lang="en-US" b="1" dirty="0"/>
              <a:t>ROI consistency weighting</a:t>
            </a:r>
            <a:r>
              <a:rPr lang="en-US" dirty="0"/>
              <a:t>: Weight connections by ROI consistency to discount spurious links from heterogeneous regions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600" b="1" i="1" dirty="0"/>
              <a:t>Homologous-Functional-Regions</a:t>
            </a:r>
          </a:p>
          <a:p>
            <a:pPr marL="0" indent="0">
              <a:buNone/>
            </a:pPr>
            <a:r>
              <a:rPr lang="en-US" dirty="0"/>
              <a:t>Performing group-level functional image analyses based on homologous functional regions mapped in individuals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600" b="1" i="1" dirty="0"/>
              <a:t>Deep Learning-Based Parcellation (OpenMAP‐T1)</a:t>
            </a:r>
          </a:p>
          <a:p>
            <a:pPr marL="0" indent="0">
              <a:buNone/>
            </a:pPr>
            <a:r>
              <a:rPr lang="en-US" dirty="0"/>
              <a:t>Modern approaches use neural networks for rapid, accurate parcellation.</a:t>
            </a:r>
            <a:r>
              <a:rPr lang="de-DE" dirty="0"/>
              <a:t> </a:t>
            </a:r>
            <a:r>
              <a:rPr lang="de-DE" b="1" dirty="0"/>
              <a:t>OpenMAP-T1</a:t>
            </a:r>
            <a:r>
              <a:rPr lang="de-DE" dirty="0"/>
              <a:t> </a:t>
            </a:r>
            <a:r>
              <a:rPr lang="en-US" dirty="0"/>
              <a:t>integrates several CNN models across six phases: preprocessing, cropping, skull-stripping, parcellation, hemisphere segmentation, and final merging—parcellating the brain into</a:t>
            </a:r>
            <a:r>
              <a:rPr lang="de-DE" dirty="0"/>
              <a:t> </a:t>
            </a:r>
            <a:r>
              <a:rPr lang="de-DE" b="1" dirty="0"/>
              <a:t>280 anatomical structures</a:t>
            </a:r>
            <a:r>
              <a:rPr lang="de-DE" dirty="0"/>
              <a:t> </a:t>
            </a:r>
            <a:r>
              <a:rPr lang="en-US" dirty="0"/>
              <a:t>covering gray and white matter within minutes on a standard desktop.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94E76F-6886-2C8C-4313-436A5D608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Parcellation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EE616E3E-5608-AC31-C5FD-FA7E428C1ACF}"/>
              </a:ext>
            </a:extLst>
          </p:cNvPr>
          <p:cNvSpPr txBox="1">
            <a:spLocks/>
          </p:cNvSpPr>
          <p:nvPr/>
        </p:nvSpPr>
        <p:spPr>
          <a:xfrm>
            <a:off x="414883" y="829430"/>
            <a:ext cx="11345332" cy="531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ts val="4267"/>
              </a:lnSpc>
              <a:spcBef>
                <a:spcPct val="0"/>
              </a:spcBef>
              <a:buNone/>
              <a:defRPr lang="de-DE" sz="3333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Atlas-based</a:t>
            </a:r>
          </a:p>
        </p:txBody>
      </p:sp>
    </p:spTree>
    <p:extLst>
      <p:ext uri="{BB962C8B-B14F-4D97-AF65-F5344CB8AC3E}">
        <p14:creationId xmlns:p14="http://schemas.microsoft.com/office/powerpoint/2010/main" val="17878032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D21ED-9216-995A-16AF-E5D36EB73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56FC01-C7E8-C6CC-0E55-1848ED82A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454" y="1428750"/>
            <a:ext cx="11345332" cy="5037970"/>
          </a:xfrm>
        </p:spPr>
        <p:txBody>
          <a:bodyPr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2200" b="1" i="1" dirty="0"/>
              <a:t>Step 1:</a:t>
            </a:r>
          </a:p>
          <a:p>
            <a:pPr marL="0" indent="0">
              <a:buNone/>
            </a:pPr>
            <a:r>
              <a:rPr lang="en-US" b="1" u="sng" dirty="0"/>
              <a:t>Spatially-constrained Agglomerative Clustering: </a:t>
            </a:r>
            <a:r>
              <a:rPr lang="en-US" dirty="0"/>
              <a:t>Works bottom-up, iteratively merging spatially adjacent voxels with high functional connectivity (Pearson correlation). </a:t>
            </a:r>
          </a:p>
          <a:p>
            <a:pPr marL="0" indent="0">
              <a:buNone/>
            </a:pPr>
            <a:r>
              <a:rPr lang="en-US" b="1" u="sng" dirty="0"/>
              <a:t>Spectral Clustering: </a:t>
            </a:r>
            <a:r>
              <a:rPr lang="en-US" dirty="0"/>
              <a:t>Partitions voxels using the eigenspectrum of a similarity graph (the Pearson correlation matrix).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22E1DCB-6BFD-F0C6-4100-D966C01A6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Parcellation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4FD0888-9256-5ADC-4371-3AC9B87F6D54}"/>
              </a:ext>
            </a:extLst>
          </p:cNvPr>
          <p:cNvSpPr txBox="1">
            <a:spLocks/>
          </p:cNvSpPr>
          <p:nvPr/>
        </p:nvSpPr>
        <p:spPr>
          <a:xfrm>
            <a:off x="414883" y="829430"/>
            <a:ext cx="11345332" cy="531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ts val="4267"/>
              </a:lnSpc>
              <a:spcBef>
                <a:spcPct val="0"/>
              </a:spcBef>
              <a:buNone/>
              <a:defRPr lang="de-DE" sz="3333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Individualized (Atlas-Free) Parcellation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6" name="Picture 5" descr="A comparison of different colored circles&#10;&#10;AI-generated content may be incorrect.">
            <a:extLst>
              <a:ext uri="{FF2B5EF4-FFF2-40B4-BE49-F238E27FC236}">
                <a16:creationId xmlns:a16="http://schemas.microsoft.com/office/drawing/2014/main" id="{288D8963-77A0-F3C5-5F46-3FF29CB49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2501" y="3561446"/>
            <a:ext cx="7772400" cy="26498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CDDF01-F678-90BA-EDE8-91052ABDDFA2}"/>
              </a:ext>
            </a:extLst>
          </p:cNvPr>
          <p:cNvSpPr txBox="1"/>
          <p:nvPr/>
        </p:nvSpPr>
        <p:spPr>
          <a:xfrm>
            <a:off x="216610" y="6611779"/>
            <a:ext cx="1154360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Atlas-free Brain Network Transformer</a:t>
            </a:r>
          </a:p>
        </p:txBody>
      </p:sp>
    </p:spTree>
    <p:extLst>
      <p:ext uri="{BB962C8B-B14F-4D97-AF65-F5344CB8AC3E}">
        <p14:creationId xmlns:p14="http://schemas.microsoft.com/office/powerpoint/2010/main" val="26596802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12F45-6DE5-557A-CE06-C9356DAD4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239851-2913-6960-1771-793B6D1E1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454" y="1428750"/>
            <a:ext cx="11345332" cy="5037970"/>
          </a:xfrm>
        </p:spPr>
        <p:txBody>
          <a:bodyPr>
            <a:normAutofit/>
          </a:bodyPr>
          <a:lstStyle/>
          <a:p>
            <a:r>
              <a:rPr lang="en-US" b="1" dirty="0"/>
              <a:t>Step 1:</a:t>
            </a:r>
            <a:endParaRPr lang="en-US" dirty="0"/>
          </a:p>
          <a:p>
            <a:pPr marL="0" indent="0">
              <a:buNone/>
            </a:pPr>
            <a:r>
              <a:rPr lang="en-US" b="1" u="sng" dirty="0"/>
              <a:t>Spatially-constrained Agglomerative Clustering: </a:t>
            </a:r>
            <a:r>
              <a:rPr lang="en-US" dirty="0"/>
              <a:t>Works bottom-up, iteratively merging spatially adjacent voxels with high functional connectivity (Pearson correlation). </a:t>
            </a:r>
          </a:p>
          <a:p>
            <a:pPr marL="0" indent="0">
              <a:buNone/>
            </a:pPr>
            <a:r>
              <a:rPr lang="en-US" b="1" u="sng" dirty="0"/>
              <a:t>Spectral Clustering: </a:t>
            </a:r>
            <a:r>
              <a:rPr lang="en-US" dirty="0"/>
              <a:t>Partitions voxels using the </a:t>
            </a:r>
            <a:r>
              <a:rPr lang="en-US" dirty="0" err="1"/>
              <a:t>eigenspectrum</a:t>
            </a:r>
            <a:r>
              <a:rPr lang="en-US" dirty="0"/>
              <a:t> of a similarity graph (the Pearson correlation matrix). </a:t>
            </a:r>
          </a:p>
          <a:p>
            <a:pPr>
              <a:lnSpc>
                <a:spcPct val="104000"/>
              </a:lnSpc>
            </a:pPr>
            <a:r>
              <a:rPr lang="en-US" sz="2200" b="1" i="1" dirty="0"/>
              <a:t>Step 2: ROI-to-Voxel Connectivity</a:t>
            </a:r>
          </a:p>
          <a:p>
            <a:pPr marL="0" indent="0">
              <a:buNone/>
            </a:pPr>
            <a:r>
              <a:rPr lang="en-US" dirty="0"/>
              <a:t>Since each subject's parcellation is unique,</a:t>
            </a:r>
            <a:r>
              <a:rPr lang="de-DE" dirty="0"/>
              <a:t> </a:t>
            </a:r>
            <a:r>
              <a:rPr lang="de-DE" b="1" dirty="0" err="1"/>
              <a:t>direct</a:t>
            </a:r>
            <a:r>
              <a:rPr lang="de-DE" b="1" dirty="0"/>
              <a:t> ROI-</a:t>
            </a:r>
            <a:r>
              <a:rPr lang="de-DE" b="1" dirty="0" err="1"/>
              <a:t>to</a:t>
            </a:r>
            <a:r>
              <a:rPr lang="de-DE" b="1" dirty="0"/>
              <a:t>-ROI </a:t>
            </a:r>
            <a:r>
              <a:rPr lang="de-DE" b="1" dirty="0" err="1"/>
              <a:t>comparisons</a:t>
            </a:r>
            <a:r>
              <a:rPr lang="de-DE" b="1" dirty="0"/>
              <a:t> </a:t>
            </a:r>
            <a:r>
              <a:rPr lang="de-DE" b="1" dirty="0" err="1"/>
              <a:t>across</a:t>
            </a:r>
            <a:r>
              <a:rPr lang="de-DE" b="1" dirty="0"/>
              <a:t> </a:t>
            </a:r>
            <a:r>
              <a:rPr lang="de-DE" b="1" dirty="0" err="1"/>
              <a:t>subjects</a:t>
            </a:r>
            <a:r>
              <a:rPr lang="de-DE" b="1" dirty="0"/>
              <a:t> </a:t>
            </a:r>
            <a:r>
              <a:rPr lang="de-DE" b="1" dirty="0" err="1"/>
              <a:t>become</a:t>
            </a:r>
            <a:r>
              <a:rPr lang="de-DE" b="1" dirty="0"/>
              <a:t> impossible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Atlas-free methods solve this by computing connectivity in a</a:t>
            </a:r>
            <a:r>
              <a:rPr lang="de-DE" dirty="0"/>
              <a:t> </a:t>
            </a:r>
            <a:r>
              <a:rPr lang="de-DE" b="1" dirty="0" err="1"/>
              <a:t>standardized</a:t>
            </a:r>
            <a:r>
              <a:rPr lang="de-DE" b="1" dirty="0"/>
              <a:t> </a:t>
            </a:r>
            <a:r>
              <a:rPr lang="de-DE" b="1" dirty="0" err="1"/>
              <a:t>voxel-based</a:t>
            </a:r>
            <a:r>
              <a:rPr lang="de-DE" b="1" dirty="0"/>
              <a:t> feature </a:t>
            </a:r>
            <a:r>
              <a:rPr lang="de-DE" b="1" dirty="0" err="1"/>
              <a:t>space</a:t>
            </a:r>
            <a:r>
              <a:rPr lang="en-US" dirty="0"/>
              <a:t>:​</a:t>
            </a:r>
          </a:p>
          <a:p>
            <a:pPr marL="0" indent="0">
              <a:buNone/>
            </a:pPr>
            <a:r>
              <a:rPr lang="en-US" dirty="0"/>
              <a:t>This produces a high-dimensional feature vector for each ROI that can be compared across subjects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F5C519-05B9-045D-AED2-ED74968A1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Parcellation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2CA3E0E6-BD62-132F-69BE-F8C9B824DD36}"/>
              </a:ext>
            </a:extLst>
          </p:cNvPr>
          <p:cNvSpPr txBox="1">
            <a:spLocks/>
          </p:cNvSpPr>
          <p:nvPr/>
        </p:nvSpPr>
        <p:spPr>
          <a:xfrm>
            <a:off x="414883" y="829430"/>
            <a:ext cx="11345332" cy="531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ts val="4267"/>
              </a:lnSpc>
              <a:spcBef>
                <a:spcPct val="0"/>
              </a:spcBef>
              <a:buNone/>
              <a:defRPr lang="de-DE" sz="3333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Individualized (Atlas-Free) Parcellation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88055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1ACE0-34CB-D394-4FD4-1C5ECB0C0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A6E8D4-45AE-E3A0-2124-FCA27020A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454" y="1428750"/>
            <a:ext cx="11345332" cy="5037970"/>
          </a:xfrm>
        </p:spPr>
        <p:txBody>
          <a:bodyPr>
            <a:normAutofit/>
          </a:bodyPr>
          <a:lstStyle/>
          <a:p>
            <a:r>
              <a:rPr lang="en-US" b="1" dirty="0"/>
              <a:t>Step 1:</a:t>
            </a:r>
            <a:endParaRPr lang="en-US" dirty="0"/>
          </a:p>
          <a:p>
            <a:pPr marL="0" indent="0">
              <a:buNone/>
            </a:pPr>
            <a:r>
              <a:rPr lang="en-US" b="1" u="sng" dirty="0"/>
              <a:t>Spatially-constrained Agglomerative Clustering: </a:t>
            </a:r>
            <a:r>
              <a:rPr lang="en-US" dirty="0"/>
              <a:t>Works bottom-up, iteratively merging spatially adjacent voxels with high functional connectivity (Pearson correlation). </a:t>
            </a:r>
          </a:p>
          <a:p>
            <a:pPr marL="0" indent="0">
              <a:buNone/>
            </a:pPr>
            <a:r>
              <a:rPr lang="en-US" b="1" u="sng" dirty="0"/>
              <a:t>Spectral Clustering: </a:t>
            </a:r>
            <a:r>
              <a:rPr lang="en-US" dirty="0"/>
              <a:t>Partitions voxels using the eigenspectrum of a similarity graph (the Pearson correlation matrix). </a:t>
            </a:r>
          </a:p>
          <a:p>
            <a:r>
              <a:rPr lang="en-US" b="1" dirty="0"/>
              <a:t>Step 2: ROI-to-Voxel Connectivity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Since each subject's parcellation is unique,</a:t>
            </a:r>
            <a:r>
              <a:rPr lang="de-DE" dirty="0"/>
              <a:t> </a:t>
            </a:r>
            <a:r>
              <a:rPr lang="de-DE" b="1" dirty="0"/>
              <a:t>direct ROI-to-ROI comparisons across subjects become impossible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Atlas-free methods solve this by computing connectivity in a</a:t>
            </a:r>
            <a:r>
              <a:rPr lang="de-DE" dirty="0"/>
              <a:t> </a:t>
            </a:r>
            <a:r>
              <a:rPr lang="de-DE" b="1" dirty="0"/>
              <a:t>standardized voxel-based feature space</a:t>
            </a:r>
            <a:r>
              <a:rPr lang="en-US" dirty="0"/>
              <a:t>:​</a:t>
            </a:r>
          </a:p>
          <a:p>
            <a:pPr marL="0" indent="0">
              <a:buNone/>
            </a:pPr>
            <a:r>
              <a:rPr lang="en-US" dirty="0"/>
              <a:t>This produces a high-dimensional feature vector for each ROI that can be compared across subjects</a:t>
            </a:r>
          </a:p>
          <a:p>
            <a:pPr>
              <a:lnSpc>
                <a:spcPct val="104000"/>
              </a:lnSpc>
            </a:pPr>
            <a:r>
              <a:rPr lang="en-US" sz="2200" b="1" i="1" dirty="0"/>
              <a:t>Step 3: Dimensionality Reduction and Feature Extraction (PCA + Transformers)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939AA98-FEC6-8DC0-86CD-034E1DCE7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Parcellation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08E943D2-13E5-FAAD-44F0-2FFF004CF792}"/>
              </a:ext>
            </a:extLst>
          </p:cNvPr>
          <p:cNvSpPr txBox="1">
            <a:spLocks/>
          </p:cNvSpPr>
          <p:nvPr/>
        </p:nvSpPr>
        <p:spPr>
          <a:xfrm>
            <a:off x="414883" y="829430"/>
            <a:ext cx="11345332" cy="531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ts val="4267"/>
              </a:lnSpc>
              <a:spcBef>
                <a:spcPct val="0"/>
              </a:spcBef>
              <a:buNone/>
              <a:defRPr lang="de-DE" sz="3333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Individualized (Atlas-Free) Parcellation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52446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DD2A2D6-14B2-6723-7068-581892C81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454" y="1630035"/>
            <a:ext cx="11345332" cy="1309936"/>
          </a:xfrm>
        </p:spPr>
        <p:txBody>
          <a:bodyPr/>
          <a:lstStyle/>
          <a:p>
            <a:pPr marL="0" indent="0">
              <a:buNone/>
            </a:pPr>
            <a:r>
              <a:rPr lang="en-US" i="1" dirty="0"/>
              <a:t>→ Atlas-free BNT achieves</a:t>
            </a:r>
            <a:r>
              <a:rPr lang="de-DE" i="1" dirty="0"/>
              <a:t> </a:t>
            </a:r>
            <a:r>
              <a:rPr lang="de-DE" b="1" i="1" dirty="0"/>
              <a:t>89.2% </a:t>
            </a:r>
            <a:r>
              <a:rPr lang="de-DE" b="1" i="1" dirty="0" err="1"/>
              <a:t>accuracy</a:t>
            </a:r>
            <a:r>
              <a:rPr lang="de-DE" i="1" dirty="0"/>
              <a:t> on sex </a:t>
            </a:r>
            <a:r>
              <a:rPr lang="de-DE" i="1" dirty="0" err="1"/>
              <a:t>classification</a:t>
            </a:r>
            <a:r>
              <a:rPr lang="de-DE" i="1" dirty="0"/>
              <a:t> </a:t>
            </a:r>
            <a:r>
              <a:rPr lang="de-DE" i="1" dirty="0" err="1"/>
              <a:t>compared</a:t>
            </a:r>
            <a:r>
              <a:rPr lang="de-DE" i="1" dirty="0"/>
              <a:t> </a:t>
            </a:r>
            <a:r>
              <a:rPr lang="de-DE" i="1" dirty="0" err="1"/>
              <a:t>to</a:t>
            </a:r>
            <a:r>
              <a:rPr lang="de-DE" i="1" dirty="0"/>
              <a:t> </a:t>
            </a:r>
            <a:r>
              <a:rPr lang="de-DE" b="1" i="1" dirty="0"/>
              <a:t>87.9%</a:t>
            </a:r>
            <a:r>
              <a:rPr lang="de-DE" i="1" dirty="0"/>
              <a:t> </a:t>
            </a:r>
            <a:r>
              <a:rPr lang="de-DE" i="1" dirty="0" err="1"/>
              <a:t>for</a:t>
            </a:r>
            <a:r>
              <a:rPr lang="de-DE" i="1" dirty="0"/>
              <a:t> </a:t>
            </a:r>
            <a:r>
              <a:rPr lang="de-DE" i="1" dirty="0" err="1"/>
              <a:t>the</a:t>
            </a:r>
            <a:r>
              <a:rPr lang="de-DE" i="1" dirty="0"/>
              <a:t> </a:t>
            </a:r>
            <a:r>
              <a:rPr lang="de-DE" i="1" dirty="0" err="1"/>
              <a:t>best</a:t>
            </a:r>
            <a:r>
              <a:rPr lang="de-DE" i="1" dirty="0"/>
              <a:t> atlas-</a:t>
            </a:r>
            <a:r>
              <a:rPr lang="de-DE" i="1" dirty="0" err="1"/>
              <a:t>based</a:t>
            </a:r>
            <a:r>
              <a:rPr lang="de-DE" i="1" dirty="0"/>
              <a:t> </a:t>
            </a:r>
            <a:r>
              <a:rPr lang="de-DE" i="1" dirty="0" err="1"/>
              <a:t>method</a:t>
            </a:r>
            <a:r>
              <a:rPr lang="de-DE" i="1" dirty="0"/>
              <a:t> (BNT </a:t>
            </a:r>
            <a:r>
              <a:rPr lang="de-DE" i="1" dirty="0" err="1"/>
              <a:t>with</a:t>
            </a:r>
            <a:r>
              <a:rPr lang="de-DE" i="1" dirty="0"/>
              <a:t> Craddock-400). </a:t>
            </a:r>
          </a:p>
          <a:p>
            <a:pPr marL="0" indent="0">
              <a:buNone/>
            </a:pPr>
            <a:r>
              <a:rPr lang="de-DE" i="1" dirty="0" err="1"/>
              <a:t>For</a:t>
            </a:r>
            <a:r>
              <a:rPr lang="de-DE" i="1" dirty="0"/>
              <a:t> </a:t>
            </a:r>
            <a:r>
              <a:rPr lang="de-DE" i="1" dirty="0" err="1"/>
              <a:t>brain</a:t>
            </a:r>
            <a:r>
              <a:rPr lang="de-DE" i="1" dirty="0"/>
              <a:t> </a:t>
            </a:r>
            <a:r>
              <a:rPr lang="de-DE" i="1" dirty="0" err="1"/>
              <a:t>age</a:t>
            </a:r>
            <a:r>
              <a:rPr lang="de-DE" i="1" dirty="0"/>
              <a:t> </a:t>
            </a:r>
            <a:r>
              <a:rPr lang="de-DE" i="1" dirty="0" err="1"/>
              <a:t>prediction</a:t>
            </a:r>
            <a:r>
              <a:rPr lang="de-DE" i="1" dirty="0"/>
              <a:t>, atlas-</a:t>
            </a:r>
            <a:r>
              <a:rPr lang="de-DE" i="1" dirty="0" err="1"/>
              <a:t>free</a:t>
            </a:r>
            <a:r>
              <a:rPr lang="de-DE" i="1" dirty="0"/>
              <a:t> </a:t>
            </a:r>
            <a:r>
              <a:rPr lang="de-DE" i="1" dirty="0" err="1"/>
              <a:t>achieves</a:t>
            </a:r>
            <a:r>
              <a:rPr lang="de-DE" i="1" dirty="0"/>
              <a:t> </a:t>
            </a:r>
            <a:r>
              <a:rPr lang="de-DE" b="1" i="1" dirty="0"/>
              <a:t>MAE = 4.03 </a:t>
            </a:r>
            <a:r>
              <a:rPr lang="de-DE" b="1" i="1" dirty="0" err="1"/>
              <a:t>years</a:t>
            </a:r>
            <a:r>
              <a:rPr lang="de-DE" i="1" dirty="0"/>
              <a:t> </a:t>
            </a:r>
            <a:r>
              <a:rPr lang="de-DE" i="1" dirty="0" err="1"/>
              <a:t>vs</a:t>
            </a:r>
            <a:r>
              <a:rPr lang="de-DE" i="1" dirty="0"/>
              <a:t> </a:t>
            </a:r>
            <a:r>
              <a:rPr lang="de-DE" b="1" i="1" dirty="0"/>
              <a:t>4.21 </a:t>
            </a:r>
            <a:r>
              <a:rPr lang="de-DE" b="1" i="1" dirty="0" err="1"/>
              <a:t>years</a:t>
            </a:r>
            <a:r>
              <a:rPr lang="de-DE" i="1" dirty="0"/>
              <a:t> </a:t>
            </a:r>
            <a:r>
              <a:rPr lang="de-DE" i="1" dirty="0" err="1"/>
              <a:t>for</a:t>
            </a:r>
            <a:r>
              <a:rPr lang="de-DE" i="1" dirty="0"/>
              <a:t> </a:t>
            </a:r>
            <a:r>
              <a:rPr lang="de-DE" i="1" dirty="0" err="1"/>
              <a:t>the</a:t>
            </a:r>
            <a:r>
              <a:rPr lang="de-DE" i="1" dirty="0"/>
              <a:t> </a:t>
            </a:r>
            <a:r>
              <a:rPr lang="de-DE" i="1" dirty="0" err="1"/>
              <a:t>best</a:t>
            </a:r>
            <a:r>
              <a:rPr lang="de-DE" i="1" dirty="0"/>
              <a:t> atlas-</a:t>
            </a:r>
            <a:r>
              <a:rPr lang="de-DE" i="1" dirty="0" err="1"/>
              <a:t>based</a:t>
            </a:r>
            <a:r>
              <a:rPr lang="de-DE" i="1" dirty="0"/>
              <a:t> </a:t>
            </a:r>
            <a:r>
              <a:rPr lang="de-DE" i="1" dirty="0" err="1"/>
              <a:t>approach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FD4931D-483B-C837-A17D-3AD6027BF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Atlas-free</a:t>
            </a:r>
          </a:p>
        </p:txBody>
      </p:sp>
      <p:pic>
        <p:nvPicPr>
          <p:cNvPr id="6" name="Picture 5" descr="A group of images of different colored objects&#10;&#10;AI-generated content may be incorrect.">
            <a:extLst>
              <a:ext uri="{FF2B5EF4-FFF2-40B4-BE49-F238E27FC236}">
                <a16:creationId xmlns:a16="http://schemas.microsoft.com/office/drawing/2014/main" id="{C6CE53A7-D93A-CA56-CCAB-E5167B828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220" y="3088429"/>
            <a:ext cx="5912010" cy="33782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9A2E95-C7AB-F7BC-6196-4A41B544DA33}"/>
              </a:ext>
            </a:extLst>
          </p:cNvPr>
          <p:cNvSpPr txBox="1"/>
          <p:nvPr/>
        </p:nvSpPr>
        <p:spPr>
          <a:xfrm>
            <a:off x="216610" y="6611779"/>
            <a:ext cx="1154360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Atlas-free Brain Network Transformer</a:t>
            </a:r>
          </a:p>
        </p:txBody>
      </p:sp>
    </p:spTree>
    <p:extLst>
      <p:ext uri="{BB962C8B-B14F-4D97-AF65-F5344CB8AC3E}">
        <p14:creationId xmlns:p14="http://schemas.microsoft.com/office/powerpoint/2010/main" val="25397566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diagram of a sailing ship&#10;&#10;AI-generated content may be incorrect.">
            <a:extLst>
              <a:ext uri="{FF2B5EF4-FFF2-40B4-BE49-F238E27FC236}">
                <a16:creationId xmlns:a16="http://schemas.microsoft.com/office/drawing/2014/main" id="{14AA3782-6613-A488-78CD-A1D1F2DA28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36600" y="1961326"/>
            <a:ext cx="10718800" cy="3556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6DBAC20-2556-9A40-F405-94DC3045E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Diagnosis </a:t>
            </a:r>
            <a:r>
              <a:rPr lang="en-US" dirty="0" err="1"/>
              <a:t>xAI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416486-6FB8-273B-4290-C4F1DDD3F6C6}"/>
              </a:ext>
            </a:extLst>
          </p:cNvPr>
          <p:cNvSpPr txBox="1"/>
          <p:nvPr/>
        </p:nvSpPr>
        <p:spPr>
          <a:xfrm>
            <a:off x="216610" y="6555432"/>
            <a:ext cx="11543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/>
              <a:t>GNNExplainer</a:t>
            </a:r>
            <a:r>
              <a:rPr lang="en-US" sz="1000" dirty="0"/>
              <a:t>: Generating Explanations for Graph Neural Networks</a:t>
            </a:r>
          </a:p>
          <a:p>
            <a:endParaRPr lang="en-US" sz="1000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4665E96-2080-B472-7EC6-36651CA6C4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4882" y="912573"/>
            <a:ext cx="11345332" cy="428547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Extend GAAE</a:t>
            </a:r>
          </a:p>
        </p:txBody>
      </p:sp>
    </p:spTree>
    <p:extLst>
      <p:ext uri="{BB962C8B-B14F-4D97-AF65-F5344CB8AC3E}">
        <p14:creationId xmlns:p14="http://schemas.microsoft.com/office/powerpoint/2010/main" val="36351981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4AB50-21E7-0760-ACCF-D3F163468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6FA013-64EE-F130-C97D-D38965BB18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6870"/>
          <a:stretch>
            <a:fillRect/>
          </a:stretch>
        </p:blipFill>
        <p:spPr>
          <a:xfrm>
            <a:off x="2393010" y="2755307"/>
            <a:ext cx="7405979" cy="267322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13D61AC-5E1F-8046-849E-2B9FA7B19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Diagnosis </a:t>
            </a:r>
            <a:r>
              <a:rPr lang="en-US" dirty="0" err="1"/>
              <a:t>xAI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13D6DB-6E54-9844-9433-D1D6F522B5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CNN + RNNs/LSTM +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GradCAM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15D17F-5681-7DBE-E27B-FAC8FEFE38FD}"/>
              </a:ext>
            </a:extLst>
          </p:cNvPr>
          <p:cNvSpPr txBox="1"/>
          <p:nvPr/>
        </p:nvSpPr>
        <p:spPr>
          <a:xfrm>
            <a:off x="216610" y="6555432"/>
            <a:ext cx="1154360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Robust Tumor Localization with Pyramid Grad-CAM</a:t>
            </a:r>
          </a:p>
        </p:txBody>
      </p:sp>
    </p:spTree>
    <p:extLst>
      <p:ext uri="{BB962C8B-B14F-4D97-AF65-F5344CB8AC3E}">
        <p14:creationId xmlns:p14="http://schemas.microsoft.com/office/powerpoint/2010/main" val="42377844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31970E-37C4-05CE-9C26-D4F5612B58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6870"/>
          <a:stretch>
            <a:fillRect/>
          </a:stretch>
        </p:blipFill>
        <p:spPr>
          <a:xfrm>
            <a:off x="3132931" y="2790031"/>
            <a:ext cx="5930900" cy="2140784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D35D05B-A470-EA70-22B4-ADC8F3935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Diagnosis </a:t>
            </a:r>
            <a:r>
              <a:rPr lang="en-US" dirty="0" err="1"/>
              <a:t>xAI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11929E-CF0E-04D7-6585-CFCA089F9B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Transformer (Atlas-free Approach)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938FBA-7496-984F-0116-2D95E2EE0410}"/>
              </a:ext>
            </a:extLst>
          </p:cNvPr>
          <p:cNvSpPr txBox="1"/>
          <p:nvPr/>
        </p:nvSpPr>
        <p:spPr>
          <a:xfrm>
            <a:off x="216610" y="6555432"/>
            <a:ext cx="1154360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Robust Tumor Localization with Pyramid Grad-CAM</a:t>
            </a:r>
          </a:p>
        </p:txBody>
      </p:sp>
    </p:spTree>
    <p:extLst>
      <p:ext uri="{BB962C8B-B14F-4D97-AF65-F5344CB8AC3E}">
        <p14:creationId xmlns:p14="http://schemas.microsoft.com/office/powerpoint/2010/main" val="10647477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3FC95-7DA0-E90C-5635-D47323740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2303493"/>
          </a:xfrm>
        </p:spPr>
        <p:txBody>
          <a:bodyPr>
            <a:normAutofit/>
          </a:bodyPr>
          <a:lstStyle/>
          <a:p>
            <a:r>
              <a:rPr lang="en-US" b="1" i="1" dirty="0"/>
              <a:t>Focus: </a:t>
            </a:r>
            <a:br>
              <a:rPr lang="en-US" dirty="0"/>
            </a:br>
            <a:r>
              <a:rPr lang="en-US" dirty="0"/>
              <a:t>Find what works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1949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B5B69-E1EA-D9FE-41F8-C6637562C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ADA74-40D2-8632-F545-97CE46446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2303493"/>
          </a:xfrm>
        </p:spPr>
        <p:txBody>
          <a:bodyPr>
            <a:normAutofit/>
          </a:bodyPr>
          <a:lstStyle/>
          <a:p>
            <a:r>
              <a:rPr lang="en-US" b="1" i="1" dirty="0"/>
              <a:t>Focus: </a:t>
            </a:r>
            <a:br>
              <a:rPr lang="en-US" dirty="0"/>
            </a:br>
            <a:r>
              <a:rPr lang="en-US" dirty="0"/>
              <a:t>Find what works</a:t>
            </a:r>
            <a:br>
              <a:rPr lang="en-US" dirty="0"/>
            </a:br>
            <a:r>
              <a:rPr lang="en-US" dirty="0"/>
              <a:t>Finetune</a:t>
            </a:r>
          </a:p>
        </p:txBody>
      </p:sp>
    </p:spTree>
    <p:extLst>
      <p:ext uri="{BB962C8B-B14F-4D97-AF65-F5344CB8AC3E}">
        <p14:creationId xmlns:p14="http://schemas.microsoft.com/office/powerpoint/2010/main" val="21729622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FE418-5D00-CB7D-59A5-1C431939D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6F764C2-6E07-3219-346C-B6F3FCC008E2}"/>
              </a:ext>
            </a:extLst>
          </p:cNvPr>
          <p:cNvSpPr txBox="1">
            <a:spLocks/>
          </p:cNvSpPr>
          <p:nvPr/>
        </p:nvSpPr>
        <p:spPr>
          <a:xfrm>
            <a:off x="838200" y="2847243"/>
            <a:ext cx="10515600" cy="27086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/>
              <a:t>Focus: </a:t>
            </a:r>
            <a:br>
              <a:rPr lang="en-US" dirty="0"/>
            </a:br>
            <a:r>
              <a:rPr lang="en-US" dirty="0"/>
              <a:t>Find what works</a:t>
            </a:r>
            <a:br>
              <a:rPr lang="en-US" dirty="0"/>
            </a:br>
            <a:r>
              <a:rPr lang="en-US" dirty="0"/>
              <a:t>Finetune</a:t>
            </a:r>
          </a:p>
          <a:p>
            <a:r>
              <a:rPr lang="en-US" dirty="0"/>
              <a:t>Explain Results (in medical </a:t>
            </a:r>
          </a:p>
        </p:txBody>
      </p:sp>
    </p:spTree>
    <p:extLst>
      <p:ext uri="{BB962C8B-B14F-4D97-AF65-F5344CB8AC3E}">
        <p14:creationId xmlns:p14="http://schemas.microsoft.com/office/powerpoint/2010/main" val="19444739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4F9731-21C1-DFDF-4146-1C34FF39B2D2}"/>
              </a:ext>
            </a:extLst>
          </p:cNvPr>
          <p:cNvSpPr txBox="1"/>
          <p:nvPr/>
        </p:nvSpPr>
        <p:spPr>
          <a:xfrm>
            <a:off x="3049929" y="3102941"/>
            <a:ext cx="60998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Resting-state fMRI detects alterations in whole brain connectivity related to tumor biology in glioma patients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E87B7B1-930C-5C2A-7D59-C8ECE95F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898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1003</TotalTime>
  <Words>1781</Words>
  <Application>Microsoft Macintosh PowerPoint</Application>
  <PresentationFormat>Widescreen</PresentationFormat>
  <Paragraphs>179</Paragraphs>
  <Slides>27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Aptos</vt:lpstr>
      <vt:lpstr>Aptos Display</vt:lpstr>
      <vt:lpstr>Arial</vt:lpstr>
      <vt:lpstr>Office Theme</vt:lpstr>
      <vt:lpstr>Master Thesis: Alzheimer Prediction</vt:lpstr>
      <vt:lpstr>Motivation</vt:lpstr>
      <vt:lpstr>Alzheimer’s Disease  Modifying treatment</vt:lpstr>
      <vt:lpstr>Current Paradigm</vt:lpstr>
      <vt:lpstr>Several Issues:  1. Functional "Collapse" Precedes Structural Atrophy 2. Burdensome for elderly patients. </vt:lpstr>
      <vt:lpstr>Several Issues:  1. Functional "Collapse" Precedes Structural Atrophy 2. Burdensome for elderly patients.  Can  we identify functionally vulnerable patients early on? </vt:lpstr>
      <vt:lpstr>Why resting-state fMRI?</vt:lpstr>
      <vt:lpstr>Why combine with deep learning?</vt:lpstr>
      <vt:lpstr>SoTA</vt:lpstr>
      <vt:lpstr>Usual Workflow for fMRI Preprocessing</vt:lpstr>
      <vt:lpstr>DL Frameworks (Related Work)</vt:lpstr>
      <vt:lpstr>Proposal</vt:lpstr>
      <vt:lpstr>My Proposal</vt:lpstr>
      <vt:lpstr>PowerPoint Presentation</vt:lpstr>
      <vt:lpstr>FOUR Parts for my Proposal  1. Explore other Parcellation Techniques 2. Improve Model + Explore SoTA Approaches 3. Explainability 4. Packaging in a UI Friendly Tool </vt:lpstr>
      <vt:lpstr>Parcellation</vt:lpstr>
      <vt:lpstr>Parcellation</vt:lpstr>
      <vt:lpstr>Parcellation</vt:lpstr>
      <vt:lpstr>Parcellation</vt:lpstr>
      <vt:lpstr>Atlas-free</vt:lpstr>
      <vt:lpstr>Diagnosis xAI</vt:lpstr>
      <vt:lpstr>Diagnosis xAI</vt:lpstr>
      <vt:lpstr>Diagnosis xAI</vt:lpstr>
      <vt:lpstr>Focus:  Find what works </vt:lpstr>
      <vt:lpstr>Focus:  Find what works Finetune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Lakhal, Fraj Yassine</dc:creator>
  <cp:lastModifiedBy>Lakhal, Fraj Yassine</cp:lastModifiedBy>
  <cp:revision>2</cp:revision>
  <dcterms:created xsi:type="dcterms:W3CDTF">2025-12-02T16:03:13Z</dcterms:created>
  <dcterms:modified xsi:type="dcterms:W3CDTF">2025-12-03T08:46:29Z</dcterms:modified>
</cp:coreProperties>
</file>