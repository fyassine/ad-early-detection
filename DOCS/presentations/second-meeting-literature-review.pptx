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20"/>
  </p:notesMasterIdLst>
  <p:handoutMasterIdLst>
    <p:handoutMasterId r:id="rId21"/>
  </p:handoutMasterIdLst>
  <p:sldIdLst>
    <p:sldId id="355" r:id="rId8"/>
    <p:sldId id="437" r:id="rId9"/>
    <p:sldId id="446" r:id="rId10"/>
    <p:sldId id="445" r:id="rId11"/>
    <p:sldId id="439" r:id="rId12"/>
    <p:sldId id="451" r:id="rId13"/>
    <p:sldId id="440" r:id="rId14"/>
    <p:sldId id="450" r:id="rId15"/>
    <p:sldId id="448" r:id="rId16"/>
    <p:sldId id="452" r:id="rId17"/>
    <p:sldId id="453" r:id="rId18"/>
    <p:sldId id="449" r:id="rId19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4" autoAdjust="0"/>
    <p:restoredTop sz="80524" autoAdjust="0"/>
  </p:normalViewPr>
  <p:slideViewPr>
    <p:cSldViewPr snapToGrid="0">
      <p:cViewPr varScale="1">
        <p:scale>
          <a:sx n="172" d="100"/>
          <a:sy n="172" d="100"/>
        </p:scale>
        <p:origin x="208" y="304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DAD681E-D228-EC4A-A4C9-E4F766667671}" type="datetime4">
              <a:rPr lang="en-US" smtClean="0"/>
              <a:t>December 17, 2025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E3287B3-6190-0B4F-AFB7-0E726D0E0AAF}" type="datetime4">
              <a:rPr lang="en-US" smtClean="0"/>
              <a:t>December 17, 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3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69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A2210-ED38-1070-F514-3F5D798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6669C-576D-5A56-8819-94ECB6E21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D9C6E-0534-C607-CEC0-DF1F54ED2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DAT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Dementia of the Alzheimer's Type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A+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amyloid positive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6F4B6-4C08-B69A-6F3F-E35C8EB3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43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FiLM: </a:t>
            </a:r>
            <a:r>
              <a:rPr lang="en-US" sz="1200" b="1" noProof="0" dirty="0"/>
              <a:t>Feature-wise Linear Modulation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150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9511-7C8E-95EB-D0B8-49F54D9F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9ECF8-D665-6AD9-666F-90701E60F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58237-1E67-4D78-3A8F-A4F553014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D3B97-EA1A-5D26-10C7-46F6030D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72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65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E680-E477-66D4-685A-F113194F1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5B278-858B-DD0C-B19B-E0C0E272F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A2DF4-87CD-B20D-934E-649D6F5E5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1B961-8087-6621-248C-33D53479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227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81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sz="1100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Fraj Yassine Lakhal (TUM)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722" y="1355381"/>
            <a:ext cx="3819542" cy="333375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19090" y="881762"/>
            <a:ext cx="8508999" cy="383381"/>
          </a:xfrm>
        </p:spPr>
        <p:txBody>
          <a:bodyPr/>
          <a:lstStyle/>
          <a:p>
            <a:r>
              <a:rPr lang="en-US" noProof="0" dirty="0"/>
              <a:t>Literature Review &amp; Next Steps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399815"/>
            <a:ext cx="8508999" cy="3447079"/>
          </a:xfrm>
        </p:spPr>
        <p:txBody>
          <a:bodyPr/>
          <a:lstStyle/>
          <a:p>
            <a:r>
              <a:rPr lang="de-DE" sz="1200" dirty="0"/>
              <a:t>Fraj Yassine Lakhal</a:t>
            </a:r>
          </a:p>
          <a:p>
            <a:r>
              <a:rPr lang="de-DE" sz="1200" i="1" dirty="0"/>
              <a:t>TUM School of Computation, Information and Technology</a:t>
            </a:r>
            <a:endParaRPr lang="de-DE" sz="1200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en-US" sz="900" b="1" i="1" dirty="0"/>
              <a:t>Functional Neuroimaging, LMU</a:t>
            </a:r>
          </a:p>
          <a:p>
            <a:r>
              <a:rPr lang="de-DE" sz="900" dirty="0"/>
              <a:t>Supervisor: Dr. med. Stephan Wunderlich</a:t>
            </a:r>
          </a:p>
          <a:p>
            <a:endParaRPr lang="de-DE" sz="900" i="1" dirty="0"/>
          </a:p>
          <a:p>
            <a:r>
              <a:rPr lang="en-US" sz="900" b="1" i="1" dirty="0"/>
              <a:t>Chair for Computer Aided Medical Procedures &amp; Augmented Reality, TUM</a:t>
            </a:r>
          </a:p>
          <a:p>
            <a:r>
              <a:rPr lang="en-US" sz="1000" dirty="0"/>
              <a:t>Supervisor(s): M.Sc. Chantal Pellegrini, Dr. Shahrooz Faghihroohi</a:t>
            </a:r>
            <a:endParaRPr lang="en-US" sz="1000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4250C-65B7-1FC9-52C3-8EE2008FD156}"/>
              </a:ext>
            </a:extLst>
          </p:cNvPr>
          <p:cNvSpPr txBox="1"/>
          <p:nvPr/>
        </p:nvSpPr>
        <p:spPr>
          <a:xfrm>
            <a:off x="228851" y="489132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i="1" dirty="0"/>
              <a:t>München, 17. Dezember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44761F-6EB7-9A91-4E6D-D2668F96A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i="1" dirty="0"/>
              <a:t>Theoretical Framework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Current Approach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Literature Review</a:t>
            </a:r>
          </a:p>
          <a:p>
            <a:pPr marL="342900" indent="-342900">
              <a:buFont typeface="+mj-lt"/>
              <a:buAutoNum type="arabicPeriod"/>
            </a:pPr>
            <a:endParaRPr lang="en-US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128D28-3560-142B-A0AB-5D7D8B99B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1DCA1-8162-C9D6-6570-F540DE8A8E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sz="800" dirty="0"/>
              <a:t>Fraj Yassine Lakhal (TUM)</a:t>
            </a:r>
            <a:endParaRPr lang="en-US" sz="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0BB00-1913-D7A4-4167-3E9BC38642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271AD9-A94F-EB48-25C6-61C781FF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A6EEE7-DE49-09E6-0C3C-4118B2AD7F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4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F3C4-8DE9-5529-700E-8BF37B967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0355"/>
          </a:xfrm>
        </p:spPr>
        <p:txBody>
          <a:bodyPr/>
          <a:lstStyle/>
          <a:p>
            <a:r>
              <a:rPr lang="en-US" sz="1800" i="1" dirty="0"/>
              <a:t>Theoretical Framework: </a:t>
            </a:r>
            <a:r>
              <a:rPr lang="en-US" sz="1800" dirty="0"/>
              <a:t>fMRI as a Reliable Method for Brain Pathologies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89613F-C2C6-8E3C-1A5E-37120E5B1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AE581-9E98-CA86-AB47-4269A0630B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(Stoecklein et al., 2020)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0CC482-452E-D8FE-A53E-3554C9D5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" t="2128" r="42430" b="1643"/>
          <a:stretch>
            <a:fillRect/>
          </a:stretch>
        </p:blipFill>
        <p:spPr>
          <a:xfrm>
            <a:off x="584616" y="1280865"/>
            <a:ext cx="3263443" cy="330059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E3191FE-EE6D-39A3-D1B0-AB51CD29E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965" y="1171750"/>
            <a:ext cx="399239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dirty="0"/>
              <a:t>Find damage beyond the Lesion: </a:t>
            </a:r>
          </a:p>
          <a:p>
            <a:r>
              <a:rPr lang="en-US" sz="1200" dirty="0"/>
              <a:t>abnormalities in functional connectivity could be detected not only adjacent to the visible lesion but also in distant brain tissue, even in the contralesional hemisphere.</a:t>
            </a:r>
          </a:p>
          <a:p>
            <a:endParaRPr lang="en-US" altLang="en-US" sz="1200" dirty="0"/>
          </a:p>
          <a:p>
            <a:r>
              <a:rPr lang="en-US" altLang="en-US" sz="1200" b="1" dirty="0"/>
              <a:t>Define imaging markers to quantify disease Aggressiveness: </a:t>
            </a:r>
          </a:p>
          <a:p>
            <a:r>
              <a:rPr lang="en-US" altLang="en-US" sz="1200" dirty="0"/>
              <a:t>ABI* showed a close correlation with the aggressiveness of the tumor: correlates with MOCA tests, IDH Mutation Status and WHO Grade (Pathological Severity)</a:t>
            </a:r>
          </a:p>
          <a:p>
            <a:endParaRPr lang="en-US" altLang="en-US" sz="1200" dirty="0"/>
          </a:p>
          <a:p>
            <a:r>
              <a:rPr lang="en-US" altLang="en-US" sz="1200" b="1" dirty="0"/>
              <a:t>Feasibility:</a:t>
            </a:r>
          </a:p>
          <a:p>
            <a:r>
              <a:rPr lang="en-US" altLang="en-US" sz="1200" dirty="0"/>
              <a:t>fMRI sequences can be "tacked onto a clinical routine MRI scan without major modification to the scanning procedure," and the post-analysis can be done automatically</a:t>
            </a:r>
          </a:p>
          <a:p>
            <a:endParaRPr lang="en-US" altLang="en-US" sz="1200" dirty="0"/>
          </a:p>
          <a:p>
            <a:r>
              <a:rPr lang="en-US" altLang="en-US" sz="900" dirty="0"/>
              <a:t>*quantitative imaging marker, quantifies whole-brain functional connectivity damage</a:t>
            </a:r>
            <a:endParaRPr lang="en-US" alt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6C7E8-52B0-71BB-C16D-CC7A19D28815}"/>
              </a:ext>
            </a:extLst>
          </p:cNvPr>
          <p:cNvSpPr txBox="1"/>
          <p:nvPr/>
        </p:nvSpPr>
        <p:spPr>
          <a:xfrm>
            <a:off x="1562059" y="4610502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(Stoecklein et al., 2020)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2CB3B-DDF4-12BC-A5AB-CF3A242B9200}"/>
              </a:ext>
            </a:extLst>
          </p:cNvPr>
          <p:cNvSpPr txBox="1"/>
          <p:nvPr/>
        </p:nvSpPr>
        <p:spPr>
          <a:xfrm>
            <a:off x="0" y="4894108"/>
            <a:ext cx="87617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Stoecklein VM, Stoecklein S, </a:t>
            </a:r>
            <a:r>
              <a:rPr lang="en-US" sz="600" dirty="0" err="1"/>
              <a:t>Galiè</a:t>
            </a:r>
            <a:r>
              <a:rPr lang="en-US" sz="600" dirty="0"/>
              <a:t> F, Ren J, Schmutzer M, </a:t>
            </a:r>
            <a:r>
              <a:rPr lang="en-US" sz="600" dirty="0" err="1"/>
              <a:t>Unterrainer</a:t>
            </a:r>
            <a:r>
              <a:rPr lang="en-US" sz="600" dirty="0"/>
              <a:t> M, Albert NL, Kreth FW, Thon N, Liebig T, Ertl-Wagner B, Tonn JC, Liu H. Resting-state fMRI detects alterations in whole brain connectivity related to tumor biology in glioma patients. Neuro Oncol. 2020 Sep 29;22(9):1388-1398. </a:t>
            </a:r>
            <a:r>
              <a:rPr lang="en-US" sz="600" dirty="0" err="1"/>
              <a:t>doi</a:t>
            </a:r>
            <a:r>
              <a:rPr lang="en-US" sz="600" dirty="0"/>
              <a:t>: 10.1093/</a:t>
            </a:r>
            <a:r>
              <a:rPr lang="en-US" sz="600" dirty="0" err="1"/>
              <a:t>neuonc</a:t>
            </a:r>
            <a:r>
              <a:rPr lang="en-US" sz="600" dirty="0"/>
              <a:t>/noaa044. PMID: 32107555; PMCID: PMC7523460.</a:t>
            </a:r>
          </a:p>
        </p:txBody>
      </p:sp>
    </p:spTree>
    <p:extLst>
      <p:ext uri="{BB962C8B-B14F-4D97-AF65-F5344CB8AC3E}">
        <p14:creationId xmlns:p14="http://schemas.microsoft.com/office/powerpoint/2010/main" val="387210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10D9-C652-3F03-253E-DA64D026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041E-8970-BF89-29DB-42DF81FF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6190"/>
          </a:xfrm>
        </p:spPr>
        <p:txBody>
          <a:bodyPr/>
          <a:lstStyle/>
          <a:p>
            <a:r>
              <a:rPr lang="en-US" sz="2000" i="1" dirty="0"/>
              <a:t>Theoretical Framework: </a:t>
            </a:r>
            <a:r>
              <a:rPr lang="en-US" sz="2000" dirty="0"/>
              <a:t>MCI and The Alzheimer’s Disease Continuum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0ACB3-9BD7-3F14-2615-2ED4DB334A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C1584-54B9-C6E4-D01C-B1C17E3010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(Jessen et al., 2023)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475E9D-5A56-DD4E-2A86-49D334A76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1" y="1516719"/>
            <a:ext cx="41332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dirty="0"/>
              <a:t>AD Continuum is defined:</a:t>
            </a:r>
          </a:p>
          <a:p>
            <a:r>
              <a:rPr lang="en-US" altLang="en-US" sz="1200" dirty="0"/>
              <a:t>Stage 1 (asymptomatic, A+ Controls) </a:t>
            </a:r>
          </a:p>
          <a:p>
            <a:r>
              <a:rPr lang="en-US" altLang="en-US" sz="1200" dirty="0"/>
              <a:t>→ Stage 2 (SCD-A+) </a:t>
            </a:r>
          </a:p>
          <a:p>
            <a:r>
              <a:rPr lang="en-US" altLang="en-US" sz="1200" dirty="0"/>
              <a:t>→ Stage 3 (MCI-A+) </a:t>
            </a:r>
          </a:p>
          <a:p>
            <a:r>
              <a:rPr lang="en-US" altLang="en-US" sz="1200" dirty="0"/>
              <a:t>→ Stage 4 (DAT-A+)</a:t>
            </a:r>
          </a:p>
          <a:p>
            <a:endParaRPr lang="en-US" altLang="en-US" sz="1200" dirty="0"/>
          </a:p>
          <a:p>
            <a:endParaRPr lang="en-US" altLang="en-US" sz="1200" dirty="0"/>
          </a:p>
          <a:p>
            <a:r>
              <a:rPr lang="en-US" altLang="en-US" sz="1200" b="1" dirty="0"/>
              <a:t>Cognitive and Aß define the AD Continuum: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Preclinical Alzheimer's Cognitive Composite (PACC5) drastic cognitive decline as the disease progresses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A</a:t>
            </a:r>
            <a:r>
              <a:rPr lang="el-GR" altLang="en-US" sz="1200" dirty="0"/>
              <a:t>β </a:t>
            </a:r>
            <a:r>
              <a:rPr lang="en-US" altLang="en-US" sz="1200" dirty="0"/>
              <a:t>positivity (A+) based on the A</a:t>
            </a:r>
            <a:r>
              <a:rPr lang="el-GR" altLang="en-US" sz="1200" dirty="0"/>
              <a:t>β42/</a:t>
            </a:r>
            <a:r>
              <a:rPr lang="en-US" altLang="en-US" sz="1200" dirty="0"/>
              <a:t>A</a:t>
            </a:r>
            <a:r>
              <a:rPr lang="el-GR" altLang="en-US" sz="1200" dirty="0"/>
              <a:t>β40 </a:t>
            </a:r>
            <a:r>
              <a:rPr lang="en-US" altLang="en-US" sz="1200" dirty="0"/>
              <a:t>ratio cut-off to define all cases</a:t>
            </a:r>
          </a:p>
        </p:txBody>
      </p:sp>
      <p:pic>
        <p:nvPicPr>
          <p:cNvPr id="7" name="Picture 6" descr="A chart of different colored lines&#10;&#10;AI-generated content may be incorrect.">
            <a:extLst>
              <a:ext uri="{FF2B5EF4-FFF2-40B4-BE49-F238E27FC236}">
                <a16:creationId xmlns:a16="http://schemas.microsoft.com/office/drawing/2014/main" id="{CB6FD816-6D94-EFCF-6994-932B27B1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9" y="1005840"/>
            <a:ext cx="4059564" cy="34943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83E700-FC79-770F-32B4-6966FEA1119F}"/>
              </a:ext>
            </a:extLst>
          </p:cNvPr>
          <p:cNvSpPr txBox="1"/>
          <p:nvPr/>
        </p:nvSpPr>
        <p:spPr>
          <a:xfrm>
            <a:off x="6190937" y="4502387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(Jessen et al., 2023)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AA8F0-0F0B-5DF6-1929-67D3BA89BBB9}"/>
              </a:ext>
            </a:extLst>
          </p:cNvPr>
          <p:cNvSpPr txBox="1"/>
          <p:nvPr/>
        </p:nvSpPr>
        <p:spPr>
          <a:xfrm>
            <a:off x="27989" y="4774168"/>
            <a:ext cx="8832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Jessen F, </a:t>
            </a:r>
            <a:r>
              <a:rPr lang="en-US" sz="600" dirty="0" err="1"/>
              <a:t>Wolfsgruber</a:t>
            </a:r>
            <a:r>
              <a:rPr lang="en-US" sz="600" dirty="0"/>
              <a:t> S, </a:t>
            </a:r>
            <a:r>
              <a:rPr lang="en-US" sz="600" dirty="0" err="1"/>
              <a:t>Kleineindam</a:t>
            </a:r>
            <a:r>
              <a:rPr lang="en-US" sz="600" dirty="0"/>
              <a:t> L, </a:t>
            </a:r>
            <a:r>
              <a:rPr lang="en-US" sz="600" dirty="0" err="1"/>
              <a:t>Spottke</a:t>
            </a:r>
            <a:r>
              <a:rPr lang="en-US" sz="600" dirty="0"/>
              <a:t> A, Altenstein S, Bartels C, Berger M, </a:t>
            </a:r>
            <a:r>
              <a:rPr lang="en-US" sz="600" dirty="0" err="1"/>
              <a:t>Brosseron</a:t>
            </a:r>
            <a:r>
              <a:rPr lang="en-US" sz="600" dirty="0"/>
              <a:t> F, </a:t>
            </a:r>
            <a:r>
              <a:rPr lang="en-US" sz="600" dirty="0" err="1"/>
              <a:t>Daamen</a:t>
            </a:r>
            <a:r>
              <a:rPr lang="en-US" sz="600" dirty="0"/>
              <a:t> M, </a:t>
            </a:r>
            <a:r>
              <a:rPr lang="en-US" sz="600" dirty="0" err="1"/>
              <a:t>Dichgans</a:t>
            </a:r>
            <a:r>
              <a:rPr lang="en-US" sz="600" dirty="0"/>
              <a:t> M, </a:t>
            </a:r>
            <a:r>
              <a:rPr lang="en-US" sz="600" dirty="0" err="1"/>
              <a:t>Dobisch</a:t>
            </a:r>
            <a:r>
              <a:rPr lang="en-US" sz="600" dirty="0"/>
              <a:t> L, Ewers M, </a:t>
            </a:r>
            <a:r>
              <a:rPr lang="en-US" sz="600" dirty="0" err="1"/>
              <a:t>Fenski</a:t>
            </a:r>
            <a:r>
              <a:rPr lang="en-US" sz="600" dirty="0"/>
              <a:t> F, </a:t>
            </a:r>
            <a:r>
              <a:rPr lang="en-US" sz="600" dirty="0" err="1"/>
              <a:t>Fliessbach</a:t>
            </a:r>
            <a:r>
              <a:rPr lang="en-US" sz="600" dirty="0"/>
              <a:t> K, Freiesleben SD, Glanz W, </a:t>
            </a:r>
            <a:r>
              <a:rPr lang="en-US" sz="600" dirty="0" err="1"/>
              <a:t>Görß</a:t>
            </a:r>
            <a:r>
              <a:rPr lang="en-US" sz="600" dirty="0"/>
              <a:t> D, Gürsel S, Janowitz D, </a:t>
            </a:r>
            <a:r>
              <a:rPr lang="en-US" sz="600" dirty="0" err="1"/>
              <a:t>Kilimann</a:t>
            </a:r>
            <a:r>
              <a:rPr lang="en-US" sz="600" dirty="0"/>
              <a:t> I, </a:t>
            </a:r>
            <a:r>
              <a:rPr lang="en-US" sz="600" dirty="0" err="1"/>
              <a:t>Kobeleva</a:t>
            </a:r>
            <a:r>
              <a:rPr lang="en-US" sz="600" dirty="0"/>
              <a:t> X, Lohse A, Maier F, Metzger C, Munk M, Preis L, Sanzenbacher C, </a:t>
            </a:r>
            <a:r>
              <a:rPr lang="en-US" sz="600" dirty="0" err="1"/>
              <a:t>Spruth</a:t>
            </a:r>
            <a:r>
              <a:rPr lang="en-US" sz="600" dirty="0"/>
              <a:t> E, </a:t>
            </a:r>
            <a:r>
              <a:rPr lang="en-US" sz="600" dirty="0" err="1"/>
              <a:t>Rauchmann</a:t>
            </a:r>
            <a:r>
              <a:rPr lang="en-US" sz="600" dirty="0"/>
              <a:t> B, Vukovich R, Yakupov R, Weyrauch AS, Ziegler G, Schmid M, Laske C, Perneczky R, Schneider A, Wiltfang J, Teipel S, Bürger K, Priller J, Peters O, Ramirez A, Boecker H, </a:t>
            </a:r>
            <a:r>
              <a:rPr lang="en-US" sz="600" dirty="0" err="1"/>
              <a:t>Heneka</a:t>
            </a:r>
            <a:r>
              <a:rPr lang="en-US" sz="600" dirty="0"/>
              <a:t> MT, Wagner M, </a:t>
            </a:r>
            <a:r>
              <a:rPr lang="en-US" sz="600" dirty="0" err="1"/>
              <a:t>Düzel</a:t>
            </a:r>
            <a:r>
              <a:rPr lang="en-US" sz="600" dirty="0"/>
              <a:t> E. Subjective cognitive decline and stage 2 of Alzheimer disease in patients from memory centers. </a:t>
            </a:r>
            <a:r>
              <a:rPr lang="en-US" sz="600" dirty="0" err="1"/>
              <a:t>Alzheimers</a:t>
            </a:r>
            <a:r>
              <a:rPr lang="en-US" sz="600" dirty="0"/>
              <a:t> Dement. 2023 Feb;19(2):487-497. </a:t>
            </a:r>
            <a:r>
              <a:rPr lang="en-US" sz="600" dirty="0" err="1"/>
              <a:t>doi</a:t>
            </a:r>
            <a:r>
              <a:rPr lang="en-US" sz="600" dirty="0"/>
              <a:t>: 10.1002/alz.12674. </a:t>
            </a:r>
            <a:r>
              <a:rPr lang="en-US" sz="600" dirty="0" err="1"/>
              <a:t>Epub</a:t>
            </a:r>
            <a:r>
              <a:rPr lang="en-US" sz="600" dirty="0"/>
              <a:t> 2022 Apr 22. PMID: 35451563.</a:t>
            </a:r>
          </a:p>
        </p:txBody>
      </p:sp>
    </p:spTree>
    <p:extLst>
      <p:ext uri="{BB962C8B-B14F-4D97-AF65-F5344CB8AC3E}">
        <p14:creationId xmlns:p14="http://schemas.microsoft.com/office/powerpoint/2010/main" val="393742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33EB-DC36-AB9B-F21A-90B99F24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Current Approach: </a:t>
            </a:r>
            <a:r>
              <a:rPr lang="en-US" dirty="0"/>
              <a:t>GAAE Model for Anomaly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31F0F9-7F34-DF77-EBB6-3EF4035BA7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94E0A-422E-B40E-6263-EE9171C4BC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Fraj Yassine Lakhal (TUM)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21394-E689-46CD-C3DB-27D341CDE5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879C8414-2861-7992-E341-111E858EEB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161" y="1602254"/>
                <a:ext cx="6798476" cy="19389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176213" indent="-176213" algn="l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buChar char="•"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360363" indent="-18415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538163" indent="-1778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714375" indent="-17621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r>
                  <a:rPr lang="en-US" sz="1200" b="1" noProof="0" dirty="0"/>
                  <a:t>Input Graph:</a:t>
                </a:r>
                <a:endParaRPr lang="en-US" sz="1200" b="1" dirty="0"/>
              </a:p>
              <a:p>
                <a:r>
                  <a:rPr lang="en-US" sz="1200" dirty="0"/>
                  <a:t>Node features: Correlation Vectors of the different ROI‘s BOLD Signals (pick top K with KNN)</a:t>
                </a:r>
              </a:p>
              <a:p>
                <a:r>
                  <a:rPr lang="en-US" sz="1200" dirty="0"/>
                  <a:t>Binary edges: 1 if 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00" dirty="0"/>
                  <a:t> is among 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's top-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 neighbors for two nodes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b="1" noProof="0" dirty="0"/>
                  <a:t>Architecture:</a:t>
                </a:r>
                <a:br>
                  <a:rPr lang="en-US" sz="1200" b="1" noProof="0" dirty="0"/>
                </a:br>
                <a:r>
                  <a:rPr lang="en-US" sz="1200" noProof="0" dirty="0"/>
                  <a:t>GATv2 Layers for Encoder and Decoder + </a:t>
                </a:r>
              </a:p>
              <a:p>
                <a:r>
                  <a:rPr lang="en-US" sz="1200" noProof="0" dirty="0"/>
                  <a:t>FiLM Conditioning on age and sex</a:t>
                </a:r>
              </a:p>
              <a:p>
                <a:br>
                  <a:rPr lang="en-US" sz="1200" b="1" noProof="0" dirty="0"/>
                </a:br>
                <a:r>
                  <a:rPr lang="en-US" sz="1200" b="1" noProof="0" dirty="0"/>
                  <a:t>Loss:</a:t>
                </a:r>
              </a:p>
              <a:p>
                <a:r>
                  <a:rPr lang="en-US" sz="1200" noProof="0" dirty="0"/>
                  <a:t>Feature + Adjacency Reconstruction Loss</a:t>
                </a:r>
              </a:p>
            </p:txBody>
          </p:sp>
        </mc:Choice>
        <mc:Fallback xmlns=""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879C8414-2861-7992-E341-111E858EE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161" y="1602254"/>
                <a:ext cx="6798476" cy="1938992"/>
              </a:xfrm>
              <a:prstGeom prst="rect">
                <a:avLst/>
              </a:prstGeom>
              <a:blipFill>
                <a:blip r:embed="rId3"/>
                <a:stretch>
                  <a:fillRect b="-19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24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3961-3D08-92FE-A002-75F9AFCC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378D63-99E4-E053-AD90-D3F8162C06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7A588-F68E-004D-D264-A7F7479621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11162" y="4854985"/>
            <a:ext cx="64642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Fraj Yassine Lakhal (TUM)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4C347-AF91-9631-70A1-8E096EA9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</p:spPr>
        <p:txBody>
          <a:bodyPr wrap="square" anchor="t">
            <a:normAutofit/>
          </a:bodyPr>
          <a:lstStyle/>
          <a:p>
            <a:r>
              <a:rPr lang="en-US" i="1" dirty="0"/>
              <a:t>Literature Review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D7F775-A478-21B8-2A82-736083A6F0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r>
              <a:rPr lang="en-US" b="1" i="1" dirty="0"/>
              <a:t>The Diagnosis vs. Prognosis Problem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4BF76C-8E4F-CA8C-9CEF-AA736AEAD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0" y="1425799"/>
            <a:ext cx="646377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dirty="0"/>
              <a:t>Searching literature was not straightforward:</a:t>
            </a:r>
          </a:p>
          <a:p>
            <a:endParaRPr lang="en-US" sz="1200" b="1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Papers confuse prediction of AD with the DL term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/>
              <a:t>Papers only mention MRI in their approach, </a:t>
            </a:r>
            <a:r>
              <a:rPr lang="en-US" sz="1200" dirty="0"/>
              <a:t>without being specific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Most papers include some form of structural imaging sMRI, PET..</a:t>
            </a:r>
          </a:p>
          <a:p>
            <a:endParaRPr lang="en-US" sz="1200" noProof="0" dirty="0"/>
          </a:p>
          <a:p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7153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2ABD7-B368-47EC-034D-B01B1FD68C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7</a:t>
            </a:fld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93702-2347-A9DF-650A-910148EF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</p:spPr>
        <p:txBody>
          <a:bodyPr wrap="square" anchor="t">
            <a:normAutofit/>
          </a:bodyPr>
          <a:lstStyle/>
          <a:p>
            <a:r>
              <a:rPr lang="en-US" i="1" dirty="0"/>
              <a:t>Literature Review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92B86CA-0225-EEDB-A77C-8618C046EC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r>
              <a:rPr lang="en-US" b="1" i="1" dirty="0"/>
              <a:t>The Diagnosis vs. Prognosis Problem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94BBFDB-6D5F-A93D-6ADB-526DCBF9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0" y="1702798"/>
            <a:ext cx="64637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dirty="0"/>
              <a:t>Only 1 paper </a:t>
            </a:r>
            <a:r>
              <a:rPr lang="en-US" sz="1200" dirty="0"/>
              <a:t>does the temporal prognosis of conversion from MCI to AD using fMRI: </a:t>
            </a:r>
            <a:endParaRPr lang="en-US" sz="1200" b="1" i="1" dirty="0"/>
          </a:p>
          <a:p>
            <a:r>
              <a:rPr lang="en-US" sz="1200" b="1" i="1" dirty="0"/>
              <a:t>(Kim et al., 2024)</a:t>
            </a:r>
          </a:p>
          <a:p>
            <a:endParaRPr lang="en-US" sz="1200" noProof="0" dirty="0"/>
          </a:p>
          <a:p>
            <a:endParaRPr lang="en-US" sz="1200" noProof="0" dirty="0"/>
          </a:p>
        </p:txBody>
      </p:sp>
      <p:pic>
        <p:nvPicPr>
          <p:cNvPr id="9" name="Picture 8" descr="A close-up of a screen&#10;&#10;AI-generated content may be incorrect.">
            <a:extLst>
              <a:ext uri="{FF2B5EF4-FFF2-40B4-BE49-F238E27FC236}">
                <a16:creationId xmlns:a16="http://schemas.microsoft.com/office/drawing/2014/main" id="{162D277B-FBB0-2B9D-DA67-D1E792CC0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8" r="1895"/>
          <a:stretch>
            <a:fillRect/>
          </a:stretch>
        </p:blipFill>
        <p:spPr>
          <a:xfrm>
            <a:off x="2010654" y="2504245"/>
            <a:ext cx="4764279" cy="14632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BBC809-3AF5-B03E-41EB-CBDA77DAC6BA}"/>
              </a:ext>
            </a:extLst>
          </p:cNvPr>
          <p:cNvSpPr txBox="1"/>
          <p:nvPr/>
        </p:nvSpPr>
        <p:spPr>
          <a:xfrm>
            <a:off x="311160" y="4866501"/>
            <a:ext cx="7898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Kim S, Kim M, Lee JE, Park BY, Park H. Prognostic model for predicting Alzheimer's disease conversion using functional connectome manifolds. </a:t>
            </a:r>
            <a:r>
              <a:rPr lang="en-US" sz="600" dirty="0" err="1"/>
              <a:t>Alzheimers</a:t>
            </a:r>
            <a:r>
              <a:rPr lang="en-US" sz="600" dirty="0"/>
              <a:t> Res Ther. 2024 Oct 9;16(1):217. </a:t>
            </a:r>
            <a:r>
              <a:rPr lang="en-US" sz="600" dirty="0" err="1"/>
              <a:t>doi</a:t>
            </a:r>
            <a:r>
              <a:rPr lang="en-US" sz="600" dirty="0"/>
              <a:t>: 10.1186/s13195-024-01589-3. PMID: 39385241; PMCID: PMC11465528.</a:t>
            </a:r>
          </a:p>
        </p:txBody>
      </p:sp>
    </p:spTree>
    <p:extLst>
      <p:ext uri="{BB962C8B-B14F-4D97-AF65-F5344CB8AC3E}">
        <p14:creationId xmlns:p14="http://schemas.microsoft.com/office/powerpoint/2010/main" val="64901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F779-6618-80AF-D979-29B2C1B9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9193BF-CED8-377B-5D36-A84A7ABAC9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774934" y="4854985"/>
            <a:ext cx="2052074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51F7B-D09A-A6CA-A628-CBE9E4CF33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11162" y="4854985"/>
            <a:ext cx="646428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Fraj Yassine Lakhal (TUM)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C3CE6-4898-4437-FEB8-987690AF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</p:spPr>
        <p:txBody>
          <a:bodyPr wrap="square" anchor="t">
            <a:normAutofit/>
          </a:bodyPr>
          <a:lstStyle/>
          <a:p>
            <a:r>
              <a:rPr lang="en-US" i="1" dirty="0"/>
              <a:t>Literature Review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78489A9-BBE3-EAD6-BD2B-F1DC09652C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r>
              <a:rPr lang="en-US" b="1" i="1" dirty="0"/>
              <a:t>The Diagnosis vs. Prognosis Problem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3202DC3-DC73-B258-A90C-05DE6F57E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1" y="1509921"/>
            <a:ext cx="665177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noProof="0" dirty="0"/>
              <a:t>Only 1 paper </a:t>
            </a:r>
            <a:r>
              <a:rPr lang="en-US" sz="1200" noProof="0" dirty="0"/>
              <a:t>does the temporal prognosis of conversion from MCI to AD using fMRI: </a:t>
            </a:r>
            <a:endParaRPr lang="en-US" sz="1200" b="1" i="1" dirty="0"/>
          </a:p>
          <a:p>
            <a:r>
              <a:rPr lang="en-US" sz="1200" b="1" i="1" dirty="0"/>
              <a:t>(Kim et al., 2024)</a:t>
            </a:r>
          </a:p>
          <a:p>
            <a:endParaRPr lang="en-US" sz="1200" noProof="0" dirty="0"/>
          </a:p>
          <a:p>
            <a:r>
              <a:rPr lang="en-US" sz="1200" dirty="0"/>
              <a:t>All other papers treat it as a </a:t>
            </a:r>
            <a:r>
              <a:rPr lang="en-US" sz="1200" b="1" dirty="0"/>
              <a:t>classification problem (comparing sMCI to pMCI)</a:t>
            </a:r>
            <a:br>
              <a:rPr lang="en-US" sz="1200" dirty="0"/>
            </a:br>
            <a:r>
              <a:rPr lang="en-US" sz="1200" dirty="0"/>
              <a:t>- Will the MCI patient convert in 1/3/5 years, or no?</a:t>
            </a:r>
          </a:p>
          <a:p>
            <a:r>
              <a:rPr lang="en-US" sz="1200" dirty="0"/>
              <a:t>- Will this MCI patient ever convert to AD?</a:t>
            </a:r>
          </a:p>
          <a:p>
            <a:r>
              <a:rPr lang="en-US" sz="1200" dirty="0"/>
              <a:t>- …</a:t>
            </a:r>
          </a:p>
          <a:p>
            <a:r>
              <a:rPr lang="en-US" altLang="en-US" sz="1200" b="1" dirty="0"/>
              <a:t>→ choosing a best paper is not given as the comparison of performance is not feasible</a:t>
            </a:r>
          </a:p>
          <a:p>
            <a:endParaRPr lang="en-US" altLang="en-US" sz="1200" b="1" dirty="0"/>
          </a:p>
          <a:p>
            <a:r>
              <a:rPr lang="en-US" sz="1200" b="1" dirty="0"/>
              <a:t>Although some approaches can be slightly modified to produce a continuous result!</a:t>
            </a:r>
          </a:p>
          <a:p>
            <a:r>
              <a:rPr lang="en-US" sz="1200" dirty="0"/>
              <a:t>e.g. change the last classification layer to a regression layer</a:t>
            </a:r>
          </a:p>
        </p:txBody>
      </p:sp>
    </p:spTree>
    <p:extLst>
      <p:ext uri="{BB962C8B-B14F-4D97-AF65-F5344CB8AC3E}">
        <p14:creationId xmlns:p14="http://schemas.microsoft.com/office/powerpoint/2010/main" val="22678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8023-C86C-85CD-0A33-B7AD1E58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6190"/>
          </a:xfrm>
        </p:spPr>
        <p:txBody>
          <a:bodyPr/>
          <a:lstStyle/>
          <a:p>
            <a:r>
              <a:rPr lang="en-US" sz="2000" i="1" dirty="0"/>
              <a:t>Literature Review: </a:t>
            </a:r>
            <a:r>
              <a:rPr lang="en-US" sz="2000" dirty="0"/>
              <a:t>Conversion Risk and Temporal Prognosis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3C058A-6EDF-CA31-FBE5-383447E72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1DBD3-F4E9-8B12-1F3B-E13758E6F2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(Kim et al., 2024)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455E8DB-1744-1617-1538-E04FEF2D3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1" y="1971586"/>
            <a:ext cx="63369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noProof="0" dirty="0"/>
              <a:t>Dataset</a:t>
            </a:r>
          </a:p>
          <a:p>
            <a:r>
              <a:rPr lang="en-US" sz="1200" noProof="0" dirty="0"/>
              <a:t>ADNI and OASIS</a:t>
            </a:r>
          </a:p>
          <a:p>
            <a:endParaRPr lang="en-US" sz="1200" b="1" noProof="0" dirty="0"/>
          </a:p>
          <a:p>
            <a:r>
              <a:rPr lang="en-US" sz="1200" b="1" noProof="0" dirty="0"/>
              <a:t>Architecture:</a:t>
            </a:r>
            <a:br>
              <a:rPr lang="en-US" sz="1200" b="1" noProof="0" dirty="0"/>
            </a:br>
            <a:r>
              <a:rPr lang="en-US" sz="1200" noProof="0" dirty="0"/>
              <a:t>Time-to-Event Modeling (Survival Analysis)+The exact conversion time is interval-censored (it occurred between the last MCI and first AD diagnosis date)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7026E-36D4-821D-9F4F-577580C00689}"/>
              </a:ext>
            </a:extLst>
          </p:cNvPr>
          <p:cNvSpPr txBox="1"/>
          <p:nvPr/>
        </p:nvSpPr>
        <p:spPr>
          <a:xfrm>
            <a:off x="221951" y="4850040"/>
            <a:ext cx="7898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Kim S, Kim M, Lee JE, Park BY, Park H. Prognostic model for predicting Alzheimer's disease conversion using functional connectome manifolds. </a:t>
            </a:r>
            <a:r>
              <a:rPr lang="en-US" sz="600" dirty="0" err="1"/>
              <a:t>Alzheimers</a:t>
            </a:r>
            <a:r>
              <a:rPr lang="en-US" sz="600" dirty="0"/>
              <a:t> Res Ther. 2024 Oct 9;16(1):217. </a:t>
            </a:r>
            <a:r>
              <a:rPr lang="en-US" sz="600" dirty="0" err="1"/>
              <a:t>doi</a:t>
            </a:r>
            <a:r>
              <a:rPr lang="en-US" sz="600" dirty="0"/>
              <a:t>: 10.1186/s13195-024-01589-3. PMID: 39385241; PMCID: PMC11465528.</a:t>
            </a:r>
          </a:p>
        </p:txBody>
      </p:sp>
    </p:spTree>
    <p:extLst>
      <p:ext uri="{BB962C8B-B14F-4D97-AF65-F5344CB8AC3E}">
        <p14:creationId xmlns:p14="http://schemas.microsoft.com/office/powerpoint/2010/main" val="183698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02BD-AA5C-DF1A-57FD-9BED6639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CD7A-66B8-938F-FF79-AC4BCB07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6190"/>
          </a:xfrm>
        </p:spPr>
        <p:txBody>
          <a:bodyPr/>
          <a:lstStyle/>
          <a:p>
            <a:r>
              <a:rPr lang="en-US" sz="2000" i="1" dirty="0"/>
              <a:t>Literature Review: </a:t>
            </a:r>
            <a:r>
              <a:rPr lang="en-US" sz="2000" dirty="0"/>
              <a:t>Conversion Risk and Temporal Prognosis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D17F9-216E-E579-A3E1-8974C98AD7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4C606-1C66-F800-59DC-84E96F731D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(Kim et al., 2024)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96F05FB-AB7E-107F-F5DD-D79E85022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1" y="1180906"/>
            <a:ext cx="633697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sz="1200" b="1" dirty="0"/>
              <a:t>Survival analysis:</a:t>
            </a:r>
            <a:br>
              <a:rPr lang="en-US" sz="1200" dirty="0"/>
            </a:br>
            <a:r>
              <a:rPr lang="en-US" sz="1200" dirty="0"/>
              <a:t>Each subject </a:t>
            </a:r>
            <a:r>
              <a:rPr lang="en-US" sz="1200" i="1" dirty="0"/>
              <a:t>i </a:t>
            </a:r>
            <a:r>
              <a:rPr lang="en-US" sz="1200" dirty="0"/>
              <a:t>is represented by the triplet: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Risk of conversion at time </a:t>
            </a:r>
            <a:r>
              <a:rPr lang="en-US" sz="1200" b="1" i="1" dirty="0"/>
              <a:t>t</a:t>
            </a:r>
            <a:r>
              <a:rPr lang="en-US" sz="1200" b="1" dirty="0"/>
              <a:t>:</a:t>
            </a:r>
          </a:p>
          <a:p>
            <a:r>
              <a:rPr lang="en-US" sz="1200" dirty="0"/>
              <a:t>Using Cox Proportional Hazards Model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16" name="Picture 1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002632A5-283A-9D1F-1AED-E601DF43E7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77"/>
          <a:stretch>
            <a:fillRect/>
          </a:stretch>
        </p:blipFill>
        <p:spPr>
          <a:xfrm>
            <a:off x="1493874" y="1889255"/>
            <a:ext cx="6156251" cy="1254823"/>
          </a:xfrm>
          <a:prstGeom prst="rect">
            <a:avLst/>
          </a:prstGeom>
        </p:spPr>
      </p:pic>
      <p:pic>
        <p:nvPicPr>
          <p:cNvPr id="18" name="Picture 1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251A6D5C-2A27-8856-C299-24C88000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102" y="3704093"/>
            <a:ext cx="5679104" cy="1047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AEA243-086E-FB60-88A6-62847E6EBF24}"/>
              </a:ext>
            </a:extLst>
          </p:cNvPr>
          <p:cNvSpPr txBox="1"/>
          <p:nvPr/>
        </p:nvSpPr>
        <p:spPr>
          <a:xfrm>
            <a:off x="311161" y="4866501"/>
            <a:ext cx="7898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Kim S, Kim M, Lee JE, Park BY, Park H. Prognostic model for predicting Alzheimer's disease conversion using functional connectome manifolds. </a:t>
            </a:r>
            <a:r>
              <a:rPr lang="en-US" sz="600" dirty="0" err="1"/>
              <a:t>Alzheimers</a:t>
            </a:r>
            <a:r>
              <a:rPr lang="en-US" sz="600" dirty="0"/>
              <a:t> Res Ther. 2024 Oct 9;16(1):217. </a:t>
            </a:r>
            <a:r>
              <a:rPr lang="en-US" sz="600" dirty="0" err="1"/>
              <a:t>doi</a:t>
            </a:r>
            <a:r>
              <a:rPr lang="en-US" sz="600" dirty="0"/>
              <a:t>: 10.1186/s13195-024-01589-3. PMID: 39385241; PMCID: PMC11465528.</a:t>
            </a:r>
          </a:p>
        </p:txBody>
      </p:sp>
    </p:spTree>
    <p:extLst>
      <p:ext uri="{BB962C8B-B14F-4D97-AF65-F5344CB8AC3E}">
        <p14:creationId xmlns:p14="http://schemas.microsoft.com/office/powerpoint/2010/main" val="143679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599F3-D30C-C83D-8589-E65B7D49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8CB9-3615-9B68-063A-C3A3479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366190"/>
          </a:xfrm>
        </p:spPr>
        <p:txBody>
          <a:bodyPr/>
          <a:lstStyle/>
          <a:p>
            <a:r>
              <a:rPr lang="en-US" sz="2000" i="1" dirty="0"/>
              <a:t>Literature Review: </a:t>
            </a:r>
            <a:r>
              <a:rPr lang="en-US" sz="2000" dirty="0"/>
              <a:t>Conversion Risk and Temporal Prognosis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1C5D1-A59E-1598-5C42-7D5D9B713C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5B158-B5A5-69FB-68C3-E44250876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i="1" dirty="0"/>
              <a:t>(Kim et al., 2024)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6A114A2-0413-792E-9BDE-F4FDFD8D4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0" y="1981125"/>
            <a:ext cx="715998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b="1" i="1" dirty="0"/>
              <a:t>Model Evaluation and Validation</a:t>
            </a:r>
          </a:p>
          <a:p>
            <a:endParaRPr lang="en-US" sz="1200" b="1" dirty="0"/>
          </a:p>
          <a:p>
            <a:r>
              <a:rPr lang="en-US" sz="1200" b="1" dirty="0"/>
              <a:t>• Concordance Index (C-index): </a:t>
            </a:r>
          </a:p>
          <a:p>
            <a:r>
              <a:rPr lang="en-US" sz="1200" dirty="0"/>
              <a:t>Used to evaluate how well the model predicts the ordering of conversion times.</a:t>
            </a:r>
          </a:p>
          <a:p>
            <a:r>
              <a:rPr lang="en-US" sz="1200" b="1" dirty="0"/>
              <a:t>• Risk Groups: </a:t>
            </a:r>
          </a:p>
          <a:p>
            <a:r>
              <a:rPr lang="en-US" sz="1200" dirty="0"/>
              <a:t>Participants were stratified into fast and slow conversion groups based on a zero cutoff of the predicted risk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7F5C0-64A9-99B1-7BA5-D50BE17B3C32}"/>
              </a:ext>
            </a:extLst>
          </p:cNvPr>
          <p:cNvSpPr txBox="1"/>
          <p:nvPr/>
        </p:nvSpPr>
        <p:spPr>
          <a:xfrm>
            <a:off x="311160" y="4866501"/>
            <a:ext cx="7898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Kim S, Kim M, Lee JE, Park BY, Park H. Prognostic model for predicting Alzheimer's disease conversion using functional connectome manifolds. </a:t>
            </a:r>
            <a:r>
              <a:rPr lang="en-US" sz="600" dirty="0" err="1"/>
              <a:t>Alzheimers</a:t>
            </a:r>
            <a:r>
              <a:rPr lang="en-US" sz="600" dirty="0"/>
              <a:t> Res Ther. 2024 Oct 9;16(1):217. </a:t>
            </a:r>
            <a:r>
              <a:rPr lang="en-US" sz="600" dirty="0" err="1"/>
              <a:t>doi</a:t>
            </a:r>
            <a:r>
              <a:rPr lang="en-US" sz="600" dirty="0"/>
              <a:t>: 10.1186/s13195-024-01589-3. PMID: 39385241; PMCID: PMC11465528.</a:t>
            </a:r>
          </a:p>
        </p:txBody>
      </p:sp>
    </p:spTree>
    <p:extLst>
      <p:ext uri="{BB962C8B-B14F-4D97-AF65-F5344CB8AC3E}">
        <p14:creationId xmlns:p14="http://schemas.microsoft.com/office/powerpoint/2010/main" val="2712650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7187-3744-A0CE-1DC4-3CDD67BC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Literature Review: </a:t>
            </a:r>
            <a:r>
              <a:rPr lang="en-US" dirty="0"/>
              <a:t>SOTA Papers List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0C1B1-ABB2-7654-ADB3-574BDBDCD3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1FC8E-577A-CE55-CB73-9ABE42AA97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Fraj Yassine Lakhal (TUM)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99553E-7CF4-70D2-6B21-FEB272ADFB1B}"/>
              </a:ext>
            </a:extLst>
          </p:cNvPr>
          <p:cNvSpPr txBox="1">
            <a:spLocks/>
          </p:cNvSpPr>
          <p:nvPr/>
        </p:nvSpPr>
        <p:spPr>
          <a:xfrm>
            <a:off x="318009" y="1854935"/>
            <a:ext cx="85089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00" b="1" i="1" dirty="0">
                <a:latin typeface="Arial" panose="020B0604020202020204" pitchFamily="34" charset="0"/>
                <a:ea typeface="+mn-ea"/>
                <a:cs typeface="+mn-cs"/>
              </a:rPr>
              <a:t>Different Architectures for Baseline Conversion to AD: </a:t>
            </a:r>
            <a:r>
              <a:rPr lang="en-US" sz="1200" dirty="0">
                <a:latin typeface="Arial" panose="020B0604020202020204" pitchFamily="34" charset="0"/>
                <a:ea typeface="+mn-ea"/>
                <a:cs typeface="+mn-cs"/>
              </a:rPr>
              <a:t>sMCI vs pMCI (CNNs, LSTMs..)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latin typeface="Arial" panose="020B0604020202020204" pitchFamily="34" charset="0"/>
                <a:ea typeface="+mn-ea"/>
                <a:cs typeface="+mn-cs"/>
              </a:rPr>
              <a:t>+ Foundation Models (Brain-JEPA..)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latin typeface="Arial" panose="020B0604020202020204" pitchFamily="34" charset="0"/>
                <a:ea typeface="+mn-ea"/>
                <a:cs typeface="+mn-cs"/>
              </a:rPr>
              <a:t>+ SOTA Methods for fMRI Preprocessing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latin typeface="Arial" panose="020B0604020202020204" pitchFamily="34" charset="0"/>
                <a:ea typeface="+mn-ea"/>
                <a:cs typeface="+mn-cs"/>
              </a:rPr>
              <a:t>+ GNN Graph Generation (Task-aware GNN-based fMRI..)</a:t>
            </a:r>
          </a:p>
          <a:p>
            <a:pPr>
              <a:lnSpc>
                <a:spcPct val="100000"/>
              </a:lnSpc>
            </a:pPr>
            <a:r>
              <a:rPr lang="en-US" sz="1200" dirty="0">
                <a:latin typeface="Arial" panose="020B0604020202020204" pitchFamily="34" charset="0"/>
                <a:ea typeface="+mn-ea"/>
                <a:cs typeface="+mn-cs"/>
              </a:rPr>
              <a:t>+ Accuracy Improvements when including Genotypes, Aß, Cognitive Scores…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1E892A-3FFF-BBD2-61E4-DC754ECF7E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161" y="684430"/>
            <a:ext cx="8508999" cy="321410"/>
          </a:xfrm>
        </p:spPr>
        <p:txBody>
          <a:bodyPr/>
          <a:lstStyle/>
          <a:p>
            <a:r>
              <a:rPr lang="en-US" b="1" i="1" dirty="0"/>
              <a:t>(OneNote Notebook)</a:t>
            </a:r>
          </a:p>
        </p:txBody>
      </p:sp>
    </p:spTree>
    <p:extLst>
      <p:ext uri="{BB962C8B-B14F-4D97-AF65-F5344CB8AC3E}">
        <p14:creationId xmlns:p14="http://schemas.microsoft.com/office/powerpoint/2010/main" val="2671392709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650</TotalTime>
  <Words>1303</Words>
  <Application>Microsoft Macintosh PowerPoint</Application>
  <PresentationFormat>On-screen Show (16:9)</PresentationFormat>
  <Paragraphs>145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Calibri</vt:lpstr>
      <vt:lpstr>Cambria Math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Literature Review &amp; Next Steps</vt:lpstr>
      <vt:lpstr>Outline</vt:lpstr>
      <vt:lpstr>Theoretical Framework: fMRI as a Reliable Method for Brain Pathologies</vt:lpstr>
      <vt:lpstr>Theoretical Framework: MCI and The Alzheimer’s Disease Continuum</vt:lpstr>
      <vt:lpstr>Current Approach: GAAE Model for Anomaly Detection</vt:lpstr>
      <vt:lpstr>Literature Review</vt:lpstr>
      <vt:lpstr>Literature Review</vt:lpstr>
      <vt:lpstr>Literature Review</vt:lpstr>
      <vt:lpstr>Literature Review: Conversion Risk and Temporal Prognosis</vt:lpstr>
      <vt:lpstr>Literature Review: Conversion Risk and Temporal Prognosis</vt:lpstr>
      <vt:lpstr>Literature Review: Conversion Risk and Temporal Prognosis</vt:lpstr>
      <vt:lpstr>Literature Review: SOTA Papers List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Lakhal, Fraj Yassine</cp:lastModifiedBy>
  <cp:revision>14</cp:revision>
  <cp:lastPrinted>2015-07-30T14:04:45Z</cp:lastPrinted>
  <dcterms:created xsi:type="dcterms:W3CDTF">2020-10-03T23:03:33Z</dcterms:created>
  <dcterms:modified xsi:type="dcterms:W3CDTF">2025-12-17T16:59:49Z</dcterms:modified>
</cp:coreProperties>
</file>