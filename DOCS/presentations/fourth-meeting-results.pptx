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20"/>
  </p:notesMasterIdLst>
  <p:handoutMasterIdLst>
    <p:handoutMasterId r:id="rId21"/>
  </p:handoutMasterIdLst>
  <p:sldIdLst>
    <p:sldId id="355" r:id="rId8"/>
    <p:sldId id="437" r:id="rId9"/>
    <p:sldId id="438" r:id="rId10"/>
    <p:sldId id="440" r:id="rId11"/>
    <p:sldId id="445" r:id="rId12"/>
    <p:sldId id="446" r:id="rId13"/>
    <p:sldId id="447" r:id="rId14"/>
    <p:sldId id="441" r:id="rId15"/>
    <p:sldId id="442" r:id="rId16"/>
    <p:sldId id="443" r:id="rId17"/>
    <p:sldId id="444" r:id="rId18"/>
    <p:sldId id="448" r:id="rId19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BD"/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6" autoAdjust="0"/>
    <p:restoredTop sz="86146" autoAdjust="0"/>
  </p:normalViewPr>
  <p:slideViewPr>
    <p:cSldViewPr snapToGrid="0">
      <p:cViewPr varScale="1">
        <p:scale>
          <a:sx n="194" d="100"/>
          <a:sy n="194" d="100"/>
        </p:scale>
        <p:origin x="904" y="176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DAD681E-D228-EC4A-A4C9-E4F766667671}" type="datetime4">
              <a:rPr lang="en-US" smtClean="0"/>
              <a:t>March 24, 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E3287B3-6190-0B4F-AFB7-0E726D0E0AAF}" type="datetime4">
              <a:rPr lang="en-US" smtClean="0"/>
              <a:t>March 24, 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3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69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909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1F87-CBF6-499B-588E-8E431BD9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267C8-BA58-13BD-8D32-E86B523A9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707AD-329B-A985-D0EE-439A86E61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8EB02-1097-5124-91BF-19A4F6ABF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037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93B3-AD57-C4B6-D792-813A8DA1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35000-EFE6-750F-73F7-C4E517195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EFC1F-8A54-CD16-03A0-EA0CE12A0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C5F1-A917-674F-8DC5-023A55DF8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307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sz="1100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047" y="680461"/>
            <a:ext cx="5113390" cy="446303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19090" y="881762"/>
            <a:ext cx="8508999" cy="1294368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lang="en-US" sz="2800" b="1" noProof="0" dirty="0">
                <a:solidFill>
                  <a:srgbClr val="0064BD"/>
                </a:solidFill>
              </a:rPr>
              <a:t>Pretraining: </a:t>
            </a:r>
            <a:br>
              <a:rPr lang="en-US" sz="2800" b="1" noProof="0" dirty="0">
                <a:solidFill>
                  <a:srgbClr val="0064BD"/>
                </a:solidFill>
              </a:rPr>
            </a:br>
            <a:r>
              <a:rPr lang="en-US" sz="2800" b="1" noProof="0" dirty="0">
                <a:solidFill>
                  <a:srgbClr val="0064BD"/>
                </a:solidFill>
              </a:rPr>
              <a:t>Results + Classification</a:t>
            </a:r>
            <a:br>
              <a:rPr lang="en-US" sz="2800" b="1" noProof="0" dirty="0"/>
            </a:br>
            <a:br>
              <a:rPr lang="en-US" sz="1000" b="1" noProof="0" dirty="0"/>
            </a:br>
            <a:r>
              <a:rPr lang="de-DE" sz="1400" b="1" dirty="0"/>
              <a:t>Fraj Yassine Lakhal</a:t>
            </a:r>
            <a:br>
              <a:rPr lang="de-DE" sz="1100" dirty="0"/>
            </a:br>
            <a:r>
              <a:rPr lang="en-US" sz="1400" dirty="0"/>
              <a:t>TUM School of Computation, Information and Technology</a:t>
            </a:r>
            <a:br>
              <a:rPr lang="de-DE" sz="1800" dirty="0"/>
            </a:br>
            <a:endParaRPr lang="en-US" sz="2800" b="1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2" y="2590647"/>
            <a:ext cx="8512176" cy="2606968"/>
          </a:xfrm>
        </p:spPr>
        <p:txBody>
          <a:bodyPr/>
          <a:lstStyle/>
          <a:p>
            <a:r>
              <a:rPr lang="en-US" sz="900" b="1" dirty="0"/>
              <a:t>Functional Neuroimaging, LMU</a:t>
            </a:r>
          </a:p>
          <a:p>
            <a:r>
              <a:rPr lang="de-DE" sz="900" dirty="0">
                <a:solidFill>
                  <a:schemeClr val="bg1">
                    <a:lumMod val="50000"/>
                  </a:schemeClr>
                </a:solidFill>
              </a:rPr>
              <a:t>Supervisor: </a:t>
            </a:r>
            <a:r>
              <a:rPr lang="de-DE" sz="900" dirty="0"/>
              <a:t>Dr. med. Stephan Wunderlich</a:t>
            </a:r>
          </a:p>
          <a:p>
            <a:endParaRPr lang="de-DE" sz="900" i="1" dirty="0"/>
          </a:p>
          <a:p>
            <a:r>
              <a:rPr lang="en-US" sz="900" b="1" dirty="0"/>
              <a:t>Computer Aided Medical Procedures &amp; Augmented Reality, TUM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Supervisor(s): </a:t>
            </a:r>
            <a:r>
              <a:rPr lang="en-US" sz="900" dirty="0"/>
              <a:t>M.Sc. Chantal Pellegrini, Dr. Shahrooz Faghihroohi</a:t>
            </a:r>
            <a:endParaRPr lang="en-US" sz="900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4250C-65B7-1FC9-52C3-8EE2008FD156}"/>
              </a:ext>
            </a:extLst>
          </p:cNvPr>
          <p:cNvSpPr txBox="1"/>
          <p:nvPr/>
        </p:nvSpPr>
        <p:spPr>
          <a:xfrm>
            <a:off x="228851" y="489132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dirty="0">
                <a:solidFill>
                  <a:schemeClr val="tx2"/>
                </a:solidFill>
              </a:rPr>
              <a:t>München, 13. Januar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44761F-6EB7-9A91-4E6D-D2668F96A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Papers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Latent Vector Study (from Pretrained Encoder)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Preparing for Kickoff 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128D28-3560-142B-A0AB-5D7D8B99B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1DCA1-8162-C9D6-6570-F540DE8A8E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sz="800" dirty="0"/>
              <a:t>Fraj Yassine Lakhal (TUM)</a:t>
            </a:r>
            <a:endParaRPr lang="en-US" sz="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271AD9-A94F-EB48-25C6-61C781FF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36724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1B4BF-D55F-AD5A-A71D-BE5A27D9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1" y="1375927"/>
            <a:ext cx="4537167" cy="3474113"/>
          </a:xfrm>
        </p:spPr>
        <p:txBody>
          <a:bodyPr/>
          <a:lstStyle/>
          <a:p>
            <a:r>
              <a:rPr lang="en-US" sz="1050" dirty="0">
                <a:solidFill>
                  <a:srgbClr val="FF0000"/>
                </a:solidFill>
              </a:rPr>
              <a:t>- ST-GCN (Spatio-temporal GCN)</a:t>
            </a:r>
          </a:p>
          <a:p>
            <a:pPr marL="228600" indent="-228600">
              <a:buAutoNum type="arabicPeriod"/>
            </a:pPr>
            <a:r>
              <a:rPr lang="en-US" sz="1050" dirty="0"/>
              <a:t>Pretext Model (Unsupervised)</a:t>
            </a:r>
          </a:p>
          <a:p>
            <a:pPr marL="228600" indent="-228600">
              <a:buAutoNum type="arabicPeriod"/>
            </a:pPr>
            <a:r>
              <a:rPr lang="en-US" sz="1050" dirty="0"/>
              <a:t>Fine-Tuning Model (Supervised)</a:t>
            </a:r>
          </a:p>
          <a:p>
            <a:r>
              <a:rPr lang="en-US" sz="1050" dirty="0"/>
              <a:t>They jointly model the brain's network structure and how that activity evolves</a:t>
            </a:r>
          </a:p>
          <a:p>
            <a:r>
              <a:rPr lang="en-US" sz="1050" u="sng" dirty="0"/>
              <a:t>Spatial Edges:</a:t>
            </a:r>
            <a:r>
              <a:rPr lang="en-US" sz="1050" dirty="0"/>
              <a:t> connect different ROIs (nodes) within the same time point using Pearson correlation (what we do so far)</a:t>
            </a:r>
          </a:p>
          <a:p>
            <a:r>
              <a:rPr lang="en-US" sz="1050" u="sng" dirty="0">
                <a:highlight>
                  <a:srgbClr val="FFFF00"/>
                </a:highlight>
              </a:rPr>
              <a:t>Temporal Edges:</a:t>
            </a:r>
            <a:r>
              <a:rPr lang="en-US" sz="1050" dirty="0">
                <a:highlight>
                  <a:srgbClr val="FFFF00"/>
                </a:highlight>
              </a:rPr>
              <a:t> no “edges”, but they rather apply a standard 1D convolution kernel (size 1×L) that slides across the time axis</a:t>
            </a:r>
          </a:p>
          <a:p>
            <a:endParaRPr lang="en-US" sz="1050" dirty="0">
              <a:highlight>
                <a:srgbClr val="FFFF00"/>
              </a:highlight>
            </a:endParaRPr>
          </a:p>
          <a:p>
            <a:r>
              <a:rPr lang="en-US" sz="1050" dirty="0">
                <a:solidFill>
                  <a:srgbClr val="FF0000"/>
                </a:solidFill>
              </a:rPr>
              <a:t>- Statistical Significance Analysis</a:t>
            </a:r>
          </a:p>
          <a:p>
            <a:r>
              <a:rPr lang="en-US" sz="1050" dirty="0"/>
              <a:t>Used a paired sample t-test to evaluate the difference in prediction probability distributions between their proposed UCGL model and nine competing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588876-642F-0378-E8A8-9679EF598E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4C661-6276-B05D-FC45-D7B74B6B35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01BA00-2FF2-ABBA-A2FC-2A92CCA4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Unsupervised contrastive graph learning for resting-state functional MRI analysis and brain disorder detection </a:t>
            </a:r>
            <a:br>
              <a:rPr lang="en-US" sz="1200" dirty="0"/>
            </a:br>
            <a:r>
              <a:rPr lang="en-US" sz="1200" dirty="0"/>
              <a:t>(Weng et al. 2023)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AE16D7A-6674-44F7-7051-231EBAD02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 descr="A diagram of a multi-layer structure&#10;&#10;AI-generated content may be incorrect.">
            <a:extLst>
              <a:ext uri="{FF2B5EF4-FFF2-40B4-BE49-F238E27FC236}">
                <a16:creationId xmlns:a16="http://schemas.microsoft.com/office/drawing/2014/main" id="{6808554B-D46C-DFBE-662D-E9182294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767" y="1635324"/>
            <a:ext cx="4018176" cy="2047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20B0C8-C84C-8208-DB41-7E4375E732D4}"/>
              </a:ext>
            </a:extLst>
          </p:cNvPr>
          <p:cNvSpPr txBox="1"/>
          <p:nvPr/>
        </p:nvSpPr>
        <p:spPr>
          <a:xfrm>
            <a:off x="5201660" y="3648197"/>
            <a:ext cx="3676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Wang X, Chu Y, Wang Q, Cao L, Qiao L, Zhang L, Liu M. Unsupervised contrastive graph learning for resting-state functional MRI analysis and brain disorder detection. Hum Brain Mapp. 2023 Dec 1;44(17):5672-5692.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10.1002/hbm.26469.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Epub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2023 Sep 5. PMID: 37668327; PMCID: PMC10619386.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50443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EA09-46CF-F497-C4E4-2F163A36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BD4005-5A52-16BB-B400-EEAE8D0B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785785"/>
            <a:ext cx="3758132" cy="2900515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Window Slicing for Contrastive Learning</a:t>
            </a:r>
          </a:p>
          <a:p>
            <a:r>
              <a:rPr lang="en-US" sz="1100" dirty="0"/>
              <a:t>They minimize the difference between two sliced BOLD Signals of the same patient</a:t>
            </a:r>
          </a:p>
          <a:p>
            <a:r>
              <a:rPr lang="en-US" sz="1100" dirty="0"/>
              <a:t>Authors Claim: Slicing does not alter temporal dependencies</a:t>
            </a:r>
            <a:endParaRPr lang="en-US" sz="11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sz="11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Graph Diffusion Augmentation (GDA)</a:t>
            </a:r>
          </a:p>
          <a:p>
            <a:r>
              <a:rPr lang="en-US" sz="1100" dirty="0"/>
              <a:t>Authors add Gaussian noise to nodes and edges</a:t>
            </a:r>
          </a:p>
          <a:p>
            <a:r>
              <a:rPr lang="en-US" sz="1100" dirty="0"/>
              <a:t>Authors Claim: Graph Transformer can denoise the augmented samples during the generation process.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72414-AF96-2D00-B951-19684E49F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8995D-C565-C4BE-DECB-975FF8565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966AA-0DF1-FE21-2060-2E227DC6B2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074097-3572-711D-2623-816FFBE9F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3" y="293460"/>
            <a:ext cx="7548920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Self-supervised graph contrastive learning with diffusion augmentation for functional MRI analysis and brain disorder detection (Weng et al. 2025)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A490691-B64E-D3F3-FFC1-174A01DC2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2FA15C66-48AB-5D86-A5A4-A8327AA0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37" y="2173265"/>
            <a:ext cx="4472193" cy="2142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524105-097E-115A-133E-2FE43457015F}"/>
              </a:ext>
            </a:extLst>
          </p:cNvPr>
          <p:cNvSpPr txBox="1"/>
          <p:nvPr/>
        </p:nvSpPr>
        <p:spPr>
          <a:xfrm>
            <a:off x="4698850" y="4274404"/>
            <a:ext cx="4047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Wang X, Fang Y, Wang Q, Yap PT, Zhu H, Liu M. Self-supervised graph contrastive learning with diffusion augmentation for functional MRI analysis and brain disorder detection. Med Image Anal. 2025 Apr;101:103403. </a:t>
            </a:r>
            <a:r>
              <a:rPr lang="en-US" sz="600" dirty="0" err="1"/>
              <a:t>doi</a:t>
            </a:r>
            <a:r>
              <a:rPr lang="en-US" sz="600" dirty="0"/>
              <a:t>: 10.1016/j.media.2024.103403. </a:t>
            </a:r>
            <a:r>
              <a:rPr lang="en-US" sz="600" dirty="0" err="1"/>
              <a:t>Epub</a:t>
            </a:r>
            <a:r>
              <a:rPr lang="en-US" sz="600" dirty="0"/>
              <a:t> 2024 Nov 29. PMID: 39637557; PMCID: PMC11875923.</a:t>
            </a:r>
          </a:p>
        </p:txBody>
      </p:sp>
    </p:spTree>
    <p:extLst>
      <p:ext uri="{BB962C8B-B14F-4D97-AF65-F5344CB8AC3E}">
        <p14:creationId xmlns:p14="http://schemas.microsoft.com/office/powerpoint/2010/main" val="62197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B791BB-E047-A842-2C90-853AE4A0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127343"/>
            <a:ext cx="8508999" cy="3558958"/>
          </a:xfrm>
        </p:spPr>
        <p:txBody>
          <a:bodyPr/>
          <a:lstStyle/>
          <a:p>
            <a:r>
              <a:rPr lang="en-US" sz="1100" u="sng" dirty="0"/>
              <a:t>Critique 1: Invalid Invariance Assumption</a:t>
            </a:r>
          </a:p>
          <a:p>
            <a:r>
              <a:rPr lang="en-US" sz="1100" dirty="0"/>
              <a:t>In CV, an object remains the same regardless of orientation (e.g., we can still identify a rotated cat). In fMRI, we cannot assume a "sliced" or "noisy" brain signal retains the same disease pathology</a:t>
            </a:r>
          </a:p>
          <a:p>
            <a:r>
              <a:rPr lang="en-US" sz="1100" b="1" dirty="0"/>
              <a:t>Problem</a:t>
            </a:r>
            <a:r>
              <a:rPr lang="en-US" sz="1100" dirty="0"/>
              <a:t>: Brain disorders like AD are </a:t>
            </a:r>
            <a:r>
              <a:rPr lang="en-US" sz="1100" u="sng" dirty="0"/>
              <a:t>potentially</a:t>
            </a:r>
            <a:r>
              <a:rPr lang="en-US" sz="1100" dirty="0"/>
              <a:t> defined by subtle, millisecond-scale synchronizations between specific regions</a:t>
            </a:r>
          </a:p>
          <a:p>
            <a:r>
              <a:rPr lang="en-US" sz="1100" b="1" dirty="0"/>
              <a:t>Consequence</a:t>
            </a:r>
            <a:r>
              <a:rPr lang="en-US" sz="1100" dirty="0"/>
              <a:t>: A "disrupted functional connection" critical for diagnosis might disappear completely if the time-series is sliced or if noise is added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81489-55D3-9D47-CBB2-D17430CE92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89845-CE6D-D7AB-518F-75D77C6B25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11AFC2-D4E3-0B68-0ED9-710D4F76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 and Slicing Windows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FB7033-AA96-FC0F-D631-73E7CFAAB0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24F6-95D3-4BCB-649F-F771A278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CB2551-A683-5717-3C86-E415D32C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127343"/>
            <a:ext cx="8508999" cy="3558958"/>
          </a:xfrm>
        </p:spPr>
        <p:txBody>
          <a:bodyPr/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Critique 1: Invalid Invariance Assumption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In CV, an object remains the same regardless of orientation (e.g., we can still identify a rotated cat). In fMRI, we cannot assume a "sliced" or "noisy" brain signal retains the same disease pathology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Problem: Brain disorders like AD are potentially defined by subtle, millisecond-scale synchronizations between specific regions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Consequence: A "disrupted functional connection" critical for diagnosis might disappear completely if the time-series is sliced or if noise is added</a:t>
            </a:r>
          </a:p>
          <a:p>
            <a:endParaRPr lang="en-US" sz="1100" dirty="0"/>
          </a:p>
          <a:p>
            <a:r>
              <a:rPr lang="en-US" sz="1100" u="sng" dirty="0"/>
              <a:t>Critique 2: Overfitting and Memorization on Small Datasets</a:t>
            </a:r>
          </a:p>
          <a:p>
            <a:r>
              <a:rPr lang="en-US" sz="1100" dirty="0"/>
              <a:t>Diffusion models require large amounts of data to learn true distributions. Our dataset is relatively small (e.g., ~600 subjects)</a:t>
            </a:r>
          </a:p>
          <a:p>
            <a:r>
              <a:rPr lang="en-US" sz="1100" b="1" dirty="0"/>
              <a:t>Problem</a:t>
            </a:r>
            <a:r>
              <a:rPr lang="en-US" sz="1100" dirty="0"/>
              <a:t>: As you noted, diffusion models trained on small datasets tend to memorize training samples rather than learning a generalizable distribution.</a:t>
            </a:r>
          </a:p>
          <a:p>
            <a:r>
              <a:rPr lang="en-US" sz="1100" b="1" dirty="0"/>
              <a:t>Consequence</a:t>
            </a:r>
            <a:r>
              <a:rPr lang="en-US" sz="1100" dirty="0"/>
              <a:t>: The "new" generated graphs might just be noisy copies of the training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FE505C-3C4B-6ADC-1CA7-E8D426DA3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F0489-6FD8-8142-8D32-2D0CB1C776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9774F7-E761-7B58-7A7F-57DD76C7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 and Slicing Windows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387482-FE36-2366-BDF2-140F2889EA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92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B52A-37C8-615B-FD66-E9EC1DD0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42A238-6909-C737-99BD-DFD5775E2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127343"/>
            <a:ext cx="8508999" cy="3558958"/>
          </a:xfrm>
        </p:spPr>
        <p:txBody>
          <a:bodyPr/>
          <a:lstStyle/>
          <a:p>
            <a:r>
              <a:rPr lang="en-US" sz="1100" u="sng" dirty="0">
                <a:solidFill>
                  <a:schemeClr val="bg1">
                    <a:lumMod val="85000"/>
                  </a:schemeClr>
                </a:solidFill>
              </a:rPr>
              <a:t>Critique 1: Invalid Invariance Assumption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In CV, an object remains the same regardless of orientation (e.g., we can still identify a rotated cat). In fMRI, we cannot assume a "sliced" or "noisy" brain signal retains the same disease pathology</a:t>
            </a:r>
          </a:p>
          <a:p>
            <a:r>
              <a:rPr lang="en-US" sz="1100" b="1" dirty="0">
                <a:solidFill>
                  <a:schemeClr val="bg1">
                    <a:lumMod val="85000"/>
                  </a:schemeClr>
                </a:solidFill>
              </a:rPr>
              <a:t>Problem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: Brain disorders like AD are </a:t>
            </a:r>
            <a:r>
              <a:rPr lang="en-US" sz="1100" u="sng" dirty="0">
                <a:solidFill>
                  <a:schemeClr val="bg1">
                    <a:lumMod val="85000"/>
                  </a:schemeClr>
                </a:solidFill>
              </a:rPr>
              <a:t>potentially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defined by subtle, millisecond-scale synchronizations between specific regions</a:t>
            </a:r>
          </a:p>
          <a:p>
            <a:r>
              <a:rPr lang="en-US" sz="1100" b="1" dirty="0">
                <a:solidFill>
                  <a:schemeClr val="bg1">
                    <a:lumMod val="85000"/>
                  </a:schemeClr>
                </a:solidFill>
              </a:rPr>
              <a:t>Consequence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: A "disrupted functional connection" critical for diagnosis might disappear completely if the time-series is sliced or if noise is added</a:t>
            </a:r>
          </a:p>
          <a:p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100" u="sng" dirty="0">
                <a:solidFill>
                  <a:schemeClr val="bg1">
                    <a:lumMod val="85000"/>
                  </a:schemeClr>
                </a:solidFill>
              </a:rPr>
              <a:t>Critique 2: Overfitting and Memorization on Small Datasets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Diffusion models require large amounts of data to learn true distributions. Our dataset is relatively small (e.g., ~600 subjects)</a:t>
            </a:r>
          </a:p>
          <a:p>
            <a:r>
              <a:rPr lang="en-US" sz="1100" b="1" dirty="0">
                <a:solidFill>
                  <a:schemeClr val="bg1">
                    <a:lumMod val="85000"/>
                  </a:schemeClr>
                </a:solidFill>
              </a:rPr>
              <a:t>Problem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: As you noted, diffusion models trained on small datasets tend to memorize training samples rather than learning a generalizable distribution.</a:t>
            </a:r>
          </a:p>
          <a:p>
            <a:r>
              <a:rPr lang="en-US" sz="1100" b="1" dirty="0">
                <a:solidFill>
                  <a:schemeClr val="bg1">
                    <a:lumMod val="85000"/>
                  </a:schemeClr>
                </a:solidFill>
              </a:rPr>
              <a:t>Consequence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: The "new" generated graphs might just be noisy copies of the training data</a:t>
            </a:r>
          </a:p>
          <a:p>
            <a:endParaRPr lang="en-US" sz="1100" dirty="0"/>
          </a:p>
          <a:p>
            <a:r>
              <a:rPr lang="en-US" sz="1100" u="sng" dirty="0"/>
              <a:t>Critique 3: The Signal-to-Noise Ratio Issue</a:t>
            </a:r>
          </a:p>
          <a:p>
            <a:r>
              <a:rPr lang="en-US" sz="1100" dirty="0"/>
              <a:t>BOLD signals are already dominated by noise (heartbeat, respiration, scanner drift), with the disease signal being a fraction of the variance.</a:t>
            </a:r>
          </a:p>
          <a:p>
            <a:r>
              <a:rPr lang="en-US" sz="1100" b="1" dirty="0"/>
              <a:t>Problem</a:t>
            </a:r>
            <a:r>
              <a:rPr lang="en-US" sz="1100" dirty="0"/>
              <a:t>: Adding more noise (via diffusion) adds to the low SNR problem.</a:t>
            </a:r>
          </a:p>
          <a:p>
            <a:r>
              <a:rPr lang="en-US" sz="1100" b="1" dirty="0"/>
              <a:t>Consequence</a:t>
            </a:r>
            <a:r>
              <a:rPr lang="en-US" sz="1100" dirty="0"/>
              <a:t>: The augmentation strategies might drown out the weak, subtle modulation that characterizes the disease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BF2EE-B8AE-5EFA-0D9D-CD28F833EB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7479A-8121-1FB7-F85E-B890AED5AB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27A448-6CF0-CE25-EF12-7BA2377E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 and Slicing Windows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378649-8C9C-C797-5972-F3C607D4C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5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1C97-C87D-44AA-F660-ABC47077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99561F-00CB-A83A-4E91-58EB8B89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785785"/>
            <a:ext cx="4246569" cy="2900515"/>
          </a:xfrm>
        </p:spPr>
        <p:txBody>
          <a:bodyPr/>
          <a:lstStyle/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- Functional Connectivity (FC) and Effective Connectivity (EC)</a:t>
            </a:r>
          </a:p>
          <a:p>
            <a:r>
              <a:rPr lang="en-US" sz="1200" dirty="0"/>
              <a:t>With EC, we can capture the directional effects that one brain region exerts over another.</a:t>
            </a:r>
          </a:p>
          <a:p>
            <a:r>
              <a:rPr lang="en-US" sz="1200" dirty="0"/>
              <a:t>Authors use structural relationships (measured via transfer entropy) with attention relationships (measured via learnable weights).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- Ablation Studies</a:t>
            </a:r>
          </a:p>
          <a:p>
            <a:r>
              <a:rPr lang="en-US" sz="1200" dirty="0"/>
              <a:t>Removing the Pretrained model for example.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D5F8E-933D-8A1C-3DF5-12B14B6E62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CD9F2-81D0-8839-27DD-A8D49AC679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5B617-AF4B-0407-34F4-6F6F5CEA8A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F2D521-F520-CAC6-DD7E-2444EAD5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777438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Self-supervised Learning with Adaptive Graph Structure and Function Representation for Cross-Dataset Brain Disorder Diagnosis (Chen et al. 2024)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D18EBDC-1DFC-3FC5-526F-2AC186D3B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diagram of a brain network&#10;&#10;AI-generated content may be incorrect.">
            <a:extLst>
              <a:ext uri="{FF2B5EF4-FFF2-40B4-BE49-F238E27FC236}">
                <a16:creationId xmlns:a16="http://schemas.microsoft.com/office/drawing/2014/main" id="{5A8B06A3-C59F-460C-2CFE-D3BA24C4B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9" y="2055957"/>
            <a:ext cx="4437626" cy="21452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EBDD7D-0722-C6D5-2946-BA3BFAAB258E}"/>
              </a:ext>
            </a:extLst>
          </p:cNvPr>
          <p:cNvSpPr txBox="1"/>
          <p:nvPr/>
        </p:nvSpPr>
        <p:spPr>
          <a:xfrm>
            <a:off x="4936700" y="4201181"/>
            <a:ext cx="36764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Che_Selfsupervised_MICCAI2024, Chen, </a:t>
            </a:r>
            <a:r>
              <a:rPr lang="en-US" sz="600" dirty="0" err="1"/>
              <a:t>Dongdong</a:t>
            </a:r>
            <a:r>
              <a:rPr lang="en-US" sz="600" dirty="0"/>
              <a:t> and Yao, Linlin and Liu, </a:t>
            </a:r>
            <a:r>
              <a:rPr lang="en-US" sz="600" dirty="0" err="1"/>
              <a:t>Mengjun</a:t>
            </a:r>
            <a:r>
              <a:rPr lang="en-US" sz="600" dirty="0"/>
              <a:t> and Shen, </a:t>
            </a:r>
            <a:r>
              <a:rPr lang="en-US" sz="600" dirty="0" err="1"/>
              <a:t>Zhenrong</a:t>
            </a:r>
            <a:r>
              <a:rPr lang="en-US" sz="600" dirty="0"/>
              <a:t> and Hu, Yuqi and Song, </a:t>
            </a:r>
            <a:r>
              <a:rPr lang="en-US" sz="600" dirty="0" err="1"/>
              <a:t>Zhiyun</a:t>
            </a:r>
            <a:r>
              <a:rPr lang="en-US" sz="600" dirty="0"/>
              <a:t> and Wang, Qian and Zhang, Lichi}, Self-supervised Learning with Adaptive Graph Structure and Function Representation For Cross-Dataset Brain Disorder Diagnosis } }, {proceedings of Medical Image Computing and Computer Assisted Intervention -- MICCAI 2024},</a:t>
            </a:r>
          </a:p>
        </p:txBody>
      </p:sp>
    </p:spTree>
    <p:extLst>
      <p:ext uri="{BB962C8B-B14F-4D97-AF65-F5344CB8AC3E}">
        <p14:creationId xmlns:p14="http://schemas.microsoft.com/office/powerpoint/2010/main" val="84296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8C0-F978-1C83-B9A1-8CBB3BBE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4EC9FF-2C73-4BF3-3D38-8CF993351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785785"/>
            <a:ext cx="4252910" cy="2900515"/>
          </a:xfrm>
        </p:spPr>
        <p:txBody>
          <a:bodyPr/>
          <a:lstStyle/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- Bi-Graph Modeling with raw BOLD Signals: </a:t>
            </a:r>
          </a:p>
          <a:p>
            <a:r>
              <a:rPr lang="en-US" sz="1200" dirty="0"/>
              <a:t>They model the brain as a dual evolving system where Dynamic FC (undirected) captures spatial correlations and Dynamic EC (directed) captures temporal causal progression simultaneously.</a:t>
            </a:r>
          </a:p>
          <a:p>
            <a:pPr marL="285750" indent="-285750">
              <a:buFontTx/>
              <a:buChar char="-"/>
            </a:pP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- Grad-CAM</a:t>
            </a:r>
          </a:p>
          <a:p>
            <a:r>
              <a:rPr lang="en-US" sz="1200" dirty="0"/>
              <a:t>Authors analyze salient brain regions in the brain network, by using class activation value of all testing subjects in the multi-class classification task.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5EED34-348F-E56A-7F33-D17214D1AD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AC966-1744-82B7-3AC7-2BC47BDAA6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C8F27-A9EB-E9D0-80FC-627C4C1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F4D194-3B1E-117C-E3FD-E32763FA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Guiding fusion of dynamic functional and effective connectivity in </a:t>
            </a:r>
            <a:r>
              <a:rPr lang="en-US" sz="1200" dirty="0" err="1"/>
              <a:t>spatio</a:t>
            </a:r>
            <a:r>
              <a:rPr lang="en-US" sz="1200" dirty="0"/>
              <a:t>-temporal graph neural network for brain disorder classification (Chen et al. 2025)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5A0D084-35B2-305A-A9E5-5E069FD4E3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diagram of a graphing process&#10;&#10;AI-generated content may be incorrect.">
            <a:extLst>
              <a:ext uri="{FF2B5EF4-FFF2-40B4-BE49-F238E27FC236}">
                <a16:creationId xmlns:a16="http://schemas.microsoft.com/office/drawing/2014/main" id="{E3763B7A-1177-A7F5-8C58-F94E950D1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474" y="2174145"/>
            <a:ext cx="4297526" cy="15774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BB1988-7D76-27C6-A2A3-64B181A78AF4}"/>
              </a:ext>
            </a:extLst>
          </p:cNvPr>
          <p:cNvSpPr txBox="1"/>
          <p:nvPr/>
        </p:nvSpPr>
        <p:spPr>
          <a:xfrm>
            <a:off x="5269503" y="3689482"/>
            <a:ext cx="3682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 err="1"/>
              <a:t>Dongdong</a:t>
            </a:r>
            <a:r>
              <a:rPr lang="en-US" sz="600" dirty="0"/>
              <a:t> Chen, </a:t>
            </a:r>
            <a:r>
              <a:rPr lang="en-US" sz="600" dirty="0" err="1"/>
              <a:t>Mengjun</a:t>
            </a:r>
            <a:r>
              <a:rPr lang="en-US" sz="600" dirty="0"/>
              <a:t> Liu, Sheng Wang, </a:t>
            </a:r>
            <a:r>
              <a:rPr lang="en-US" sz="600" dirty="0" err="1"/>
              <a:t>Zheren</a:t>
            </a:r>
            <a:r>
              <a:rPr lang="en-US" sz="600" dirty="0"/>
              <a:t> Li, Lu Bai, Qian Wang, </a:t>
            </a:r>
            <a:r>
              <a:rPr lang="en-US" sz="600" dirty="0" err="1"/>
              <a:t>Dinggang</a:t>
            </a:r>
            <a:r>
              <a:rPr lang="en-US" sz="600" dirty="0"/>
              <a:t> Shen, Lichi </a:t>
            </a:r>
            <a:r>
              <a:rPr lang="en-US" sz="600" dirty="0" err="1"/>
              <a:t>Zhang,Guiding</a:t>
            </a:r>
            <a:r>
              <a:rPr lang="en-US" sz="600" dirty="0"/>
              <a:t> fusion of dynamic functional and effective connectivity in </a:t>
            </a:r>
            <a:r>
              <a:rPr lang="en-US" sz="600" dirty="0" err="1"/>
              <a:t>spatio</a:t>
            </a:r>
            <a:r>
              <a:rPr lang="en-US" sz="600" dirty="0"/>
              <a:t>-temporal graph neural network for brain disorder </a:t>
            </a:r>
            <a:r>
              <a:rPr lang="en-US" sz="600" dirty="0" err="1"/>
              <a:t>classification,Knowledge</a:t>
            </a:r>
            <a:r>
              <a:rPr lang="en-US" sz="600" dirty="0"/>
              <a:t>-Based Systems, https://</a:t>
            </a:r>
            <a:r>
              <a:rPr lang="en-US" sz="600" dirty="0" err="1"/>
              <a:t>doi.org</a:t>
            </a:r>
            <a:r>
              <a:rPr lang="en-US" sz="600" dirty="0"/>
              <a:t>/10.1016/j.knosys.2024.112856.</a:t>
            </a:r>
          </a:p>
        </p:txBody>
      </p:sp>
    </p:spTree>
    <p:extLst>
      <p:ext uri="{BB962C8B-B14F-4D97-AF65-F5344CB8AC3E}">
        <p14:creationId xmlns:p14="http://schemas.microsoft.com/office/powerpoint/2010/main" val="38581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BA3D-8251-9A6B-10A5-1B3DF657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6F7470-11A8-CE56-AD7B-98E68087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785785"/>
            <a:ext cx="4547272" cy="2900515"/>
          </a:xfrm>
        </p:spPr>
        <p:txBody>
          <a:bodyPr/>
          <a:lstStyle/>
          <a:p>
            <a:r>
              <a:rPr lang="en-US" sz="1200" dirty="0">
                <a:solidFill>
                  <a:srgbClr val="FF0000"/>
                </a:solidFill>
              </a:rPr>
              <a:t>- Inter-Subject Graph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- High Order FC</a:t>
            </a:r>
          </a:p>
          <a:p>
            <a:r>
              <a:rPr lang="en-US" sz="1200" dirty="0"/>
              <a:t>They consider each row of the FC matrix as a feature vector describing a brain region. They then calculate the Pearson correlation between these rows.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- Minority Class Issue (Multi-View Contrastive Learning, Cost-Sensitive Weighting)</a:t>
            </a:r>
          </a:p>
          <a:p>
            <a:r>
              <a:rPr lang="en-US" sz="1200" dirty="0"/>
              <a:t>Under/Oversampling don’t capture more knowledge from minority class</a:t>
            </a:r>
          </a:p>
          <a:p>
            <a:r>
              <a:rPr lang="en-US" sz="1200" dirty="0"/>
              <a:t>Maximize agreement between FC and HOFC + while applying cost-sensitive weighting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9ADF5-8F61-46DE-62DA-F9DF6C3CBF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94882-CD80-6755-8552-ACBA90C498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8CD63-F8AD-8BBC-8255-3B6777943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15B2A1-180C-5C83-57D5-10F138C2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Cost-Sensitive Weighted Contrastive Learning Based on Graph Convolutional Networks for Imbalanced Alzheimer’s Disease Staging (Hu et al. 2024)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76EDEC-E1FD-3AC9-F60D-7A70CFE7CA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65B8CA3A-494B-8698-F049-720ABF000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362" y="2461021"/>
            <a:ext cx="4177430" cy="12225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991A67-7908-58C0-9DC8-86B9C61BF304}"/>
              </a:ext>
            </a:extLst>
          </p:cNvPr>
          <p:cNvSpPr txBox="1"/>
          <p:nvPr/>
        </p:nvSpPr>
        <p:spPr>
          <a:xfrm>
            <a:off x="5602266" y="3852284"/>
            <a:ext cx="27056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Hu Y, Wang J, Zhu H, Li J, Shi J. Cost-Sensitive Weighted Contrastive Learning Based on Graph Convolutional Networks for Imbalanced Alzheimer's Disease Staging. IEEE Trans Med Imaging. 2024 Sep;43(9):3126-3136. </a:t>
            </a:r>
            <a:r>
              <a:rPr lang="en-US" sz="600" dirty="0" err="1"/>
              <a:t>doi</a:t>
            </a:r>
            <a:r>
              <a:rPr lang="en-US" sz="600" dirty="0"/>
              <a:t>: 10.1109/TMI.2024.3389747. </a:t>
            </a:r>
            <a:r>
              <a:rPr lang="en-US" sz="600" dirty="0" err="1"/>
              <a:t>Epub</a:t>
            </a:r>
            <a:r>
              <a:rPr lang="en-US" sz="600" dirty="0"/>
              <a:t> 2024 Sep 3. PMID: 38625767.</a:t>
            </a:r>
          </a:p>
        </p:txBody>
      </p:sp>
      <p:pic>
        <p:nvPicPr>
          <p:cNvPr id="14" name="Picture 13" descr="A black and white math equations&#10;&#10;AI-generated content may be incorrect.">
            <a:extLst>
              <a:ext uri="{FF2B5EF4-FFF2-40B4-BE49-F238E27FC236}">
                <a16:creationId xmlns:a16="http://schemas.microsoft.com/office/drawing/2014/main" id="{B7A603F3-AD66-E0E8-B6F3-41688E09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76" b="12412"/>
          <a:stretch>
            <a:fillRect/>
          </a:stretch>
        </p:blipFill>
        <p:spPr>
          <a:xfrm>
            <a:off x="1599599" y="4252692"/>
            <a:ext cx="612420" cy="3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6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0DE8180B-2F71-81CB-F3E9-375F26153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61" y="1779035"/>
            <a:ext cx="3844744" cy="290036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52EC7-5B36-45DC-6465-D4EC96ED53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FDCA2-05BD-EC21-3F35-49B925DA97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60B18-61FE-8E61-28DD-C2B23F329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A91C5F-6139-C70E-71C6-E2A2368A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Pretrained Model: Latent Vector Study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D7C6EC-9E8F-0EDB-A993-7FD639C0EA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Encoder Trained on All Cohorts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4DF7056D-136A-0ECB-FDA1-21ADB7C12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25" y="1822593"/>
            <a:ext cx="4256575" cy="1498314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09E31947-093C-7A3B-ADFF-0D11B6C8F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947" y="3351724"/>
            <a:ext cx="4256577" cy="149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7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C32214-674A-D58D-3EFC-359FD8496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429" y="1480230"/>
            <a:ext cx="3421001" cy="28450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9A610-3443-3F8C-C5E0-E70913E62A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63220-46A2-10D0-A97A-EB7C837CAEB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27988-F5A1-184E-1CA2-F27D614C9F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160" y="4597388"/>
            <a:ext cx="8508999" cy="505304"/>
          </a:xfrm>
        </p:spPr>
        <p:txBody>
          <a:bodyPr/>
          <a:lstStyle/>
          <a:p>
            <a:r>
              <a:rPr lang="en-US" sz="1050" dirty="0"/>
              <a:t>after removing duplicates from the data of stable MCI and Converters, performance dropped significantly!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5B8EDC-50B8-B73D-283F-05E60468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GEC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1F2B02-274C-2B6F-5006-7058750C35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Mean Pooling (left) vs Attention Pooling (right)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A35A0F-519D-1010-0DD6-50FABD797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973" y="1480231"/>
            <a:ext cx="3421001" cy="28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47496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3047</TotalTime>
  <Words>1490</Words>
  <Application>Microsoft Macintosh PowerPoint</Application>
  <PresentationFormat>On-screen Show (16:9)</PresentationFormat>
  <Paragraphs>120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BlinkMacSystemFont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Pretraining:  Results + Classification  Fraj Yassine Lakhal TUM School of Computation, Information and Technology </vt:lpstr>
      <vt:lpstr>Outline</vt:lpstr>
      <vt:lpstr>Unsupervised contrastive graph learning for resting-state functional MRI analysis and brain disorder detection  (Weng et al. 2023)</vt:lpstr>
      <vt:lpstr>Self-supervised graph contrastive learning with diffusion augmentation for functional MRI analysis and brain disorder detection (Weng et al. 2025)</vt:lpstr>
      <vt:lpstr>Diffusion Models and Slicing Windows</vt:lpstr>
      <vt:lpstr>Diffusion Models and Slicing Windows</vt:lpstr>
      <vt:lpstr>Diffusion Models and Slicing Windows</vt:lpstr>
      <vt:lpstr>Self-supervised Learning with Adaptive Graph Structure and Function Representation for Cross-Dataset Brain Disorder Diagnosis (Chen et al. 2024)</vt:lpstr>
      <vt:lpstr>Guiding fusion of dynamic functional and effective connectivity in spatio-temporal graph neural network for brain disorder classification (Chen et al. 2025)</vt:lpstr>
      <vt:lpstr>Cost-Sensitive Weighted Contrastive Learning Based on Graph Convolutional Networks for Imbalanced Alzheimer’s Disease Staging (Hu et al. 2024)</vt:lpstr>
      <vt:lpstr>Pretrained Model: Latent Vector Study</vt:lpstr>
      <vt:lpstr>Results GEC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Lakhal, Fraj Yassine</cp:lastModifiedBy>
  <cp:revision>19</cp:revision>
  <cp:lastPrinted>2015-07-30T14:04:45Z</cp:lastPrinted>
  <dcterms:created xsi:type="dcterms:W3CDTF">2020-10-03T23:03:33Z</dcterms:created>
  <dcterms:modified xsi:type="dcterms:W3CDTF">2026-03-24T13:29:26Z</dcterms:modified>
</cp:coreProperties>
</file>