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424" r:id="rId2"/>
    <p:sldId id="454" r:id="rId3"/>
    <p:sldId id="440" r:id="rId4"/>
    <p:sldId id="441" r:id="rId5"/>
    <p:sldId id="452" r:id="rId6"/>
    <p:sldId id="453" r:id="rId7"/>
    <p:sldId id="439" r:id="rId8"/>
    <p:sldId id="448" r:id="rId9"/>
    <p:sldId id="455" r:id="rId10"/>
    <p:sldId id="449" r:id="rId11"/>
    <p:sldId id="457" r:id="rId12"/>
    <p:sldId id="456" r:id="rId13"/>
    <p:sldId id="450" r:id="rId14"/>
    <p:sldId id="303" r:id="rId15"/>
    <p:sldId id="466" r:id="rId16"/>
    <p:sldId id="443" r:id="rId17"/>
    <p:sldId id="444" r:id="rId18"/>
    <p:sldId id="458" r:id="rId19"/>
    <p:sldId id="459" r:id="rId20"/>
    <p:sldId id="447" r:id="rId21"/>
    <p:sldId id="460" r:id="rId22"/>
    <p:sldId id="462" r:id="rId23"/>
    <p:sldId id="461" r:id="rId24"/>
    <p:sldId id="463" r:id="rId25"/>
    <p:sldId id="464" r:id="rId26"/>
    <p:sldId id="465" r:id="rId27"/>
    <p:sldId id="467" r:id="rId28"/>
    <p:sldId id="355" r:id="rId29"/>
    <p:sldId id="437" r:id="rId30"/>
    <p:sldId id="446" r:id="rId31"/>
    <p:sldId id="445" r:id="rId32"/>
    <p:sldId id="468" r:id="rId33"/>
    <p:sldId id="451" r:id="rId34"/>
    <p:sldId id="469" r:id="rId35"/>
    <p:sldId id="470" r:id="rId36"/>
    <p:sldId id="471" r:id="rId37"/>
    <p:sldId id="472" r:id="rId38"/>
    <p:sldId id="473" r:id="rId39"/>
    <p:sldId id="474" r:id="rId40"/>
    <p:sldId id="475" r:id="rId41"/>
    <p:sldId id="476" r:id="rId42"/>
    <p:sldId id="477" r:id="rId43"/>
    <p:sldId id="478" r:id="rId44"/>
    <p:sldId id="479" r:id="rId45"/>
    <p:sldId id="442" r:id="rId46"/>
    <p:sldId id="480" r:id="rId47"/>
    <p:sldId id="481" r:id="rId48"/>
    <p:sldId id="482" r:id="rId49"/>
    <p:sldId id="483" r:id="rId50"/>
    <p:sldId id="484" r:id="rId51"/>
    <p:sldId id="485" r:id="rId52"/>
    <p:sldId id="486" r:id="rId53"/>
    <p:sldId id="487" r:id="rId54"/>
    <p:sldId id="488" r:id="rId55"/>
    <p:sldId id="489" r:id="rId56"/>
    <p:sldId id="490" r:id="rId57"/>
    <p:sldId id="438" r:id="rId58"/>
    <p:sldId id="491" r:id="rId59"/>
    <p:sldId id="492" r:id="rId60"/>
    <p:sldId id="493" r:id="rId61"/>
    <p:sldId id="494" r:id="rId62"/>
    <p:sldId id="495" r:id="rId63"/>
    <p:sldId id="496" r:id="rId64"/>
    <p:sldId id="497" r:id="rId65"/>
    <p:sldId id="498" r:id="rId66"/>
    <p:sldId id="499"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87"/>
    <p:restoredTop sz="66781"/>
  </p:normalViewPr>
  <p:slideViewPr>
    <p:cSldViewPr snapToGrid="0">
      <p:cViewPr varScale="1">
        <p:scale>
          <a:sx n="82" d="100"/>
          <a:sy n="82" d="100"/>
        </p:scale>
        <p:origin x="2344" y="176"/>
      </p:cViewPr>
      <p:guideLst/>
    </p:cSldViewPr>
  </p:slideViewPr>
  <p:notesTextViewPr>
    <p:cViewPr>
      <p:scale>
        <a:sx n="170" d="100"/>
        <a:sy n="17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90F9C3-F05D-44AD-BDDE-25C522C560C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EBCBD322-33DA-435C-B446-E70051A1B856}">
      <dgm:prSet custT="1"/>
      <dgm:spPr/>
      <dgm:t>
        <a:bodyPr/>
        <a:lstStyle/>
        <a:p>
          <a:r>
            <a:rPr lang="en-US" sz="2000" b="1" i="1" dirty="0"/>
            <a:t>A. Detecting "Synaptic Failure" Before "Cell Death”</a:t>
          </a:r>
        </a:p>
        <a:p>
          <a:r>
            <a:rPr lang="en-US" sz="1400" dirty="0" err="1"/>
            <a:t>rs</a:t>
          </a:r>
          <a:r>
            <a:rPr lang="en-US" sz="1400" dirty="0"/>
            <a:t>-fMRI detects </a:t>
          </a:r>
          <a:r>
            <a:rPr lang="en-US" sz="1400" b="1" dirty="0"/>
            <a:t>functional connectivity breakdown</a:t>
          </a:r>
          <a:r>
            <a:rPr lang="en-US" sz="1400" dirty="0"/>
            <a:t>. Often, synapses usually fail </a:t>
          </a:r>
          <a:r>
            <a:rPr lang="en-US" sz="1400" i="1" dirty="0"/>
            <a:t>before</a:t>
          </a:r>
          <a:r>
            <a:rPr lang="en-US" sz="1400" dirty="0"/>
            <a:t> neurons die.</a:t>
          </a:r>
        </a:p>
      </dgm:t>
    </dgm:pt>
    <dgm:pt modelId="{0F79A37A-AC8B-45EC-A095-D07D803EC751}" type="parTrans" cxnId="{51972603-A80E-45F8-801E-4F231258BE85}">
      <dgm:prSet/>
      <dgm:spPr/>
      <dgm:t>
        <a:bodyPr/>
        <a:lstStyle/>
        <a:p>
          <a:endParaRPr lang="en-US"/>
        </a:p>
      </dgm:t>
    </dgm:pt>
    <dgm:pt modelId="{20CD198D-77D7-46AC-802F-0C653532A849}" type="sibTrans" cxnId="{51972603-A80E-45F8-801E-4F231258BE85}">
      <dgm:prSet/>
      <dgm:spPr/>
      <dgm:t>
        <a:bodyPr/>
        <a:lstStyle/>
        <a:p>
          <a:endParaRPr lang="en-US"/>
        </a:p>
      </dgm:t>
    </dgm:pt>
    <dgm:pt modelId="{0BFBF9FA-59F4-4E54-BA77-6329F16D1EE3}">
      <dgm:prSet custT="1"/>
      <dgm:spPr/>
      <dgm:t>
        <a:bodyPr anchor="ctr"/>
        <a:lstStyle/>
        <a:p>
          <a:pPr algn="ctr"/>
          <a:r>
            <a:rPr lang="en-US" sz="2700" b="1" i="1" dirty="0"/>
            <a:t>B. Safety (Radiation)</a:t>
          </a:r>
        </a:p>
        <a:p>
          <a:pPr algn="ctr"/>
          <a:r>
            <a:rPr lang="en-US" sz="1400" dirty="0"/>
            <a:t>Amyloid PET scans expose patients to radiation (~3–7 mSv, equivalent/more to a year of natural background radiation).</a:t>
          </a:r>
        </a:p>
      </dgm:t>
    </dgm:pt>
    <dgm:pt modelId="{BD2267BA-E84B-4953-8371-4B3E8F856E1F}" type="parTrans" cxnId="{4E71A1AC-8EC6-4D58-8E75-546619EE50B8}">
      <dgm:prSet/>
      <dgm:spPr/>
      <dgm:t>
        <a:bodyPr/>
        <a:lstStyle/>
        <a:p>
          <a:endParaRPr lang="en-US"/>
        </a:p>
      </dgm:t>
    </dgm:pt>
    <dgm:pt modelId="{95A92C50-F1FD-47BB-BD30-9EA747AD2459}" type="sibTrans" cxnId="{4E71A1AC-8EC6-4D58-8E75-546619EE50B8}">
      <dgm:prSet/>
      <dgm:spPr/>
      <dgm:t>
        <a:bodyPr/>
        <a:lstStyle/>
        <a:p>
          <a:endParaRPr lang="en-US"/>
        </a:p>
      </dgm:t>
    </dgm:pt>
    <dgm:pt modelId="{A688B40A-AC7E-034A-B2FE-41583118DBC8}">
      <dgm:prSet custT="1"/>
      <dgm:spPr/>
      <dgm:t>
        <a:bodyPr/>
        <a:lstStyle/>
        <a:p>
          <a:pPr marL="0" lvl="0" algn="ctr" defTabSz="889000">
            <a:lnSpc>
              <a:spcPct val="90000"/>
            </a:lnSpc>
            <a:spcBef>
              <a:spcPct val="0"/>
            </a:spcBef>
            <a:spcAft>
              <a:spcPts val="1134"/>
            </a:spcAft>
            <a:buNone/>
          </a:pPr>
          <a:r>
            <a:rPr lang="en-US" sz="2800" b="1" i="1" kern="1200" dirty="0">
              <a:solidFill>
                <a:prstClr val="white"/>
              </a:solidFill>
              <a:latin typeface="Aptos" panose="02110004020202020204"/>
              <a:ea typeface="+mn-ea"/>
              <a:cs typeface="+mn-cs"/>
            </a:rPr>
            <a:t>C. Scalability</a:t>
          </a:r>
        </a:p>
        <a:p>
          <a:pPr marL="0" lvl="0" algn="ctr" defTabSz="889000">
            <a:lnSpc>
              <a:spcPct val="90000"/>
            </a:lnSpc>
            <a:spcBef>
              <a:spcPct val="0"/>
            </a:spcBef>
            <a:spcAft>
              <a:spcPts val="1134"/>
            </a:spcAft>
            <a:buNone/>
          </a:pPr>
          <a:r>
            <a:rPr lang="en-US" sz="300" b="1" i="1" kern="1200" dirty="0">
              <a:solidFill>
                <a:prstClr val="white"/>
              </a:solidFill>
              <a:latin typeface="Aptos" panose="02110004020202020204"/>
              <a:ea typeface="+mn-ea"/>
              <a:cs typeface="+mn-cs"/>
            </a:rPr>
            <a:t>.</a:t>
          </a:r>
          <a:br>
            <a:rPr lang="en-US" sz="2000" b="1" i="1" kern="1200" dirty="0">
              <a:solidFill>
                <a:prstClr val="white"/>
              </a:solidFill>
              <a:latin typeface="Aptos" panose="02110004020202020204"/>
              <a:ea typeface="+mn-ea"/>
              <a:cs typeface="+mn-cs"/>
            </a:rPr>
          </a:br>
          <a:r>
            <a:rPr lang="en-US" sz="1400" b="0" i="0" kern="1200" dirty="0">
              <a:solidFill>
                <a:prstClr val="white"/>
              </a:solidFill>
              <a:latin typeface="Aptos" panose="02110004020202020204"/>
              <a:ea typeface="+mn-ea"/>
              <a:cs typeface="+mn-cs"/>
            </a:rPr>
            <a:t>PET: $2,300 to over $9,5001 + Rare in rural areas (radioactive tracers' availability) </a:t>
          </a:r>
        </a:p>
        <a:p>
          <a:pPr marL="0" lvl="0" algn="ctr" defTabSz="889000">
            <a:lnSpc>
              <a:spcPct val="90000"/>
            </a:lnSpc>
            <a:spcBef>
              <a:spcPct val="0"/>
            </a:spcBef>
            <a:spcAft>
              <a:spcPts val="1134"/>
            </a:spcAft>
            <a:buNone/>
          </a:pPr>
          <a:r>
            <a:rPr lang="en-US" sz="1400" b="0" i="0" kern="1200" dirty="0" err="1">
              <a:solidFill>
                <a:prstClr val="white"/>
              </a:solidFill>
              <a:latin typeface="Aptos" panose="02110004020202020204"/>
              <a:ea typeface="+mn-ea"/>
              <a:cs typeface="+mn-cs"/>
            </a:rPr>
            <a:t>rs</a:t>
          </a:r>
          <a:r>
            <a:rPr lang="en-US" sz="1400" b="0" i="0" kern="1200" dirty="0">
              <a:solidFill>
                <a:prstClr val="white"/>
              </a:solidFill>
              <a:latin typeface="Aptos" panose="02110004020202020204"/>
              <a:ea typeface="+mn-ea"/>
              <a:cs typeface="+mn-cs"/>
            </a:rPr>
            <a:t>-fMRI: &lt;$8003 has zero radiation.</a:t>
          </a:r>
        </a:p>
      </dgm:t>
    </dgm:pt>
    <dgm:pt modelId="{E7E680ED-482E-8E43-94A2-BEC71BC7C15C}" type="parTrans" cxnId="{66B5ADCB-DC23-9F44-833C-608BA9CF1A98}">
      <dgm:prSet/>
      <dgm:spPr/>
      <dgm:t>
        <a:bodyPr/>
        <a:lstStyle/>
        <a:p>
          <a:endParaRPr lang="en-US"/>
        </a:p>
      </dgm:t>
    </dgm:pt>
    <dgm:pt modelId="{49017216-C5FE-6848-A78D-835F9D2DCE86}" type="sibTrans" cxnId="{66B5ADCB-DC23-9F44-833C-608BA9CF1A98}">
      <dgm:prSet/>
      <dgm:spPr/>
      <dgm:t>
        <a:bodyPr/>
        <a:lstStyle/>
        <a:p>
          <a:endParaRPr lang="en-US"/>
        </a:p>
      </dgm:t>
    </dgm:pt>
    <dgm:pt modelId="{598912CA-E391-C642-8458-F200B2805273}" type="pres">
      <dgm:prSet presAssocID="{5D90F9C3-F05D-44AD-BDDE-25C522C560C6}" presName="diagram" presStyleCnt="0">
        <dgm:presLayoutVars>
          <dgm:dir/>
          <dgm:resizeHandles val="exact"/>
        </dgm:presLayoutVars>
      </dgm:prSet>
      <dgm:spPr/>
    </dgm:pt>
    <dgm:pt modelId="{93CB9F71-A88E-3043-975C-B9004AE4F08B}" type="pres">
      <dgm:prSet presAssocID="{EBCBD322-33DA-435C-B446-E70051A1B856}" presName="node" presStyleLbl="node1" presStyleIdx="0" presStyleCnt="3">
        <dgm:presLayoutVars>
          <dgm:bulletEnabled val="1"/>
        </dgm:presLayoutVars>
      </dgm:prSet>
      <dgm:spPr/>
    </dgm:pt>
    <dgm:pt modelId="{8ABE8F7F-2752-1D4F-9DB1-8AA76FEF283B}" type="pres">
      <dgm:prSet presAssocID="{20CD198D-77D7-46AC-802F-0C653532A849}" presName="sibTrans" presStyleCnt="0"/>
      <dgm:spPr/>
    </dgm:pt>
    <dgm:pt modelId="{822227CA-4A6B-F34F-8F0C-FFE15A2FF189}" type="pres">
      <dgm:prSet presAssocID="{0BFBF9FA-59F4-4E54-BA77-6329F16D1EE3}" presName="node" presStyleLbl="node1" presStyleIdx="1" presStyleCnt="3">
        <dgm:presLayoutVars>
          <dgm:bulletEnabled val="1"/>
        </dgm:presLayoutVars>
      </dgm:prSet>
      <dgm:spPr/>
    </dgm:pt>
    <dgm:pt modelId="{EBB56D03-948C-584F-8A79-EABCFF35095B}" type="pres">
      <dgm:prSet presAssocID="{95A92C50-F1FD-47BB-BD30-9EA747AD2459}" presName="sibTrans" presStyleCnt="0"/>
      <dgm:spPr/>
    </dgm:pt>
    <dgm:pt modelId="{57499AE7-F289-4741-951D-F69724E5C59A}" type="pres">
      <dgm:prSet presAssocID="{A688B40A-AC7E-034A-B2FE-41583118DBC8}" presName="node" presStyleLbl="node1" presStyleIdx="2" presStyleCnt="3">
        <dgm:presLayoutVars>
          <dgm:bulletEnabled val="1"/>
        </dgm:presLayoutVars>
      </dgm:prSet>
      <dgm:spPr/>
    </dgm:pt>
  </dgm:ptLst>
  <dgm:cxnLst>
    <dgm:cxn modelId="{51972603-A80E-45F8-801E-4F231258BE85}" srcId="{5D90F9C3-F05D-44AD-BDDE-25C522C560C6}" destId="{EBCBD322-33DA-435C-B446-E70051A1B856}" srcOrd="0" destOrd="0" parTransId="{0F79A37A-AC8B-45EC-A095-D07D803EC751}" sibTransId="{20CD198D-77D7-46AC-802F-0C653532A849}"/>
    <dgm:cxn modelId="{DC510931-046A-9745-843E-2A330B2D980D}" type="presOf" srcId="{A688B40A-AC7E-034A-B2FE-41583118DBC8}" destId="{57499AE7-F289-4741-951D-F69724E5C59A}" srcOrd="0" destOrd="0" presId="urn:microsoft.com/office/officeart/2005/8/layout/default"/>
    <dgm:cxn modelId="{72462239-C518-FA49-A5CC-0A2876A84FAB}" type="presOf" srcId="{0BFBF9FA-59F4-4E54-BA77-6329F16D1EE3}" destId="{822227CA-4A6B-F34F-8F0C-FFE15A2FF189}" srcOrd="0" destOrd="0" presId="urn:microsoft.com/office/officeart/2005/8/layout/default"/>
    <dgm:cxn modelId="{F23CA087-1C00-3E4B-9C43-E0470E1ABA36}" type="presOf" srcId="{EBCBD322-33DA-435C-B446-E70051A1B856}" destId="{93CB9F71-A88E-3043-975C-B9004AE4F08B}" srcOrd="0" destOrd="0" presId="urn:microsoft.com/office/officeart/2005/8/layout/default"/>
    <dgm:cxn modelId="{3FB62F92-F312-AB46-8A82-EFB6105D69F0}" type="presOf" srcId="{5D90F9C3-F05D-44AD-BDDE-25C522C560C6}" destId="{598912CA-E391-C642-8458-F200B2805273}" srcOrd="0" destOrd="0" presId="urn:microsoft.com/office/officeart/2005/8/layout/default"/>
    <dgm:cxn modelId="{4E71A1AC-8EC6-4D58-8E75-546619EE50B8}" srcId="{5D90F9C3-F05D-44AD-BDDE-25C522C560C6}" destId="{0BFBF9FA-59F4-4E54-BA77-6329F16D1EE3}" srcOrd="1" destOrd="0" parTransId="{BD2267BA-E84B-4953-8371-4B3E8F856E1F}" sibTransId="{95A92C50-F1FD-47BB-BD30-9EA747AD2459}"/>
    <dgm:cxn modelId="{66B5ADCB-DC23-9F44-833C-608BA9CF1A98}" srcId="{5D90F9C3-F05D-44AD-BDDE-25C522C560C6}" destId="{A688B40A-AC7E-034A-B2FE-41583118DBC8}" srcOrd="2" destOrd="0" parTransId="{E7E680ED-482E-8E43-94A2-BEC71BC7C15C}" sibTransId="{49017216-C5FE-6848-A78D-835F9D2DCE86}"/>
    <dgm:cxn modelId="{88E34D95-5247-9547-92EE-0FA5351C069A}" type="presParOf" srcId="{598912CA-E391-C642-8458-F200B2805273}" destId="{93CB9F71-A88E-3043-975C-B9004AE4F08B}" srcOrd="0" destOrd="0" presId="urn:microsoft.com/office/officeart/2005/8/layout/default"/>
    <dgm:cxn modelId="{21150C2F-9E17-C345-B5D6-743516510E44}" type="presParOf" srcId="{598912CA-E391-C642-8458-F200B2805273}" destId="{8ABE8F7F-2752-1D4F-9DB1-8AA76FEF283B}" srcOrd="1" destOrd="0" presId="urn:microsoft.com/office/officeart/2005/8/layout/default"/>
    <dgm:cxn modelId="{FA7DF0CF-814C-3A4F-978F-38228CDA1AA0}" type="presParOf" srcId="{598912CA-E391-C642-8458-F200B2805273}" destId="{822227CA-4A6B-F34F-8F0C-FFE15A2FF189}" srcOrd="2" destOrd="0" presId="urn:microsoft.com/office/officeart/2005/8/layout/default"/>
    <dgm:cxn modelId="{4A9B17F2-611A-394B-B559-BA8349410182}" type="presParOf" srcId="{598912CA-E391-C642-8458-F200B2805273}" destId="{EBB56D03-948C-584F-8A79-EABCFF35095B}" srcOrd="3" destOrd="0" presId="urn:microsoft.com/office/officeart/2005/8/layout/default"/>
    <dgm:cxn modelId="{84109277-3B8F-ED46-91FC-4682C8B92C16}" type="presParOf" srcId="{598912CA-E391-C642-8458-F200B2805273}" destId="{57499AE7-F289-4741-951D-F69724E5C59A}"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CB9F71-A88E-3043-975C-B9004AE4F08B}">
      <dsp:nvSpPr>
        <dsp:cNvPr id="0" name=""/>
        <dsp:cNvSpPr/>
      </dsp:nvSpPr>
      <dsp:spPr>
        <a:xfrm>
          <a:off x="0" y="1097197"/>
          <a:ext cx="3545416" cy="212724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1" kern="1200" dirty="0"/>
            <a:t>A. Detecting "Synaptic Failure" Before "Cell Death”</a:t>
          </a:r>
        </a:p>
        <a:p>
          <a:pPr marL="0" lvl="0" indent="0" algn="ctr" defTabSz="889000">
            <a:lnSpc>
              <a:spcPct val="90000"/>
            </a:lnSpc>
            <a:spcBef>
              <a:spcPct val="0"/>
            </a:spcBef>
            <a:spcAft>
              <a:spcPct val="35000"/>
            </a:spcAft>
            <a:buNone/>
          </a:pPr>
          <a:r>
            <a:rPr lang="en-US" sz="1400" kern="1200" dirty="0" err="1"/>
            <a:t>rs</a:t>
          </a:r>
          <a:r>
            <a:rPr lang="en-US" sz="1400" kern="1200" dirty="0"/>
            <a:t>-fMRI detects </a:t>
          </a:r>
          <a:r>
            <a:rPr lang="en-US" sz="1400" b="1" kern="1200" dirty="0"/>
            <a:t>functional connectivity breakdown</a:t>
          </a:r>
          <a:r>
            <a:rPr lang="en-US" sz="1400" kern="1200" dirty="0"/>
            <a:t>. Often, synapses usually fail </a:t>
          </a:r>
          <a:r>
            <a:rPr lang="en-US" sz="1400" i="1" kern="1200" dirty="0"/>
            <a:t>before</a:t>
          </a:r>
          <a:r>
            <a:rPr lang="en-US" sz="1400" kern="1200" dirty="0"/>
            <a:t> neurons die.</a:t>
          </a:r>
        </a:p>
      </dsp:txBody>
      <dsp:txXfrm>
        <a:off x="0" y="1097197"/>
        <a:ext cx="3545416" cy="2127249"/>
      </dsp:txXfrm>
    </dsp:sp>
    <dsp:sp modelId="{822227CA-4A6B-F34F-8F0C-FFE15A2FF189}">
      <dsp:nvSpPr>
        <dsp:cNvPr id="0" name=""/>
        <dsp:cNvSpPr/>
      </dsp:nvSpPr>
      <dsp:spPr>
        <a:xfrm>
          <a:off x="3899957" y="1097197"/>
          <a:ext cx="3545416" cy="212724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1" kern="1200" dirty="0"/>
            <a:t>B. Safety (Radiation)</a:t>
          </a:r>
        </a:p>
        <a:p>
          <a:pPr marL="0" lvl="0" indent="0" algn="ctr" defTabSz="1200150">
            <a:lnSpc>
              <a:spcPct val="90000"/>
            </a:lnSpc>
            <a:spcBef>
              <a:spcPct val="0"/>
            </a:spcBef>
            <a:spcAft>
              <a:spcPct val="35000"/>
            </a:spcAft>
            <a:buNone/>
          </a:pPr>
          <a:r>
            <a:rPr lang="en-US" sz="1400" kern="1200" dirty="0"/>
            <a:t>Amyloid PET scans expose patients to radiation (~3–7 mSv, equivalent/more to a year of natural background radiation).</a:t>
          </a:r>
        </a:p>
      </dsp:txBody>
      <dsp:txXfrm>
        <a:off x="3899957" y="1097197"/>
        <a:ext cx="3545416" cy="2127249"/>
      </dsp:txXfrm>
    </dsp:sp>
    <dsp:sp modelId="{57499AE7-F289-4741-951D-F69724E5C59A}">
      <dsp:nvSpPr>
        <dsp:cNvPr id="0" name=""/>
        <dsp:cNvSpPr/>
      </dsp:nvSpPr>
      <dsp:spPr>
        <a:xfrm>
          <a:off x="7799915" y="1097197"/>
          <a:ext cx="3545416" cy="212724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889000">
            <a:lnSpc>
              <a:spcPct val="90000"/>
            </a:lnSpc>
            <a:spcBef>
              <a:spcPct val="0"/>
            </a:spcBef>
            <a:spcAft>
              <a:spcPts val="1134"/>
            </a:spcAft>
            <a:buNone/>
          </a:pPr>
          <a:r>
            <a:rPr lang="en-US" sz="2800" b="1" i="1" kern="1200" dirty="0">
              <a:solidFill>
                <a:prstClr val="white"/>
              </a:solidFill>
              <a:latin typeface="Aptos" panose="02110004020202020204"/>
              <a:ea typeface="+mn-ea"/>
              <a:cs typeface="+mn-cs"/>
            </a:rPr>
            <a:t>C. Scalability</a:t>
          </a:r>
        </a:p>
        <a:p>
          <a:pPr marL="0" lvl="0" indent="0" algn="ctr" defTabSz="889000">
            <a:lnSpc>
              <a:spcPct val="90000"/>
            </a:lnSpc>
            <a:spcBef>
              <a:spcPct val="0"/>
            </a:spcBef>
            <a:spcAft>
              <a:spcPts val="1134"/>
            </a:spcAft>
            <a:buNone/>
          </a:pPr>
          <a:r>
            <a:rPr lang="en-US" sz="300" b="1" i="1" kern="1200" dirty="0">
              <a:solidFill>
                <a:prstClr val="white"/>
              </a:solidFill>
              <a:latin typeface="Aptos" panose="02110004020202020204"/>
              <a:ea typeface="+mn-ea"/>
              <a:cs typeface="+mn-cs"/>
            </a:rPr>
            <a:t>.</a:t>
          </a:r>
          <a:br>
            <a:rPr lang="en-US" sz="2000" b="1" i="1" kern="1200" dirty="0">
              <a:solidFill>
                <a:prstClr val="white"/>
              </a:solidFill>
              <a:latin typeface="Aptos" panose="02110004020202020204"/>
              <a:ea typeface="+mn-ea"/>
              <a:cs typeface="+mn-cs"/>
            </a:rPr>
          </a:br>
          <a:r>
            <a:rPr lang="en-US" sz="1400" b="0" i="0" kern="1200" dirty="0">
              <a:solidFill>
                <a:prstClr val="white"/>
              </a:solidFill>
              <a:latin typeface="Aptos" panose="02110004020202020204"/>
              <a:ea typeface="+mn-ea"/>
              <a:cs typeface="+mn-cs"/>
            </a:rPr>
            <a:t>PET: $2,300 to over $9,5001 + Rare in rural areas (radioactive tracers' availability) </a:t>
          </a:r>
        </a:p>
        <a:p>
          <a:pPr marL="0" lvl="0" indent="0" algn="ctr" defTabSz="889000">
            <a:lnSpc>
              <a:spcPct val="90000"/>
            </a:lnSpc>
            <a:spcBef>
              <a:spcPct val="0"/>
            </a:spcBef>
            <a:spcAft>
              <a:spcPts val="1134"/>
            </a:spcAft>
            <a:buNone/>
          </a:pPr>
          <a:r>
            <a:rPr lang="en-US" sz="1400" b="0" i="0" kern="1200" dirty="0" err="1">
              <a:solidFill>
                <a:prstClr val="white"/>
              </a:solidFill>
              <a:latin typeface="Aptos" panose="02110004020202020204"/>
              <a:ea typeface="+mn-ea"/>
              <a:cs typeface="+mn-cs"/>
            </a:rPr>
            <a:t>rs</a:t>
          </a:r>
          <a:r>
            <a:rPr lang="en-US" sz="1400" b="0" i="0" kern="1200" dirty="0">
              <a:solidFill>
                <a:prstClr val="white"/>
              </a:solidFill>
              <a:latin typeface="Aptos" panose="02110004020202020204"/>
              <a:ea typeface="+mn-ea"/>
              <a:cs typeface="+mn-cs"/>
            </a:rPr>
            <a:t>-fMRI: &lt;$8003 has zero radiation.</a:t>
          </a:r>
        </a:p>
      </dsp:txBody>
      <dsp:txXfrm>
        <a:off x="7799915" y="1097197"/>
        <a:ext cx="3545416" cy="212724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105E7F-F5F1-1C44-B24C-AB335D825C47}" type="datetimeFigureOut">
              <a:rPr lang="en-US" smtClean="0"/>
              <a:t>1/29/26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E2A932-D92D-F44D-8EC9-7008C692AB9B}" type="slidenum">
              <a:rPr lang="en-US" smtClean="0"/>
              <a:t>‹#›</a:t>
            </a:fld>
            <a:endParaRPr lang="en-US"/>
          </a:p>
        </p:txBody>
      </p:sp>
    </p:spTree>
    <p:extLst>
      <p:ext uri="{BB962C8B-B14F-4D97-AF65-F5344CB8AC3E}">
        <p14:creationId xmlns:p14="http://schemas.microsoft.com/office/powerpoint/2010/main" val="3807729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have a bold plan for the thesis but I think it is feasible</a:t>
            </a:r>
          </a:p>
        </p:txBody>
      </p:sp>
      <p:sp>
        <p:nvSpPr>
          <p:cNvPr id="4" name="Slide Number Placeholder 3"/>
          <p:cNvSpPr>
            <a:spLocks noGrp="1"/>
          </p:cNvSpPr>
          <p:nvPr>
            <p:ph type="sldNum" sz="quarter" idx="5"/>
          </p:nvPr>
        </p:nvSpPr>
        <p:spPr/>
        <p:txBody>
          <a:bodyPr/>
          <a:lstStyle/>
          <a:p>
            <a:fld id="{75E2A932-D92D-F44D-8EC9-7008C692AB9B}" type="slidenum">
              <a:rPr lang="en-US" smtClean="0"/>
              <a:t>1</a:t>
            </a:fld>
            <a:endParaRPr lang="en-US"/>
          </a:p>
        </p:txBody>
      </p:sp>
    </p:spTree>
    <p:extLst>
      <p:ext uri="{BB962C8B-B14F-4D97-AF65-F5344CB8AC3E}">
        <p14:creationId xmlns:p14="http://schemas.microsoft.com/office/powerpoint/2010/main" val="3701304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 If you report memory issues, a Primary Care Physician (PCP) will perform a short cognitive test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How it works: It detects phosphorylated tau protein in the blood, which correlates 90-95% with amyloid plaque buildup in the brain.</a:t>
            </a:r>
          </a:p>
        </p:txBody>
      </p:sp>
      <p:sp>
        <p:nvSpPr>
          <p:cNvPr id="4" name="Slide Number Placeholder 3"/>
          <p:cNvSpPr>
            <a:spLocks noGrp="1"/>
          </p:cNvSpPr>
          <p:nvPr>
            <p:ph type="sldNum" sz="quarter" idx="5"/>
          </p:nvPr>
        </p:nvSpPr>
        <p:spPr/>
        <p:txBody>
          <a:bodyPr/>
          <a:lstStyle/>
          <a:p>
            <a:fld id="{75E2A932-D92D-F44D-8EC9-7008C692AB9B}" type="slidenum">
              <a:rPr lang="en-US" smtClean="0"/>
              <a:t>4</a:t>
            </a:fld>
            <a:endParaRPr lang="en-US"/>
          </a:p>
        </p:txBody>
      </p:sp>
    </p:spTree>
    <p:extLst>
      <p:ext uri="{BB962C8B-B14F-4D97-AF65-F5344CB8AC3E}">
        <p14:creationId xmlns:p14="http://schemas.microsoft.com/office/powerpoint/2010/main" val="2500459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F39EA-9AAC-1121-E184-33B8B6F00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532BF-1FBB-0B41-9936-913F7865368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8A2C68-D1B0-CE22-5C8A-C4BE3D4C2070}"/>
              </a:ext>
            </a:extLst>
          </p:cNvPr>
          <p:cNvSpPr>
            <a:spLocks noGrp="1"/>
          </p:cNvSpPr>
          <p:nvPr>
            <p:ph type="body" idx="1"/>
          </p:nvPr>
        </p:nvSpPr>
        <p:spPr/>
        <p:txBody>
          <a:bodyPr/>
          <a:lstStyle/>
          <a:p>
            <a:endParaRPr lang="en-US"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A079307-2DEA-721B-A32F-9EC04068845A}"/>
              </a:ext>
            </a:extLst>
          </p:cNvPr>
          <p:cNvSpPr>
            <a:spLocks noGrp="1"/>
          </p:cNvSpPr>
          <p:nvPr>
            <p:ph type="sldNum" sz="quarter" idx="5"/>
          </p:nvPr>
        </p:nvSpPr>
        <p:spPr/>
        <p:txBody>
          <a:bodyPr/>
          <a:lstStyle/>
          <a:p>
            <a:fld id="{75E2A932-D92D-F44D-8EC9-7008C692AB9B}" type="slidenum">
              <a:rPr lang="en-US" smtClean="0"/>
              <a:t>5</a:t>
            </a:fld>
            <a:endParaRPr lang="en-US"/>
          </a:p>
        </p:txBody>
      </p:sp>
    </p:spTree>
    <p:extLst>
      <p:ext uri="{BB962C8B-B14F-4D97-AF65-F5344CB8AC3E}">
        <p14:creationId xmlns:p14="http://schemas.microsoft.com/office/powerpoint/2010/main" val="1510579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1FB30-ED0F-E413-13CE-75D6A55BE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6AF33-8364-D97F-75B7-798E698946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E4972D-09FC-B286-8E84-CDF7FD8D5B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E4A309-83E0-483C-F799-DDEC57A3105D}"/>
              </a:ext>
            </a:extLst>
          </p:cNvPr>
          <p:cNvSpPr>
            <a:spLocks noGrp="1"/>
          </p:cNvSpPr>
          <p:nvPr>
            <p:ph type="sldNum" sz="quarter" idx="5"/>
          </p:nvPr>
        </p:nvSpPr>
        <p:spPr/>
        <p:txBody>
          <a:bodyPr/>
          <a:lstStyle/>
          <a:p>
            <a:fld id="{75E2A932-D92D-F44D-8EC9-7008C692AB9B}" type="slidenum">
              <a:rPr lang="en-US" smtClean="0"/>
              <a:t>6</a:t>
            </a:fld>
            <a:endParaRPr lang="en-US"/>
          </a:p>
        </p:txBody>
      </p:sp>
    </p:spTree>
    <p:extLst>
      <p:ext uri="{BB962C8B-B14F-4D97-AF65-F5344CB8AC3E}">
        <p14:creationId xmlns:p14="http://schemas.microsoft.com/office/powerpoint/2010/main" val="9451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 </a:t>
            </a:r>
            <a:r>
              <a:rPr lang="en-US" sz="2000" b="1" dirty="0"/>
              <a:t>Deep Learning’s Role:</a:t>
            </a:r>
            <a:r>
              <a:rPr lang="en-US" sz="2000" dirty="0"/>
              <a:t> A human radiologist cannot "see" functional connectivity in raw data. A DL model (e.g., a Graph Neural Network or 4D-CNN) can identify non-linear disruptions in the </a:t>
            </a:r>
            <a:r>
              <a:rPr lang="en-US" sz="2000" b="1" dirty="0"/>
              <a:t>Default Mode Network (DMN)</a:t>
            </a:r>
            <a:r>
              <a:rPr lang="en-US" sz="2000" dirty="0"/>
              <a:t>—specifically the uncoupling between the Posterior Cingulate Cortex (PCC) and the hippocampus—often years before atrophy is visible on T1 scans.</a:t>
            </a:r>
          </a:p>
          <a:p>
            <a:endParaRPr lang="en-US" sz="2000" dirty="0"/>
          </a:p>
        </p:txBody>
      </p:sp>
      <p:sp>
        <p:nvSpPr>
          <p:cNvPr id="4" name="Slide Number Placeholder 3"/>
          <p:cNvSpPr>
            <a:spLocks noGrp="1"/>
          </p:cNvSpPr>
          <p:nvPr>
            <p:ph type="sldNum" sz="quarter" idx="5"/>
          </p:nvPr>
        </p:nvSpPr>
        <p:spPr/>
        <p:txBody>
          <a:bodyPr/>
          <a:lstStyle/>
          <a:p>
            <a:fld id="{75E2A932-D92D-F44D-8EC9-7008C692AB9B}" type="slidenum">
              <a:rPr lang="en-US" smtClean="0"/>
              <a:t>7</a:t>
            </a:fld>
            <a:endParaRPr lang="en-US"/>
          </a:p>
        </p:txBody>
      </p:sp>
    </p:spTree>
    <p:extLst>
      <p:ext uri="{BB962C8B-B14F-4D97-AF65-F5344CB8AC3E}">
        <p14:creationId xmlns:p14="http://schemas.microsoft.com/office/powerpoint/2010/main" val="2169366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DMN stands for </a:t>
            </a:r>
            <a:r>
              <a:rPr lang="en-US" sz="1200" b="0" i="0" u="none" strike="noStrike" kern="1200" dirty="0">
                <a:solidFill>
                  <a:schemeClr val="tx1"/>
                </a:solidFill>
                <a:effectLst/>
                <a:latin typeface="+mn-lt"/>
                <a:ea typeface="+mn-ea"/>
                <a:cs typeface="+mn-cs"/>
              </a:rPr>
              <a:t>active regions when a person is not focused on the outside world</a:t>
            </a:r>
            <a:endParaRPr lang="en-US" dirty="0"/>
          </a:p>
        </p:txBody>
      </p:sp>
      <p:sp>
        <p:nvSpPr>
          <p:cNvPr id="4" name="Slide Number Placeholder 3"/>
          <p:cNvSpPr>
            <a:spLocks noGrp="1"/>
          </p:cNvSpPr>
          <p:nvPr>
            <p:ph type="sldNum" sz="quarter" idx="5"/>
          </p:nvPr>
        </p:nvSpPr>
        <p:spPr/>
        <p:txBody>
          <a:bodyPr/>
          <a:lstStyle/>
          <a:p>
            <a:fld id="{75E2A932-D92D-F44D-8EC9-7008C692AB9B}" type="slidenum">
              <a:rPr lang="en-US" smtClean="0"/>
              <a:t>8</a:t>
            </a:fld>
            <a:endParaRPr lang="en-US"/>
          </a:p>
        </p:txBody>
      </p:sp>
    </p:spTree>
    <p:extLst>
      <p:ext uri="{BB962C8B-B14F-4D97-AF65-F5344CB8AC3E}">
        <p14:creationId xmlns:p14="http://schemas.microsoft.com/office/powerpoint/2010/main" val="429969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end up with a symmetric N×N matrix where N is the number of ROIs</a:t>
            </a:r>
          </a:p>
          <a:p>
            <a:endParaRPr lang="en-US" dirty="0"/>
          </a:p>
        </p:txBody>
      </p:sp>
      <p:sp>
        <p:nvSpPr>
          <p:cNvPr id="4" name="Slide Number Placeholder 3"/>
          <p:cNvSpPr>
            <a:spLocks noGrp="1"/>
          </p:cNvSpPr>
          <p:nvPr>
            <p:ph type="sldNum" sz="quarter" idx="5"/>
          </p:nvPr>
        </p:nvSpPr>
        <p:spPr/>
        <p:txBody>
          <a:bodyPr/>
          <a:lstStyle/>
          <a:p>
            <a:fld id="{75E2A932-D92D-F44D-8EC9-7008C692AB9B}" type="slidenum">
              <a:rPr lang="en-US" smtClean="0"/>
              <a:t>10</a:t>
            </a:fld>
            <a:endParaRPr lang="en-US"/>
          </a:p>
        </p:txBody>
      </p:sp>
    </p:spTree>
    <p:extLst>
      <p:ext uri="{BB962C8B-B14F-4D97-AF65-F5344CB8AC3E}">
        <p14:creationId xmlns:p14="http://schemas.microsoft.com/office/powerpoint/2010/main" val="2152065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can send you a list of the related work</a:t>
            </a:r>
          </a:p>
        </p:txBody>
      </p:sp>
      <p:sp>
        <p:nvSpPr>
          <p:cNvPr id="4" name="Slide Number Placeholder 3"/>
          <p:cNvSpPr>
            <a:spLocks noGrp="1"/>
          </p:cNvSpPr>
          <p:nvPr>
            <p:ph type="sldNum" sz="quarter" idx="5"/>
          </p:nvPr>
        </p:nvSpPr>
        <p:spPr/>
        <p:txBody>
          <a:bodyPr/>
          <a:lstStyle/>
          <a:p>
            <a:fld id="{75E2A932-D92D-F44D-8EC9-7008C692AB9B}" type="slidenum">
              <a:rPr lang="en-US" smtClean="0"/>
              <a:t>11</a:t>
            </a:fld>
            <a:endParaRPr lang="en-US"/>
          </a:p>
        </p:txBody>
      </p:sp>
    </p:spTree>
    <p:extLst>
      <p:ext uri="{BB962C8B-B14F-4D97-AF65-F5344CB8AC3E}">
        <p14:creationId xmlns:p14="http://schemas.microsoft.com/office/powerpoint/2010/main" val="3961056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As I don’t want my work to end up on a shelf, I want to propose a tool</a:t>
            </a:r>
          </a:p>
          <a:p>
            <a:endParaRPr lang="en-US" dirty="0"/>
          </a:p>
          <a:p>
            <a:r>
              <a:rPr lang="en-US" dirty="0"/>
              <a:t>Stephan mentioned that this could very interesting in</a:t>
            </a:r>
          </a:p>
        </p:txBody>
      </p:sp>
      <p:sp>
        <p:nvSpPr>
          <p:cNvPr id="4" name="Slide Number Placeholder 3"/>
          <p:cNvSpPr>
            <a:spLocks noGrp="1"/>
          </p:cNvSpPr>
          <p:nvPr>
            <p:ph type="sldNum" sz="quarter" idx="5"/>
          </p:nvPr>
        </p:nvSpPr>
        <p:spPr/>
        <p:txBody>
          <a:bodyPr/>
          <a:lstStyle/>
          <a:p>
            <a:fld id="{75E2A932-D92D-F44D-8EC9-7008C692AB9B}" type="slidenum">
              <a:rPr lang="en-US" smtClean="0"/>
              <a:t>13</a:t>
            </a:fld>
            <a:endParaRPr lang="en-US"/>
          </a:p>
        </p:txBody>
      </p:sp>
    </p:spTree>
    <p:extLst>
      <p:ext uri="{BB962C8B-B14F-4D97-AF65-F5344CB8AC3E}">
        <p14:creationId xmlns:p14="http://schemas.microsoft.com/office/powerpoint/2010/main" val="2454647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2A932-D92D-F44D-8EC9-7008C692AB9B}" type="slidenum">
              <a:rPr lang="en-US" smtClean="0"/>
              <a:t>14</a:t>
            </a:fld>
            <a:endParaRPr lang="en-US"/>
          </a:p>
        </p:txBody>
      </p:sp>
    </p:spTree>
    <p:extLst>
      <p:ext uri="{BB962C8B-B14F-4D97-AF65-F5344CB8AC3E}">
        <p14:creationId xmlns:p14="http://schemas.microsoft.com/office/powerpoint/2010/main" val="3155033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2A932-D92D-F44D-8EC9-7008C692AB9B}" type="slidenum">
              <a:rPr lang="en-US" smtClean="0"/>
              <a:t>15</a:t>
            </a:fld>
            <a:endParaRPr lang="en-US"/>
          </a:p>
        </p:txBody>
      </p:sp>
    </p:spTree>
    <p:extLst>
      <p:ext uri="{BB962C8B-B14F-4D97-AF65-F5344CB8AC3E}">
        <p14:creationId xmlns:p14="http://schemas.microsoft.com/office/powerpoint/2010/main" val="3971519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Step 1:</a:t>
            </a:r>
          </a:p>
          <a:p>
            <a:endParaRPr lang="en-US" dirty="0"/>
          </a:p>
          <a:p>
            <a:r>
              <a:rPr lang="en-US" dirty="0"/>
              <a:t>Step 3:</a:t>
            </a:r>
          </a:p>
          <a:p>
            <a:r>
              <a:rPr lang="en-US" dirty="0"/>
              <a:t>The ROI-to-voxel connectivity vectors are:</a:t>
            </a:r>
          </a:p>
          <a:p>
            <a:pPr fontAlgn="ctr"/>
            <a:r>
              <a:rPr lang="en-US" dirty="0"/>
              <a:t>Projected to lower dimensions via PCA</a:t>
            </a:r>
          </a:p>
          <a:p>
            <a:pPr fontAlgn="ctr"/>
            <a:r>
              <a:rPr lang="en-US" dirty="0"/>
              <a:t>Organized into multi-channel brain maps in 3D space</a:t>
            </a:r>
          </a:p>
          <a:p>
            <a:pPr fontAlgn="ctr"/>
            <a:r>
              <a:rPr lang="en-US" dirty="0"/>
              <a:t>Partitioned into overlapping 3D blocks</a:t>
            </a:r>
          </a:p>
          <a:p>
            <a:pPr fontAlgn="ctr"/>
            <a:r>
              <a:rPr lang="en-US" dirty="0"/>
              <a:t>Processed through </a:t>
            </a:r>
            <a:r>
              <a:rPr lang="en-US" i="1" dirty="0"/>
              <a:t>TRANSFORMER </a:t>
            </a:r>
            <a:r>
              <a:rPr lang="en-US" dirty="0"/>
              <a:t>architecture (self-attention) to learn standardized representations​</a:t>
            </a:r>
          </a:p>
          <a:p>
            <a:endParaRPr lang="en-US" dirty="0"/>
          </a:p>
        </p:txBody>
      </p:sp>
      <p:sp>
        <p:nvSpPr>
          <p:cNvPr id="4" name="Slide Number Placeholder 3"/>
          <p:cNvSpPr>
            <a:spLocks noGrp="1"/>
          </p:cNvSpPr>
          <p:nvPr>
            <p:ph type="sldNum" sz="quarter" idx="5"/>
          </p:nvPr>
        </p:nvSpPr>
        <p:spPr/>
        <p:txBody>
          <a:bodyPr/>
          <a:lstStyle/>
          <a:p>
            <a:fld id="{75E2A932-D92D-F44D-8EC9-7008C692AB9B}" type="slidenum">
              <a:rPr lang="en-US" smtClean="0"/>
              <a:t>17</a:t>
            </a:fld>
            <a:endParaRPr lang="en-US"/>
          </a:p>
        </p:txBody>
      </p:sp>
    </p:spTree>
    <p:extLst>
      <p:ext uri="{BB962C8B-B14F-4D97-AF65-F5344CB8AC3E}">
        <p14:creationId xmlns:p14="http://schemas.microsoft.com/office/powerpoint/2010/main" val="1174721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912B7-33B3-9C48-5DF6-D3E9F17ED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BB54E-922D-97DB-0653-CB200ACBFB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DA88CDF-C1F4-ED90-E39D-F915F254C1A6}"/>
              </a:ext>
            </a:extLst>
          </p:cNvPr>
          <p:cNvSpPr>
            <a:spLocks noGrp="1"/>
          </p:cNvSpPr>
          <p:nvPr>
            <p:ph type="body" idx="1"/>
          </p:nvPr>
        </p:nvSpPr>
        <p:spPr/>
        <p:txBody>
          <a:bodyPr/>
          <a:lstStyle/>
          <a:p>
            <a:r>
              <a:rPr lang="en-US" dirty="0"/>
              <a:t>Step 1:</a:t>
            </a:r>
          </a:p>
          <a:p>
            <a:endParaRPr lang="en-US" dirty="0"/>
          </a:p>
          <a:p>
            <a:r>
              <a:rPr lang="en-US" dirty="0"/>
              <a:t>Step 3:</a:t>
            </a:r>
          </a:p>
          <a:p>
            <a:r>
              <a:rPr lang="en-US" dirty="0"/>
              <a:t>The ROI-to-voxel connectivity vectors are:</a:t>
            </a:r>
          </a:p>
          <a:p>
            <a:pPr fontAlgn="ctr"/>
            <a:r>
              <a:rPr lang="en-US" dirty="0"/>
              <a:t>Projected to lower dimensions via PCA</a:t>
            </a:r>
          </a:p>
          <a:p>
            <a:pPr fontAlgn="ctr"/>
            <a:r>
              <a:rPr lang="en-US" dirty="0"/>
              <a:t>Organized into multi-channel brain maps in 3D space</a:t>
            </a:r>
          </a:p>
          <a:p>
            <a:pPr fontAlgn="ctr"/>
            <a:r>
              <a:rPr lang="en-US" dirty="0"/>
              <a:t>Partitioned into overlapping 3D blocks</a:t>
            </a:r>
          </a:p>
          <a:p>
            <a:pPr fontAlgn="ctr"/>
            <a:r>
              <a:rPr lang="en-US" dirty="0"/>
              <a:t>Processed through </a:t>
            </a:r>
            <a:r>
              <a:rPr lang="en-US" i="1" dirty="0"/>
              <a:t>TRANSFORMER </a:t>
            </a:r>
            <a:r>
              <a:rPr lang="en-US" dirty="0"/>
              <a:t>architecture (self-attention) to learn standardized representations​</a:t>
            </a:r>
          </a:p>
          <a:p>
            <a:endParaRPr lang="en-US" dirty="0"/>
          </a:p>
        </p:txBody>
      </p:sp>
      <p:sp>
        <p:nvSpPr>
          <p:cNvPr id="4" name="Slide Number Placeholder 3">
            <a:extLst>
              <a:ext uri="{FF2B5EF4-FFF2-40B4-BE49-F238E27FC236}">
                <a16:creationId xmlns:a16="http://schemas.microsoft.com/office/drawing/2014/main" id="{8A5194E8-6AA3-D877-669B-2AFC6F2FB9EB}"/>
              </a:ext>
            </a:extLst>
          </p:cNvPr>
          <p:cNvSpPr>
            <a:spLocks noGrp="1"/>
          </p:cNvSpPr>
          <p:nvPr>
            <p:ph type="sldNum" sz="quarter" idx="5"/>
          </p:nvPr>
        </p:nvSpPr>
        <p:spPr/>
        <p:txBody>
          <a:bodyPr/>
          <a:lstStyle/>
          <a:p>
            <a:fld id="{75E2A932-D92D-F44D-8EC9-7008C692AB9B}" type="slidenum">
              <a:rPr lang="en-US" smtClean="0"/>
              <a:t>18</a:t>
            </a:fld>
            <a:endParaRPr lang="en-US"/>
          </a:p>
        </p:txBody>
      </p:sp>
    </p:spTree>
    <p:extLst>
      <p:ext uri="{BB962C8B-B14F-4D97-AF65-F5344CB8AC3E}">
        <p14:creationId xmlns:p14="http://schemas.microsoft.com/office/powerpoint/2010/main" val="2623693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B515C-A5B5-FFCB-CF03-791665837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6F3AB-670C-E07B-1F7A-0822CB8CE3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FE62E2-2233-557C-D716-CC60EDEAD42D}"/>
              </a:ext>
            </a:extLst>
          </p:cNvPr>
          <p:cNvSpPr>
            <a:spLocks noGrp="1"/>
          </p:cNvSpPr>
          <p:nvPr>
            <p:ph type="body" idx="1"/>
          </p:nvPr>
        </p:nvSpPr>
        <p:spPr/>
        <p:txBody>
          <a:bodyPr/>
          <a:lstStyle/>
          <a:p>
            <a:r>
              <a:rPr lang="en-US" dirty="0"/>
              <a:t>Step 1:</a:t>
            </a:r>
          </a:p>
          <a:p>
            <a:endParaRPr lang="en-US" dirty="0"/>
          </a:p>
          <a:p>
            <a:r>
              <a:rPr lang="en-US" dirty="0"/>
              <a:t>Step 3:</a:t>
            </a:r>
          </a:p>
          <a:p>
            <a:r>
              <a:rPr lang="en-US" dirty="0"/>
              <a:t>The ROI-to-voxel connectivity vectors are:</a:t>
            </a:r>
          </a:p>
          <a:p>
            <a:pPr fontAlgn="ctr"/>
            <a:r>
              <a:rPr lang="en-US" dirty="0"/>
              <a:t>Projected to lower dimensions via PCA</a:t>
            </a:r>
          </a:p>
          <a:p>
            <a:pPr fontAlgn="ctr"/>
            <a:r>
              <a:rPr lang="en-US" dirty="0"/>
              <a:t>Organized into multi-channel brain maps in 3D space</a:t>
            </a:r>
          </a:p>
          <a:p>
            <a:pPr fontAlgn="ctr"/>
            <a:r>
              <a:rPr lang="en-US" dirty="0"/>
              <a:t>Partitioned into overlapping 3D blocks</a:t>
            </a:r>
          </a:p>
          <a:p>
            <a:pPr fontAlgn="ctr"/>
            <a:r>
              <a:rPr lang="en-US" dirty="0"/>
              <a:t>Processed through </a:t>
            </a:r>
            <a:r>
              <a:rPr lang="en-US" i="1" dirty="0"/>
              <a:t>TRANSFORMER </a:t>
            </a:r>
            <a:r>
              <a:rPr lang="en-US" dirty="0"/>
              <a:t>architecture (self-attention) to learn standardized representations​</a:t>
            </a:r>
          </a:p>
          <a:p>
            <a:endParaRPr lang="en-US" dirty="0"/>
          </a:p>
        </p:txBody>
      </p:sp>
      <p:sp>
        <p:nvSpPr>
          <p:cNvPr id="4" name="Slide Number Placeholder 3">
            <a:extLst>
              <a:ext uri="{FF2B5EF4-FFF2-40B4-BE49-F238E27FC236}">
                <a16:creationId xmlns:a16="http://schemas.microsoft.com/office/drawing/2014/main" id="{CBDDE1C9-3533-BD2C-B48A-D5F5A3BEE593}"/>
              </a:ext>
            </a:extLst>
          </p:cNvPr>
          <p:cNvSpPr>
            <a:spLocks noGrp="1"/>
          </p:cNvSpPr>
          <p:nvPr>
            <p:ph type="sldNum" sz="quarter" idx="5"/>
          </p:nvPr>
        </p:nvSpPr>
        <p:spPr/>
        <p:txBody>
          <a:bodyPr/>
          <a:lstStyle/>
          <a:p>
            <a:fld id="{75E2A932-D92D-F44D-8EC9-7008C692AB9B}" type="slidenum">
              <a:rPr lang="en-US" smtClean="0"/>
              <a:t>19</a:t>
            </a:fld>
            <a:endParaRPr lang="en-US"/>
          </a:p>
        </p:txBody>
      </p:sp>
    </p:spTree>
    <p:extLst>
      <p:ext uri="{BB962C8B-B14F-4D97-AF65-F5344CB8AC3E}">
        <p14:creationId xmlns:p14="http://schemas.microsoft.com/office/powerpoint/2010/main" val="2634449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Since we want to keep GNNs</a:t>
            </a:r>
          </a:p>
          <a:p>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GNNExplainer</a:t>
            </a:r>
            <a:r>
              <a:rPr lang="en-US" sz="1200" kern="1200" dirty="0">
                <a:solidFill>
                  <a:schemeClr val="tx1"/>
                </a:solidFill>
                <a:effectLst/>
                <a:latin typeface="+mn-lt"/>
                <a:ea typeface="+mn-ea"/>
                <a:cs typeface="+mn-cs"/>
              </a:rPr>
              <a:t> explains a</a:t>
            </a:r>
            <a:r>
              <a:rPr lang="de-DE" sz="1200" kern="1200" dirty="0">
                <a:solidFill>
                  <a:schemeClr val="tx1"/>
                </a:solidFill>
                <a:effectLst/>
                <a:latin typeface="+mn-lt"/>
                <a:ea typeface="+mn-ea"/>
                <a:cs typeface="+mn-cs"/>
              </a:rPr>
              <a:t> </a:t>
            </a:r>
            <a:r>
              <a:rPr lang="de-DE" sz="1200" b="1" kern="1200" dirty="0" err="1">
                <a:solidFill>
                  <a:schemeClr val="tx1"/>
                </a:solidFill>
                <a:effectLst/>
                <a:latin typeface="+mn-lt"/>
                <a:ea typeface="+mn-ea"/>
                <a:cs typeface="+mn-cs"/>
              </a:rPr>
              <a:t>prediction</a:t>
            </a:r>
            <a:r>
              <a:rPr lang="de-DE"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of a trained GNN by learning:</a:t>
            </a:r>
          </a:p>
          <a:p>
            <a:pPr rtl="0" fontAlgn="ctr"/>
            <a:r>
              <a:rPr lang="en-US" sz="1200" kern="1200" dirty="0">
                <a:solidFill>
                  <a:schemeClr val="tx1"/>
                </a:solidFill>
                <a:effectLst/>
                <a:latin typeface="+mn-lt"/>
                <a:ea typeface="+mn-ea"/>
                <a:cs typeface="+mn-cs"/>
              </a:rPr>
              <a:t>an</a:t>
            </a:r>
            <a:r>
              <a:rPr lang="de-DE" sz="1200" kern="1200" dirty="0">
                <a:solidFill>
                  <a:schemeClr val="tx1"/>
                </a:solidFill>
                <a:effectLst/>
                <a:latin typeface="+mn-lt"/>
                <a:ea typeface="+mn-ea"/>
                <a:cs typeface="+mn-cs"/>
              </a:rPr>
              <a:t> </a:t>
            </a:r>
            <a:r>
              <a:rPr lang="de-DE" sz="1200" b="1" kern="1200" dirty="0" err="1">
                <a:solidFill>
                  <a:schemeClr val="tx1"/>
                </a:solidFill>
                <a:effectLst/>
                <a:latin typeface="+mn-lt"/>
                <a:ea typeface="+mn-ea"/>
                <a:cs typeface="+mn-cs"/>
              </a:rPr>
              <a:t>edge</a:t>
            </a:r>
            <a:r>
              <a:rPr lang="de-DE" sz="1200" b="1" kern="1200" dirty="0">
                <a:solidFill>
                  <a:schemeClr val="tx1"/>
                </a:solidFill>
                <a:effectLst/>
                <a:latin typeface="+mn-lt"/>
                <a:ea typeface="+mn-ea"/>
                <a:cs typeface="+mn-cs"/>
              </a:rPr>
              <a:t> </a:t>
            </a:r>
            <a:r>
              <a:rPr lang="de-DE" sz="1200" b="1" kern="1200" dirty="0" err="1">
                <a:solidFill>
                  <a:schemeClr val="tx1"/>
                </a:solidFill>
                <a:effectLst/>
                <a:latin typeface="+mn-lt"/>
                <a:ea typeface="+mn-ea"/>
                <a:cs typeface="+mn-cs"/>
              </a:rPr>
              <a:t>mask</a:t>
            </a:r>
            <a:r>
              <a:rPr lang="de-DE"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(important subgraph), and</a:t>
            </a:r>
          </a:p>
          <a:p>
            <a:pPr rtl="0" fontAlgn="ctr"/>
            <a:r>
              <a:rPr lang="en-US" sz="1200" kern="1200" dirty="0">
                <a:solidFill>
                  <a:schemeClr val="tx1"/>
                </a:solidFill>
                <a:effectLst/>
                <a:latin typeface="+mn-lt"/>
                <a:ea typeface="+mn-ea"/>
                <a:cs typeface="+mn-cs"/>
              </a:rPr>
              <a:t>a</a:t>
            </a:r>
            <a:r>
              <a:rPr lang="de-DE" sz="1200" kern="1200" dirty="0">
                <a:solidFill>
                  <a:schemeClr val="tx1"/>
                </a:solidFill>
                <a:effectLst/>
                <a:latin typeface="+mn-lt"/>
                <a:ea typeface="+mn-ea"/>
                <a:cs typeface="+mn-cs"/>
              </a:rPr>
              <a:t> </a:t>
            </a:r>
            <a:r>
              <a:rPr lang="de-DE" sz="1200" b="1" kern="1200" dirty="0">
                <a:solidFill>
                  <a:schemeClr val="tx1"/>
                </a:solidFill>
                <a:effectLst/>
                <a:latin typeface="+mn-lt"/>
                <a:ea typeface="+mn-ea"/>
                <a:cs typeface="+mn-cs"/>
              </a:rPr>
              <a:t>feature </a:t>
            </a:r>
            <a:r>
              <a:rPr lang="de-DE" sz="1200" b="1" kern="1200" dirty="0" err="1">
                <a:solidFill>
                  <a:schemeClr val="tx1"/>
                </a:solidFill>
                <a:effectLst/>
                <a:latin typeface="+mn-lt"/>
                <a:ea typeface="+mn-ea"/>
                <a:cs typeface="+mn-cs"/>
              </a:rPr>
              <a:t>mask</a:t>
            </a:r>
            <a:r>
              <a:rPr lang="de-DE"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(important feature dimensions),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such that, using only the masked graph/features, the model’s output for that target stays almost the same.</a:t>
            </a:r>
          </a:p>
          <a:p>
            <a:r>
              <a:rPr lang="en-US" sz="1200" kern="1200" dirty="0">
                <a:solidFill>
                  <a:schemeClr val="tx1"/>
                </a:solidFill>
                <a:effectLst/>
                <a:latin typeface="+mn-lt"/>
                <a:ea typeface="+mn-ea"/>
                <a:cs typeface="+mn-cs"/>
              </a:rPr>
              <a:t>---&gt;Then </a:t>
            </a:r>
            <a:r>
              <a:rPr lang="en-US" sz="1200" kern="1200" dirty="0" err="1">
                <a:solidFill>
                  <a:schemeClr val="tx1"/>
                </a:solidFill>
                <a:effectLst/>
                <a:latin typeface="+mn-lt"/>
                <a:ea typeface="+mn-ea"/>
                <a:cs typeface="+mn-cs"/>
              </a:rPr>
              <a:t>GNNExplainer</a:t>
            </a:r>
            <a:r>
              <a:rPr lang="en-US" sz="1200" kern="1200" dirty="0">
                <a:solidFill>
                  <a:schemeClr val="tx1"/>
                </a:solidFill>
                <a:effectLst/>
                <a:latin typeface="+mn-lt"/>
                <a:ea typeface="+mn-ea"/>
                <a:cs typeface="+mn-cs"/>
              </a:rPr>
              <a:t> can tell you:</a:t>
            </a:r>
          </a:p>
          <a:p>
            <a:r>
              <a:rPr lang="en-US" sz="1200" kern="1200" dirty="0">
                <a:solidFill>
                  <a:schemeClr val="tx1"/>
                </a:solidFill>
                <a:effectLst/>
                <a:latin typeface="+mn-lt"/>
                <a:ea typeface="+mn-ea"/>
                <a:cs typeface="+mn-cs"/>
              </a:rPr>
              <a:t>which</a:t>
            </a:r>
            <a:r>
              <a:rPr lang="de-DE" sz="1200" kern="1200" dirty="0">
                <a:solidFill>
                  <a:schemeClr val="tx1"/>
                </a:solidFill>
                <a:effectLst/>
                <a:latin typeface="+mn-lt"/>
                <a:ea typeface="+mn-ea"/>
                <a:cs typeface="+mn-cs"/>
              </a:rPr>
              <a:t> </a:t>
            </a:r>
            <a:r>
              <a:rPr lang="de-DE" sz="1200" b="1" kern="1200" dirty="0" err="1">
                <a:solidFill>
                  <a:schemeClr val="tx1"/>
                </a:solidFill>
                <a:effectLst/>
                <a:latin typeface="+mn-lt"/>
                <a:ea typeface="+mn-ea"/>
                <a:cs typeface="+mn-cs"/>
              </a:rPr>
              <a:t>neighboring</a:t>
            </a:r>
            <a:r>
              <a:rPr lang="de-DE" sz="1200" b="1" kern="1200" dirty="0">
                <a:solidFill>
                  <a:schemeClr val="tx1"/>
                </a:solidFill>
                <a:effectLst/>
                <a:latin typeface="+mn-lt"/>
                <a:ea typeface="+mn-ea"/>
                <a:cs typeface="+mn-cs"/>
              </a:rPr>
              <a:t> </a:t>
            </a:r>
            <a:r>
              <a:rPr lang="de-DE" sz="1200" b="1" kern="1200" dirty="0" err="1">
                <a:solidFill>
                  <a:schemeClr val="tx1"/>
                </a:solidFill>
                <a:effectLst/>
                <a:latin typeface="+mn-lt"/>
                <a:ea typeface="+mn-ea"/>
                <a:cs typeface="+mn-cs"/>
              </a:rPr>
              <a:t>nodes</a:t>
            </a:r>
            <a:r>
              <a:rPr lang="de-DE" sz="1200" b="1" kern="1200" dirty="0">
                <a:solidFill>
                  <a:schemeClr val="tx1"/>
                </a:solidFill>
                <a:effectLst/>
                <a:latin typeface="+mn-lt"/>
                <a:ea typeface="+mn-ea"/>
                <a:cs typeface="+mn-cs"/>
              </a:rPr>
              <a:t>/</a:t>
            </a:r>
            <a:r>
              <a:rPr lang="de-DE" sz="1200" b="1" kern="1200" dirty="0" err="1">
                <a:solidFill>
                  <a:schemeClr val="tx1"/>
                </a:solidFill>
                <a:effectLst/>
                <a:latin typeface="+mn-lt"/>
                <a:ea typeface="+mn-ea"/>
                <a:cs typeface="+mn-cs"/>
              </a:rPr>
              <a:t>edges</a:t>
            </a:r>
            <a:r>
              <a:rPr lang="de-DE"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most affect that reconstruction,</a:t>
            </a:r>
          </a:p>
          <a:p>
            <a:r>
              <a:rPr lang="en-US" sz="1200" kern="1200" dirty="0">
                <a:solidFill>
                  <a:schemeClr val="tx1"/>
                </a:solidFill>
                <a:effectLst/>
                <a:latin typeface="+mn-lt"/>
                <a:ea typeface="+mn-ea"/>
                <a:cs typeface="+mn-cs"/>
              </a:rPr>
              <a:t>which</a:t>
            </a:r>
            <a:r>
              <a:rPr lang="de-DE" sz="1200" kern="1200" dirty="0">
                <a:solidFill>
                  <a:schemeClr val="tx1"/>
                </a:solidFill>
                <a:effectLst/>
                <a:latin typeface="+mn-lt"/>
                <a:ea typeface="+mn-ea"/>
                <a:cs typeface="+mn-cs"/>
              </a:rPr>
              <a:t> </a:t>
            </a:r>
            <a:r>
              <a:rPr lang="de-DE" sz="1200" b="1" kern="1200" dirty="0" err="1">
                <a:solidFill>
                  <a:schemeClr val="tx1"/>
                </a:solidFill>
                <a:effectLst/>
                <a:latin typeface="+mn-lt"/>
                <a:ea typeface="+mn-ea"/>
                <a:cs typeface="+mn-cs"/>
              </a:rPr>
              <a:t>input</a:t>
            </a:r>
            <a:r>
              <a:rPr lang="de-DE" sz="1200" b="1" kern="1200" dirty="0">
                <a:solidFill>
                  <a:schemeClr val="tx1"/>
                </a:solidFill>
                <a:effectLst/>
                <a:latin typeface="+mn-lt"/>
                <a:ea typeface="+mn-ea"/>
                <a:cs typeface="+mn-cs"/>
              </a:rPr>
              <a:t> feature </a:t>
            </a:r>
            <a:r>
              <a:rPr lang="de-DE" sz="1200" b="1" kern="1200" dirty="0" err="1">
                <a:solidFill>
                  <a:schemeClr val="tx1"/>
                </a:solidFill>
                <a:effectLst/>
                <a:latin typeface="+mn-lt"/>
                <a:ea typeface="+mn-ea"/>
                <a:cs typeface="+mn-cs"/>
              </a:rPr>
              <a:t>dimensions</a:t>
            </a:r>
            <a:r>
              <a:rPr lang="de-DE"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(of node</a:t>
            </a:r>
            <a:r>
              <a:rPr lang="de-DE" sz="1200" kern="1200" dirty="0">
                <a:solidFill>
                  <a:schemeClr val="tx1"/>
                </a:solidFill>
                <a:effectLst/>
                <a:latin typeface="+mn-lt"/>
                <a:ea typeface="+mn-ea"/>
                <a:cs typeface="+mn-cs"/>
              </a:rPr>
              <a:t> i</a:t>
            </a:r>
            <a:r>
              <a:rPr lang="de-DE" sz="1200" i="1" kern="1200" dirty="0">
                <a:solidFill>
                  <a:schemeClr val="tx1"/>
                </a:solidFill>
                <a:effectLst/>
                <a:latin typeface="+mn-lt"/>
                <a:ea typeface="+mn-ea"/>
                <a:cs typeface="+mn-cs"/>
              </a:rPr>
              <a:t>i</a:t>
            </a:r>
            <a:r>
              <a:rPr lang="de-DE"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and its neighbors) matter most.</a:t>
            </a:r>
          </a:p>
          <a:p>
            <a:endParaRPr lang="en-US" dirty="0"/>
          </a:p>
        </p:txBody>
      </p:sp>
      <p:sp>
        <p:nvSpPr>
          <p:cNvPr id="4" name="Slide Number Placeholder 3"/>
          <p:cNvSpPr>
            <a:spLocks noGrp="1"/>
          </p:cNvSpPr>
          <p:nvPr>
            <p:ph type="sldNum" sz="quarter" idx="5"/>
          </p:nvPr>
        </p:nvSpPr>
        <p:spPr/>
        <p:txBody>
          <a:bodyPr/>
          <a:lstStyle/>
          <a:p>
            <a:fld id="{75E2A932-D92D-F44D-8EC9-7008C692AB9B}" type="slidenum">
              <a:rPr lang="en-US" smtClean="0"/>
              <a:t>21</a:t>
            </a:fld>
            <a:endParaRPr lang="en-US"/>
          </a:p>
        </p:txBody>
      </p:sp>
    </p:spTree>
    <p:extLst>
      <p:ext uri="{BB962C8B-B14F-4D97-AF65-F5344CB8AC3E}">
        <p14:creationId xmlns:p14="http://schemas.microsoft.com/office/powerpoint/2010/main" val="506264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don’t want my focus just to improve the accuracy of a single model</a:t>
            </a:r>
          </a:p>
        </p:txBody>
      </p:sp>
      <p:sp>
        <p:nvSpPr>
          <p:cNvPr id="4" name="Slide Number Placeholder 3"/>
          <p:cNvSpPr>
            <a:spLocks noGrp="1"/>
          </p:cNvSpPr>
          <p:nvPr>
            <p:ph type="sldNum" sz="quarter" idx="5"/>
          </p:nvPr>
        </p:nvSpPr>
        <p:spPr/>
        <p:txBody>
          <a:bodyPr/>
          <a:lstStyle/>
          <a:p>
            <a:fld id="{75E2A932-D92D-F44D-8EC9-7008C692AB9B}" type="slidenum">
              <a:rPr lang="en-US" smtClean="0"/>
              <a:t>26</a:t>
            </a:fld>
            <a:endParaRPr lang="en-US"/>
          </a:p>
        </p:txBody>
      </p:sp>
    </p:spTree>
    <p:extLst>
      <p:ext uri="{BB962C8B-B14F-4D97-AF65-F5344CB8AC3E}">
        <p14:creationId xmlns:p14="http://schemas.microsoft.com/office/powerpoint/2010/main" val="1428249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40025" y="500063"/>
            <a:ext cx="4445000" cy="2500312"/>
          </a:xfrm>
        </p:spPr>
        <p:txBody>
          <a:bodyPr/>
          <a:lstStyle/>
          <a:p>
            <a:endParaRPr lang="en-US"/>
          </a:p>
        </p:txBody>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28</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29</a:t>
            </a:fld>
            <a:endParaRPr lang="en-GB"/>
          </a:p>
        </p:txBody>
      </p:sp>
    </p:spTree>
    <p:extLst>
      <p:ext uri="{BB962C8B-B14F-4D97-AF65-F5344CB8AC3E}">
        <p14:creationId xmlns:p14="http://schemas.microsoft.com/office/powerpoint/2010/main" val="493633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30</a:t>
            </a:fld>
            <a:endParaRPr lang="en-GB"/>
          </a:p>
        </p:txBody>
      </p:sp>
    </p:spTree>
    <p:extLst>
      <p:ext uri="{BB962C8B-B14F-4D97-AF65-F5344CB8AC3E}">
        <p14:creationId xmlns:p14="http://schemas.microsoft.com/office/powerpoint/2010/main" val="29436922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A2210-ED38-1070-F514-3F5D79872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6669C-576D-5A56-8819-94ECB6E211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8D9C6E-0534-C607-CEC0-DF1F54ED2D4E}"/>
              </a:ext>
            </a:extLst>
          </p:cNvPr>
          <p:cNvSpPr>
            <a:spLocks noGrp="1"/>
          </p:cNvSpPr>
          <p:nvPr>
            <p:ph type="body" idx="1"/>
          </p:nvPr>
        </p:nvSpPr>
        <p:spPr/>
        <p:txBody>
          <a:bodyPr/>
          <a:lstStyle/>
          <a:p>
            <a:r>
              <a:rPr lang="en-US" sz="1200" b="1" i="0" u="none" strike="noStrike" kern="1200" dirty="0">
                <a:solidFill>
                  <a:schemeClr val="tx1"/>
                </a:solidFill>
                <a:effectLst/>
                <a:latin typeface="Arial" pitchFamily="34" charset="0"/>
                <a:ea typeface="+mn-ea"/>
                <a:cs typeface="Arial" pitchFamily="34" charset="0"/>
              </a:rPr>
              <a:t>DAT</a:t>
            </a:r>
            <a:r>
              <a:rPr lang="en-US" sz="1200" b="0" i="0" u="none" strike="noStrike" kern="1200" dirty="0">
                <a:solidFill>
                  <a:schemeClr val="tx1"/>
                </a:solidFill>
                <a:effectLst/>
                <a:latin typeface="Arial" pitchFamily="34" charset="0"/>
                <a:ea typeface="+mn-ea"/>
                <a:cs typeface="Arial" pitchFamily="34" charset="0"/>
              </a:rPr>
              <a:t>: </a:t>
            </a:r>
            <a:r>
              <a:rPr lang="en-US" sz="1200" b="1" i="0" u="none" strike="noStrike" kern="1200" dirty="0">
                <a:solidFill>
                  <a:schemeClr val="tx1"/>
                </a:solidFill>
                <a:effectLst/>
                <a:latin typeface="Arial" pitchFamily="34" charset="0"/>
                <a:ea typeface="+mn-ea"/>
                <a:cs typeface="Arial" pitchFamily="34" charset="0"/>
              </a:rPr>
              <a:t>Dementia of the Alzheimer's Type</a:t>
            </a:r>
          </a:p>
          <a:p>
            <a:r>
              <a:rPr lang="en-US" sz="1200" b="1" i="0" u="none" strike="noStrike" kern="1200" dirty="0">
                <a:solidFill>
                  <a:schemeClr val="tx1"/>
                </a:solidFill>
                <a:effectLst/>
                <a:latin typeface="Arial" pitchFamily="34" charset="0"/>
                <a:ea typeface="+mn-ea"/>
                <a:cs typeface="Arial" pitchFamily="34" charset="0"/>
              </a:rPr>
              <a:t>A+</a:t>
            </a:r>
            <a:r>
              <a:rPr lang="en-US" sz="1200" b="0" i="0" u="none" strike="noStrike" kern="1200" dirty="0">
                <a:solidFill>
                  <a:schemeClr val="tx1"/>
                </a:solidFill>
                <a:effectLst/>
                <a:latin typeface="Arial" pitchFamily="34" charset="0"/>
                <a:ea typeface="+mn-ea"/>
                <a:cs typeface="Arial" pitchFamily="34" charset="0"/>
              </a:rPr>
              <a:t>: </a:t>
            </a:r>
            <a:r>
              <a:rPr lang="en-US" sz="1200" b="1" i="0" u="none" strike="noStrike" kern="1200" dirty="0">
                <a:solidFill>
                  <a:schemeClr val="tx1"/>
                </a:solidFill>
                <a:effectLst/>
                <a:latin typeface="Arial" pitchFamily="34" charset="0"/>
                <a:ea typeface="+mn-ea"/>
                <a:cs typeface="Arial" pitchFamily="34" charset="0"/>
              </a:rPr>
              <a:t>amyloid positive</a:t>
            </a:r>
            <a:endParaRPr lang="en-US" dirty="0"/>
          </a:p>
        </p:txBody>
      </p:sp>
      <p:sp>
        <p:nvSpPr>
          <p:cNvPr id="4" name="Slide Number Placeholder 3">
            <a:extLst>
              <a:ext uri="{FF2B5EF4-FFF2-40B4-BE49-F238E27FC236}">
                <a16:creationId xmlns:a16="http://schemas.microsoft.com/office/drawing/2014/main" id="{7DE6F4B6-4C08-B69A-6F3F-E35C8EB339A7}"/>
              </a:ext>
            </a:extLst>
          </p:cNvPr>
          <p:cNvSpPr>
            <a:spLocks noGrp="1"/>
          </p:cNvSpPr>
          <p:nvPr>
            <p:ph type="sldNum" sz="quarter" idx="5"/>
          </p:nvPr>
        </p:nvSpPr>
        <p:spPr/>
        <p:txBody>
          <a:bodyPr/>
          <a:lstStyle/>
          <a:p>
            <a:pPr>
              <a:defRPr/>
            </a:pPr>
            <a:fld id="{00AFC6D0-44D5-4EB7-828F-6F464F83D79A}" type="slidenum">
              <a:rPr lang="en-GB" smtClean="0"/>
              <a:pPr>
                <a:defRPr/>
              </a:pPr>
              <a:t>31</a:t>
            </a:fld>
            <a:endParaRPr lang="en-GB"/>
          </a:p>
        </p:txBody>
      </p:sp>
    </p:spTree>
    <p:extLst>
      <p:ext uri="{BB962C8B-B14F-4D97-AF65-F5344CB8AC3E}">
        <p14:creationId xmlns:p14="http://schemas.microsoft.com/office/powerpoint/2010/main" val="19794329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FiLM: </a:t>
            </a:r>
            <a:r>
              <a:rPr lang="en-US" sz="1200" b="1" noProof="0" dirty="0"/>
              <a:t>Feature-wise Linear Modulation </a:t>
            </a:r>
            <a:endParaRPr lang="en-US" b="1"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32</a:t>
            </a:fld>
            <a:endParaRPr lang="en-GB"/>
          </a:p>
        </p:txBody>
      </p:sp>
    </p:spTree>
    <p:extLst>
      <p:ext uri="{BB962C8B-B14F-4D97-AF65-F5344CB8AC3E}">
        <p14:creationId xmlns:p14="http://schemas.microsoft.com/office/powerpoint/2010/main" val="23701506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09511-7C8E-95EB-D0B8-49F54D9FA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9ECF8-D665-6AD9-666F-90701E60F9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858237-1E67-4D78-3A8F-A4F553014E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6D3B97-EA1A-5D26-10C7-46F6030D4B8F}"/>
              </a:ext>
            </a:extLst>
          </p:cNvPr>
          <p:cNvSpPr>
            <a:spLocks noGrp="1"/>
          </p:cNvSpPr>
          <p:nvPr>
            <p:ph type="sldNum" sz="quarter" idx="5"/>
          </p:nvPr>
        </p:nvSpPr>
        <p:spPr/>
        <p:txBody>
          <a:bodyPr/>
          <a:lstStyle/>
          <a:p>
            <a:pPr>
              <a:defRPr/>
            </a:pPr>
            <a:fld id="{00AFC6D0-44D5-4EB7-828F-6F464F83D79A}" type="slidenum">
              <a:rPr lang="en-GB" smtClean="0"/>
              <a:pPr>
                <a:defRPr/>
              </a:pPr>
              <a:t>33</a:t>
            </a:fld>
            <a:endParaRPr lang="en-GB"/>
          </a:p>
        </p:txBody>
      </p:sp>
    </p:spTree>
    <p:extLst>
      <p:ext uri="{BB962C8B-B14F-4D97-AF65-F5344CB8AC3E}">
        <p14:creationId xmlns:p14="http://schemas.microsoft.com/office/powerpoint/2010/main" val="184372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34</a:t>
            </a:fld>
            <a:endParaRPr lang="en-GB"/>
          </a:p>
        </p:txBody>
      </p:sp>
    </p:spTree>
    <p:extLst>
      <p:ext uri="{BB962C8B-B14F-4D97-AF65-F5344CB8AC3E}">
        <p14:creationId xmlns:p14="http://schemas.microsoft.com/office/powerpoint/2010/main" val="1842658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CE680-E477-66D4-685A-F113194F1F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5B278-858B-DD0C-B19B-E0C0E272F6C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92A2DF4-87CD-B20D-934E-649D6F5E59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A1B961-8087-6621-248C-33D53479E27B}"/>
              </a:ext>
            </a:extLst>
          </p:cNvPr>
          <p:cNvSpPr>
            <a:spLocks noGrp="1"/>
          </p:cNvSpPr>
          <p:nvPr>
            <p:ph type="sldNum" sz="quarter" idx="5"/>
          </p:nvPr>
        </p:nvSpPr>
        <p:spPr/>
        <p:txBody>
          <a:bodyPr/>
          <a:lstStyle/>
          <a:p>
            <a:pPr>
              <a:defRPr/>
            </a:pPr>
            <a:fld id="{00AFC6D0-44D5-4EB7-828F-6F464F83D79A}" type="slidenum">
              <a:rPr lang="en-GB" smtClean="0"/>
              <a:pPr>
                <a:defRPr/>
              </a:pPr>
              <a:t>35</a:t>
            </a:fld>
            <a:endParaRPr lang="en-GB"/>
          </a:p>
        </p:txBody>
      </p:sp>
    </p:spTree>
    <p:extLst>
      <p:ext uri="{BB962C8B-B14F-4D97-AF65-F5344CB8AC3E}">
        <p14:creationId xmlns:p14="http://schemas.microsoft.com/office/powerpoint/2010/main" val="32162272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37</a:t>
            </a:fld>
            <a:endParaRPr lang="en-GB"/>
          </a:p>
        </p:txBody>
      </p:sp>
    </p:spTree>
    <p:extLst>
      <p:ext uri="{BB962C8B-B14F-4D97-AF65-F5344CB8AC3E}">
        <p14:creationId xmlns:p14="http://schemas.microsoft.com/office/powerpoint/2010/main" val="4038816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40025" y="500063"/>
            <a:ext cx="4445000" cy="2500312"/>
          </a:xfrm>
        </p:spPr>
        <p:txBody>
          <a:bodyPr/>
          <a:lstStyle/>
          <a:p>
            <a:endParaRPr lang="en-US"/>
          </a:p>
        </p:txBody>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40</a:t>
            </a:fld>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41</a:t>
            </a:fld>
            <a:endParaRPr lang="en-GB"/>
          </a:p>
        </p:txBody>
      </p:sp>
    </p:spTree>
    <p:extLst>
      <p:ext uri="{BB962C8B-B14F-4D97-AF65-F5344CB8AC3E}">
        <p14:creationId xmlns:p14="http://schemas.microsoft.com/office/powerpoint/2010/main" val="4936331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PERMANOVA tests whether the overall connectivity patterns differ between converters and non-converters. </a:t>
            </a:r>
            <a:br>
              <a:rPr lang="en-US" sz="1200" b="0" kern="1200" dirty="0">
                <a:solidFill>
                  <a:schemeClr val="tx1"/>
                </a:solidFill>
                <a:effectLst/>
                <a:latin typeface="Arial" pitchFamily="34" charset="0"/>
                <a:ea typeface="+mn-ea"/>
                <a:cs typeface="Arial" pitchFamily="34" charset="0"/>
              </a:rPr>
            </a:br>
            <a:endParaRPr lang="en-US" sz="1200" b="0" kern="1200" dirty="0">
              <a:solidFill>
                <a:schemeClr val="tx1"/>
              </a:solidFill>
              <a:effectLst/>
              <a:latin typeface="Arial" pitchFamily="34" charset="0"/>
              <a:ea typeface="+mn-ea"/>
              <a:cs typeface="Arial"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A significant p-value (&lt; 0.05) indicates that the groups have different multivariate distributions. The R² value shows how much variance is explained by group membership.</a:t>
            </a:r>
          </a:p>
          <a:p>
            <a:endParaRPr lang="en-US" sz="1200" b="1" i="0" kern="1200" dirty="0">
              <a:solidFill>
                <a:schemeClr val="tx1"/>
              </a:solidFill>
              <a:effectLst/>
              <a:latin typeface="Arial" pitchFamily="34" charset="0"/>
              <a:ea typeface="+mn-ea"/>
              <a:cs typeface="Arial" pitchFamily="34" charset="0"/>
            </a:endParaRPr>
          </a:p>
          <a:p>
            <a:r>
              <a:rPr lang="en-US" sz="1200" b="1" i="0" kern="1200" dirty="0">
                <a:solidFill>
                  <a:schemeClr val="tx1"/>
                </a:solidFill>
                <a:effectLst/>
                <a:latin typeface="Arial" pitchFamily="34" charset="0"/>
                <a:ea typeface="+mn-ea"/>
                <a:cs typeface="Arial" pitchFamily="34" charset="0"/>
              </a:rPr>
              <a:t>F &lt; 1</a:t>
            </a:r>
            <a:r>
              <a:rPr lang="en-US" sz="1200" b="0" i="0" kern="1200" dirty="0">
                <a:solidFill>
                  <a:schemeClr val="tx1"/>
                </a:solidFill>
                <a:effectLst/>
                <a:latin typeface="Arial" pitchFamily="34" charset="0"/>
                <a:ea typeface="+mn-ea"/>
                <a:cs typeface="Arial" pitchFamily="34" charset="0"/>
              </a:rPr>
              <a:t>: Within-group variation is larger than between-group differences</a:t>
            </a:r>
          </a:p>
          <a:p>
            <a:br>
              <a:rPr lang="en-US" dirty="0"/>
            </a:br>
            <a:r>
              <a:rPr lang="el-GR" sz="1200" b="0" i="0" kern="1200" dirty="0">
                <a:solidFill>
                  <a:schemeClr val="tx1"/>
                </a:solidFill>
                <a:effectLst/>
                <a:latin typeface="Arial" pitchFamily="34" charset="0"/>
                <a:ea typeface="+mn-ea"/>
                <a:cs typeface="Arial" pitchFamily="34" charset="0"/>
              </a:rPr>
              <a:t>α = 0.05 </a:t>
            </a:r>
            <a:r>
              <a:rPr lang="en-US" sz="1200" b="0" i="0" kern="1200" dirty="0">
                <a:solidFill>
                  <a:schemeClr val="tx1"/>
                </a:solidFill>
                <a:effectLst/>
                <a:latin typeface="Arial" pitchFamily="34" charset="0"/>
                <a:ea typeface="+mn-ea"/>
                <a:cs typeface="Arial" pitchFamily="34" charset="0"/>
              </a:rPr>
              <a:t>means you're willing to accept a </a:t>
            </a:r>
            <a:r>
              <a:rPr lang="en-US" sz="1200" b="1" i="0" kern="1200" dirty="0">
                <a:solidFill>
                  <a:schemeClr val="tx1"/>
                </a:solidFill>
                <a:effectLst/>
                <a:latin typeface="Arial" pitchFamily="34" charset="0"/>
                <a:ea typeface="+mn-ea"/>
                <a:cs typeface="Arial" pitchFamily="34" charset="0"/>
              </a:rPr>
              <a:t>5% chance of a false positive</a:t>
            </a:r>
            <a:r>
              <a:rPr lang="en-US" sz="1200" b="0" i="0" kern="1200" dirty="0">
                <a:solidFill>
                  <a:schemeClr val="tx1"/>
                </a:solidFill>
                <a:effectLst/>
                <a:latin typeface="Arial" pitchFamily="34" charset="0"/>
                <a:ea typeface="+mn-ea"/>
                <a:cs typeface="Arial" pitchFamily="34" charset="0"/>
              </a:rPr>
              <a:t> (Type I error)</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Arial" pitchFamily="34" charset="0"/>
              <a:ea typeface="+mn-ea"/>
              <a:cs typeface="Arial" pitchFamily="34" charset="0"/>
            </a:endParaRP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45</a:t>
            </a:fld>
            <a:endParaRPr lang="en-GB"/>
          </a:p>
        </p:txBody>
      </p:sp>
    </p:spTree>
    <p:extLst>
      <p:ext uri="{BB962C8B-B14F-4D97-AF65-F5344CB8AC3E}">
        <p14:creationId xmlns:p14="http://schemas.microsoft.com/office/powerpoint/2010/main" val="1194366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Network-Based Statistic (NBS) identifies connected components of edges that show group differences.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kern="1200" dirty="0">
              <a:solidFill>
                <a:schemeClr val="tx1"/>
              </a:solidFill>
              <a:effectLst/>
              <a:latin typeface="Arial" pitchFamily="34" charset="0"/>
              <a:ea typeface="+mn-ea"/>
              <a:cs typeface="Arial"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The left plot shows the distribution of t-statistics for all edges, with red areas indicating suprathreshold edges.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kern="1200" dirty="0">
              <a:solidFill>
                <a:schemeClr val="tx1"/>
              </a:solidFill>
              <a:effectLst/>
              <a:latin typeface="Arial" pitchFamily="34" charset="0"/>
              <a:ea typeface="+mn-ea"/>
              <a:cs typeface="Arial"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The right plot compares observed component sizes to the null distribution. Only components larger than expected by chance (above the orange line) are significant. </a:t>
            </a:r>
            <a:r>
              <a:rPr lang="en-US" sz="1200" b="0" kern="1200" dirty="0">
                <a:solidFill>
                  <a:schemeClr val="tx1"/>
                </a:solidFill>
                <a:effectLst/>
                <a:latin typeface="Arial" pitchFamily="34" charset="0"/>
                <a:ea typeface="+mn-ea"/>
                <a:cs typeface="Arial" pitchFamily="34" charset="0"/>
                <a:sym typeface="Wingdings" pitchFamily="2" charset="2"/>
              </a:rPr>
              <a:t> </a:t>
            </a:r>
            <a:r>
              <a:rPr lang="en-US" sz="1200" b="0" i="0" kern="1200" dirty="0">
                <a:solidFill>
                  <a:schemeClr val="tx1"/>
                </a:solidFill>
                <a:effectLst/>
                <a:latin typeface="Arial" pitchFamily="34" charset="0"/>
                <a:ea typeface="+mn-ea"/>
                <a:cs typeface="Arial" pitchFamily="34" charset="0"/>
              </a:rPr>
              <a:t>NBS identified 1 significant network component(s), suggesting localized connectivity differences.</a:t>
            </a:r>
            <a:endParaRPr lang="en-US" sz="1200" b="0" kern="1200" dirty="0">
              <a:solidFill>
                <a:schemeClr val="tx1"/>
              </a:solidFill>
              <a:effectLst/>
              <a:latin typeface="Arial" pitchFamily="34" charset="0"/>
              <a:ea typeface="+mn-ea"/>
              <a:cs typeface="Arial"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kern="1200" dirty="0">
              <a:solidFill>
                <a:schemeClr val="tx1"/>
              </a:solidFill>
              <a:effectLst/>
              <a:latin typeface="Arial" pitchFamily="34" charset="0"/>
              <a:ea typeface="+mn-ea"/>
              <a:cs typeface="Arial" pitchFamily="34" charset="0"/>
            </a:endParaRP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46</a:t>
            </a:fld>
            <a:endParaRPr lang="en-GB"/>
          </a:p>
        </p:txBody>
      </p:sp>
    </p:spTree>
    <p:extLst>
      <p:ext uri="{BB962C8B-B14F-4D97-AF65-F5344CB8AC3E}">
        <p14:creationId xmlns:p14="http://schemas.microsoft.com/office/powerpoint/2010/main" val="28106297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Left: Individual network components detected by NBS, with significance indicated by color (green = significant, red = not significant). </a:t>
            </a:r>
          </a:p>
          <a:p>
            <a:pPr marL="0" marR="0" lvl="0" indent="0" algn="l" defTabSz="914400" rtl="0" eaLnBrk="1" fontAlgn="base" latinLnBrk="0" hangingPunct="1">
              <a:lnSpc>
                <a:spcPct val="100000"/>
              </a:lnSpc>
              <a:spcBef>
                <a:spcPct val="30000"/>
              </a:spcBef>
              <a:spcAft>
                <a:spcPct val="0"/>
              </a:spcAft>
              <a:buClrTx/>
              <a:buSzTx/>
              <a:buFontTx/>
              <a:buNone/>
              <a:tabLst/>
              <a:defRPr/>
            </a:pPr>
            <a:br>
              <a:rPr lang="en-US" sz="1200" b="0" kern="1200" dirty="0">
                <a:solidFill>
                  <a:schemeClr val="tx1"/>
                </a:solidFill>
                <a:effectLst/>
                <a:latin typeface="Arial" pitchFamily="34" charset="0"/>
                <a:ea typeface="+mn-ea"/>
                <a:cs typeface="Arial" pitchFamily="34" charset="0"/>
              </a:rPr>
            </a:br>
            <a:r>
              <a:rPr lang="en-US" sz="1200" b="0" kern="1200" dirty="0">
                <a:solidFill>
                  <a:schemeClr val="tx1"/>
                </a:solidFill>
                <a:effectLst/>
                <a:latin typeface="Arial" pitchFamily="34" charset="0"/>
                <a:ea typeface="+mn-ea"/>
                <a:cs typeface="Arial" pitchFamily="34" charset="0"/>
              </a:rPr>
              <a:t>Right: Quality metrics for the analysis. Small sample sizes or low signal can affect reliability and increase caution.</a:t>
            </a:r>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47</a:t>
            </a:fld>
            <a:endParaRPr lang="en-GB"/>
          </a:p>
        </p:txBody>
      </p:sp>
    </p:spTree>
    <p:extLst>
      <p:ext uri="{BB962C8B-B14F-4D97-AF65-F5344CB8AC3E}">
        <p14:creationId xmlns:p14="http://schemas.microsoft.com/office/powerpoint/2010/main" val="14457417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Left: P-value distribution shows enrichment at low values (green bars), indicating true effects beyond chance. A uniform distribution would suggest no real differences. </a:t>
            </a:r>
          </a:p>
          <a:p>
            <a:pPr marL="0" marR="0" lvl="0" indent="0" algn="l" defTabSz="914400" rtl="0" eaLnBrk="1" fontAlgn="base" latinLnBrk="0" hangingPunct="1">
              <a:lnSpc>
                <a:spcPct val="100000"/>
              </a:lnSpc>
              <a:spcBef>
                <a:spcPct val="30000"/>
              </a:spcBef>
              <a:spcAft>
                <a:spcPct val="0"/>
              </a:spcAft>
              <a:buClrTx/>
              <a:buSzTx/>
              <a:buFontTx/>
              <a:buNone/>
              <a:tabLst/>
              <a:defRPr/>
            </a:pPr>
            <a:br>
              <a:rPr lang="en-US" sz="1200" b="0" kern="1200" dirty="0">
                <a:solidFill>
                  <a:schemeClr val="tx1"/>
                </a:solidFill>
                <a:effectLst/>
                <a:latin typeface="Arial" pitchFamily="34" charset="0"/>
                <a:ea typeface="+mn-ea"/>
                <a:cs typeface="Arial" pitchFamily="34" charset="0"/>
              </a:rPr>
            </a:br>
            <a:r>
              <a:rPr lang="en-US" sz="1200" b="0" kern="1200" dirty="0">
                <a:solidFill>
                  <a:schemeClr val="tx1"/>
                </a:solidFill>
                <a:effectLst/>
                <a:latin typeface="Arial" pitchFamily="34" charset="0"/>
                <a:ea typeface="+mn-ea"/>
                <a:cs typeface="Arial" pitchFamily="34" charset="0"/>
              </a:rPr>
              <a:t>Right: Effect sizes (Cohen's d) show the magnitude of differences. Most effects are small (d &lt; 0.3), which is typical for brain connectivity studies.</a:t>
            </a:r>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48</a:t>
            </a:fld>
            <a:endParaRPr lang="en-GB"/>
          </a:p>
        </p:txBody>
      </p:sp>
    </p:spTree>
    <p:extLst>
      <p:ext uri="{BB962C8B-B14F-4D97-AF65-F5344CB8AC3E}">
        <p14:creationId xmlns:p14="http://schemas.microsoft.com/office/powerpoint/2010/main" val="4452748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49</a:t>
            </a:fld>
            <a:endParaRPr lang="en-GB"/>
          </a:p>
        </p:txBody>
      </p:sp>
    </p:spTree>
    <p:extLst>
      <p:ext uri="{BB962C8B-B14F-4D97-AF65-F5344CB8AC3E}">
        <p14:creationId xmlns:p14="http://schemas.microsoft.com/office/powerpoint/2010/main" val="2196211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40025" y="500063"/>
            <a:ext cx="4445000" cy="2500312"/>
          </a:xfrm>
        </p:spPr>
        <p:txBody>
          <a:bodyPr/>
          <a:lstStyle/>
          <a:p>
            <a:endParaRPr lang="en-US"/>
          </a:p>
        </p:txBody>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55</a:t>
            </a:fld>
            <a:endParaRPr 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56</a:t>
            </a:fld>
            <a:endParaRPr lang="en-GB"/>
          </a:p>
        </p:txBody>
      </p:sp>
    </p:spTree>
    <p:extLst>
      <p:ext uri="{BB962C8B-B14F-4D97-AF65-F5344CB8AC3E}">
        <p14:creationId xmlns:p14="http://schemas.microsoft.com/office/powerpoint/2010/main" val="4936331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57</a:t>
            </a:fld>
            <a:endParaRPr lang="en-GB"/>
          </a:p>
        </p:txBody>
      </p:sp>
    </p:spTree>
    <p:extLst>
      <p:ext uri="{BB962C8B-B14F-4D97-AF65-F5344CB8AC3E}">
        <p14:creationId xmlns:p14="http://schemas.microsoft.com/office/powerpoint/2010/main" val="32275697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59</a:t>
            </a:fld>
            <a:endParaRPr lang="en-GB"/>
          </a:p>
        </p:txBody>
      </p:sp>
    </p:spTree>
    <p:extLst>
      <p:ext uri="{BB962C8B-B14F-4D97-AF65-F5344CB8AC3E}">
        <p14:creationId xmlns:p14="http://schemas.microsoft.com/office/powerpoint/2010/main" val="22749098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C1F87-CBF6-499B-588E-8E431BD98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267C8-BA58-13BD-8D32-E86B523A9A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707AD-329B-A985-D0EE-439A86E610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28EB02-1097-5124-91BF-19A4F6ABFD19}"/>
              </a:ext>
            </a:extLst>
          </p:cNvPr>
          <p:cNvSpPr>
            <a:spLocks noGrp="1"/>
          </p:cNvSpPr>
          <p:nvPr>
            <p:ph type="sldNum" sz="quarter" idx="5"/>
          </p:nvPr>
        </p:nvSpPr>
        <p:spPr/>
        <p:txBody>
          <a:bodyPr/>
          <a:lstStyle/>
          <a:p>
            <a:pPr>
              <a:defRPr/>
            </a:pPr>
            <a:fld id="{00AFC6D0-44D5-4EB7-828F-6F464F83D79A}" type="slidenum">
              <a:rPr lang="en-GB" smtClean="0"/>
              <a:pPr>
                <a:defRPr/>
              </a:pPr>
              <a:t>60</a:t>
            </a:fld>
            <a:endParaRPr lang="en-GB"/>
          </a:p>
        </p:txBody>
      </p:sp>
    </p:spTree>
    <p:extLst>
      <p:ext uri="{BB962C8B-B14F-4D97-AF65-F5344CB8AC3E}">
        <p14:creationId xmlns:p14="http://schemas.microsoft.com/office/powerpoint/2010/main" val="42510374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493B3-AD57-C4B6-D792-813A8DA14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35000-EFE6-750F-73F7-C4E5171957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EEFC1F-8A54-CD16-03A0-EA0CE12A04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88C5F1-A917-674F-8DC5-023A55DF85F7}"/>
              </a:ext>
            </a:extLst>
          </p:cNvPr>
          <p:cNvSpPr>
            <a:spLocks noGrp="1"/>
          </p:cNvSpPr>
          <p:nvPr>
            <p:ph type="sldNum" sz="quarter" idx="5"/>
          </p:nvPr>
        </p:nvSpPr>
        <p:spPr/>
        <p:txBody>
          <a:bodyPr/>
          <a:lstStyle/>
          <a:p>
            <a:pPr>
              <a:defRPr/>
            </a:pPr>
            <a:fld id="{00AFC6D0-44D5-4EB7-828F-6F464F83D79A}" type="slidenum">
              <a:rPr lang="en-GB" smtClean="0"/>
              <a:pPr>
                <a:defRPr/>
              </a:pPr>
              <a:t>61</a:t>
            </a:fld>
            <a:endParaRPr lang="en-GB"/>
          </a:p>
        </p:txBody>
      </p:sp>
    </p:spTree>
    <p:extLst>
      <p:ext uri="{BB962C8B-B14F-4D97-AF65-F5344CB8AC3E}">
        <p14:creationId xmlns:p14="http://schemas.microsoft.com/office/powerpoint/2010/main" val="37093075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62</a:t>
            </a:fld>
            <a:endParaRPr lang="en-GB"/>
          </a:p>
        </p:txBody>
      </p:sp>
    </p:spTree>
    <p:extLst>
      <p:ext uri="{BB962C8B-B14F-4D97-AF65-F5344CB8AC3E}">
        <p14:creationId xmlns:p14="http://schemas.microsoft.com/office/powerpoint/2010/main" val="30139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BDC4C-BDB8-4F01-BC56-2B876E4B81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69A787-FAE7-7013-2A61-1B4140F7EB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F67B22-49AB-3233-11A7-6C99A9E7A35B}"/>
              </a:ext>
            </a:extLst>
          </p:cNvPr>
          <p:cNvSpPr>
            <a:spLocks noGrp="1"/>
          </p:cNvSpPr>
          <p:nvPr>
            <p:ph type="dt" sz="half" idx="10"/>
          </p:nvPr>
        </p:nvSpPr>
        <p:spPr/>
        <p:txBody>
          <a:bodyPr/>
          <a:lstStyle/>
          <a:p>
            <a:fld id="{C729C9BE-F6D1-C04E-B7B1-16B62C9BABD5}" type="datetimeFigureOut">
              <a:rPr lang="en-US" smtClean="0"/>
              <a:t>1/29/26</a:t>
            </a:fld>
            <a:endParaRPr lang="en-US"/>
          </a:p>
        </p:txBody>
      </p:sp>
      <p:sp>
        <p:nvSpPr>
          <p:cNvPr id="5" name="Footer Placeholder 4">
            <a:extLst>
              <a:ext uri="{FF2B5EF4-FFF2-40B4-BE49-F238E27FC236}">
                <a16:creationId xmlns:a16="http://schemas.microsoft.com/office/drawing/2014/main" id="{1D5BE602-9CD5-4B29-2FD9-69C135251C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FD127E-69C3-D7BC-70FB-55514C05D82A}"/>
              </a:ext>
            </a:extLst>
          </p:cNvPr>
          <p:cNvSpPr>
            <a:spLocks noGrp="1"/>
          </p:cNvSpPr>
          <p:nvPr>
            <p:ph type="sldNum" sz="quarter" idx="12"/>
          </p:nvPr>
        </p:nvSpPr>
        <p:spPr/>
        <p:txBody>
          <a:bodyPr/>
          <a:lstStyle/>
          <a:p>
            <a:fld id="{AAAEAF46-E5D7-A54D-846B-F635946537DE}" type="slidenum">
              <a:rPr lang="en-US" smtClean="0"/>
              <a:t>‹#›</a:t>
            </a:fld>
            <a:endParaRPr lang="en-US"/>
          </a:p>
        </p:txBody>
      </p:sp>
    </p:spTree>
    <p:extLst>
      <p:ext uri="{BB962C8B-B14F-4D97-AF65-F5344CB8AC3E}">
        <p14:creationId xmlns:p14="http://schemas.microsoft.com/office/powerpoint/2010/main" val="3072903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4EA0D-ED85-3F92-50C9-A3C77F917E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DE9941-EA37-5894-2027-5A2946FFB5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68D295-70A7-2458-6E59-F4952A4E7D59}"/>
              </a:ext>
            </a:extLst>
          </p:cNvPr>
          <p:cNvSpPr>
            <a:spLocks noGrp="1"/>
          </p:cNvSpPr>
          <p:nvPr>
            <p:ph type="dt" sz="half" idx="10"/>
          </p:nvPr>
        </p:nvSpPr>
        <p:spPr/>
        <p:txBody>
          <a:bodyPr/>
          <a:lstStyle/>
          <a:p>
            <a:fld id="{C729C9BE-F6D1-C04E-B7B1-16B62C9BABD5}" type="datetimeFigureOut">
              <a:rPr lang="en-US" smtClean="0"/>
              <a:t>1/29/26</a:t>
            </a:fld>
            <a:endParaRPr lang="en-US"/>
          </a:p>
        </p:txBody>
      </p:sp>
      <p:sp>
        <p:nvSpPr>
          <p:cNvPr id="5" name="Footer Placeholder 4">
            <a:extLst>
              <a:ext uri="{FF2B5EF4-FFF2-40B4-BE49-F238E27FC236}">
                <a16:creationId xmlns:a16="http://schemas.microsoft.com/office/drawing/2014/main" id="{FD5ED014-D167-5253-253F-ED1E02DAD7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E1DD1C-092E-1CD4-D90B-49BFA3A45C4D}"/>
              </a:ext>
            </a:extLst>
          </p:cNvPr>
          <p:cNvSpPr>
            <a:spLocks noGrp="1"/>
          </p:cNvSpPr>
          <p:nvPr>
            <p:ph type="sldNum" sz="quarter" idx="12"/>
          </p:nvPr>
        </p:nvSpPr>
        <p:spPr/>
        <p:txBody>
          <a:bodyPr/>
          <a:lstStyle/>
          <a:p>
            <a:fld id="{AAAEAF46-E5D7-A54D-846B-F635946537DE}" type="slidenum">
              <a:rPr lang="en-US" smtClean="0"/>
              <a:t>‹#›</a:t>
            </a:fld>
            <a:endParaRPr lang="en-US"/>
          </a:p>
        </p:txBody>
      </p:sp>
    </p:spTree>
    <p:extLst>
      <p:ext uri="{BB962C8B-B14F-4D97-AF65-F5344CB8AC3E}">
        <p14:creationId xmlns:p14="http://schemas.microsoft.com/office/powerpoint/2010/main" val="1788317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51387-6EFD-E9F8-6275-71938DCE00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12F8FD-53E2-6A11-68B4-6A5AF8E2C4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C7153B-66FF-B3D7-2F9A-C979B0C04362}"/>
              </a:ext>
            </a:extLst>
          </p:cNvPr>
          <p:cNvSpPr>
            <a:spLocks noGrp="1"/>
          </p:cNvSpPr>
          <p:nvPr>
            <p:ph type="dt" sz="half" idx="10"/>
          </p:nvPr>
        </p:nvSpPr>
        <p:spPr/>
        <p:txBody>
          <a:bodyPr/>
          <a:lstStyle/>
          <a:p>
            <a:fld id="{C729C9BE-F6D1-C04E-B7B1-16B62C9BABD5}" type="datetimeFigureOut">
              <a:rPr lang="en-US" smtClean="0"/>
              <a:t>1/29/26</a:t>
            </a:fld>
            <a:endParaRPr lang="en-US"/>
          </a:p>
        </p:txBody>
      </p:sp>
      <p:sp>
        <p:nvSpPr>
          <p:cNvPr id="5" name="Footer Placeholder 4">
            <a:extLst>
              <a:ext uri="{FF2B5EF4-FFF2-40B4-BE49-F238E27FC236}">
                <a16:creationId xmlns:a16="http://schemas.microsoft.com/office/drawing/2014/main" id="{8E8A087E-81EC-9782-CED7-2A8A8CED91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6D505C-93BA-31C5-5591-8194A4F74FAB}"/>
              </a:ext>
            </a:extLst>
          </p:cNvPr>
          <p:cNvSpPr>
            <a:spLocks noGrp="1"/>
          </p:cNvSpPr>
          <p:nvPr>
            <p:ph type="sldNum" sz="quarter" idx="12"/>
          </p:nvPr>
        </p:nvSpPr>
        <p:spPr/>
        <p:txBody>
          <a:bodyPr/>
          <a:lstStyle/>
          <a:p>
            <a:fld id="{AAAEAF46-E5D7-A54D-846B-F635946537DE}" type="slidenum">
              <a:rPr lang="en-US" smtClean="0"/>
              <a:t>‹#›</a:t>
            </a:fld>
            <a:endParaRPr lang="en-US"/>
          </a:p>
        </p:txBody>
      </p:sp>
    </p:spTree>
    <p:extLst>
      <p:ext uri="{BB962C8B-B14F-4D97-AF65-F5344CB8AC3E}">
        <p14:creationId xmlns:p14="http://schemas.microsoft.com/office/powerpoint/2010/main" val="975708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55E5C-E1AF-3959-FC51-9A86D695D2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7FE291-AC67-2891-1CCB-4D048DCD1C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8A5BEA-395A-E2E9-7758-F7B716C398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9B1863-5EE7-1D24-D9CD-6F79CA54572A}"/>
              </a:ext>
            </a:extLst>
          </p:cNvPr>
          <p:cNvSpPr>
            <a:spLocks noGrp="1"/>
          </p:cNvSpPr>
          <p:nvPr>
            <p:ph type="dt" sz="half" idx="10"/>
          </p:nvPr>
        </p:nvSpPr>
        <p:spPr/>
        <p:txBody>
          <a:bodyPr/>
          <a:lstStyle/>
          <a:p>
            <a:fld id="{C729C9BE-F6D1-C04E-B7B1-16B62C9BABD5}" type="datetimeFigureOut">
              <a:rPr lang="en-US" smtClean="0"/>
              <a:t>1/29/26</a:t>
            </a:fld>
            <a:endParaRPr lang="en-US"/>
          </a:p>
        </p:txBody>
      </p:sp>
      <p:sp>
        <p:nvSpPr>
          <p:cNvPr id="6" name="Footer Placeholder 5">
            <a:extLst>
              <a:ext uri="{FF2B5EF4-FFF2-40B4-BE49-F238E27FC236}">
                <a16:creationId xmlns:a16="http://schemas.microsoft.com/office/drawing/2014/main" id="{B1A6C530-3D11-EE14-2727-A9BE3936C6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30B3CE-9D7F-CAB5-2ACF-390D7E22CB6A}"/>
              </a:ext>
            </a:extLst>
          </p:cNvPr>
          <p:cNvSpPr>
            <a:spLocks noGrp="1"/>
          </p:cNvSpPr>
          <p:nvPr>
            <p:ph type="sldNum" sz="quarter" idx="12"/>
          </p:nvPr>
        </p:nvSpPr>
        <p:spPr/>
        <p:txBody>
          <a:bodyPr/>
          <a:lstStyle/>
          <a:p>
            <a:fld id="{AAAEAF46-E5D7-A54D-846B-F635946537DE}" type="slidenum">
              <a:rPr lang="en-US" smtClean="0"/>
              <a:t>‹#›</a:t>
            </a:fld>
            <a:endParaRPr lang="en-US"/>
          </a:p>
        </p:txBody>
      </p:sp>
    </p:spTree>
    <p:extLst>
      <p:ext uri="{BB962C8B-B14F-4D97-AF65-F5344CB8AC3E}">
        <p14:creationId xmlns:p14="http://schemas.microsoft.com/office/powerpoint/2010/main" val="2937295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9EDC-367C-4B07-5BDF-B0D9ABBBB7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5890D0-A890-17D3-2535-12A9FE9748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E091E1-A8F8-BB20-F354-B21D2A1AB4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43B60C-3603-4CAC-E06E-41535F916A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80AC8B-2843-105E-04AE-F69A0D562C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228499-E2BE-79B2-44DE-0FC695AF0D43}"/>
              </a:ext>
            </a:extLst>
          </p:cNvPr>
          <p:cNvSpPr>
            <a:spLocks noGrp="1"/>
          </p:cNvSpPr>
          <p:nvPr>
            <p:ph type="dt" sz="half" idx="10"/>
          </p:nvPr>
        </p:nvSpPr>
        <p:spPr/>
        <p:txBody>
          <a:bodyPr/>
          <a:lstStyle/>
          <a:p>
            <a:fld id="{C729C9BE-F6D1-C04E-B7B1-16B62C9BABD5}" type="datetimeFigureOut">
              <a:rPr lang="en-US" smtClean="0"/>
              <a:t>1/29/26</a:t>
            </a:fld>
            <a:endParaRPr lang="en-US"/>
          </a:p>
        </p:txBody>
      </p:sp>
      <p:sp>
        <p:nvSpPr>
          <p:cNvPr id="8" name="Footer Placeholder 7">
            <a:extLst>
              <a:ext uri="{FF2B5EF4-FFF2-40B4-BE49-F238E27FC236}">
                <a16:creationId xmlns:a16="http://schemas.microsoft.com/office/drawing/2014/main" id="{B3AC71CF-3EB3-A01F-EDAB-630CD614E1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BD80E3-0084-F644-39ED-E9F4A0CBE760}"/>
              </a:ext>
            </a:extLst>
          </p:cNvPr>
          <p:cNvSpPr>
            <a:spLocks noGrp="1"/>
          </p:cNvSpPr>
          <p:nvPr>
            <p:ph type="sldNum" sz="quarter" idx="12"/>
          </p:nvPr>
        </p:nvSpPr>
        <p:spPr/>
        <p:txBody>
          <a:bodyPr/>
          <a:lstStyle/>
          <a:p>
            <a:fld id="{AAAEAF46-E5D7-A54D-846B-F635946537DE}" type="slidenum">
              <a:rPr lang="en-US" smtClean="0"/>
              <a:t>‹#›</a:t>
            </a:fld>
            <a:endParaRPr lang="en-US"/>
          </a:p>
        </p:txBody>
      </p:sp>
    </p:spTree>
    <p:extLst>
      <p:ext uri="{BB962C8B-B14F-4D97-AF65-F5344CB8AC3E}">
        <p14:creationId xmlns:p14="http://schemas.microsoft.com/office/powerpoint/2010/main" val="3925536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1C7B8-18F7-1556-708B-2561312DD3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6E0319-B08C-BC23-5B1E-8A5A58CC2A20}"/>
              </a:ext>
            </a:extLst>
          </p:cNvPr>
          <p:cNvSpPr>
            <a:spLocks noGrp="1"/>
          </p:cNvSpPr>
          <p:nvPr>
            <p:ph type="dt" sz="half" idx="10"/>
          </p:nvPr>
        </p:nvSpPr>
        <p:spPr/>
        <p:txBody>
          <a:bodyPr/>
          <a:lstStyle/>
          <a:p>
            <a:fld id="{C729C9BE-F6D1-C04E-B7B1-16B62C9BABD5}" type="datetimeFigureOut">
              <a:rPr lang="en-US" smtClean="0"/>
              <a:t>1/29/26</a:t>
            </a:fld>
            <a:endParaRPr lang="en-US"/>
          </a:p>
        </p:txBody>
      </p:sp>
      <p:sp>
        <p:nvSpPr>
          <p:cNvPr id="4" name="Footer Placeholder 3">
            <a:extLst>
              <a:ext uri="{FF2B5EF4-FFF2-40B4-BE49-F238E27FC236}">
                <a16:creationId xmlns:a16="http://schemas.microsoft.com/office/drawing/2014/main" id="{1E9DAA4B-BE4B-0729-1DF7-EA64E5F415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1BAA36-E97B-D19E-B7C2-98F0ECDE7DBA}"/>
              </a:ext>
            </a:extLst>
          </p:cNvPr>
          <p:cNvSpPr>
            <a:spLocks noGrp="1"/>
          </p:cNvSpPr>
          <p:nvPr>
            <p:ph type="sldNum" sz="quarter" idx="12"/>
          </p:nvPr>
        </p:nvSpPr>
        <p:spPr/>
        <p:txBody>
          <a:bodyPr/>
          <a:lstStyle/>
          <a:p>
            <a:fld id="{AAAEAF46-E5D7-A54D-846B-F635946537DE}" type="slidenum">
              <a:rPr lang="en-US" smtClean="0"/>
              <a:t>‹#›</a:t>
            </a:fld>
            <a:endParaRPr lang="en-US"/>
          </a:p>
        </p:txBody>
      </p:sp>
    </p:spTree>
    <p:extLst>
      <p:ext uri="{BB962C8B-B14F-4D97-AF65-F5344CB8AC3E}">
        <p14:creationId xmlns:p14="http://schemas.microsoft.com/office/powerpoint/2010/main" val="3790330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028589-445A-4A13-A3FF-9578EA97D9DE}"/>
              </a:ext>
            </a:extLst>
          </p:cNvPr>
          <p:cNvSpPr>
            <a:spLocks noGrp="1"/>
          </p:cNvSpPr>
          <p:nvPr>
            <p:ph type="dt" sz="half" idx="10"/>
          </p:nvPr>
        </p:nvSpPr>
        <p:spPr/>
        <p:txBody>
          <a:bodyPr/>
          <a:lstStyle/>
          <a:p>
            <a:fld id="{C729C9BE-F6D1-C04E-B7B1-16B62C9BABD5}" type="datetimeFigureOut">
              <a:rPr lang="en-US" smtClean="0"/>
              <a:t>1/29/26</a:t>
            </a:fld>
            <a:endParaRPr lang="en-US"/>
          </a:p>
        </p:txBody>
      </p:sp>
      <p:sp>
        <p:nvSpPr>
          <p:cNvPr id="3" name="Footer Placeholder 2">
            <a:extLst>
              <a:ext uri="{FF2B5EF4-FFF2-40B4-BE49-F238E27FC236}">
                <a16:creationId xmlns:a16="http://schemas.microsoft.com/office/drawing/2014/main" id="{47D2FB58-262F-F1F2-BFDD-B6B9D524AE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4F34EB-2877-525F-49EA-5B2BC3F7AA57}"/>
              </a:ext>
            </a:extLst>
          </p:cNvPr>
          <p:cNvSpPr>
            <a:spLocks noGrp="1"/>
          </p:cNvSpPr>
          <p:nvPr>
            <p:ph type="sldNum" sz="quarter" idx="12"/>
          </p:nvPr>
        </p:nvSpPr>
        <p:spPr/>
        <p:txBody>
          <a:bodyPr/>
          <a:lstStyle/>
          <a:p>
            <a:fld id="{AAAEAF46-E5D7-A54D-846B-F635946537DE}" type="slidenum">
              <a:rPr lang="en-US" smtClean="0"/>
              <a:t>‹#›</a:t>
            </a:fld>
            <a:endParaRPr lang="en-US"/>
          </a:p>
        </p:txBody>
      </p:sp>
    </p:spTree>
    <p:extLst>
      <p:ext uri="{BB962C8B-B14F-4D97-AF65-F5344CB8AC3E}">
        <p14:creationId xmlns:p14="http://schemas.microsoft.com/office/powerpoint/2010/main" val="1017902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C68D4-9B63-286E-DF4F-7A3B06286C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F67B8C-C588-9CA4-29CD-9BF020EC78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D0C825-9D51-5EC7-CB51-F7440386C0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CB0F6A-61A6-A7A6-D032-2C9041EE1E5D}"/>
              </a:ext>
            </a:extLst>
          </p:cNvPr>
          <p:cNvSpPr>
            <a:spLocks noGrp="1"/>
          </p:cNvSpPr>
          <p:nvPr>
            <p:ph type="dt" sz="half" idx="10"/>
          </p:nvPr>
        </p:nvSpPr>
        <p:spPr/>
        <p:txBody>
          <a:bodyPr/>
          <a:lstStyle/>
          <a:p>
            <a:fld id="{C729C9BE-F6D1-C04E-B7B1-16B62C9BABD5}" type="datetimeFigureOut">
              <a:rPr lang="en-US" smtClean="0"/>
              <a:t>1/29/26</a:t>
            </a:fld>
            <a:endParaRPr lang="en-US"/>
          </a:p>
        </p:txBody>
      </p:sp>
      <p:sp>
        <p:nvSpPr>
          <p:cNvPr id="6" name="Footer Placeholder 5">
            <a:extLst>
              <a:ext uri="{FF2B5EF4-FFF2-40B4-BE49-F238E27FC236}">
                <a16:creationId xmlns:a16="http://schemas.microsoft.com/office/drawing/2014/main" id="{E1658C29-AD4B-2F9E-9D5F-DF8F782EE2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98CBD9-7FCC-8F36-9607-7821CAA48CDD}"/>
              </a:ext>
            </a:extLst>
          </p:cNvPr>
          <p:cNvSpPr>
            <a:spLocks noGrp="1"/>
          </p:cNvSpPr>
          <p:nvPr>
            <p:ph type="sldNum" sz="quarter" idx="12"/>
          </p:nvPr>
        </p:nvSpPr>
        <p:spPr/>
        <p:txBody>
          <a:bodyPr/>
          <a:lstStyle/>
          <a:p>
            <a:fld id="{AAAEAF46-E5D7-A54D-846B-F635946537DE}" type="slidenum">
              <a:rPr lang="en-US" smtClean="0"/>
              <a:t>‹#›</a:t>
            </a:fld>
            <a:endParaRPr lang="en-US"/>
          </a:p>
        </p:txBody>
      </p:sp>
    </p:spTree>
    <p:extLst>
      <p:ext uri="{BB962C8B-B14F-4D97-AF65-F5344CB8AC3E}">
        <p14:creationId xmlns:p14="http://schemas.microsoft.com/office/powerpoint/2010/main" val="704461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55BB3-DD4B-49A3-E994-49CE34F511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04D4A1-DA8B-5C78-E672-978966E3B3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CE8653-4FF9-1D2F-9210-97A9B16019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9DBA8D-299B-0184-B32A-8A198A8D6AA3}"/>
              </a:ext>
            </a:extLst>
          </p:cNvPr>
          <p:cNvSpPr>
            <a:spLocks noGrp="1"/>
          </p:cNvSpPr>
          <p:nvPr>
            <p:ph type="dt" sz="half" idx="10"/>
          </p:nvPr>
        </p:nvSpPr>
        <p:spPr/>
        <p:txBody>
          <a:bodyPr/>
          <a:lstStyle/>
          <a:p>
            <a:fld id="{C729C9BE-F6D1-C04E-B7B1-16B62C9BABD5}" type="datetimeFigureOut">
              <a:rPr lang="en-US" smtClean="0"/>
              <a:t>1/29/26</a:t>
            </a:fld>
            <a:endParaRPr lang="en-US"/>
          </a:p>
        </p:txBody>
      </p:sp>
      <p:sp>
        <p:nvSpPr>
          <p:cNvPr id="6" name="Footer Placeholder 5">
            <a:extLst>
              <a:ext uri="{FF2B5EF4-FFF2-40B4-BE49-F238E27FC236}">
                <a16:creationId xmlns:a16="http://schemas.microsoft.com/office/drawing/2014/main" id="{864CF720-1B19-ECAD-EF0C-98F049C755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D6DBA3-7615-B6AC-A214-39266C85617D}"/>
              </a:ext>
            </a:extLst>
          </p:cNvPr>
          <p:cNvSpPr>
            <a:spLocks noGrp="1"/>
          </p:cNvSpPr>
          <p:nvPr>
            <p:ph type="sldNum" sz="quarter" idx="12"/>
          </p:nvPr>
        </p:nvSpPr>
        <p:spPr/>
        <p:txBody>
          <a:bodyPr/>
          <a:lstStyle/>
          <a:p>
            <a:fld id="{AAAEAF46-E5D7-A54D-846B-F635946537DE}" type="slidenum">
              <a:rPr lang="en-US" smtClean="0"/>
              <a:t>‹#›</a:t>
            </a:fld>
            <a:endParaRPr lang="en-US"/>
          </a:p>
        </p:txBody>
      </p:sp>
    </p:spTree>
    <p:extLst>
      <p:ext uri="{BB962C8B-B14F-4D97-AF65-F5344CB8AC3E}">
        <p14:creationId xmlns:p14="http://schemas.microsoft.com/office/powerpoint/2010/main" val="1977668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2F45C-0FBE-0F3F-A5FD-AB3321A4B9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2EC584-E00B-09A8-461E-DDF1454E33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C3B57C-CE0C-204F-D371-041575662216}"/>
              </a:ext>
            </a:extLst>
          </p:cNvPr>
          <p:cNvSpPr>
            <a:spLocks noGrp="1"/>
          </p:cNvSpPr>
          <p:nvPr>
            <p:ph type="dt" sz="half" idx="10"/>
          </p:nvPr>
        </p:nvSpPr>
        <p:spPr/>
        <p:txBody>
          <a:bodyPr/>
          <a:lstStyle/>
          <a:p>
            <a:fld id="{C729C9BE-F6D1-C04E-B7B1-16B62C9BABD5}" type="datetimeFigureOut">
              <a:rPr lang="en-US" smtClean="0"/>
              <a:t>1/29/26</a:t>
            </a:fld>
            <a:endParaRPr lang="en-US"/>
          </a:p>
        </p:txBody>
      </p:sp>
      <p:sp>
        <p:nvSpPr>
          <p:cNvPr id="5" name="Footer Placeholder 4">
            <a:extLst>
              <a:ext uri="{FF2B5EF4-FFF2-40B4-BE49-F238E27FC236}">
                <a16:creationId xmlns:a16="http://schemas.microsoft.com/office/drawing/2014/main" id="{6E6AD207-E348-5853-12EF-0960B9CDE7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CF1582-9B5B-67B4-1354-D8FE43361ED1}"/>
              </a:ext>
            </a:extLst>
          </p:cNvPr>
          <p:cNvSpPr>
            <a:spLocks noGrp="1"/>
          </p:cNvSpPr>
          <p:nvPr>
            <p:ph type="sldNum" sz="quarter" idx="12"/>
          </p:nvPr>
        </p:nvSpPr>
        <p:spPr/>
        <p:txBody>
          <a:bodyPr/>
          <a:lstStyle/>
          <a:p>
            <a:fld id="{AAAEAF46-E5D7-A54D-846B-F635946537DE}" type="slidenum">
              <a:rPr lang="en-US" smtClean="0"/>
              <a:t>‹#›</a:t>
            </a:fld>
            <a:endParaRPr lang="en-US"/>
          </a:p>
        </p:txBody>
      </p:sp>
    </p:spTree>
    <p:extLst>
      <p:ext uri="{BB962C8B-B14F-4D97-AF65-F5344CB8AC3E}">
        <p14:creationId xmlns:p14="http://schemas.microsoft.com/office/powerpoint/2010/main" val="2591145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8BC118-4D2E-C06E-CE03-2380ECEF35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57F3AF-0A84-2424-F2BC-6353753A22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99E364-2403-EFD4-FD35-474DB6F02BDF}"/>
              </a:ext>
            </a:extLst>
          </p:cNvPr>
          <p:cNvSpPr>
            <a:spLocks noGrp="1"/>
          </p:cNvSpPr>
          <p:nvPr>
            <p:ph type="dt" sz="half" idx="10"/>
          </p:nvPr>
        </p:nvSpPr>
        <p:spPr/>
        <p:txBody>
          <a:bodyPr/>
          <a:lstStyle/>
          <a:p>
            <a:fld id="{C729C9BE-F6D1-C04E-B7B1-16B62C9BABD5}" type="datetimeFigureOut">
              <a:rPr lang="en-US" smtClean="0"/>
              <a:t>1/29/26</a:t>
            </a:fld>
            <a:endParaRPr lang="en-US"/>
          </a:p>
        </p:txBody>
      </p:sp>
      <p:sp>
        <p:nvSpPr>
          <p:cNvPr id="5" name="Footer Placeholder 4">
            <a:extLst>
              <a:ext uri="{FF2B5EF4-FFF2-40B4-BE49-F238E27FC236}">
                <a16:creationId xmlns:a16="http://schemas.microsoft.com/office/drawing/2014/main" id="{95F7F25B-8317-FF64-13AC-B056A681F3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59E262-8DC2-4CA2-6E0F-FF89C60A9045}"/>
              </a:ext>
            </a:extLst>
          </p:cNvPr>
          <p:cNvSpPr>
            <a:spLocks noGrp="1"/>
          </p:cNvSpPr>
          <p:nvPr>
            <p:ph type="sldNum" sz="quarter" idx="12"/>
          </p:nvPr>
        </p:nvSpPr>
        <p:spPr/>
        <p:txBody>
          <a:bodyPr/>
          <a:lstStyle/>
          <a:p>
            <a:fld id="{AAAEAF46-E5D7-A54D-846B-F635946537DE}" type="slidenum">
              <a:rPr lang="en-US" smtClean="0"/>
              <a:t>‹#›</a:t>
            </a:fld>
            <a:endParaRPr lang="en-US"/>
          </a:p>
        </p:txBody>
      </p:sp>
    </p:spTree>
    <p:extLst>
      <p:ext uri="{BB962C8B-B14F-4D97-AF65-F5344CB8AC3E}">
        <p14:creationId xmlns:p14="http://schemas.microsoft.com/office/powerpoint/2010/main" val="2050797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186CB456-4823-F0CE-7635-2DF9E971C75F}"/>
              </a:ext>
            </a:extLst>
          </p:cNvPr>
          <p:cNvPicPr>
            <a:picLocks noChangeAspect="1"/>
          </p:cNvPicPr>
          <p:nvPr userDrawn="1"/>
        </p:nvPicPr>
        <p:blipFill>
          <a:blip r:embed="rId2"/>
          <a:stretch>
            <a:fillRect/>
          </a:stretch>
        </p:blipFill>
        <p:spPr>
          <a:xfrm>
            <a:off x="6633620" y="1968500"/>
            <a:ext cx="5092723" cy="4445000"/>
          </a:xfrm>
          <a:prstGeom prst="rect">
            <a:avLst/>
          </a:prstGeom>
        </p:spPr>
      </p:pic>
      <p:sp>
        <p:nvSpPr>
          <p:cNvPr id="12" name="Titel 1"/>
          <p:cNvSpPr>
            <a:spLocks noGrp="1"/>
          </p:cNvSpPr>
          <p:nvPr>
            <p:ph type="title" hasCustomPrompt="1"/>
          </p:nvPr>
        </p:nvSpPr>
        <p:spPr>
          <a:xfrm>
            <a:off x="425454" y="1296000"/>
            <a:ext cx="11345332" cy="5016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4267"/>
              </a:lnSpc>
              <a:defRPr lang="de-DE" sz="3333"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425451" y="1978720"/>
            <a:ext cx="11345332" cy="12741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867"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11130180" y="6408271"/>
            <a:ext cx="766981" cy="358588"/>
          </a:xfrm>
          <a:prstGeom prst="rect">
            <a:avLst/>
          </a:prstGeom>
          <a:solidFill>
            <a:schemeClr val="bg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de-DE" sz="2667"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3027016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425454" y="1630034"/>
            <a:ext cx="11345332" cy="4618367"/>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867" noProof="0" dirty="0" smtClean="0"/>
            </a:lvl1pPr>
            <a:lvl2pPr>
              <a:lnSpc>
                <a:spcPct val="114000"/>
              </a:lnSpc>
              <a:defRPr lang="de-DE" sz="1867" noProof="0" dirty="0" smtClean="0"/>
            </a:lvl2pPr>
            <a:lvl3pPr>
              <a:defRPr sz="1867"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414883" y="391280"/>
            <a:ext cx="11345332" cy="53194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4267"/>
              </a:lnSpc>
              <a:defRPr lang="de-DE" sz="3333"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93133E1-5289-7056-E483-775294333E78}"/>
              </a:ext>
            </a:extLst>
          </p:cNvPr>
          <p:cNvSpPr>
            <a:spLocks noGrp="1"/>
          </p:cNvSpPr>
          <p:nvPr>
            <p:ph type="body" sz="quarter" idx="14" hasCustomPrompt="1"/>
          </p:nvPr>
        </p:nvSpPr>
        <p:spPr>
          <a:xfrm>
            <a:off x="414882" y="912573"/>
            <a:ext cx="11345332" cy="428547"/>
          </a:xfrm>
          <a:prstGeom prst="rect">
            <a:avLst/>
          </a:prstGeom>
        </p:spPr>
        <p:txBody>
          <a:bodyPr lIns="0" tIns="93600" rIns="0" bIns="0"/>
          <a:lstStyle>
            <a:lvl1pPr marL="0" marR="0" indent="0" algn="l" defTabSz="1219170" rtl="0" eaLnBrk="0" fontAlgn="base" latinLnBrk="0" hangingPunct="0">
              <a:lnSpc>
                <a:spcPts val="2400"/>
              </a:lnSpc>
              <a:spcBef>
                <a:spcPts val="800"/>
              </a:spcBef>
              <a:spcAft>
                <a:spcPct val="0"/>
              </a:spcAft>
              <a:buClrTx/>
              <a:buSzTx/>
              <a:buFontTx/>
              <a:buNone/>
              <a:tabLst/>
              <a:defRPr sz="2400">
                <a:solidFill>
                  <a:schemeClr val="bg2"/>
                </a:solidFill>
                <a:latin typeface="+mj-lt"/>
              </a:defRPr>
            </a:lvl1pPr>
            <a:lvl2pPr marL="0" indent="0">
              <a:buNone/>
              <a:defRPr/>
            </a:lvl2pPr>
            <a:lvl3pPr marL="234945" indent="0">
              <a:buNone/>
              <a:defRPr/>
            </a:lvl3pPr>
            <a:lvl4pPr marL="480472" indent="0">
              <a:buNone/>
              <a:defRPr/>
            </a:lvl4pPr>
            <a:lvl5pPr marL="717531" indent="0">
              <a:buNone/>
              <a:defRPr/>
            </a:lvl5pPr>
          </a:lstStyle>
          <a:p>
            <a:pPr marL="0" marR="0" lvl="0" indent="0" algn="l" defTabSz="1219170" rtl="0" eaLnBrk="0" fontAlgn="base" latinLnBrk="0" hangingPunct="0">
              <a:lnSpc>
                <a:spcPts val="2400"/>
              </a:lnSpc>
              <a:spcBef>
                <a:spcPts val="0"/>
              </a:spcBef>
              <a:spcAft>
                <a:spcPct val="0"/>
              </a:spcAft>
              <a:buClrTx/>
              <a:buSzTx/>
              <a:buFontTx/>
              <a:buNone/>
              <a:tabLst/>
              <a:defRPr/>
            </a:pPr>
            <a:r>
              <a:rPr lang="de-DE" altLang="zh-CN" sz="2400" noProof="0" dirty="0"/>
              <a:t>Untert</a:t>
            </a:r>
            <a:r>
              <a:rPr lang="de-DE" sz="2400" noProof="0" dirty="0"/>
              <a:t>itel durch Klicken bearbeiten</a:t>
            </a:r>
          </a:p>
          <a:p>
            <a:pPr lvl="0"/>
            <a:endParaRPr lang="en-US" dirty="0"/>
          </a:p>
        </p:txBody>
      </p:sp>
    </p:spTree>
    <p:extLst>
      <p:ext uri="{BB962C8B-B14F-4D97-AF65-F5344CB8AC3E}">
        <p14:creationId xmlns:p14="http://schemas.microsoft.com/office/powerpoint/2010/main" val="12523407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425454" y="1296001"/>
            <a:ext cx="11345332" cy="5111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4267"/>
              </a:lnSpc>
              <a:defRPr lang="de-DE" sz="3333"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425451" y="1978720"/>
            <a:ext cx="11345332" cy="12741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867"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11130180" y="6408271"/>
            <a:ext cx="766981" cy="358588"/>
          </a:xfrm>
          <a:prstGeom prst="rect">
            <a:avLst/>
          </a:prstGeom>
          <a:solidFill>
            <a:schemeClr val="bg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de-DE" sz="2667"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31704718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425454" y="2381048"/>
            <a:ext cx="11345332" cy="3867353"/>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867" noProof="0" dirty="0" smtClean="0"/>
            </a:lvl1pPr>
            <a:lvl2pPr>
              <a:lnSpc>
                <a:spcPct val="114000"/>
              </a:lnSpc>
              <a:defRPr lang="de-DE" sz="1867" noProof="0" dirty="0" smtClean="0"/>
            </a:lvl2pPr>
            <a:lvl3pPr>
              <a:defRPr sz="1867"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Fraj Yassine Lakhal (TUM)</a:t>
            </a:r>
            <a:endParaRPr lang="en-US" dirty="0"/>
          </a:p>
        </p:txBody>
      </p:sp>
      <p:sp useBgFill="1">
        <p:nvSpPr>
          <p:cNvPr id="6" name="Textplatzhalter 7"/>
          <p:cNvSpPr>
            <a:spLocks noGrp="1"/>
          </p:cNvSpPr>
          <p:nvPr>
            <p:ph type="body" sz="quarter" idx="13" hasCustomPrompt="1"/>
          </p:nvPr>
        </p:nvSpPr>
        <p:spPr>
          <a:xfrm>
            <a:off x="425454" y="1630033"/>
            <a:ext cx="11345332" cy="673739"/>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867"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414883" y="391280"/>
            <a:ext cx="11345332" cy="53194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4267"/>
              </a:lnSpc>
              <a:defRPr lang="de-DE" sz="3333"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0912513-725A-7B3D-7236-D9DF537BD47D}"/>
              </a:ext>
            </a:extLst>
          </p:cNvPr>
          <p:cNvSpPr>
            <a:spLocks noGrp="1"/>
          </p:cNvSpPr>
          <p:nvPr>
            <p:ph type="body" sz="quarter" idx="14" hasCustomPrompt="1"/>
          </p:nvPr>
        </p:nvSpPr>
        <p:spPr>
          <a:xfrm>
            <a:off x="414882" y="912573"/>
            <a:ext cx="11345332" cy="428547"/>
          </a:xfrm>
          <a:prstGeom prst="rect">
            <a:avLst/>
          </a:prstGeom>
        </p:spPr>
        <p:txBody>
          <a:bodyPr lIns="0" tIns="93600" rIns="0" bIns="0"/>
          <a:lstStyle>
            <a:lvl1pPr marL="0" marR="0" indent="0" algn="l" defTabSz="1219170" rtl="0" eaLnBrk="0" fontAlgn="base" latinLnBrk="0" hangingPunct="0">
              <a:lnSpc>
                <a:spcPts val="2400"/>
              </a:lnSpc>
              <a:spcBef>
                <a:spcPts val="800"/>
              </a:spcBef>
              <a:spcAft>
                <a:spcPct val="0"/>
              </a:spcAft>
              <a:buClrTx/>
              <a:buSzTx/>
              <a:buFontTx/>
              <a:buNone/>
              <a:tabLst/>
              <a:defRPr sz="2400">
                <a:solidFill>
                  <a:schemeClr val="bg2"/>
                </a:solidFill>
                <a:latin typeface="+mj-lt"/>
              </a:defRPr>
            </a:lvl1pPr>
            <a:lvl2pPr marL="0" indent="0">
              <a:buNone/>
              <a:defRPr/>
            </a:lvl2pPr>
            <a:lvl3pPr marL="234945" indent="0">
              <a:buNone/>
              <a:defRPr/>
            </a:lvl3pPr>
            <a:lvl4pPr marL="480472" indent="0">
              <a:buNone/>
              <a:defRPr/>
            </a:lvl4pPr>
            <a:lvl5pPr marL="717531" indent="0">
              <a:buNone/>
              <a:defRPr/>
            </a:lvl5pPr>
          </a:lstStyle>
          <a:p>
            <a:pPr marL="0" marR="0" lvl="0" indent="0" algn="l" defTabSz="1219170" rtl="0" eaLnBrk="0" fontAlgn="base" latinLnBrk="0" hangingPunct="0">
              <a:lnSpc>
                <a:spcPts val="2400"/>
              </a:lnSpc>
              <a:spcBef>
                <a:spcPts val="0"/>
              </a:spcBef>
              <a:spcAft>
                <a:spcPct val="0"/>
              </a:spcAft>
              <a:buClrTx/>
              <a:buSzTx/>
              <a:buFontTx/>
              <a:buNone/>
              <a:tabLst/>
              <a:defRPr/>
            </a:pPr>
            <a:r>
              <a:rPr lang="de-DE" altLang="zh-CN" sz="2400" noProof="0" dirty="0"/>
              <a:t>Untert</a:t>
            </a:r>
            <a:r>
              <a:rPr lang="de-DE" sz="2400" noProof="0" dirty="0"/>
              <a:t>itel durch Klicken bearbeiten</a:t>
            </a:r>
          </a:p>
          <a:p>
            <a:pPr lvl="0"/>
            <a:endParaRPr lang="en-US" dirty="0"/>
          </a:p>
        </p:txBody>
      </p:sp>
    </p:spTree>
    <p:extLst>
      <p:ext uri="{BB962C8B-B14F-4D97-AF65-F5344CB8AC3E}">
        <p14:creationId xmlns:p14="http://schemas.microsoft.com/office/powerpoint/2010/main" val="5695965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414883" y="391280"/>
            <a:ext cx="11345332" cy="53194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4267"/>
              </a:lnSpc>
              <a:defRPr lang="de-DE" sz="3333"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Fraj Yassine Lakhal (TUM)</a:t>
            </a:r>
            <a:endParaRPr lang="en-US" dirty="0"/>
          </a:p>
        </p:txBody>
      </p:sp>
      <p:sp>
        <p:nvSpPr>
          <p:cNvPr id="19" name="Text Placeholder 18">
            <a:extLst>
              <a:ext uri="{FF2B5EF4-FFF2-40B4-BE49-F238E27FC236}">
                <a16:creationId xmlns:a16="http://schemas.microsoft.com/office/drawing/2014/main" id="{740E7229-04EE-4764-BC7E-F87916F4FA64}"/>
              </a:ext>
            </a:extLst>
          </p:cNvPr>
          <p:cNvSpPr>
            <a:spLocks noGrp="1"/>
          </p:cNvSpPr>
          <p:nvPr>
            <p:ph type="body" sz="quarter" idx="14" hasCustomPrompt="1"/>
          </p:nvPr>
        </p:nvSpPr>
        <p:spPr>
          <a:xfrm>
            <a:off x="414882" y="912573"/>
            <a:ext cx="11345332" cy="428547"/>
          </a:xfrm>
          <a:prstGeom prst="rect">
            <a:avLst/>
          </a:prstGeom>
        </p:spPr>
        <p:txBody>
          <a:bodyPr lIns="0" tIns="93600" rIns="0" bIns="0"/>
          <a:lstStyle>
            <a:lvl1pPr marL="0" marR="0" indent="0" algn="l" defTabSz="1219170" rtl="0" eaLnBrk="0" fontAlgn="base" latinLnBrk="0" hangingPunct="0">
              <a:lnSpc>
                <a:spcPts val="2400"/>
              </a:lnSpc>
              <a:spcBef>
                <a:spcPts val="800"/>
              </a:spcBef>
              <a:spcAft>
                <a:spcPct val="0"/>
              </a:spcAft>
              <a:buClrTx/>
              <a:buSzTx/>
              <a:buFontTx/>
              <a:buNone/>
              <a:tabLst/>
              <a:defRPr sz="2400">
                <a:solidFill>
                  <a:schemeClr val="bg2"/>
                </a:solidFill>
                <a:latin typeface="+mj-lt"/>
              </a:defRPr>
            </a:lvl1pPr>
            <a:lvl2pPr marL="0" indent="0">
              <a:buNone/>
              <a:defRPr/>
            </a:lvl2pPr>
            <a:lvl3pPr marL="234945" indent="0">
              <a:buNone/>
              <a:defRPr/>
            </a:lvl3pPr>
            <a:lvl4pPr marL="480472" indent="0">
              <a:buNone/>
              <a:defRPr/>
            </a:lvl4pPr>
            <a:lvl5pPr marL="717531" indent="0">
              <a:buNone/>
              <a:defRPr/>
            </a:lvl5pPr>
          </a:lstStyle>
          <a:p>
            <a:pPr marL="0" marR="0" lvl="0" indent="0" algn="l" defTabSz="1219170" rtl="0" eaLnBrk="0" fontAlgn="base" latinLnBrk="0" hangingPunct="0">
              <a:lnSpc>
                <a:spcPts val="2400"/>
              </a:lnSpc>
              <a:spcBef>
                <a:spcPts val="0"/>
              </a:spcBef>
              <a:spcAft>
                <a:spcPct val="0"/>
              </a:spcAft>
              <a:buClrTx/>
              <a:buSzTx/>
              <a:buFontTx/>
              <a:buNone/>
              <a:tabLst/>
              <a:defRPr/>
            </a:pPr>
            <a:r>
              <a:rPr lang="de-DE" altLang="zh-CN" sz="2400" noProof="0" dirty="0"/>
              <a:t>Untert</a:t>
            </a:r>
            <a:r>
              <a:rPr lang="de-DE" sz="2400" noProof="0" dirty="0"/>
              <a:t>itel durch Klicken bearbeiten</a:t>
            </a:r>
          </a:p>
          <a:p>
            <a:pPr lvl="0"/>
            <a:endParaRPr lang="en-US" dirty="0"/>
          </a:p>
        </p:txBody>
      </p:sp>
    </p:spTree>
    <p:extLst>
      <p:ext uri="{BB962C8B-B14F-4D97-AF65-F5344CB8AC3E}">
        <p14:creationId xmlns:p14="http://schemas.microsoft.com/office/powerpoint/2010/main" val="19488518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30033"/>
            <a:ext cx="12192000" cy="5227967"/>
          </a:xfrm>
          <a:prstGeom prst="rect">
            <a:avLst/>
          </a:prstGeom>
        </p:spPr>
        <p:txBody>
          <a:bodyPr/>
          <a:lstStyle>
            <a:lvl1pPr>
              <a:lnSpc>
                <a:spcPct val="114000"/>
              </a:lnSpc>
              <a:defRPr sz="1867"/>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Fraj Yassine Lakhal (TUM)</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414883" y="391280"/>
            <a:ext cx="11345332" cy="53194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4267"/>
              </a:lnSpc>
              <a:defRPr lang="de-DE" sz="3333"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FB6134F2-2761-390F-47D1-C1565FBC87CA}"/>
              </a:ext>
            </a:extLst>
          </p:cNvPr>
          <p:cNvSpPr>
            <a:spLocks noGrp="1"/>
          </p:cNvSpPr>
          <p:nvPr>
            <p:ph type="body" sz="quarter" idx="17" hasCustomPrompt="1"/>
          </p:nvPr>
        </p:nvSpPr>
        <p:spPr>
          <a:xfrm>
            <a:off x="414882" y="912573"/>
            <a:ext cx="11345332" cy="428547"/>
          </a:xfrm>
          <a:prstGeom prst="rect">
            <a:avLst/>
          </a:prstGeom>
        </p:spPr>
        <p:txBody>
          <a:bodyPr lIns="0" tIns="93600" rIns="0" bIns="0"/>
          <a:lstStyle>
            <a:lvl1pPr marL="0" marR="0" indent="0" algn="l" defTabSz="1219170" rtl="0" eaLnBrk="0" fontAlgn="base" latinLnBrk="0" hangingPunct="0">
              <a:lnSpc>
                <a:spcPts val="2400"/>
              </a:lnSpc>
              <a:spcBef>
                <a:spcPts val="800"/>
              </a:spcBef>
              <a:spcAft>
                <a:spcPct val="0"/>
              </a:spcAft>
              <a:buClrTx/>
              <a:buSzTx/>
              <a:buFontTx/>
              <a:buNone/>
              <a:tabLst/>
              <a:defRPr sz="2400">
                <a:solidFill>
                  <a:schemeClr val="bg2"/>
                </a:solidFill>
                <a:latin typeface="+mj-lt"/>
              </a:defRPr>
            </a:lvl1pPr>
            <a:lvl2pPr marL="0" indent="0">
              <a:buNone/>
              <a:defRPr/>
            </a:lvl2pPr>
            <a:lvl3pPr marL="234945" indent="0">
              <a:buNone/>
              <a:defRPr/>
            </a:lvl3pPr>
            <a:lvl4pPr marL="480472" indent="0">
              <a:buNone/>
              <a:defRPr/>
            </a:lvl4pPr>
            <a:lvl5pPr marL="717531" indent="0">
              <a:buNone/>
              <a:defRPr/>
            </a:lvl5pPr>
          </a:lstStyle>
          <a:p>
            <a:pPr marL="0" marR="0" lvl="0" indent="0" algn="l" defTabSz="1219170" rtl="0" eaLnBrk="0" fontAlgn="base" latinLnBrk="0" hangingPunct="0">
              <a:lnSpc>
                <a:spcPts val="2400"/>
              </a:lnSpc>
              <a:spcBef>
                <a:spcPts val="0"/>
              </a:spcBef>
              <a:spcAft>
                <a:spcPct val="0"/>
              </a:spcAft>
              <a:buClrTx/>
              <a:buSzTx/>
              <a:buFontTx/>
              <a:buNone/>
              <a:tabLst/>
              <a:defRPr/>
            </a:pPr>
            <a:r>
              <a:rPr lang="de-DE" altLang="zh-CN" sz="2400" noProof="0" dirty="0"/>
              <a:t>Untert</a:t>
            </a:r>
            <a:r>
              <a:rPr lang="de-DE" sz="2400" noProof="0" dirty="0"/>
              <a:t>itel durch Klicken bearbeiten</a:t>
            </a:r>
          </a:p>
          <a:p>
            <a:pPr lvl="0"/>
            <a:endParaRPr lang="en-US" dirty="0"/>
          </a:p>
        </p:txBody>
      </p:sp>
    </p:spTree>
    <p:extLst>
      <p:ext uri="{BB962C8B-B14F-4D97-AF65-F5344CB8AC3E}">
        <p14:creationId xmlns:p14="http://schemas.microsoft.com/office/powerpoint/2010/main" val="958236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EE9B7A-0621-03D5-FD6A-AB342F2D2A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46FD41-D351-7A30-D6F9-15BA5A4FE7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C1668-0B46-A0EB-AAE1-E4EF9D703B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29C9BE-F6D1-C04E-B7B1-16B62C9BABD5}" type="datetimeFigureOut">
              <a:rPr lang="en-US" smtClean="0"/>
              <a:t>1/29/26</a:t>
            </a:fld>
            <a:endParaRPr lang="en-US"/>
          </a:p>
        </p:txBody>
      </p:sp>
      <p:sp>
        <p:nvSpPr>
          <p:cNvPr id="5" name="Footer Placeholder 4">
            <a:extLst>
              <a:ext uri="{FF2B5EF4-FFF2-40B4-BE49-F238E27FC236}">
                <a16:creationId xmlns:a16="http://schemas.microsoft.com/office/drawing/2014/main" id="{7F782941-020B-4F4A-E4D2-2C6CAFB314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A3773E6-B270-95A9-049B-A52FAB177A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AEAF46-E5D7-A54D-846B-F635946537DE}" type="slidenum">
              <a:rPr lang="en-US" smtClean="0"/>
              <a:t>‹#›</a:t>
            </a:fld>
            <a:endParaRPr lang="en-US"/>
          </a:p>
        </p:txBody>
      </p:sp>
    </p:spTree>
    <p:extLst>
      <p:ext uri="{BB962C8B-B14F-4D97-AF65-F5344CB8AC3E}">
        <p14:creationId xmlns:p14="http://schemas.microsoft.com/office/powerpoint/2010/main" val="2911364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5" r:id="rId16"/>
    <p:sldLayoutId id="2147483666"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hyperlink" Target="https://academic.oup.com/neuro-oncology/article/22/9/1388/5764143" TargetMode="Externa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5.xml"/><Relationship Id="rId5" Type="http://schemas.openxmlformats.org/officeDocument/2006/relationships/image" Target="../media/image29.png"/><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hyperlink" Target="https://doi.org/10.1371/journal.pone.0187281"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hyperlink" Target="https://doi.org/10.1016/j.neuroimage.2010.06.041"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15.xml"/><Relationship Id="rId4" Type="http://schemas.openxmlformats.org/officeDocument/2006/relationships/hyperlink" Target="https://doi.org/10.1016/j.neuroimage.2010.06.041"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5.xml"/><Relationship Id="rId4" Type="http://schemas.openxmlformats.org/officeDocument/2006/relationships/image" Target="../media/image54.png"/></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8B39F-ACCB-FE86-2BFE-3A1E77DA268A}"/>
              </a:ext>
            </a:extLst>
          </p:cNvPr>
          <p:cNvSpPr>
            <a:spLocks noGrp="1"/>
          </p:cNvSpPr>
          <p:nvPr>
            <p:ph type="title"/>
          </p:nvPr>
        </p:nvSpPr>
        <p:spPr/>
        <p:txBody>
          <a:bodyPr>
            <a:normAutofit fontScale="90000"/>
          </a:bodyPr>
          <a:lstStyle/>
          <a:p>
            <a:r>
              <a:rPr lang="en-GB" dirty="0"/>
              <a:t>Master Thesis: Alzheimer Prediction</a:t>
            </a:r>
          </a:p>
        </p:txBody>
      </p:sp>
      <p:sp>
        <p:nvSpPr>
          <p:cNvPr id="3" name="Content Placeholder 2">
            <a:extLst>
              <a:ext uri="{FF2B5EF4-FFF2-40B4-BE49-F238E27FC236}">
                <a16:creationId xmlns:a16="http://schemas.microsoft.com/office/drawing/2014/main" id="{479E595D-041C-B25A-2A49-280F3AC1F9C7}"/>
              </a:ext>
            </a:extLst>
          </p:cNvPr>
          <p:cNvSpPr>
            <a:spLocks noGrp="1"/>
          </p:cNvSpPr>
          <p:nvPr>
            <p:ph idx="10"/>
          </p:nvPr>
        </p:nvSpPr>
        <p:spPr/>
        <p:txBody>
          <a:bodyPr/>
          <a:lstStyle/>
          <a:p>
            <a:r>
              <a:rPr lang="en-GB" dirty="0"/>
              <a:t>Fraj Yassine Lakhal</a:t>
            </a:r>
          </a:p>
          <a:p>
            <a:r>
              <a:rPr lang="en-GB" dirty="0"/>
              <a:t>Munich, 3. December 2025</a:t>
            </a:r>
          </a:p>
          <a:p>
            <a:endParaRPr lang="en-GB" dirty="0"/>
          </a:p>
          <a:p>
            <a:endParaRPr lang="en-GB" dirty="0"/>
          </a:p>
          <a:p>
            <a:endParaRPr lang="en-GB" dirty="0"/>
          </a:p>
        </p:txBody>
      </p:sp>
    </p:spTree>
    <p:extLst>
      <p:ext uri="{BB962C8B-B14F-4D97-AF65-F5344CB8AC3E}">
        <p14:creationId xmlns:p14="http://schemas.microsoft.com/office/powerpoint/2010/main" val="1088459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23415-EF71-F708-DCE7-0633304B9A2A}"/>
              </a:ext>
            </a:extLst>
          </p:cNvPr>
          <p:cNvSpPr>
            <a:spLocks noGrp="1"/>
          </p:cNvSpPr>
          <p:nvPr>
            <p:ph type="title"/>
          </p:nvPr>
        </p:nvSpPr>
        <p:spPr>
          <a:xfrm>
            <a:off x="838200" y="2766218"/>
            <a:ext cx="10515600" cy="1325563"/>
          </a:xfrm>
        </p:spPr>
        <p:txBody>
          <a:bodyPr/>
          <a:lstStyle/>
          <a:p>
            <a:pPr algn="ctr"/>
            <a:r>
              <a:rPr lang="en-US" b="1" i="1" dirty="0"/>
              <a:t>Motivation</a:t>
            </a:r>
          </a:p>
        </p:txBody>
      </p:sp>
    </p:spTree>
    <p:extLst>
      <p:ext uri="{BB962C8B-B14F-4D97-AF65-F5344CB8AC3E}">
        <p14:creationId xmlns:p14="http://schemas.microsoft.com/office/powerpoint/2010/main" val="1540847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292330-3C6A-FF0A-D26D-995DD4F06486}"/>
            </a:ext>
          </a:extLst>
        </p:cNvPr>
        <p:cNvGrpSpPr/>
        <p:nvPr/>
      </p:nvGrpSpPr>
      <p:grpSpPr>
        <a:xfrm>
          <a:off x="0" y="0"/>
          <a:ext cx="0" cy="0"/>
          <a:chOff x="0" y="0"/>
          <a:chExt cx="0" cy="0"/>
        </a:xfrm>
      </p:grpSpPr>
      <p:sp useBgFill="1">
        <p:nvSpPr>
          <p:cNvPr id="1066" name="Rectangle 106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 photo of a vial of Leqembi over a computer rendering of neurons affected by Alzheimer’s disease.">
            <a:extLst>
              <a:ext uri="{FF2B5EF4-FFF2-40B4-BE49-F238E27FC236}">
                <a16:creationId xmlns:a16="http://schemas.microsoft.com/office/drawing/2014/main" id="{90E1260F-6BF7-B086-16E8-E944732B9A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432" r="8256"/>
          <a:stretch>
            <a:fillRect/>
          </a:stretch>
        </p:blipFill>
        <p:spPr bwMode="auto">
          <a:xfrm>
            <a:off x="2522358"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67" name="Rectangle 106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303D7C0B-CF1F-5D8B-452A-8D0F047EB1D6}"/>
              </a:ext>
            </a:extLst>
          </p:cNvPr>
          <p:cNvSpPr>
            <a:spLocks noGrp="1"/>
          </p:cNvSpPr>
          <p:nvPr>
            <p:ph type="title"/>
          </p:nvPr>
        </p:nvSpPr>
        <p:spPr>
          <a:xfrm>
            <a:off x="611258" y="443671"/>
            <a:ext cx="4025981" cy="1217506"/>
          </a:xfrm>
        </p:spPr>
        <p:txBody>
          <a:bodyPr vert="horz" lIns="91440" tIns="45720" rIns="91440" bIns="45720" rtlCol="0" anchor="ctr">
            <a:normAutofit fontScale="90000"/>
          </a:bodyPr>
          <a:lstStyle/>
          <a:p>
            <a:pPr>
              <a:lnSpc>
                <a:spcPct val="90000"/>
              </a:lnSpc>
            </a:pPr>
            <a:r>
              <a:rPr lang="en-US" sz="4000" dirty="0"/>
              <a:t>Alzheimer’s Disease </a:t>
            </a:r>
            <a:br>
              <a:rPr lang="en-US" sz="4000" dirty="0"/>
            </a:br>
            <a:r>
              <a:rPr lang="en-US" sz="4000" dirty="0"/>
              <a:t>Modifying treatment</a:t>
            </a:r>
          </a:p>
        </p:txBody>
      </p:sp>
      <p:sp>
        <p:nvSpPr>
          <p:cNvPr id="1050" name="Content Placeholder 1049">
            <a:extLst>
              <a:ext uri="{FF2B5EF4-FFF2-40B4-BE49-F238E27FC236}">
                <a16:creationId xmlns:a16="http://schemas.microsoft.com/office/drawing/2014/main" id="{7A42EC2B-4C6B-2A74-8596-600B1D111672}"/>
              </a:ext>
            </a:extLst>
          </p:cNvPr>
          <p:cNvSpPr>
            <a:spLocks noGrp="1"/>
          </p:cNvSpPr>
          <p:nvPr>
            <p:ph idx="1"/>
          </p:nvPr>
        </p:nvSpPr>
        <p:spPr>
          <a:xfrm>
            <a:off x="815050" y="2388207"/>
            <a:ext cx="3822189" cy="3742762"/>
          </a:xfrm>
        </p:spPr>
        <p:txBody>
          <a:bodyPr vert="horz" lIns="91440" tIns="45720" rIns="91440" bIns="45720" rtlCol="0">
            <a:normAutofit lnSpcReduction="10000"/>
          </a:bodyPr>
          <a:lstStyle/>
          <a:p>
            <a:pPr>
              <a:lnSpc>
                <a:spcPct val="90000"/>
              </a:lnSpc>
            </a:pPr>
            <a:r>
              <a:rPr lang="en-US" dirty="0" err="1"/>
              <a:t>Lecanemab</a:t>
            </a:r>
            <a:r>
              <a:rPr lang="en-US" dirty="0"/>
              <a:t> approved for prescription on 15. April in Germany</a:t>
            </a:r>
          </a:p>
          <a:p>
            <a:pPr>
              <a:lnSpc>
                <a:spcPct val="90000"/>
              </a:lnSpc>
            </a:pPr>
            <a:r>
              <a:rPr lang="en-US" dirty="0"/>
              <a:t>Diagnosis is no longer just about memory tests; it now requires </a:t>
            </a:r>
            <a:r>
              <a:rPr lang="en-US" b="1" dirty="0"/>
              <a:t>biological proof</a:t>
            </a:r>
            <a:r>
              <a:rPr lang="en-US" dirty="0"/>
              <a:t> of Alzheimer's via biomarkers.</a:t>
            </a:r>
            <a:endParaRPr lang="en-US" sz="2000" dirty="0"/>
          </a:p>
          <a:p>
            <a:pPr>
              <a:lnSpc>
                <a:spcPct val="90000"/>
              </a:lnSpc>
            </a:pPr>
            <a:r>
              <a:rPr lang="en-US" dirty="0"/>
              <a:t>Approved for </a:t>
            </a:r>
            <a:r>
              <a:rPr lang="en-US" b="1" dirty="0"/>
              <a:t>Early AD</a:t>
            </a:r>
            <a:r>
              <a:rPr lang="en-US" dirty="0"/>
              <a:t> (Mild Cognitive Impairment or Mild Dementia)</a:t>
            </a:r>
          </a:p>
          <a:p>
            <a:pPr>
              <a:lnSpc>
                <a:spcPct val="90000"/>
              </a:lnSpc>
            </a:pPr>
            <a:r>
              <a:rPr lang="en-US" dirty="0"/>
              <a:t>It clears amyloid plaques to slow cognitive decline by ~27%. It does not restore lost memory; it preserves what is left.</a:t>
            </a:r>
            <a:endParaRPr lang="en-US" sz="2000" dirty="0"/>
          </a:p>
          <a:p>
            <a:pPr>
              <a:lnSpc>
                <a:spcPct val="90000"/>
              </a:lnSpc>
            </a:pPr>
            <a:endParaRPr lang="en-US" sz="2000" dirty="0"/>
          </a:p>
        </p:txBody>
      </p:sp>
    </p:spTree>
    <p:extLst>
      <p:ext uri="{BB962C8B-B14F-4D97-AF65-F5344CB8AC3E}">
        <p14:creationId xmlns:p14="http://schemas.microsoft.com/office/powerpoint/2010/main" val="3613765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E02641-193F-0866-38E1-67F1B2B345E6}"/>
              </a:ext>
            </a:extLst>
          </p:cNvPr>
          <p:cNvSpPr>
            <a:spLocks noGrp="1"/>
          </p:cNvSpPr>
          <p:nvPr>
            <p:ph type="title"/>
          </p:nvPr>
        </p:nvSpPr>
        <p:spPr>
          <a:xfrm>
            <a:off x="414883" y="391280"/>
            <a:ext cx="11345332" cy="555601"/>
          </a:xfrm>
        </p:spPr>
        <p:txBody>
          <a:bodyPr/>
          <a:lstStyle/>
          <a:p>
            <a:r>
              <a:rPr lang="en-US" sz="3600" dirty="0"/>
              <a:t>Current Paradigm</a:t>
            </a:r>
            <a:endParaRPr lang="en-US" dirty="0"/>
          </a:p>
        </p:txBody>
      </p:sp>
      <p:sp>
        <p:nvSpPr>
          <p:cNvPr id="10" name="Rectangle 9">
            <a:extLst>
              <a:ext uri="{FF2B5EF4-FFF2-40B4-BE49-F238E27FC236}">
                <a16:creationId xmlns:a16="http://schemas.microsoft.com/office/drawing/2014/main" id="{845C27F0-4786-63B5-03AA-CE8DFC4ACDB1}"/>
              </a:ext>
            </a:extLst>
          </p:cNvPr>
          <p:cNvSpPr/>
          <p:nvPr/>
        </p:nvSpPr>
        <p:spPr>
          <a:xfrm>
            <a:off x="2693043" y="1473801"/>
            <a:ext cx="6805914" cy="5518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t>1. Cognitive test: </a:t>
            </a:r>
            <a:r>
              <a:rPr lang="en-US" dirty="0"/>
              <a:t>e.g., MOCA or MMSE</a:t>
            </a:r>
          </a:p>
        </p:txBody>
      </p:sp>
      <p:sp>
        <p:nvSpPr>
          <p:cNvPr id="11" name="Rectangle 10">
            <a:extLst>
              <a:ext uri="{FF2B5EF4-FFF2-40B4-BE49-F238E27FC236}">
                <a16:creationId xmlns:a16="http://schemas.microsoft.com/office/drawing/2014/main" id="{DAE14408-DEEF-1BAD-130A-67DDC4EB3B2C}"/>
              </a:ext>
            </a:extLst>
          </p:cNvPr>
          <p:cNvSpPr/>
          <p:nvPr/>
        </p:nvSpPr>
        <p:spPr>
          <a:xfrm>
            <a:off x="4064643" y="2773869"/>
            <a:ext cx="4062714" cy="1110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t>2. Blood test: </a:t>
            </a:r>
            <a:r>
              <a:rPr lang="en-US" dirty="0"/>
              <a:t>Plasma p-tau217</a:t>
            </a:r>
          </a:p>
          <a:p>
            <a:pPr algn="ctr"/>
            <a:r>
              <a:rPr lang="en-US" dirty="0"/>
              <a:t>radioactive tracer amyloid plaques</a:t>
            </a:r>
          </a:p>
        </p:txBody>
      </p:sp>
      <p:sp>
        <p:nvSpPr>
          <p:cNvPr id="12" name="Rectangle 11">
            <a:extLst>
              <a:ext uri="{FF2B5EF4-FFF2-40B4-BE49-F238E27FC236}">
                <a16:creationId xmlns:a16="http://schemas.microsoft.com/office/drawing/2014/main" id="{63E52C6F-7E6A-91CB-93C4-DA5C723B7ED6}"/>
              </a:ext>
            </a:extLst>
          </p:cNvPr>
          <p:cNvSpPr/>
          <p:nvPr/>
        </p:nvSpPr>
        <p:spPr>
          <a:xfrm>
            <a:off x="2992056" y="4632680"/>
            <a:ext cx="6207888" cy="17206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t>3. Scans</a:t>
            </a:r>
          </a:p>
          <a:p>
            <a:pPr algn="ctr"/>
            <a:r>
              <a:rPr lang="en-US" dirty="0"/>
              <a:t>Amyloid PET Scan: radioactive tracer amyloid plaques.</a:t>
            </a:r>
          </a:p>
          <a:p>
            <a:pPr algn="ctr"/>
            <a:r>
              <a:rPr lang="en-US" dirty="0"/>
              <a:t> or</a:t>
            </a:r>
          </a:p>
          <a:p>
            <a:pPr algn="ctr"/>
            <a:r>
              <a:rPr lang="en-US" dirty="0"/>
              <a:t>CSF Analysis (Lumbar Puncture): Spinal fluid is drawn to measure the ratio of amyloid/tau proteins. </a:t>
            </a:r>
          </a:p>
        </p:txBody>
      </p:sp>
      <p:cxnSp>
        <p:nvCxnSpPr>
          <p:cNvPr id="16" name="Straight Arrow Connector 15">
            <a:extLst>
              <a:ext uri="{FF2B5EF4-FFF2-40B4-BE49-F238E27FC236}">
                <a16:creationId xmlns:a16="http://schemas.microsoft.com/office/drawing/2014/main" id="{A5EAB076-AC15-57E7-77EB-87EB5770BF8F}"/>
              </a:ext>
            </a:extLst>
          </p:cNvPr>
          <p:cNvCxnSpPr>
            <a:cxnSpLocks/>
            <a:stCxn id="10" idx="2"/>
            <a:endCxn id="11" idx="0"/>
          </p:cNvCxnSpPr>
          <p:nvPr/>
        </p:nvCxnSpPr>
        <p:spPr>
          <a:xfrm>
            <a:off x="6096000" y="2025603"/>
            <a:ext cx="0" cy="7482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CD0F2F79-528C-B8BA-F13A-CADBCFCF3B20}"/>
              </a:ext>
            </a:extLst>
          </p:cNvPr>
          <p:cNvSpPr txBox="1"/>
          <p:nvPr/>
        </p:nvSpPr>
        <p:spPr>
          <a:xfrm>
            <a:off x="6096002" y="2144308"/>
            <a:ext cx="4062710" cy="461665"/>
          </a:xfrm>
          <a:prstGeom prst="rect">
            <a:avLst/>
          </a:prstGeom>
          <a:noFill/>
        </p:spPr>
        <p:txBody>
          <a:bodyPr wrap="square">
            <a:spAutoFit/>
          </a:bodyPr>
          <a:lstStyle/>
          <a:p>
            <a:r>
              <a:rPr lang="en-US" sz="1200" dirty="0"/>
              <a:t>If you score below a certain threshold </a:t>
            </a:r>
          </a:p>
          <a:p>
            <a:r>
              <a:rPr lang="en-US" sz="1200" dirty="0"/>
              <a:t>(e.g., &lt;26/30 on MOCA)</a:t>
            </a:r>
          </a:p>
        </p:txBody>
      </p:sp>
      <p:sp>
        <p:nvSpPr>
          <p:cNvPr id="28" name="TextBox 27">
            <a:extLst>
              <a:ext uri="{FF2B5EF4-FFF2-40B4-BE49-F238E27FC236}">
                <a16:creationId xmlns:a16="http://schemas.microsoft.com/office/drawing/2014/main" id="{214498B8-96F6-3BCD-8E5C-B82C500F7929}"/>
              </a:ext>
            </a:extLst>
          </p:cNvPr>
          <p:cNvSpPr txBox="1"/>
          <p:nvPr/>
        </p:nvSpPr>
        <p:spPr>
          <a:xfrm>
            <a:off x="6096000" y="3965426"/>
            <a:ext cx="3559216" cy="646331"/>
          </a:xfrm>
          <a:prstGeom prst="rect">
            <a:avLst/>
          </a:prstGeom>
          <a:noFill/>
        </p:spPr>
        <p:txBody>
          <a:bodyPr wrap="square">
            <a:spAutoFit/>
          </a:bodyPr>
          <a:lstStyle/>
          <a:p>
            <a:r>
              <a:rPr lang="en-US" sz="1200" dirty="0"/>
              <a:t>Highly suspicious for Alzheimer’s. The patient moves to the "Gold Standard" confirmation required for insurance and treatment approval.</a:t>
            </a:r>
          </a:p>
        </p:txBody>
      </p:sp>
      <p:cxnSp>
        <p:nvCxnSpPr>
          <p:cNvPr id="29" name="Straight Arrow Connector 28">
            <a:extLst>
              <a:ext uri="{FF2B5EF4-FFF2-40B4-BE49-F238E27FC236}">
                <a16:creationId xmlns:a16="http://schemas.microsoft.com/office/drawing/2014/main" id="{F96DF9F6-FF28-50D2-3F01-EF78A2480F23}"/>
              </a:ext>
            </a:extLst>
          </p:cNvPr>
          <p:cNvCxnSpPr>
            <a:cxnSpLocks/>
            <a:stCxn id="11" idx="2"/>
          </p:cNvCxnSpPr>
          <p:nvPr/>
        </p:nvCxnSpPr>
        <p:spPr>
          <a:xfrm>
            <a:off x="6096000" y="3884413"/>
            <a:ext cx="0" cy="8502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1989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A0328-75F7-3536-BC18-6BA84DE863B4}"/>
            </a:ext>
          </a:extLst>
        </p:cNvPr>
        <p:cNvGrpSpPr/>
        <p:nvPr/>
      </p:nvGrpSpPr>
      <p:grpSpPr>
        <a:xfrm>
          <a:off x="0" y="0"/>
          <a:ext cx="0" cy="0"/>
          <a:chOff x="0" y="0"/>
          <a:chExt cx="0" cy="0"/>
        </a:xfrm>
      </p:grpSpPr>
      <p:pic>
        <p:nvPicPr>
          <p:cNvPr id="8" name="Picture 7" descr="A diagram of a patient's diagnosis&#10;&#10;AI-generated content may be incorrect.">
            <a:extLst>
              <a:ext uri="{FF2B5EF4-FFF2-40B4-BE49-F238E27FC236}">
                <a16:creationId xmlns:a16="http://schemas.microsoft.com/office/drawing/2014/main" id="{98105FB6-E960-D8BF-E26E-7213C8DC63F9}"/>
              </a:ext>
            </a:extLst>
          </p:cNvPr>
          <p:cNvPicPr>
            <a:picLocks noChangeAspect="1"/>
          </p:cNvPicPr>
          <p:nvPr/>
        </p:nvPicPr>
        <p:blipFill>
          <a:blip r:embed="rId3">
            <a:alphaModFix amt="5000"/>
          </a:blip>
          <a:stretch>
            <a:fillRect/>
          </a:stretch>
        </p:blipFill>
        <p:spPr>
          <a:xfrm>
            <a:off x="281314" y="252706"/>
            <a:ext cx="11835941" cy="6605294"/>
          </a:xfrm>
          <a:prstGeom prst="rect">
            <a:avLst/>
          </a:prstGeom>
        </p:spPr>
      </p:pic>
      <p:sp>
        <p:nvSpPr>
          <p:cNvPr id="4" name="Title 3">
            <a:extLst>
              <a:ext uri="{FF2B5EF4-FFF2-40B4-BE49-F238E27FC236}">
                <a16:creationId xmlns:a16="http://schemas.microsoft.com/office/drawing/2014/main" id="{2A24D506-57F4-D3A5-0A68-9039592289B0}"/>
              </a:ext>
            </a:extLst>
          </p:cNvPr>
          <p:cNvSpPr>
            <a:spLocks noGrp="1"/>
          </p:cNvSpPr>
          <p:nvPr>
            <p:ph type="title"/>
          </p:nvPr>
        </p:nvSpPr>
        <p:spPr>
          <a:xfrm>
            <a:off x="565354" y="1635083"/>
            <a:ext cx="11345332" cy="2737673"/>
          </a:xfrm>
        </p:spPr>
        <p:txBody>
          <a:bodyPr/>
          <a:lstStyle/>
          <a:p>
            <a:r>
              <a:rPr lang="en-US" sz="2800" b="1" i="1" dirty="0"/>
              <a:t>Several Issues:</a:t>
            </a:r>
            <a:br>
              <a:rPr lang="en-US" sz="2800" b="1" i="1" dirty="0"/>
            </a:br>
            <a:br>
              <a:rPr lang="en-US" sz="2800" dirty="0"/>
            </a:br>
            <a:r>
              <a:rPr lang="en-US" sz="2800" dirty="0"/>
              <a:t>1. Functional "Collapse" Precedes Structural Atrophy</a:t>
            </a:r>
            <a:br>
              <a:rPr lang="en-US" sz="2800" dirty="0"/>
            </a:br>
            <a:r>
              <a:rPr lang="en-US" sz="2800" dirty="0"/>
              <a:t>2. Burdensome for elderly patients.</a:t>
            </a:r>
            <a:br>
              <a:rPr lang="en-US" dirty="0"/>
            </a:br>
            <a:endParaRPr lang="en-US" dirty="0"/>
          </a:p>
        </p:txBody>
      </p:sp>
    </p:spTree>
    <p:extLst>
      <p:ext uri="{BB962C8B-B14F-4D97-AF65-F5344CB8AC3E}">
        <p14:creationId xmlns:p14="http://schemas.microsoft.com/office/powerpoint/2010/main" val="2328947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FE972-E02B-66F3-6985-91B294D1812B}"/>
            </a:ext>
          </a:extLst>
        </p:cNvPr>
        <p:cNvGrpSpPr/>
        <p:nvPr/>
      </p:nvGrpSpPr>
      <p:grpSpPr>
        <a:xfrm>
          <a:off x="0" y="0"/>
          <a:ext cx="0" cy="0"/>
          <a:chOff x="0" y="0"/>
          <a:chExt cx="0" cy="0"/>
        </a:xfrm>
      </p:grpSpPr>
      <p:pic>
        <p:nvPicPr>
          <p:cNvPr id="8" name="Picture 7" descr="A diagram of a patient's diagnosis&#10;&#10;AI-generated content may be incorrect.">
            <a:extLst>
              <a:ext uri="{FF2B5EF4-FFF2-40B4-BE49-F238E27FC236}">
                <a16:creationId xmlns:a16="http://schemas.microsoft.com/office/drawing/2014/main" id="{B91F1D18-2876-287C-C3AC-EC01F443A905}"/>
              </a:ext>
            </a:extLst>
          </p:cNvPr>
          <p:cNvPicPr>
            <a:picLocks noChangeAspect="1"/>
          </p:cNvPicPr>
          <p:nvPr/>
        </p:nvPicPr>
        <p:blipFill>
          <a:blip r:embed="rId3">
            <a:alphaModFix amt="5000"/>
          </a:blip>
          <a:stretch>
            <a:fillRect/>
          </a:stretch>
        </p:blipFill>
        <p:spPr>
          <a:xfrm>
            <a:off x="281314" y="252706"/>
            <a:ext cx="11835941" cy="6605294"/>
          </a:xfrm>
          <a:prstGeom prst="rect">
            <a:avLst/>
          </a:prstGeom>
        </p:spPr>
      </p:pic>
      <p:sp>
        <p:nvSpPr>
          <p:cNvPr id="4" name="Title 3">
            <a:extLst>
              <a:ext uri="{FF2B5EF4-FFF2-40B4-BE49-F238E27FC236}">
                <a16:creationId xmlns:a16="http://schemas.microsoft.com/office/drawing/2014/main" id="{6F5E2D85-BA48-D6CE-496F-0BE6AC3C6307}"/>
              </a:ext>
            </a:extLst>
          </p:cNvPr>
          <p:cNvSpPr>
            <a:spLocks noGrp="1"/>
          </p:cNvSpPr>
          <p:nvPr>
            <p:ph type="title"/>
          </p:nvPr>
        </p:nvSpPr>
        <p:spPr>
          <a:xfrm>
            <a:off x="565354" y="1635083"/>
            <a:ext cx="11345332" cy="3840539"/>
          </a:xfrm>
        </p:spPr>
        <p:txBody>
          <a:bodyPr/>
          <a:lstStyle/>
          <a:p>
            <a:r>
              <a:rPr lang="en-US" sz="2800" b="1" i="1" dirty="0"/>
              <a:t>Several Issues:</a:t>
            </a:r>
            <a:br>
              <a:rPr lang="en-US" sz="2800" b="1" i="1" dirty="0"/>
            </a:br>
            <a:br>
              <a:rPr lang="en-US" sz="2800" dirty="0"/>
            </a:br>
            <a:r>
              <a:rPr lang="en-US" sz="2800" dirty="0"/>
              <a:t>1. Functional "Collapse" Precedes Structural Atrophy</a:t>
            </a:r>
            <a:br>
              <a:rPr lang="en-US" sz="2800" dirty="0"/>
            </a:br>
            <a:r>
              <a:rPr lang="en-US" sz="2800" dirty="0"/>
              <a:t>2. Burdensome for elderly patients.</a:t>
            </a:r>
            <a:br>
              <a:rPr lang="en-US" dirty="0"/>
            </a:br>
            <a:br>
              <a:rPr lang="en-US" dirty="0"/>
            </a:br>
            <a:r>
              <a:rPr lang="en-US" sz="3600" dirty="0"/>
              <a:t>Can  we identify functionally vulnerable patients early on?</a:t>
            </a:r>
            <a:br>
              <a:rPr lang="en-US" dirty="0"/>
            </a:br>
            <a:endParaRPr lang="en-US" dirty="0"/>
          </a:p>
        </p:txBody>
      </p:sp>
    </p:spTree>
    <p:extLst>
      <p:ext uri="{BB962C8B-B14F-4D97-AF65-F5344CB8AC3E}">
        <p14:creationId xmlns:p14="http://schemas.microsoft.com/office/powerpoint/2010/main" val="2531067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1">
            <a:extLst>
              <a:ext uri="{FF2B5EF4-FFF2-40B4-BE49-F238E27FC236}">
                <a16:creationId xmlns:a16="http://schemas.microsoft.com/office/drawing/2014/main" id="{49CF7048-F5D9-51FB-F8CB-0DC394830D70}"/>
              </a:ext>
            </a:extLst>
          </p:cNvPr>
          <p:cNvGraphicFramePr>
            <a:graphicFrameLocks noGrp="1"/>
          </p:cNvGraphicFramePr>
          <p:nvPr>
            <p:ph idx="1"/>
            <p:extLst>
              <p:ext uri="{D42A27DB-BD31-4B8C-83A1-F6EECF244321}">
                <p14:modId xmlns:p14="http://schemas.microsoft.com/office/powerpoint/2010/main" val="2510241112"/>
              </p:ext>
            </p:extLst>
          </p:nvPr>
        </p:nvGraphicFramePr>
        <p:xfrm>
          <a:off x="414883" y="1523575"/>
          <a:ext cx="11345332" cy="43216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a:extLst>
              <a:ext uri="{FF2B5EF4-FFF2-40B4-BE49-F238E27FC236}">
                <a16:creationId xmlns:a16="http://schemas.microsoft.com/office/drawing/2014/main" id="{8DFADC1E-5B2C-E840-DE7E-CD18F6449A71}"/>
              </a:ext>
            </a:extLst>
          </p:cNvPr>
          <p:cNvSpPr>
            <a:spLocks noGrp="1"/>
          </p:cNvSpPr>
          <p:nvPr>
            <p:ph type="title"/>
          </p:nvPr>
        </p:nvSpPr>
        <p:spPr/>
        <p:txBody>
          <a:bodyPr/>
          <a:lstStyle/>
          <a:p>
            <a:r>
              <a:rPr lang="en-US" dirty="0"/>
              <a:t>Why resting-state fMRI?</a:t>
            </a:r>
          </a:p>
        </p:txBody>
      </p:sp>
      <p:sp>
        <p:nvSpPr>
          <p:cNvPr id="8" name="TextBox 7">
            <a:extLst>
              <a:ext uri="{FF2B5EF4-FFF2-40B4-BE49-F238E27FC236}">
                <a16:creationId xmlns:a16="http://schemas.microsoft.com/office/drawing/2014/main" id="{8F7146C5-5C44-5527-D940-914432A3AFE3}"/>
              </a:ext>
            </a:extLst>
          </p:cNvPr>
          <p:cNvSpPr txBox="1"/>
          <p:nvPr/>
        </p:nvSpPr>
        <p:spPr>
          <a:xfrm>
            <a:off x="150472" y="5987472"/>
            <a:ext cx="12210394" cy="861774"/>
          </a:xfrm>
          <a:prstGeom prst="rect">
            <a:avLst/>
          </a:prstGeom>
          <a:noFill/>
        </p:spPr>
        <p:txBody>
          <a:bodyPr wrap="none" rtlCol="0">
            <a:spAutoFit/>
          </a:bodyPr>
          <a:lstStyle/>
          <a:p>
            <a:r>
              <a:rPr lang="en-US" sz="1000" dirty="0"/>
              <a:t>1 https://</a:t>
            </a:r>
            <a:r>
              <a:rPr lang="en-US" sz="1000" dirty="0" err="1"/>
              <a:t>www.carecredit.com</a:t>
            </a:r>
            <a:r>
              <a:rPr lang="en-US" sz="1000" dirty="0"/>
              <a:t>/well-u/health-wellness/pet-scan-cost/#:~:text=Depending%20on%20the%20specific%20type%20of%20procedure,range%20between%20$1711%20and%20$12848.%20Learn%20more.</a:t>
            </a:r>
          </a:p>
          <a:p>
            <a:r>
              <a:rPr lang="en-US" sz="1000" dirty="0"/>
              <a:t>2 Young P, Heeman F, Axelsson J, </a:t>
            </a:r>
            <a:r>
              <a:rPr lang="en-US" sz="1000" dirty="0" err="1"/>
              <a:t>Collij</a:t>
            </a:r>
            <a:r>
              <a:rPr lang="en-US" sz="1000" dirty="0"/>
              <a:t> LE, Hitzel A, </a:t>
            </a:r>
            <a:r>
              <a:rPr lang="en-US" sz="1000" dirty="0" err="1"/>
              <a:t>Sanaat</a:t>
            </a:r>
            <a:r>
              <a:rPr lang="en-US" sz="1000" dirty="0"/>
              <a:t> A, </a:t>
            </a:r>
            <a:r>
              <a:rPr lang="en-US" sz="1000" dirty="0" err="1"/>
              <a:t>Niñerola</a:t>
            </a:r>
            <a:r>
              <a:rPr lang="en-US" sz="1000" dirty="0"/>
              <a:t>-Baizan A, </a:t>
            </a:r>
            <a:r>
              <a:rPr lang="en-US" sz="1000" dirty="0" err="1"/>
              <a:t>Perissinotti</a:t>
            </a:r>
            <a:r>
              <a:rPr lang="en-US" sz="1000" dirty="0"/>
              <a:t> A, </a:t>
            </a:r>
            <a:r>
              <a:rPr lang="en-US" sz="1000" dirty="0" err="1"/>
              <a:t>Lubberink</a:t>
            </a:r>
            <a:r>
              <a:rPr lang="en-US" sz="1000" dirty="0"/>
              <a:t> M, </a:t>
            </a:r>
            <a:r>
              <a:rPr lang="en-US" sz="1000" dirty="0" err="1"/>
              <a:t>Frisoni</a:t>
            </a:r>
            <a:r>
              <a:rPr lang="en-US" sz="1000" dirty="0"/>
              <a:t> GB, Zaidi H, </a:t>
            </a:r>
            <a:r>
              <a:rPr lang="en-US" sz="1000" dirty="0" err="1"/>
              <a:t>Barkhof</a:t>
            </a:r>
            <a:r>
              <a:rPr lang="en-US" sz="1000" dirty="0"/>
              <a:t> F, Farrar G, Baker S, Gispert JD, </a:t>
            </a:r>
            <a:r>
              <a:rPr lang="en-US" sz="1000" dirty="0" err="1"/>
              <a:t>Garibotto</a:t>
            </a:r>
            <a:r>
              <a:rPr lang="en-US" sz="1000" dirty="0"/>
              <a:t> V, Rieckmann A, </a:t>
            </a:r>
            <a:r>
              <a:rPr lang="en-US" sz="1000" dirty="0" err="1"/>
              <a:t>Schöll</a:t>
            </a:r>
            <a:r>
              <a:rPr lang="en-US" sz="1000" dirty="0"/>
              <a:t> M; AMYPAD </a:t>
            </a:r>
          </a:p>
          <a:p>
            <a:r>
              <a:rPr lang="en-US" sz="1000" dirty="0"/>
              <a:t>consortium. Impact of simulated reduced injected dose on the assessment of amyloid PET scans. </a:t>
            </a:r>
            <a:r>
              <a:rPr lang="en-US" sz="1000" dirty="0" err="1"/>
              <a:t>Eur</a:t>
            </a:r>
            <a:r>
              <a:rPr lang="en-US" sz="1000" dirty="0"/>
              <a:t> J </a:t>
            </a:r>
            <a:r>
              <a:rPr lang="en-US" sz="1000" dirty="0" err="1"/>
              <a:t>Nucl</a:t>
            </a:r>
            <a:r>
              <a:rPr lang="en-US" sz="1000" dirty="0"/>
              <a:t> Med Mol Imaging. 2024 Feb;51(3):734-748. </a:t>
            </a:r>
            <a:r>
              <a:rPr lang="en-US" sz="1000" dirty="0" err="1"/>
              <a:t>doi</a:t>
            </a:r>
            <a:r>
              <a:rPr lang="en-US" sz="1000" dirty="0"/>
              <a:t>: 10.1007/s00259-023-06481-0. </a:t>
            </a:r>
            <a:r>
              <a:rPr lang="en-US" sz="1000" dirty="0" err="1"/>
              <a:t>Epub</a:t>
            </a:r>
            <a:r>
              <a:rPr lang="en-US" sz="1000" dirty="0"/>
              <a:t> 2023 Oct 28. </a:t>
            </a:r>
          </a:p>
          <a:p>
            <a:r>
              <a:rPr lang="en-US" sz="1000" dirty="0"/>
              <a:t>PMID: 37897616; PMCID: PMC10796642.</a:t>
            </a:r>
          </a:p>
          <a:p>
            <a:r>
              <a:rPr lang="en-US" sz="1000" dirty="0"/>
              <a:t>3 https://</a:t>
            </a:r>
            <a:r>
              <a:rPr lang="en-US" sz="1000" dirty="0" err="1"/>
              <a:t>www.mdsave.com</a:t>
            </a:r>
            <a:r>
              <a:rPr lang="en-US" sz="1000" dirty="0"/>
              <a:t>/procedures/functional-</a:t>
            </a:r>
            <a:r>
              <a:rPr lang="en-US" sz="1000" dirty="0" err="1"/>
              <a:t>mri</a:t>
            </a:r>
            <a:r>
              <a:rPr lang="en-US" sz="1000" dirty="0"/>
              <a:t>-</a:t>
            </a:r>
            <a:r>
              <a:rPr lang="en-US" sz="1000" dirty="0" err="1"/>
              <a:t>fmri</a:t>
            </a:r>
            <a:r>
              <a:rPr lang="en-US" sz="1000" dirty="0"/>
              <a:t>/d584f5cc</a:t>
            </a:r>
          </a:p>
        </p:txBody>
      </p:sp>
    </p:spTree>
    <p:extLst>
      <p:ext uri="{BB962C8B-B14F-4D97-AF65-F5344CB8AC3E}">
        <p14:creationId xmlns:p14="http://schemas.microsoft.com/office/powerpoint/2010/main" val="135188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can of a human brain in a neurology clinic">
            <a:extLst>
              <a:ext uri="{FF2B5EF4-FFF2-40B4-BE49-F238E27FC236}">
                <a16:creationId xmlns:a16="http://schemas.microsoft.com/office/drawing/2014/main" id="{74284F6C-5F0B-3897-08A0-9CC279D936D2}"/>
              </a:ext>
            </a:extLst>
          </p:cNvPr>
          <p:cNvPicPr>
            <a:picLocks noChangeAspect="1"/>
          </p:cNvPicPr>
          <p:nvPr/>
        </p:nvPicPr>
        <p:blipFill>
          <a:blip r:embed="rId3"/>
          <a:srcRect t="5436"/>
          <a:stretch>
            <a:fillRect/>
          </a:stretch>
        </p:blipFill>
        <p:spPr>
          <a:xfrm>
            <a:off x="2522356" y="10"/>
            <a:ext cx="9669642"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D749B39C-AC69-7BE0-C71E-99DE5563F66B}"/>
              </a:ext>
            </a:extLst>
          </p:cNvPr>
          <p:cNvSpPr>
            <a:spLocks noGrp="1"/>
          </p:cNvSpPr>
          <p:nvPr>
            <p:ph type="title"/>
          </p:nvPr>
        </p:nvSpPr>
        <p:spPr>
          <a:xfrm>
            <a:off x="838200" y="365125"/>
            <a:ext cx="4254661" cy="1899912"/>
          </a:xfrm>
        </p:spPr>
        <p:txBody>
          <a:bodyPr vert="horz" lIns="91440" tIns="45720" rIns="91440" bIns="45720" rtlCol="0" anchor="ctr">
            <a:normAutofit/>
          </a:bodyPr>
          <a:lstStyle/>
          <a:p>
            <a:pPr>
              <a:lnSpc>
                <a:spcPct val="90000"/>
              </a:lnSpc>
            </a:pPr>
            <a:r>
              <a:rPr lang="en-US" sz="4000" dirty="0"/>
              <a:t>Why combine with deep learning?</a:t>
            </a:r>
          </a:p>
        </p:txBody>
      </p:sp>
      <p:sp>
        <p:nvSpPr>
          <p:cNvPr id="2" name="Content Placeholder 1">
            <a:extLst>
              <a:ext uri="{FF2B5EF4-FFF2-40B4-BE49-F238E27FC236}">
                <a16:creationId xmlns:a16="http://schemas.microsoft.com/office/drawing/2014/main" id="{4FEBD4E6-4AEC-1234-FBFC-140221482A30}"/>
              </a:ext>
            </a:extLst>
          </p:cNvPr>
          <p:cNvSpPr>
            <a:spLocks noGrp="1"/>
          </p:cNvSpPr>
          <p:nvPr>
            <p:ph idx="1"/>
          </p:nvPr>
        </p:nvSpPr>
        <p:spPr>
          <a:xfrm>
            <a:off x="838200" y="2434201"/>
            <a:ext cx="3822189" cy="3742762"/>
          </a:xfrm>
        </p:spPr>
        <p:txBody>
          <a:bodyPr vert="horz" lIns="91440" tIns="45720" rIns="91440" bIns="45720" rtlCol="0">
            <a:normAutofit/>
          </a:bodyPr>
          <a:lstStyle/>
          <a:p>
            <a:pPr marL="0" lvl="0">
              <a:lnSpc>
                <a:spcPct val="90000"/>
              </a:lnSpc>
              <a:spcBef>
                <a:spcPts val="0"/>
              </a:spcBef>
              <a:spcAft>
                <a:spcPts val="600"/>
              </a:spcAft>
              <a:defRPr/>
            </a:pPr>
            <a:endParaRPr lang="en-US" sz="2000" dirty="0"/>
          </a:p>
          <a:p>
            <a:pPr>
              <a:lnSpc>
                <a:spcPct val="90000"/>
              </a:lnSpc>
              <a:spcBef>
                <a:spcPts val="0"/>
              </a:spcBef>
              <a:spcAft>
                <a:spcPts val="600"/>
              </a:spcAft>
              <a:defRPr/>
            </a:pPr>
            <a:r>
              <a:rPr lang="en-US" sz="2000" dirty="0"/>
              <a:t>A human radiologist cannot "see" functional connectivity in raw data. </a:t>
            </a:r>
          </a:p>
          <a:p>
            <a:pPr>
              <a:lnSpc>
                <a:spcPct val="90000"/>
              </a:lnSpc>
              <a:spcBef>
                <a:spcPts val="0"/>
              </a:spcBef>
              <a:spcAft>
                <a:spcPts val="600"/>
              </a:spcAft>
              <a:defRPr/>
            </a:pPr>
            <a:endParaRPr lang="en-US" sz="2000" dirty="0"/>
          </a:p>
          <a:p>
            <a:pPr>
              <a:lnSpc>
                <a:spcPct val="90000"/>
              </a:lnSpc>
              <a:spcBef>
                <a:spcPts val="0"/>
              </a:spcBef>
              <a:spcAft>
                <a:spcPts val="600"/>
              </a:spcAft>
              <a:defRPr/>
            </a:pPr>
            <a:r>
              <a:rPr lang="en-US" sz="2000" dirty="0"/>
              <a:t>A DL model (e.g., a Graph Neural Network) can identify non-linear disruptions in the </a:t>
            </a:r>
            <a:r>
              <a:rPr lang="en-US" sz="2000" b="1" dirty="0"/>
              <a:t>Default Mode Network (DMN), </a:t>
            </a:r>
            <a:r>
              <a:rPr lang="en-US" sz="2000" dirty="0"/>
              <a:t>often years before atrophy is visible on T1 scans</a:t>
            </a:r>
            <a:r>
              <a:rPr lang="en-US" sz="1000" dirty="0"/>
              <a:t>1</a:t>
            </a:r>
            <a:r>
              <a:rPr lang="en-US" sz="2000" dirty="0"/>
              <a:t>.</a:t>
            </a:r>
          </a:p>
        </p:txBody>
      </p:sp>
      <p:sp>
        <p:nvSpPr>
          <p:cNvPr id="12" name="TextBox 11">
            <a:extLst>
              <a:ext uri="{FF2B5EF4-FFF2-40B4-BE49-F238E27FC236}">
                <a16:creationId xmlns:a16="http://schemas.microsoft.com/office/drawing/2014/main" id="{11DEE21C-400F-F4BB-0319-A6E828532AD3}"/>
              </a:ext>
            </a:extLst>
          </p:cNvPr>
          <p:cNvSpPr txBox="1"/>
          <p:nvPr/>
        </p:nvSpPr>
        <p:spPr>
          <a:xfrm>
            <a:off x="584039" y="6407947"/>
            <a:ext cx="11023921" cy="400110"/>
          </a:xfrm>
          <a:prstGeom prst="rect">
            <a:avLst/>
          </a:prstGeom>
          <a:noFill/>
        </p:spPr>
        <p:txBody>
          <a:bodyPr wrap="square">
            <a:spAutoFit/>
          </a:bodyPr>
          <a:lstStyle/>
          <a:p>
            <a:r>
              <a:rPr lang="en-US" sz="1000" dirty="0"/>
              <a:t>1 Xue, C., Yuan, B., Yue, Y., Xu, J., Wang, S., Wu, M., Ji, N., Zhou, X., Zhao, Y., Rao, J., Yang, W., Xiao, C., &amp; Chen, J. (2019). Distinct Disruptive Patterns of Default Mode Subnetwork Connectivity Across the Spectrum of Preclinical Alzheimer’s Disease. Frontiers in Aging Neuroscience, 11. https://</a:t>
            </a:r>
            <a:r>
              <a:rPr lang="en-US" sz="1000" dirty="0" err="1"/>
              <a:t>doi.org</a:t>
            </a:r>
            <a:r>
              <a:rPr lang="en-US" sz="1000" dirty="0"/>
              <a:t>/10.3389/fnagi.2019.00307</a:t>
            </a:r>
          </a:p>
        </p:txBody>
      </p:sp>
    </p:spTree>
    <p:extLst>
      <p:ext uri="{BB962C8B-B14F-4D97-AF65-F5344CB8AC3E}">
        <p14:creationId xmlns:p14="http://schemas.microsoft.com/office/powerpoint/2010/main" val="1533520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DAA53-EAF6-F475-318D-1A4AF0788FBA}"/>
              </a:ext>
            </a:extLst>
          </p:cNvPr>
          <p:cNvSpPr>
            <a:spLocks noGrp="1"/>
          </p:cNvSpPr>
          <p:nvPr>
            <p:ph type="title"/>
          </p:nvPr>
        </p:nvSpPr>
        <p:spPr>
          <a:xfrm>
            <a:off x="838200" y="2766218"/>
            <a:ext cx="10515600" cy="1325563"/>
          </a:xfrm>
        </p:spPr>
        <p:txBody>
          <a:bodyPr/>
          <a:lstStyle/>
          <a:p>
            <a:pPr algn="ctr"/>
            <a:r>
              <a:rPr lang="en-US" b="1" i="1" dirty="0" err="1"/>
              <a:t>SoTA</a:t>
            </a:r>
            <a:endParaRPr lang="en-US" b="1" i="1" dirty="0"/>
          </a:p>
        </p:txBody>
      </p:sp>
    </p:spTree>
    <p:extLst>
      <p:ext uri="{BB962C8B-B14F-4D97-AF65-F5344CB8AC3E}">
        <p14:creationId xmlns:p14="http://schemas.microsoft.com/office/powerpoint/2010/main" val="3332711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F114D89-BF78-8994-6EFC-84D9088946C7}"/>
              </a:ext>
            </a:extLst>
          </p:cNvPr>
          <p:cNvPicPr>
            <a:picLocks noGrp="1" noChangeAspect="1"/>
          </p:cNvPicPr>
          <p:nvPr>
            <p:ph idx="1"/>
          </p:nvPr>
        </p:nvPicPr>
        <p:blipFill>
          <a:blip r:embed="rId3"/>
          <a:stretch>
            <a:fillRect/>
          </a:stretch>
        </p:blipFill>
        <p:spPr>
          <a:xfrm>
            <a:off x="414883" y="2732374"/>
            <a:ext cx="3322812" cy="1361808"/>
          </a:xfrm>
        </p:spPr>
      </p:pic>
      <p:sp>
        <p:nvSpPr>
          <p:cNvPr id="3" name="Title 2">
            <a:extLst>
              <a:ext uri="{FF2B5EF4-FFF2-40B4-BE49-F238E27FC236}">
                <a16:creationId xmlns:a16="http://schemas.microsoft.com/office/drawing/2014/main" id="{9728091A-F7FD-1CB9-1882-D542642BF097}"/>
              </a:ext>
            </a:extLst>
          </p:cNvPr>
          <p:cNvSpPr>
            <a:spLocks noGrp="1"/>
          </p:cNvSpPr>
          <p:nvPr>
            <p:ph type="title"/>
          </p:nvPr>
        </p:nvSpPr>
        <p:spPr/>
        <p:txBody>
          <a:bodyPr/>
          <a:lstStyle/>
          <a:p>
            <a:r>
              <a:rPr lang="en-US" dirty="0"/>
              <a:t>Usual Workflow for fMRI Preprocessing</a:t>
            </a:r>
          </a:p>
        </p:txBody>
      </p:sp>
      <p:sp>
        <p:nvSpPr>
          <p:cNvPr id="5" name="AutoShape 2" descr="ROI plot of Harvard-Oxford cortical parcellation atlas">
            <a:extLst>
              <a:ext uri="{FF2B5EF4-FFF2-40B4-BE49-F238E27FC236}">
                <a16:creationId xmlns:a16="http://schemas.microsoft.com/office/drawing/2014/main" id="{09FC7D11-4E62-F8CD-6070-14F5C470E9D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4D2BD8D9-8793-0DB4-4AAC-3B5751375CBC}"/>
              </a:ext>
            </a:extLst>
          </p:cNvPr>
          <p:cNvPicPr>
            <a:picLocks noChangeAspect="1"/>
          </p:cNvPicPr>
          <p:nvPr/>
        </p:nvPicPr>
        <p:blipFill>
          <a:blip r:embed="rId4"/>
          <a:stretch>
            <a:fillRect/>
          </a:stretch>
        </p:blipFill>
        <p:spPr>
          <a:xfrm>
            <a:off x="4882701" y="3110053"/>
            <a:ext cx="2639259" cy="839764"/>
          </a:xfrm>
          <a:prstGeom prst="rect">
            <a:avLst/>
          </a:prstGeom>
        </p:spPr>
      </p:pic>
      <p:pic>
        <p:nvPicPr>
          <p:cNvPr id="10" name="Picture 9" descr="A mathematical equation with black text&#10;&#10;AI-generated content may be incorrect.">
            <a:extLst>
              <a:ext uri="{FF2B5EF4-FFF2-40B4-BE49-F238E27FC236}">
                <a16:creationId xmlns:a16="http://schemas.microsoft.com/office/drawing/2014/main" id="{5D5F525A-4EF9-2246-BE63-99D3CCFEB088}"/>
              </a:ext>
            </a:extLst>
          </p:cNvPr>
          <p:cNvPicPr>
            <a:picLocks noChangeAspect="1"/>
          </p:cNvPicPr>
          <p:nvPr/>
        </p:nvPicPr>
        <p:blipFill>
          <a:blip r:embed="rId5"/>
          <a:stretch>
            <a:fillRect/>
          </a:stretch>
        </p:blipFill>
        <p:spPr>
          <a:xfrm>
            <a:off x="8787069" y="2945887"/>
            <a:ext cx="2337721" cy="784470"/>
          </a:xfrm>
          <a:prstGeom prst="rect">
            <a:avLst/>
          </a:prstGeom>
        </p:spPr>
      </p:pic>
      <p:pic>
        <p:nvPicPr>
          <p:cNvPr id="12" name="Picture 11" descr="A black text on a white background&#10;&#10;AI-generated content may be incorrect.">
            <a:extLst>
              <a:ext uri="{FF2B5EF4-FFF2-40B4-BE49-F238E27FC236}">
                <a16:creationId xmlns:a16="http://schemas.microsoft.com/office/drawing/2014/main" id="{B1A29E95-5B8E-ADCE-C7AE-C84507BFF26A}"/>
              </a:ext>
            </a:extLst>
          </p:cNvPr>
          <p:cNvPicPr>
            <a:picLocks noChangeAspect="1"/>
          </p:cNvPicPr>
          <p:nvPr/>
        </p:nvPicPr>
        <p:blipFill>
          <a:blip r:embed="rId6"/>
          <a:stretch>
            <a:fillRect/>
          </a:stretch>
        </p:blipFill>
        <p:spPr>
          <a:xfrm>
            <a:off x="9233062" y="3813703"/>
            <a:ext cx="1357773" cy="441685"/>
          </a:xfrm>
          <a:prstGeom prst="rect">
            <a:avLst/>
          </a:prstGeom>
        </p:spPr>
      </p:pic>
      <p:sp>
        <p:nvSpPr>
          <p:cNvPr id="13" name="Rectangle 12">
            <a:extLst>
              <a:ext uri="{FF2B5EF4-FFF2-40B4-BE49-F238E27FC236}">
                <a16:creationId xmlns:a16="http://schemas.microsoft.com/office/drawing/2014/main" id="{918620D4-ACC4-76F0-413B-2D1226471634}"/>
              </a:ext>
            </a:extLst>
          </p:cNvPr>
          <p:cNvSpPr/>
          <p:nvPr/>
        </p:nvSpPr>
        <p:spPr>
          <a:xfrm>
            <a:off x="809996" y="4318232"/>
            <a:ext cx="2523413" cy="6125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1. ATLAS Parcellation</a:t>
            </a:r>
          </a:p>
          <a:p>
            <a:pPr algn="ctr"/>
            <a:r>
              <a:rPr lang="en-US" sz="1600" dirty="0"/>
              <a:t>e.g. Harvard Oxford</a:t>
            </a:r>
          </a:p>
        </p:txBody>
      </p:sp>
      <p:sp>
        <p:nvSpPr>
          <p:cNvPr id="14" name="Rectangle 13">
            <a:extLst>
              <a:ext uri="{FF2B5EF4-FFF2-40B4-BE49-F238E27FC236}">
                <a16:creationId xmlns:a16="http://schemas.microsoft.com/office/drawing/2014/main" id="{EDAB25D9-9E27-F421-5EE3-DCE25E8AB0F9}"/>
              </a:ext>
            </a:extLst>
          </p:cNvPr>
          <p:cNvSpPr/>
          <p:nvPr/>
        </p:nvSpPr>
        <p:spPr>
          <a:xfrm>
            <a:off x="4776370" y="4367347"/>
            <a:ext cx="2639259" cy="5143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2. Compute mean at time t</a:t>
            </a:r>
          </a:p>
        </p:txBody>
      </p:sp>
      <p:sp>
        <p:nvSpPr>
          <p:cNvPr id="15" name="Rectangle 14">
            <a:extLst>
              <a:ext uri="{FF2B5EF4-FFF2-40B4-BE49-F238E27FC236}">
                <a16:creationId xmlns:a16="http://schemas.microsoft.com/office/drawing/2014/main" id="{1E1F4A0A-A4A0-ADE0-AAFC-2AE7FBB93258}"/>
              </a:ext>
            </a:extLst>
          </p:cNvPr>
          <p:cNvSpPr/>
          <p:nvPr/>
        </p:nvSpPr>
        <p:spPr>
          <a:xfrm>
            <a:off x="8869666" y="4367347"/>
            <a:ext cx="2172525" cy="5143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3. Pearson Correlation</a:t>
            </a:r>
          </a:p>
        </p:txBody>
      </p:sp>
    </p:spTree>
    <p:extLst>
      <p:ext uri="{BB962C8B-B14F-4D97-AF65-F5344CB8AC3E}">
        <p14:creationId xmlns:p14="http://schemas.microsoft.com/office/powerpoint/2010/main" val="2428772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0B0898-6163-8BBA-327B-2930DA0EAB30}"/>
              </a:ext>
            </a:extLst>
          </p:cNvPr>
          <p:cNvSpPr>
            <a:spLocks noGrp="1"/>
          </p:cNvSpPr>
          <p:nvPr>
            <p:ph type="title"/>
          </p:nvPr>
        </p:nvSpPr>
        <p:spPr/>
        <p:txBody>
          <a:bodyPr/>
          <a:lstStyle/>
          <a:p>
            <a:r>
              <a:rPr lang="en-US" dirty="0"/>
              <a:t>DL Frameworks (Related Work)</a:t>
            </a:r>
          </a:p>
        </p:txBody>
      </p:sp>
      <p:pic>
        <p:nvPicPr>
          <p:cNvPr id="5" name="Content Placeholder 4">
            <a:extLst>
              <a:ext uri="{FF2B5EF4-FFF2-40B4-BE49-F238E27FC236}">
                <a16:creationId xmlns:a16="http://schemas.microsoft.com/office/drawing/2014/main" id="{3627B176-6DAB-9F71-6E74-D33432538BF6}"/>
              </a:ext>
            </a:extLst>
          </p:cNvPr>
          <p:cNvPicPr>
            <a:picLocks noGrp="1" noChangeAspect="1"/>
          </p:cNvPicPr>
          <p:nvPr>
            <p:ph idx="1"/>
          </p:nvPr>
        </p:nvPicPr>
        <p:blipFill>
          <a:blip r:embed="rId3"/>
          <a:stretch>
            <a:fillRect/>
          </a:stretch>
        </p:blipFill>
        <p:spPr>
          <a:xfrm>
            <a:off x="414884" y="1179149"/>
            <a:ext cx="5499780" cy="2136791"/>
          </a:xfrm>
          <a:prstGeom prst="rect">
            <a:avLst/>
          </a:prstGeom>
        </p:spPr>
      </p:pic>
      <p:sp>
        <p:nvSpPr>
          <p:cNvPr id="6" name="TextBox 5">
            <a:extLst>
              <a:ext uri="{FF2B5EF4-FFF2-40B4-BE49-F238E27FC236}">
                <a16:creationId xmlns:a16="http://schemas.microsoft.com/office/drawing/2014/main" id="{5F31FF0E-D1F9-2EBE-11AC-FE46DE0F08C2}"/>
              </a:ext>
            </a:extLst>
          </p:cNvPr>
          <p:cNvSpPr txBox="1"/>
          <p:nvPr/>
        </p:nvSpPr>
        <p:spPr>
          <a:xfrm>
            <a:off x="1963871" y="3315940"/>
            <a:ext cx="2507546" cy="646331"/>
          </a:xfrm>
          <a:prstGeom prst="rect">
            <a:avLst/>
          </a:prstGeom>
          <a:noFill/>
        </p:spPr>
        <p:txBody>
          <a:bodyPr wrap="none" rtlCol="0">
            <a:spAutoFit/>
          </a:bodyPr>
          <a:lstStyle/>
          <a:p>
            <a:pPr algn="ctr"/>
            <a:r>
              <a:rPr lang="en-US" dirty="0"/>
              <a:t>Graph Neural Networks</a:t>
            </a:r>
          </a:p>
          <a:p>
            <a:pPr algn="ctr"/>
            <a:r>
              <a:rPr lang="en-US" dirty="0"/>
              <a:t>(e.g. GAAE)</a:t>
            </a:r>
          </a:p>
        </p:txBody>
      </p:sp>
      <p:pic>
        <p:nvPicPr>
          <p:cNvPr id="8" name="Picture 7" descr="A diagram of a brain network&#10;&#10;AI-generated content may be incorrect.">
            <a:extLst>
              <a:ext uri="{FF2B5EF4-FFF2-40B4-BE49-F238E27FC236}">
                <a16:creationId xmlns:a16="http://schemas.microsoft.com/office/drawing/2014/main" id="{CEDB6517-B32B-ED86-3FB1-5F628860C96B}"/>
              </a:ext>
            </a:extLst>
          </p:cNvPr>
          <p:cNvPicPr>
            <a:picLocks noChangeAspect="1"/>
          </p:cNvPicPr>
          <p:nvPr/>
        </p:nvPicPr>
        <p:blipFill>
          <a:blip r:embed="rId4"/>
          <a:stretch>
            <a:fillRect/>
          </a:stretch>
        </p:blipFill>
        <p:spPr>
          <a:xfrm>
            <a:off x="6873033" y="1078235"/>
            <a:ext cx="5116372" cy="2350765"/>
          </a:xfrm>
          <a:prstGeom prst="rect">
            <a:avLst/>
          </a:prstGeom>
        </p:spPr>
      </p:pic>
      <p:sp>
        <p:nvSpPr>
          <p:cNvPr id="9" name="TextBox 8">
            <a:extLst>
              <a:ext uri="{FF2B5EF4-FFF2-40B4-BE49-F238E27FC236}">
                <a16:creationId xmlns:a16="http://schemas.microsoft.com/office/drawing/2014/main" id="{3227572B-B01E-BCCE-1FB4-3ADBECF6FC2B}"/>
              </a:ext>
            </a:extLst>
          </p:cNvPr>
          <p:cNvSpPr txBox="1"/>
          <p:nvPr/>
        </p:nvSpPr>
        <p:spPr>
          <a:xfrm>
            <a:off x="8486174" y="3399349"/>
            <a:ext cx="1492716" cy="369332"/>
          </a:xfrm>
          <a:prstGeom prst="rect">
            <a:avLst/>
          </a:prstGeom>
          <a:noFill/>
        </p:spPr>
        <p:txBody>
          <a:bodyPr wrap="none" rtlCol="0">
            <a:spAutoFit/>
          </a:bodyPr>
          <a:lstStyle/>
          <a:p>
            <a:r>
              <a:rPr lang="en-US" dirty="0"/>
              <a:t>Transformers</a:t>
            </a:r>
          </a:p>
        </p:txBody>
      </p:sp>
      <p:pic>
        <p:nvPicPr>
          <p:cNvPr id="11266" name="Picture 2">
            <a:extLst>
              <a:ext uri="{FF2B5EF4-FFF2-40B4-BE49-F238E27FC236}">
                <a16:creationId xmlns:a16="http://schemas.microsoft.com/office/drawing/2014/main" id="{920D5342-BBAA-19DF-5D9F-9F4ED9ADCA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1065" y="3922176"/>
            <a:ext cx="4189869" cy="237369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0157C87-4770-2F50-E354-0D7F14B454E2}"/>
              </a:ext>
            </a:extLst>
          </p:cNvPr>
          <p:cNvSpPr txBox="1"/>
          <p:nvPr/>
        </p:nvSpPr>
        <p:spPr>
          <a:xfrm>
            <a:off x="5522569" y="6419716"/>
            <a:ext cx="784189" cy="369332"/>
          </a:xfrm>
          <a:prstGeom prst="rect">
            <a:avLst/>
          </a:prstGeom>
          <a:noFill/>
        </p:spPr>
        <p:txBody>
          <a:bodyPr wrap="none" rtlCol="0">
            <a:spAutoFit/>
          </a:bodyPr>
          <a:lstStyle/>
          <a:p>
            <a:r>
              <a:rPr lang="en-US" dirty="0"/>
              <a:t>CNNs</a:t>
            </a:r>
          </a:p>
        </p:txBody>
      </p:sp>
    </p:spTree>
    <p:extLst>
      <p:ext uri="{BB962C8B-B14F-4D97-AF65-F5344CB8AC3E}">
        <p14:creationId xmlns:p14="http://schemas.microsoft.com/office/powerpoint/2010/main" val="1286447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FEDA0-3CFA-EF5D-ACD3-DBB582D15539}"/>
              </a:ext>
            </a:extLst>
          </p:cNvPr>
          <p:cNvSpPr>
            <a:spLocks noGrp="1"/>
          </p:cNvSpPr>
          <p:nvPr>
            <p:ph type="title"/>
          </p:nvPr>
        </p:nvSpPr>
        <p:spPr>
          <a:xfrm>
            <a:off x="838200" y="2766218"/>
            <a:ext cx="10515600" cy="1325563"/>
          </a:xfrm>
        </p:spPr>
        <p:txBody>
          <a:bodyPr/>
          <a:lstStyle/>
          <a:p>
            <a:pPr algn="ctr"/>
            <a:r>
              <a:rPr lang="en-US" b="1" i="1" dirty="0"/>
              <a:t>Proposal</a:t>
            </a:r>
          </a:p>
        </p:txBody>
      </p:sp>
    </p:spTree>
    <p:extLst>
      <p:ext uri="{BB962C8B-B14F-4D97-AF65-F5344CB8AC3E}">
        <p14:creationId xmlns:p14="http://schemas.microsoft.com/office/powerpoint/2010/main" val="3237058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97BE96-3DD5-4A90-174C-365AF5866013}"/>
              </a:ext>
            </a:extLst>
          </p:cNvPr>
          <p:cNvSpPr>
            <a:spLocks noGrp="1"/>
          </p:cNvSpPr>
          <p:nvPr>
            <p:ph type="title"/>
          </p:nvPr>
        </p:nvSpPr>
        <p:spPr/>
        <p:txBody>
          <a:bodyPr/>
          <a:lstStyle/>
          <a:p>
            <a:r>
              <a:rPr lang="en-US" dirty="0"/>
              <a:t>My Proposal</a:t>
            </a:r>
          </a:p>
        </p:txBody>
      </p:sp>
      <p:sp>
        <p:nvSpPr>
          <p:cNvPr id="4" name="Text Placeholder 3">
            <a:extLst>
              <a:ext uri="{FF2B5EF4-FFF2-40B4-BE49-F238E27FC236}">
                <a16:creationId xmlns:a16="http://schemas.microsoft.com/office/drawing/2014/main" id="{5BCD9173-4469-4633-AA5C-1355D8421514}"/>
              </a:ext>
            </a:extLst>
          </p:cNvPr>
          <p:cNvSpPr>
            <a:spLocks noGrp="1"/>
          </p:cNvSpPr>
          <p:nvPr>
            <p:ph type="body" sz="quarter" idx="14"/>
          </p:nvPr>
        </p:nvSpPr>
        <p:spPr/>
        <p:txBody>
          <a:bodyPr/>
          <a:lstStyle/>
          <a:p>
            <a:r>
              <a:rPr lang="en-US" dirty="0">
                <a:solidFill>
                  <a:schemeClr val="tx1">
                    <a:lumMod val="50000"/>
                    <a:lumOff val="50000"/>
                  </a:schemeClr>
                </a:solidFill>
              </a:rPr>
              <a:t>A platform for diagnosis: from 4D fMRI Scans to </a:t>
            </a:r>
            <a:r>
              <a:rPr lang="en-US" dirty="0" err="1">
                <a:solidFill>
                  <a:schemeClr val="tx1">
                    <a:lumMod val="50000"/>
                    <a:lumOff val="50000"/>
                  </a:schemeClr>
                </a:solidFill>
              </a:rPr>
              <a:t>xAI</a:t>
            </a:r>
            <a:r>
              <a:rPr lang="en-US" dirty="0">
                <a:solidFill>
                  <a:schemeClr val="tx1">
                    <a:lumMod val="50000"/>
                    <a:lumOff val="50000"/>
                  </a:schemeClr>
                </a:solidFill>
              </a:rPr>
              <a:t> Diagnosis</a:t>
            </a:r>
          </a:p>
        </p:txBody>
      </p:sp>
      <p:pic>
        <p:nvPicPr>
          <p:cNvPr id="11" name="Picture 2">
            <a:extLst>
              <a:ext uri="{FF2B5EF4-FFF2-40B4-BE49-F238E27FC236}">
                <a16:creationId xmlns:a16="http://schemas.microsoft.com/office/drawing/2014/main" id="{09CB0965-0F37-42D1-FE4B-0D40B3B08F9E}"/>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8863" b="9564"/>
          <a:stretch>
            <a:fillRect/>
          </a:stretch>
        </p:blipFill>
        <p:spPr bwMode="auto">
          <a:xfrm>
            <a:off x="7339907" y="3517532"/>
            <a:ext cx="3249352" cy="265060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417EEE2A-70EF-4F60-3542-564C98D0055C}"/>
              </a:ext>
            </a:extLst>
          </p:cNvPr>
          <p:cNvPicPr>
            <a:picLocks noChangeAspect="1"/>
          </p:cNvPicPr>
          <p:nvPr/>
        </p:nvPicPr>
        <p:blipFill>
          <a:blip r:embed="rId4"/>
          <a:stretch>
            <a:fillRect/>
          </a:stretch>
        </p:blipFill>
        <p:spPr>
          <a:xfrm>
            <a:off x="878686" y="3671482"/>
            <a:ext cx="5430808" cy="2342701"/>
          </a:xfrm>
          <a:prstGeom prst="rect">
            <a:avLst/>
          </a:prstGeom>
        </p:spPr>
      </p:pic>
      <p:sp>
        <p:nvSpPr>
          <p:cNvPr id="16" name="TextBox 15">
            <a:extLst>
              <a:ext uri="{FF2B5EF4-FFF2-40B4-BE49-F238E27FC236}">
                <a16:creationId xmlns:a16="http://schemas.microsoft.com/office/drawing/2014/main" id="{53740FB6-8081-9FDF-EDFD-A6FB7A08E2B6}"/>
              </a:ext>
            </a:extLst>
          </p:cNvPr>
          <p:cNvSpPr txBox="1"/>
          <p:nvPr/>
        </p:nvSpPr>
        <p:spPr>
          <a:xfrm>
            <a:off x="216609" y="6359944"/>
            <a:ext cx="11543605" cy="400110"/>
          </a:xfrm>
          <a:prstGeom prst="rect">
            <a:avLst/>
          </a:prstGeom>
          <a:noFill/>
        </p:spPr>
        <p:txBody>
          <a:bodyPr wrap="square">
            <a:spAutoFit/>
          </a:bodyPr>
          <a:lstStyle/>
          <a:p>
            <a:r>
              <a:rPr lang="en-US" sz="1000" dirty="0"/>
              <a:t>Burduja, Mihail &amp; Ionescu, Radu Tudor &amp; Verga, Nicolae. (2020). Accurate and Efficient Intracranial Hemorrhage Detection and Subtype Classification in 3D CT Scans with Convolutional and Long Short-Term Memory Neural Networks. Sensors. 20. 10.3390/s20195611. </a:t>
            </a:r>
          </a:p>
        </p:txBody>
      </p:sp>
      <p:sp>
        <p:nvSpPr>
          <p:cNvPr id="17" name="TextBox 16">
            <a:extLst>
              <a:ext uri="{FF2B5EF4-FFF2-40B4-BE49-F238E27FC236}">
                <a16:creationId xmlns:a16="http://schemas.microsoft.com/office/drawing/2014/main" id="{E00A7713-8366-EDF2-EE84-17AFCBC6CDF8}"/>
              </a:ext>
            </a:extLst>
          </p:cNvPr>
          <p:cNvSpPr txBox="1"/>
          <p:nvPr/>
        </p:nvSpPr>
        <p:spPr>
          <a:xfrm>
            <a:off x="3153021" y="1837873"/>
            <a:ext cx="6312946" cy="1384995"/>
          </a:xfrm>
          <a:prstGeom prst="rect">
            <a:avLst/>
          </a:prstGeom>
          <a:noFill/>
        </p:spPr>
        <p:txBody>
          <a:bodyPr wrap="none" rtlCol="0">
            <a:spAutoFit/>
          </a:bodyPr>
          <a:lstStyle/>
          <a:p>
            <a:pPr algn="ctr"/>
            <a:r>
              <a:rPr lang="en-US" sz="2800" b="1" i="1" dirty="0"/>
              <a:t>Code free </a:t>
            </a:r>
          </a:p>
          <a:p>
            <a:pPr algn="ctr"/>
            <a:r>
              <a:rPr lang="en-US" sz="2800" b="1" i="1" dirty="0"/>
              <a:t>Visualization (e.g. </a:t>
            </a:r>
            <a:r>
              <a:rPr lang="en-US" sz="2800" b="1" i="1" dirty="0" err="1"/>
              <a:t>gradCAM</a:t>
            </a:r>
            <a:r>
              <a:rPr lang="en-US" sz="2800" b="1" i="1" dirty="0"/>
              <a:t>) +</a:t>
            </a:r>
          </a:p>
          <a:p>
            <a:pPr algn="ctr"/>
            <a:r>
              <a:rPr lang="en-US" sz="2800" b="1" i="1" dirty="0"/>
              <a:t> Detailed Diagnosis (e.g. clinical LLM) </a:t>
            </a:r>
          </a:p>
        </p:txBody>
      </p:sp>
    </p:spTree>
    <p:extLst>
      <p:ext uri="{BB962C8B-B14F-4D97-AF65-F5344CB8AC3E}">
        <p14:creationId xmlns:p14="http://schemas.microsoft.com/office/powerpoint/2010/main" val="3637559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paper with black text&#10;&#10;AI-generated content may be incorrect.">
            <a:extLst>
              <a:ext uri="{FF2B5EF4-FFF2-40B4-BE49-F238E27FC236}">
                <a16:creationId xmlns:a16="http://schemas.microsoft.com/office/drawing/2014/main" id="{08885B03-B833-97CE-2BDF-F1F47C9D2B60}"/>
              </a:ext>
            </a:extLst>
          </p:cNvPr>
          <p:cNvPicPr>
            <a:picLocks noChangeAspect="1"/>
          </p:cNvPicPr>
          <p:nvPr/>
        </p:nvPicPr>
        <p:blipFill>
          <a:blip r:embed="rId3"/>
          <a:srcRect t="-33" b="16572"/>
          <a:stretch>
            <a:fillRect/>
          </a:stretch>
        </p:blipFill>
        <p:spPr>
          <a:xfrm>
            <a:off x="2052310" y="2576662"/>
            <a:ext cx="3875434" cy="3973772"/>
          </a:xfrm>
          <a:prstGeom prst="rect">
            <a:avLst/>
          </a:prstGeom>
        </p:spPr>
      </p:pic>
      <p:pic>
        <p:nvPicPr>
          <p:cNvPr id="5" name="Picture 4">
            <a:extLst>
              <a:ext uri="{FF2B5EF4-FFF2-40B4-BE49-F238E27FC236}">
                <a16:creationId xmlns:a16="http://schemas.microsoft.com/office/drawing/2014/main" id="{5AA9D1A9-ECD6-EC03-9170-669BFCA54C5C}"/>
              </a:ext>
            </a:extLst>
          </p:cNvPr>
          <p:cNvPicPr>
            <a:picLocks noChangeAspect="1"/>
          </p:cNvPicPr>
          <p:nvPr/>
        </p:nvPicPr>
        <p:blipFill>
          <a:blip r:embed="rId4"/>
          <a:stretch>
            <a:fillRect/>
          </a:stretch>
        </p:blipFill>
        <p:spPr>
          <a:xfrm>
            <a:off x="5927744" y="3530769"/>
            <a:ext cx="2917764" cy="1184713"/>
          </a:xfrm>
          <a:prstGeom prst="rect">
            <a:avLst/>
          </a:prstGeom>
        </p:spPr>
      </p:pic>
      <p:pic>
        <p:nvPicPr>
          <p:cNvPr id="6" name="Picture 5" descr="A white paper with black text&#10;&#10;AI-generated content may be incorrect.">
            <a:extLst>
              <a:ext uri="{FF2B5EF4-FFF2-40B4-BE49-F238E27FC236}">
                <a16:creationId xmlns:a16="http://schemas.microsoft.com/office/drawing/2014/main" id="{796BEBB8-4052-638A-01EE-8D16FB62EF85}"/>
              </a:ext>
            </a:extLst>
          </p:cNvPr>
          <p:cNvPicPr>
            <a:picLocks noChangeAspect="1"/>
          </p:cNvPicPr>
          <p:nvPr/>
        </p:nvPicPr>
        <p:blipFill>
          <a:blip r:embed="rId3"/>
          <a:srcRect t="84136" r="-129"/>
          <a:stretch>
            <a:fillRect/>
          </a:stretch>
        </p:blipFill>
        <p:spPr>
          <a:xfrm>
            <a:off x="5745846" y="2863687"/>
            <a:ext cx="3880417" cy="755312"/>
          </a:xfrm>
          <a:prstGeom prst="rect">
            <a:avLst/>
          </a:prstGeom>
        </p:spPr>
      </p:pic>
      <p:sp>
        <p:nvSpPr>
          <p:cNvPr id="7" name="Rectangle 6">
            <a:extLst>
              <a:ext uri="{FF2B5EF4-FFF2-40B4-BE49-F238E27FC236}">
                <a16:creationId xmlns:a16="http://schemas.microsoft.com/office/drawing/2014/main" id="{91D8177A-6488-F331-49C5-D9F283889E79}"/>
              </a:ext>
            </a:extLst>
          </p:cNvPr>
          <p:cNvSpPr/>
          <p:nvPr/>
        </p:nvSpPr>
        <p:spPr>
          <a:xfrm>
            <a:off x="2341615" y="3618999"/>
            <a:ext cx="2854527" cy="2010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Rectangle 7">
            <a:extLst>
              <a:ext uri="{FF2B5EF4-FFF2-40B4-BE49-F238E27FC236}">
                <a16:creationId xmlns:a16="http://schemas.microsoft.com/office/drawing/2014/main" id="{C5701165-EED4-0C9F-6798-7ED58E56F114}"/>
              </a:ext>
            </a:extLst>
          </p:cNvPr>
          <p:cNvSpPr/>
          <p:nvPr/>
        </p:nvSpPr>
        <p:spPr>
          <a:xfrm>
            <a:off x="2341614" y="4148616"/>
            <a:ext cx="2173591" cy="2118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Rectangle 8">
            <a:extLst>
              <a:ext uri="{FF2B5EF4-FFF2-40B4-BE49-F238E27FC236}">
                <a16:creationId xmlns:a16="http://schemas.microsoft.com/office/drawing/2014/main" id="{CA88B2F9-4131-04A3-DABC-252CB08140AE}"/>
              </a:ext>
            </a:extLst>
          </p:cNvPr>
          <p:cNvSpPr/>
          <p:nvPr/>
        </p:nvSpPr>
        <p:spPr>
          <a:xfrm>
            <a:off x="6035022" y="2913446"/>
            <a:ext cx="2703208" cy="2064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TextBox 8">
            <a:extLst>
              <a:ext uri="{FF2B5EF4-FFF2-40B4-BE49-F238E27FC236}">
                <a16:creationId xmlns:a16="http://schemas.microsoft.com/office/drawing/2014/main" id="{B8006A29-C6A1-1C59-127C-03F7BE98DBE6}"/>
              </a:ext>
            </a:extLst>
          </p:cNvPr>
          <p:cNvSpPr txBox="1"/>
          <p:nvPr/>
        </p:nvSpPr>
        <p:spPr>
          <a:xfrm>
            <a:off x="4445679" y="1681193"/>
            <a:ext cx="4292551"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u="sng" dirty="0"/>
              <a:t>Deliverable: </a:t>
            </a:r>
          </a:p>
          <a:p>
            <a:r>
              <a:rPr lang="en-US" sz="1100" dirty="0"/>
              <a:t>PDF File for the ENT Doctor</a:t>
            </a:r>
          </a:p>
          <a:p>
            <a:r>
              <a:rPr lang="en-US" sz="1100" dirty="0"/>
              <a:t>(what the doctor sees in the report)</a:t>
            </a:r>
            <a:endParaRPr lang="en-US" sz="1050" dirty="0"/>
          </a:p>
        </p:txBody>
      </p:sp>
      <p:sp>
        <p:nvSpPr>
          <p:cNvPr id="2" name="Title 2">
            <a:extLst>
              <a:ext uri="{FF2B5EF4-FFF2-40B4-BE49-F238E27FC236}">
                <a16:creationId xmlns:a16="http://schemas.microsoft.com/office/drawing/2014/main" id="{C467BB53-B4E2-DCED-E971-BB9D658F9401}"/>
              </a:ext>
            </a:extLst>
          </p:cNvPr>
          <p:cNvSpPr txBox="1">
            <a:spLocks/>
          </p:cNvSpPr>
          <p:nvPr/>
        </p:nvSpPr>
        <p:spPr>
          <a:xfrm>
            <a:off x="414883" y="391280"/>
            <a:ext cx="11345332" cy="604144"/>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dirty="0"/>
              <a:t>Inspiration (Project Week Applied Surgineering)</a:t>
            </a:r>
          </a:p>
        </p:txBody>
      </p:sp>
      <p:sp>
        <p:nvSpPr>
          <p:cNvPr id="11" name="Text Placeholder 3">
            <a:extLst>
              <a:ext uri="{FF2B5EF4-FFF2-40B4-BE49-F238E27FC236}">
                <a16:creationId xmlns:a16="http://schemas.microsoft.com/office/drawing/2014/main" id="{6CEDD384-75F1-DEC2-2732-3BF9B583ADED}"/>
              </a:ext>
            </a:extLst>
          </p:cNvPr>
          <p:cNvSpPr txBox="1">
            <a:spLocks/>
          </p:cNvSpPr>
          <p:nvPr/>
        </p:nvSpPr>
        <p:spPr>
          <a:xfrm>
            <a:off x="414882" y="912573"/>
            <a:ext cx="11345332" cy="4285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solidFill>
                <a:schemeClr val="tx1">
                  <a:lumMod val="50000"/>
                  <a:lumOff val="50000"/>
                </a:schemeClr>
              </a:solidFill>
            </a:endParaRPr>
          </a:p>
        </p:txBody>
      </p:sp>
    </p:spTree>
    <p:extLst>
      <p:ext uri="{BB962C8B-B14F-4D97-AF65-F5344CB8AC3E}">
        <p14:creationId xmlns:p14="http://schemas.microsoft.com/office/powerpoint/2010/main" val="2241409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098AD-6389-4148-E2FB-9ED026655D96}"/>
              </a:ext>
            </a:extLst>
          </p:cNvPr>
          <p:cNvSpPr>
            <a:spLocks noGrp="1"/>
          </p:cNvSpPr>
          <p:nvPr>
            <p:ph type="title"/>
          </p:nvPr>
        </p:nvSpPr>
        <p:spPr>
          <a:xfrm>
            <a:off x="838200" y="2430683"/>
            <a:ext cx="10515600" cy="2592730"/>
          </a:xfrm>
        </p:spPr>
        <p:txBody>
          <a:bodyPr>
            <a:normAutofit fontScale="90000"/>
          </a:bodyPr>
          <a:lstStyle/>
          <a:p>
            <a:r>
              <a:rPr lang="en-US" b="1" i="1" dirty="0"/>
              <a:t>FOUR Parts for my Proposal</a:t>
            </a:r>
            <a:br>
              <a:rPr lang="en-US" b="1" i="1" dirty="0"/>
            </a:br>
            <a:br>
              <a:rPr lang="en-US" b="1" i="1" dirty="0"/>
            </a:br>
            <a:r>
              <a:rPr lang="en-US" i="1" dirty="0"/>
              <a:t>1. Explore other Parcellation Techniques</a:t>
            </a:r>
            <a:br>
              <a:rPr lang="en-US" i="1" dirty="0"/>
            </a:br>
            <a:r>
              <a:rPr lang="en-US" i="1" dirty="0"/>
              <a:t>2. Improve Model + Explore </a:t>
            </a:r>
            <a:r>
              <a:rPr lang="en-US" i="1" dirty="0" err="1"/>
              <a:t>SoTA</a:t>
            </a:r>
            <a:r>
              <a:rPr lang="en-US" i="1" dirty="0"/>
              <a:t> Approaches</a:t>
            </a:r>
            <a:br>
              <a:rPr lang="en-US" i="1" dirty="0"/>
            </a:br>
            <a:r>
              <a:rPr lang="en-US" i="1" dirty="0"/>
              <a:t>3. Explainability</a:t>
            </a:r>
            <a:br>
              <a:rPr lang="en-US" i="1" dirty="0"/>
            </a:br>
            <a:r>
              <a:rPr lang="en-US" i="1" dirty="0"/>
              <a:t>4. Packaging in a UI Friendly Tool </a:t>
            </a:r>
            <a:endParaRPr lang="en-US" b="1" i="1" dirty="0"/>
          </a:p>
        </p:txBody>
      </p:sp>
    </p:spTree>
    <p:extLst>
      <p:ext uri="{BB962C8B-B14F-4D97-AF65-F5344CB8AC3E}">
        <p14:creationId xmlns:p14="http://schemas.microsoft.com/office/powerpoint/2010/main" val="1026503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B8BC79-F708-29DE-C2AB-1300F8F16222}"/>
              </a:ext>
            </a:extLst>
          </p:cNvPr>
          <p:cNvSpPr>
            <a:spLocks noGrp="1"/>
          </p:cNvSpPr>
          <p:nvPr>
            <p:ph idx="1"/>
          </p:nvPr>
        </p:nvSpPr>
        <p:spPr>
          <a:xfrm>
            <a:off x="423334" y="1799520"/>
            <a:ext cx="11345332" cy="4618367"/>
          </a:xfrm>
        </p:spPr>
        <p:txBody>
          <a:bodyPr>
            <a:normAutofit fontScale="85000" lnSpcReduction="10000"/>
          </a:bodyPr>
          <a:lstStyle/>
          <a:p>
            <a:pPr marL="0" indent="0">
              <a:buNone/>
            </a:pPr>
            <a:r>
              <a:rPr lang="en-US" sz="2800" b="1" i="1" dirty="0">
                <a:solidFill>
                  <a:srgbClr val="FF0000"/>
                </a:solidFill>
              </a:rPr>
              <a:t>Going beyond the mean</a:t>
            </a:r>
          </a:p>
          <a:p>
            <a:pPr marL="0" indent="0">
              <a:buNone/>
            </a:pPr>
            <a:r>
              <a:rPr lang="en-US" b="1" dirty="0"/>
              <a:t>Principal component extraction</a:t>
            </a:r>
            <a:r>
              <a:rPr lang="en-US" dirty="0"/>
              <a:t>: Instead of mean, use first principal component of voxel time series within ROI to capture dominant signal pattern</a:t>
            </a:r>
          </a:p>
          <a:p>
            <a:pPr marL="0" indent="0">
              <a:buNone/>
            </a:pPr>
            <a:r>
              <a:rPr lang="en-US" b="1" dirty="0"/>
              <a:t>ROI consistency weighting</a:t>
            </a:r>
            <a:r>
              <a:rPr lang="en-US" dirty="0"/>
              <a:t>: Weight connections by ROI consistency to discount spurious links from heterogeneous regions</a:t>
            </a:r>
          </a:p>
          <a:p>
            <a:pPr marL="0" indent="0">
              <a:buNone/>
            </a:pPr>
            <a:endParaRPr lang="en-US" dirty="0"/>
          </a:p>
          <a:p>
            <a:pPr marL="0" indent="0">
              <a:buNone/>
            </a:pPr>
            <a:r>
              <a:rPr lang="en-US" sz="2600" b="1" i="1" dirty="0"/>
              <a:t>Homologous-Functional-Regions</a:t>
            </a:r>
          </a:p>
          <a:p>
            <a:pPr marL="0" indent="0">
              <a:buNone/>
            </a:pPr>
            <a:r>
              <a:rPr lang="en-US" dirty="0"/>
              <a:t>Performing group-level functional image analyses based on homologous functional regions mapped in individuals</a:t>
            </a:r>
          </a:p>
          <a:p>
            <a:pPr marL="0" indent="0">
              <a:buNone/>
            </a:pPr>
            <a:endParaRPr lang="en-US" dirty="0"/>
          </a:p>
          <a:p>
            <a:pPr marL="0" indent="0">
              <a:buNone/>
            </a:pPr>
            <a:r>
              <a:rPr lang="en-US" sz="2600" b="1" i="1" dirty="0"/>
              <a:t>Deep Learning-Based Parcellation (OpenMAP‐T1)</a:t>
            </a:r>
          </a:p>
          <a:p>
            <a:pPr marL="0" indent="0">
              <a:buNone/>
            </a:pPr>
            <a:r>
              <a:rPr lang="en-US" dirty="0"/>
              <a:t>Modern approaches use neural networks for rapid, accurate parcellation.</a:t>
            </a:r>
            <a:r>
              <a:rPr lang="de-DE" dirty="0"/>
              <a:t> </a:t>
            </a:r>
            <a:r>
              <a:rPr lang="de-DE" b="1" dirty="0"/>
              <a:t>OpenMAP-T1</a:t>
            </a:r>
            <a:r>
              <a:rPr lang="de-DE" dirty="0"/>
              <a:t> </a:t>
            </a:r>
            <a:r>
              <a:rPr lang="en-US" dirty="0"/>
              <a:t>integrates several CNN models across six phases: preprocessing, cropping, skull-stripping, parcellation, hemisphere segmentation, and final merging—parcellating the brain into</a:t>
            </a:r>
            <a:r>
              <a:rPr lang="de-DE" dirty="0"/>
              <a:t> </a:t>
            </a:r>
            <a:r>
              <a:rPr lang="de-DE" b="1" dirty="0"/>
              <a:t>280 anatomical structures</a:t>
            </a:r>
            <a:r>
              <a:rPr lang="de-DE" dirty="0"/>
              <a:t> </a:t>
            </a:r>
            <a:r>
              <a:rPr lang="en-US" dirty="0"/>
              <a:t>covering gray and white matter within minutes on a standard desktop.</a:t>
            </a:r>
          </a:p>
          <a:p>
            <a:endParaRPr lang="en-US" dirty="0"/>
          </a:p>
        </p:txBody>
      </p:sp>
      <p:sp>
        <p:nvSpPr>
          <p:cNvPr id="3" name="Title 2">
            <a:extLst>
              <a:ext uri="{FF2B5EF4-FFF2-40B4-BE49-F238E27FC236}">
                <a16:creationId xmlns:a16="http://schemas.microsoft.com/office/drawing/2014/main" id="{D994E76F-6886-2C8C-4313-436A5D6085CB}"/>
              </a:ext>
            </a:extLst>
          </p:cNvPr>
          <p:cNvSpPr>
            <a:spLocks noGrp="1"/>
          </p:cNvSpPr>
          <p:nvPr>
            <p:ph type="title"/>
          </p:nvPr>
        </p:nvSpPr>
        <p:spPr/>
        <p:txBody>
          <a:bodyPr/>
          <a:lstStyle/>
          <a:p>
            <a:r>
              <a:rPr lang="en-US" dirty="0"/>
              <a:t>Parcellation</a:t>
            </a:r>
          </a:p>
        </p:txBody>
      </p:sp>
      <p:sp>
        <p:nvSpPr>
          <p:cNvPr id="5" name="Title 2">
            <a:extLst>
              <a:ext uri="{FF2B5EF4-FFF2-40B4-BE49-F238E27FC236}">
                <a16:creationId xmlns:a16="http://schemas.microsoft.com/office/drawing/2014/main" id="{EE616E3E-5608-AC31-C5FD-FA7E428C1ACF}"/>
              </a:ext>
            </a:extLst>
          </p:cNvPr>
          <p:cNvSpPr txBox="1">
            <a:spLocks/>
          </p:cNvSpPr>
          <p:nvPr/>
        </p:nvSpPr>
        <p:spPr>
          <a:xfrm>
            <a:off x="414883" y="829430"/>
            <a:ext cx="11345332" cy="531940"/>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algn="l" defTabSz="914400" rtl="0" eaLnBrk="1" latinLnBrk="0" hangingPunct="1">
              <a:lnSpc>
                <a:spcPts val="4267"/>
              </a:lnSpc>
              <a:spcBef>
                <a:spcPct val="0"/>
              </a:spcBef>
              <a:buNone/>
              <a:defRPr lang="de-DE" sz="3333" kern="1200" noProof="0" dirty="0">
                <a:solidFill>
                  <a:schemeClr val="tx1"/>
                </a:solidFill>
                <a:latin typeface="+mj-lt"/>
                <a:ea typeface="+mj-ea"/>
                <a:cs typeface="+mj-cs"/>
              </a:defRPr>
            </a:lvl1pPr>
          </a:lstStyle>
          <a:p>
            <a:r>
              <a:rPr lang="en-US" sz="2800" dirty="0">
                <a:solidFill>
                  <a:schemeClr val="tx1">
                    <a:lumMod val="50000"/>
                    <a:lumOff val="50000"/>
                  </a:schemeClr>
                </a:solidFill>
              </a:rPr>
              <a:t>Atlas-based</a:t>
            </a:r>
          </a:p>
        </p:txBody>
      </p:sp>
    </p:spTree>
    <p:extLst>
      <p:ext uri="{BB962C8B-B14F-4D97-AF65-F5344CB8AC3E}">
        <p14:creationId xmlns:p14="http://schemas.microsoft.com/office/powerpoint/2010/main" val="1787803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D21ED-9216-995A-16AF-E5D36EB734A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56FC01-C7E8-C6CC-0E55-1848ED82A4B3}"/>
              </a:ext>
            </a:extLst>
          </p:cNvPr>
          <p:cNvSpPr>
            <a:spLocks noGrp="1"/>
          </p:cNvSpPr>
          <p:nvPr>
            <p:ph idx="1"/>
          </p:nvPr>
        </p:nvSpPr>
        <p:spPr>
          <a:xfrm>
            <a:off x="425454" y="1428750"/>
            <a:ext cx="11345332" cy="5037970"/>
          </a:xfrm>
        </p:spPr>
        <p:txBody>
          <a:bodyPr>
            <a:normAutofit/>
          </a:bodyPr>
          <a:lstStyle/>
          <a:p>
            <a:pPr>
              <a:lnSpc>
                <a:spcPct val="104000"/>
              </a:lnSpc>
            </a:pPr>
            <a:r>
              <a:rPr lang="en-US" sz="2200" b="1" i="1" dirty="0"/>
              <a:t>Step 1:</a:t>
            </a:r>
          </a:p>
          <a:p>
            <a:pPr marL="0" indent="0">
              <a:buNone/>
            </a:pPr>
            <a:r>
              <a:rPr lang="en-US" b="1" u="sng" dirty="0"/>
              <a:t>Spatially-constrained Agglomerative Clustering: </a:t>
            </a:r>
            <a:r>
              <a:rPr lang="en-US" dirty="0"/>
              <a:t>Works bottom-up, iteratively merging spatially adjacent voxels with high functional connectivity (Pearson correlation). </a:t>
            </a:r>
          </a:p>
          <a:p>
            <a:pPr marL="0" indent="0">
              <a:buNone/>
            </a:pPr>
            <a:r>
              <a:rPr lang="en-US" b="1" u="sng" dirty="0"/>
              <a:t>Spectral Clustering: </a:t>
            </a:r>
            <a:r>
              <a:rPr lang="en-US" dirty="0"/>
              <a:t>Partitions voxels using the eigenspectrum of a similarity graph (the Pearson correlation matrix). </a:t>
            </a:r>
          </a:p>
        </p:txBody>
      </p:sp>
      <p:sp>
        <p:nvSpPr>
          <p:cNvPr id="3" name="Title 2">
            <a:extLst>
              <a:ext uri="{FF2B5EF4-FFF2-40B4-BE49-F238E27FC236}">
                <a16:creationId xmlns:a16="http://schemas.microsoft.com/office/drawing/2014/main" id="{F22E1DCB-6BFD-F0C6-4100-D966C01A66D2}"/>
              </a:ext>
            </a:extLst>
          </p:cNvPr>
          <p:cNvSpPr>
            <a:spLocks noGrp="1"/>
          </p:cNvSpPr>
          <p:nvPr>
            <p:ph type="title"/>
          </p:nvPr>
        </p:nvSpPr>
        <p:spPr/>
        <p:txBody>
          <a:bodyPr/>
          <a:lstStyle/>
          <a:p>
            <a:r>
              <a:rPr lang="en-US" dirty="0"/>
              <a:t>Parcellation</a:t>
            </a:r>
          </a:p>
        </p:txBody>
      </p:sp>
      <p:sp>
        <p:nvSpPr>
          <p:cNvPr id="5" name="Title 2">
            <a:extLst>
              <a:ext uri="{FF2B5EF4-FFF2-40B4-BE49-F238E27FC236}">
                <a16:creationId xmlns:a16="http://schemas.microsoft.com/office/drawing/2014/main" id="{C4FD0888-9256-5ADC-4371-3AC9B87F6D54}"/>
              </a:ext>
            </a:extLst>
          </p:cNvPr>
          <p:cNvSpPr txBox="1">
            <a:spLocks/>
          </p:cNvSpPr>
          <p:nvPr/>
        </p:nvSpPr>
        <p:spPr>
          <a:xfrm>
            <a:off x="414883" y="829430"/>
            <a:ext cx="11345332" cy="531940"/>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algn="l" defTabSz="914400" rtl="0" eaLnBrk="1" latinLnBrk="0" hangingPunct="1">
              <a:lnSpc>
                <a:spcPts val="4267"/>
              </a:lnSpc>
              <a:spcBef>
                <a:spcPct val="0"/>
              </a:spcBef>
              <a:buNone/>
              <a:defRPr lang="de-DE" sz="3333" kern="1200" noProof="0" dirty="0">
                <a:solidFill>
                  <a:schemeClr val="tx1"/>
                </a:solidFill>
                <a:latin typeface="+mj-lt"/>
                <a:ea typeface="+mj-ea"/>
                <a:cs typeface="+mj-cs"/>
              </a:defRPr>
            </a:lvl1pPr>
          </a:lstStyle>
          <a:p>
            <a:r>
              <a:rPr lang="en-US" sz="2800" b="1" dirty="0">
                <a:solidFill>
                  <a:schemeClr val="tx1">
                    <a:lumMod val="50000"/>
                    <a:lumOff val="50000"/>
                  </a:schemeClr>
                </a:solidFill>
              </a:rPr>
              <a:t>Individualized (Atlas-Free) Parcellation</a:t>
            </a:r>
            <a:endParaRPr lang="en-US" sz="2800" dirty="0">
              <a:solidFill>
                <a:schemeClr val="tx1">
                  <a:lumMod val="50000"/>
                  <a:lumOff val="50000"/>
                </a:schemeClr>
              </a:solidFill>
            </a:endParaRPr>
          </a:p>
        </p:txBody>
      </p:sp>
      <p:pic>
        <p:nvPicPr>
          <p:cNvPr id="6" name="Picture 5" descr="A comparison of different colored circles&#10;&#10;AI-generated content may be incorrect.">
            <a:extLst>
              <a:ext uri="{FF2B5EF4-FFF2-40B4-BE49-F238E27FC236}">
                <a16:creationId xmlns:a16="http://schemas.microsoft.com/office/drawing/2014/main" id="{288D8963-77A0-F3C5-5F46-3FF29CB49E7E}"/>
              </a:ext>
            </a:extLst>
          </p:cNvPr>
          <p:cNvPicPr>
            <a:picLocks noChangeAspect="1"/>
          </p:cNvPicPr>
          <p:nvPr/>
        </p:nvPicPr>
        <p:blipFill>
          <a:blip r:embed="rId3"/>
          <a:stretch>
            <a:fillRect/>
          </a:stretch>
        </p:blipFill>
        <p:spPr>
          <a:xfrm>
            <a:off x="1782501" y="3561446"/>
            <a:ext cx="7772400" cy="2649856"/>
          </a:xfrm>
          <a:prstGeom prst="rect">
            <a:avLst/>
          </a:prstGeom>
        </p:spPr>
      </p:pic>
      <p:sp>
        <p:nvSpPr>
          <p:cNvPr id="9" name="TextBox 8">
            <a:extLst>
              <a:ext uri="{FF2B5EF4-FFF2-40B4-BE49-F238E27FC236}">
                <a16:creationId xmlns:a16="http://schemas.microsoft.com/office/drawing/2014/main" id="{02CDDF01-F678-90BA-EDE8-91052ABDDFA2}"/>
              </a:ext>
            </a:extLst>
          </p:cNvPr>
          <p:cNvSpPr txBox="1"/>
          <p:nvPr/>
        </p:nvSpPr>
        <p:spPr>
          <a:xfrm>
            <a:off x="216610" y="6611779"/>
            <a:ext cx="11543605" cy="246221"/>
          </a:xfrm>
          <a:prstGeom prst="rect">
            <a:avLst/>
          </a:prstGeom>
          <a:noFill/>
        </p:spPr>
        <p:txBody>
          <a:bodyPr wrap="square">
            <a:spAutoFit/>
          </a:bodyPr>
          <a:lstStyle/>
          <a:p>
            <a:r>
              <a:rPr lang="en-US" sz="1000" dirty="0"/>
              <a:t>Atlas-free Brain Network Transformer</a:t>
            </a:r>
          </a:p>
        </p:txBody>
      </p:sp>
    </p:spTree>
    <p:extLst>
      <p:ext uri="{BB962C8B-B14F-4D97-AF65-F5344CB8AC3E}">
        <p14:creationId xmlns:p14="http://schemas.microsoft.com/office/powerpoint/2010/main" val="2659680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12F45-6DE5-557A-CE06-C9356DAD46D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239851-2913-6960-1771-793B6D1E1B7C}"/>
              </a:ext>
            </a:extLst>
          </p:cNvPr>
          <p:cNvSpPr>
            <a:spLocks noGrp="1"/>
          </p:cNvSpPr>
          <p:nvPr>
            <p:ph idx="1"/>
          </p:nvPr>
        </p:nvSpPr>
        <p:spPr>
          <a:xfrm>
            <a:off x="425454" y="1428750"/>
            <a:ext cx="11345332" cy="5037970"/>
          </a:xfrm>
        </p:spPr>
        <p:txBody>
          <a:bodyPr>
            <a:normAutofit/>
          </a:bodyPr>
          <a:lstStyle/>
          <a:p>
            <a:r>
              <a:rPr lang="en-US" b="1" dirty="0"/>
              <a:t>Step 1:</a:t>
            </a:r>
            <a:endParaRPr lang="en-US" dirty="0"/>
          </a:p>
          <a:p>
            <a:pPr marL="0" indent="0">
              <a:buNone/>
            </a:pPr>
            <a:r>
              <a:rPr lang="en-US" b="1" u="sng" dirty="0"/>
              <a:t>Spatially-constrained Agglomerative Clustering: </a:t>
            </a:r>
            <a:r>
              <a:rPr lang="en-US" dirty="0"/>
              <a:t>Works bottom-up, iteratively merging spatially adjacent voxels with high functional connectivity (Pearson correlation). </a:t>
            </a:r>
          </a:p>
          <a:p>
            <a:pPr marL="0" indent="0">
              <a:buNone/>
            </a:pPr>
            <a:r>
              <a:rPr lang="en-US" b="1" u="sng" dirty="0"/>
              <a:t>Spectral Clustering: </a:t>
            </a:r>
            <a:r>
              <a:rPr lang="en-US" dirty="0"/>
              <a:t>Partitions voxels using the </a:t>
            </a:r>
            <a:r>
              <a:rPr lang="en-US" dirty="0" err="1"/>
              <a:t>eigenspectrum</a:t>
            </a:r>
            <a:r>
              <a:rPr lang="en-US" dirty="0"/>
              <a:t> of a similarity graph (the Pearson correlation matrix). </a:t>
            </a:r>
          </a:p>
          <a:p>
            <a:pPr>
              <a:lnSpc>
                <a:spcPct val="104000"/>
              </a:lnSpc>
            </a:pPr>
            <a:r>
              <a:rPr lang="en-US" sz="2200" b="1" i="1" dirty="0"/>
              <a:t>Step 2: ROI-to-Voxel Connectivity</a:t>
            </a:r>
          </a:p>
          <a:p>
            <a:pPr marL="0" indent="0">
              <a:buNone/>
            </a:pPr>
            <a:r>
              <a:rPr lang="en-US" dirty="0"/>
              <a:t>Since each subject's parcellation is unique,</a:t>
            </a:r>
            <a:r>
              <a:rPr lang="de-DE" dirty="0"/>
              <a:t> </a:t>
            </a:r>
            <a:r>
              <a:rPr lang="de-DE" b="1" dirty="0" err="1"/>
              <a:t>direct</a:t>
            </a:r>
            <a:r>
              <a:rPr lang="de-DE" b="1" dirty="0"/>
              <a:t> ROI-</a:t>
            </a:r>
            <a:r>
              <a:rPr lang="de-DE" b="1" dirty="0" err="1"/>
              <a:t>to</a:t>
            </a:r>
            <a:r>
              <a:rPr lang="de-DE" b="1" dirty="0"/>
              <a:t>-ROI </a:t>
            </a:r>
            <a:r>
              <a:rPr lang="de-DE" b="1" dirty="0" err="1"/>
              <a:t>comparisons</a:t>
            </a:r>
            <a:r>
              <a:rPr lang="de-DE" b="1" dirty="0"/>
              <a:t> </a:t>
            </a:r>
            <a:r>
              <a:rPr lang="de-DE" b="1" dirty="0" err="1"/>
              <a:t>across</a:t>
            </a:r>
            <a:r>
              <a:rPr lang="de-DE" b="1" dirty="0"/>
              <a:t> </a:t>
            </a:r>
            <a:r>
              <a:rPr lang="de-DE" b="1" dirty="0" err="1"/>
              <a:t>subjects</a:t>
            </a:r>
            <a:r>
              <a:rPr lang="de-DE" b="1" dirty="0"/>
              <a:t> </a:t>
            </a:r>
            <a:r>
              <a:rPr lang="de-DE" b="1" dirty="0" err="1"/>
              <a:t>become</a:t>
            </a:r>
            <a:r>
              <a:rPr lang="de-DE" b="1" dirty="0"/>
              <a:t> impossible</a:t>
            </a:r>
            <a:r>
              <a:rPr lang="en-US" dirty="0"/>
              <a:t>. </a:t>
            </a:r>
          </a:p>
          <a:p>
            <a:pPr marL="0" indent="0">
              <a:buNone/>
            </a:pPr>
            <a:r>
              <a:rPr lang="en-US" dirty="0"/>
              <a:t>Atlas-free methods solve this by computing connectivity in a</a:t>
            </a:r>
            <a:r>
              <a:rPr lang="de-DE" dirty="0"/>
              <a:t> </a:t>
            </a:r>
            <a:r>
              <a:rPr lang="de-DE" b="1" dirty="0" err="1"/>
              <a:t>standardized</a:t>
            </a:r>
            <a:r>
              <a:rPr lang="de-DE" b="1" dirty="0"/>
              <a:t> </a:t>
            </a:r>
            <a:r>
              <a:rPr lang="de-DE" b="1" dirty="0" err="1"/>
              <a:t>voxel-based</a:t>
            </a:r>
            <a:r>
              <a:rPr lang="de-DE" b="1" dirty="0"/>
              <a:t> feature </a:t>
            </a:r>
            <a:r>
              <a:rPr lang="de-DE" b="1" dirty="0" err="1"/>
              <a:t>space</a:t>
            </a:r>
            <a:r>
              <a:rPr lang="en-US" dirty="0"/>
              <a:t>:​</a:t>
            </a:r>
          </a:p>
          <a:p>
            <a:pPr marL="0" indent="0">
              <a:buNone/>
            </a:pPr>
            <a:r>
              <a:rPr lang="en-US" dirty="0"/>
              <a:t>This produces a high-dimensional feature vector for each ROI that can be compared across subjects</a:t>
            </a:r>
          </a:p>
        </p:txBody>
      </p:sp>
      <p:sp>
        <p:nvSpPr>
          <p:cNvPr id="3" name="Title 2">
            <a:extLst>
              <a:ext uri="{FF2B5EF4-FFF2-40B4-BE49-F238E27FC236}">
                <a16:creationId xmlns:a16="http://schemas.microsoft.com/office/drawing/2014/main" id="{10F5C519-05B9-045D-AED2-ED74968A1643}"/>
              </a:ext>
            </a:extLst>
          </p:cNvPr>
          <p:cNvSpPr>
            <a:spLocks noGrp="1"/>
          </p:cNvSpPr>
          <p:nvPr>
            <p:ph type="title"/>
          </p:nvPr>
        </p:nvSpPr>
        <p:spPr/>
        <p:txBody>
          <a:bodyPr/>
          <a:lstStyle/>
          <a:p>
            <a:r>
              <a:rPr lang="en-US" dirty="0"/>
              <a:t>Parcellation</a:t>
            </a:r>
          </a:p>
        </p:txBody>
      </p:sp>
      <p:sp>
        <p:nvSpPr>
          <p:cNvPr id="5" name="Title 2">
            <a:extLst>
              <a:ext uri="{FF2B5EF4-FFF2-40B4-BE49-F238E27FC236}">
                <a16:creationId xmlns:a16="http://schemas.microsoft.com/office/drawing/2014/main" id="{2CA3E0E6-BD62-132F-69BE-F8C9B824DD36}"/>
              </a:ext>
            </a:extLst>
          </p:cNvPr>
          <p:cNvSpPr txBox="1">
            <a:spLocks/>
          </p:cNvSpPr>
          <p:nvPr/>
        </p:nvSpPr>
        <p:spPr>
          <a:xfrm>
            <a:off x="414883" y="829430"/>
            <a:ext cx="11345332" cy="531940"/>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algn="l" defTabSz="914400" rtl="0" eaLnBrk="1" latinLnBrk="0" hangingPunct="1">
              <a:lnSpc>
                <a:spcPts val="4267"/>
              </a:lnSpc>
              <a:spcBef>
                <a:spcPct val="0"/>
              </a:spcBef>
              <a:buNone/>
              <a:defRPr lang="de-DE" sz="3333" kern="1200" noProof="0" dirty="0">
                <a:solidFill>
                  <a:schemeClr val="tx1"/>
                </a:solidFill>
                <a:latin typeface="+mj-lt"/>
                <a:ea typeface="+mj-ea"/>
                <a:cs typeface="+mj-cs"/>
              </a:defRPr>
            </a:lvl1pPr>
          </a:lstStyle>
          <a:p>
            <a:r>
              <a:rPr lang="en-US" sz="2800" b="1" dirty="0">
                <a:solidFill>
                  <a:schemeClr val="tx1">
                    <a:lumMod val="50000"/>
                    <a:lumOff val="50000"/>
                  </a:schemeClr>
                </a:solidFill>
              </a:rPr>
              <a:t>Individualized (Atlas-Free) Parcellation</a:t>
            </a:r>
            <a:endParaRPr lang="en-US" sz="2800" dirty="0">
              <a:solidFill>
                <a:schemeClr val="tx1">
                  <a:lumMod val="50000"/>
                  <a:lumOff val="50000"/>
                </a:schemeClr>
              </a:solidFill>
            </a:endParaRPr>
          </a:p>
        </p:txBody>
      </p:sp>
    </p:spTree>
    <p:extLst>
      <p:ext uri="{BB962C8B-B14F-4D97-AF65-F5344CB8AC3E}">
        <p14:creationId xmlns:p14="http://schemas.microsoft.com/office/powerpoint/2010/main" val="1878805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1ACE0-34CB-D394-4FD4-1C5ECB0C03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A6E8D4-45AE-E3A0-2124-FCA27020ABC7}"/>
              </a:ext>
            </a:extLst>
          </p:cNvPr>
          <p:cNvSpPr>
            <a:spLocks noGrp="1"/>
          </p:cNvSpPr>
          <p:nvPr>
            <p:ph idx="1"/>
          </p:nvPr>
        </p:nvSpPr>
        <p:spPr>
          <a:xfrm>
            <a:off x="425454" y="1428750"/>
            <a:ext cx="11345332" cy="5037970"/>
          </a:xfrm>
        </p:spPr>
        <p:txBody>
          <a:bodyPr>
            <a:normAutofit/>
          </a:bodyPr>
          <a:lstStyle/>
          <a:p>
            <a:r>
              <a:rPr lang="en-US" b="1" dirty="0"/>
              <a:t>Step 1:</a:t>
            </a:r>
            <a:endParaRPr lang="en-US" dirty="0"/>
          </a:p>
          <a:p>
            <a:pPr marL="0" indent="0">
              <a:buNone/>
            </a:pPr>
            <a:r>
              <a:rPr lang="en-US" b="1" u="sng" dirty="0"/>
              <a:t>Spatially-constrained Agglomerative Clustering: </a:t>
            </a:r>
            <a:r>
              <a:rPr lang="en-US" dirty="0"/>
              <a:t>Works bottom-up, iteratively merging spatially adjacent voxels with high functional connectivity (Pearson correlation). </a:t>
            </a:r>
          </a:p>
          <a:p>
            <a:pPr marL="0" indent="0">
              <a:buNone/>
            </a:pPr>
            <a:r>
              <a:rPr lang="en-US" b="1" u="sng" dirty="0"/>
              <a:t>Spectral Clustering: </a:t>
            </a:r>
            <a:r>
              <a:rPr lang="en-US" dirty="0"/>
              <a:t>Partitions voxels using the eigenspectrum of a similarity graph (the Pearson correlation matrix). </a:t>
            </a:r>
          </a:p>
          <a:p>
            <a:r>
              <a:rPr lang="en-US" b="1" dirty="0"/>
              <a:t>Step 2: ROI-to-Voxel Connectivity</a:t>
            </a:r>
            <a:endParaRPr lang="en-US" dirty="0"/>
          </a:p>
          <a:p>
            <a:pPr marL="0" indent="0">
              <a:buNone/>
            </a:pPr>
            <a:r>
              <a:rPr lang="en-US" dirty="0"/>
              <a:t>Since each subject's parcellation is unique,</a:t>
            </a:r>
            <a:r>
              <a:rPr lang="de-DE" dirty="0"/>
              <a:t> </a:t>
            </a:r>
            <a:r>
              <a:rPr lang="de-DE" b="1" dirty="0"/>
              <a:t>direct ROI-to-ROI comparisons across subjects become impossible</a:t>
            </a:r>
            <a:r>
              <a:rPr lang="en-US" dirty="0"/>
              <a:t>. </a:t>
            </a:r>
          </a:p>
          <a:p>
            <a:pPr marL="0" indent="0">
              <a:buNone/>
            </a:pPr>
            <a:r>
              <a:rPr lang="en-US" dirty="0"/>
              <a:t>Atlas-free methods solve this by computing connectivity in a</a:t>
            </a:r>
            <a:r>
              <a:rPr lang="de-DE" dirty="0"/>
              <a:t> </a:t>
            </a:r>
            <a:r>
              <a:rPr lang="de-DE" b="1" dirty="0"/>
              <a:t>standardized voxel-based feature space</a:t>
            </a:r>
            <a:r>
              <a:rPr lang="en-US" dirty="0"/>
              <a:t>:​</a:t>
            </a:r>
          </a:p>
          <a:p>
            <a:pPr marL="0" indent="0">
              <a:buNone/>
            </a:pPr>
            <a:r>
              <a:rPr lang="en-US" dirty="0"/>
              <a:t>This produces a high-dimensional feature vector for each ROI that can be compared across subjects</a:t>
            </a:r>
          </a:p>
          <a:p>
            <a:pPr>
              <a:lnSpc>
                <a:spcPct val="104000"/>
              </a:lnSpc>
            </a:pPr>
            <a:r>
              <a:rPr lang="en-US" sz="2200" b="1" i="1" dirty="0"/>
              <a:t>Step 3: Dimensionality Reduction and Feature Extraction (PCA + Transformers) </a:t>
            </a:r>
          </a:p>
        </p:txBody>
      </p:sp>
      <p:sp>
        <p:nvSpPr>
          <p:cNvPr id="3" name="Title 2">
            <a:extLst>
              <a:ext uri="{FF2B5EF4-FFF2-40B4-BE49-F238E27FC236}">
                <a16:creationId xmlns:a16="http://schemas.microsoft.com/office/drawing/2014/main" id="{4939AA98-FEC6-8DC0-86CD-034E1DCE71DE}"/>
              </a:ext>
            </a:extLst>
          </p:cNvPr>
          <p:cNvSpPr>
            <a:spLocks noGrp="1"/>
          </p:cNvSpPr>
          <p:nvPr>
            <p:ph type="title"/>
          </p:nvPr>
        </p:nvSpPr>
        <p:spPr/>
        <p:txBody>
          <a:bodyPr/>
          <a:lstStyle/>
          <a:p>
            <a:r>
              <a:rPr lang="en-US" dirty="0"/>
              <a:t>Parcellation</a:t>
            </a:r>
          </a:p>
        </p:txBody>
      </p:sp>
      <p:sp>
        <p:nvSpPr>
          <p:cNvPr id="5" name="Title 2">
            <a:extLst>
              <a:ext uri="{FF2B5EF4-FFF2-40B4-BE49-F238E27FC236}">
                <a16:creationId xmlns:a16="http://schemas.microsoft.com/office/drawing/2014/main" id="{08E943D2-13E5-FAAD-44F0-2FFF004CF792}"/>
              </a:ext>
            </a:extLst>
          </p:cNvPr>
          <p:cNvSpPr txBox="1">
            <a:spLocks/>
          </p:cNvSpPr>
          <p:nvPr/>
        </p:nvSpPr>
        <p:spPr>
          <a:xfrm>
            <a:off x="414883" y="829430"/>
            <a:ext cx="11345332" cy="531940"/>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algn="l" defTabSz="914400" rtl="0" eaLnBrk="1" latinLnBrk="0" hangingPunct="1">
              <a:lnSpc>
                <a:spcPts val="4267"/>
              </a:lnSpc>
              <a:spcBef>
                <a:spcPct val="0"/>
              </a:spcBef>
              <a:buNone/>
              <a:defRPr lang="de-DE" sz="3333" kern="1200" noProof="0" dirty="0">
                <a:solidFill>
                  <a:schemeClr val="tx1"/>
                </a:solidFill>
                <a:latin typeface="+mj-lt"/>
                <a:ea typeface="+mj-ea"/>
                <a:cs typeface="+mj-cs"/>
              </a:defRPr>
            </a:lvl1pPr>
          </a:lstStyle>
          <a:p>
            <a:r>
              <a:rPr lang="en-US" sz="2800" b="1" dirty="0">
                <a:solidFill>
                  <a:schemeClr val="tx1">
                    <a:lumMod val="50000"/>
                    <a:lumOff val="50000"/>
                  </a:schemeClr>
                </a:solidFill>
              </a:rPr>
              <a:t>Individualized (Atlas-Free) Parcellation</a:t>
            </a:r>
            <a:endParaRPr lang="en-US" sz="2800" dirty="0">
              <a:solidFill>
                <a:schemeClr val="tx1">
                  <a:lumMod val="50000"/>
                  <a:lumOff val="50000"/>
                </a:schemeClr>
              </a:solidFill>
            </a:endParaRPr>
          </a:p>
        </p:txBody>
      </p:sp>
    </p:spTree>
    <p:extLst>
      <p:ext uri="{BB962C8B-B14F-4D97-AF65-F5344CB8AC3E}">
        <p14:creationId xmlns:p14="http://schemas.microsoft.com/office/powerpoint/2010/main" val="515244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D2A2D6-14B2-6723-7068-581892C81CAF}"/>
              </a:ext>
            </a:extLst>
          </p:cNvPr>
          <p:cNvSpPr>
            <a:spLocks noGrp="1"/>
          </p:cNvSpPr>
          <p:nvPr>
            <p:ph idx="1"/>
          </p:nvPr>
        </p:nvSpPr>
        <p:spPr>
          <a:xfrm>
            <a:off x="425454" y="1630035"/>
            <a:ext cx="11345332" cy="1309936"/>
          </a:xfrm>
        </p:spPr>
        <p:txBody>
          <a:bodyPr/>
          <a:lstStyle/>
          <a:p>
            <a:pPr marL="0" indent="0">
              <a:buNone/>
            </a:pPr>
            <a:r>
              <a:rPr lang="en-US" i="1" dirty="0"/>
              <a:t>→ Atlas-free BNT achieves</a:t>
            </a:r>
            <a:r>
              <a:rPr lang="de-DE" i="1" dirty="0"/>
              <a:t> </a:t>
            </a:r>
            <a:r>
              <a:rPr lang="de-DE" b="1" i="1" dirty="0"/>
              <a:t>89.2% </a:t>
            </a:r>
            <a:r>
              <a:rPr lang="de-DE" b="1" i="1" dirty="0" err="1"/>
              <a:t>accuracy</a:t>
            </a:r>
            <a:r>
              <a:rPr lang="de-DE" i="1" dirty="0"/>
              <a:t> on sex </a:t>
            </a:r>
            <a:r>
              <a:rPr lang="de-DE" i="1" dirty="0" err="1"/>
              <a:t>classification</a:t>
            </a:r>
            <a:r>
              <a:rPr lang="de-DE" i="1" dirty="0"/>
              <a:t> </a:t>
            </a:r>
            <a:r>
              <a:rPr lang="de-DE" i="1" dirty="0" err="1"/>
              <a:t>compared</a:t>
            </a:r>
            <a:r>
              <a:rPr lang="de-DE" i="1" dirty="0"/>
              <a:t> </a:t>
            </a:r>
            <a:r>
              <a:rPr lang="de-DE" i="1" dirty="0" err="1"/>
              <a:t>to</a:t>
            </a:r>
            <a:r>
              <a:rPr lang="de-DE" i="1" dirty="0"/>
              <a:t> </a:t>
            </a:r>
            <a:r>
              <a:rPr lang="de-DE" b="1" i="1" dirty="0"/>
              <a:t>87.9%</a:t>
            </a:r>
            <a:r>
              <a:rPr lang="de-DE" i="1" dirty="0"/>
              <a:t> </a:t>
            </a:r>
            <a:r>
              <a:rPr lang="de-DE" i="1" dirty="0" err="1"/>
              <a:t>for</a:t>
            </a:r>
            <a:r>
              <a:rPr lang="de-DE" i="1" dirty="0"/>
              <a:t> </a:t>
            </a:r>
            <a:r>
              <a:rPr lang="de-DE" i="1" dirty="0" err="1"/>
              <a:t>the</a:t>
            </a:r>
            <a:r>
              <a:rPr lang="de-DE" i="1" dirty="0"/>
              <a:t> </a:t>
            </a:r>
            <a:r>
              <a:rPr lang="de-DE" i="1" dirty="0" err="1"/>
              <a:t>best</a:t>
            </a:r>
            <a:r>
              <a:rPr lang="de-DE" i="1" dirty="0"/>
              <a:t> atlas-</a:t>
            </a:r>
            <a:r>
              <a:rPr lang="de-DE" i="1" dirty="0" err="1"/>
              <a:t>based</a:t>
            </a:r>
            <a:r>
              <a:rPr lang="de-DE" i="1" dirty="0"/>
              <a:t> </a:t>
            </a:r>
            <a:r>
              <a:rPr lang="de-DE" i="1" dirty="0" err="1"/>
              <a:t>method</a:t>
            </a:r>
            <a:r>
              <a:rPr lang="de-DE" i="1" dirty="0"/>
              <a:t> (BNT </a:t>
            </a:r>
            <a:r>
              <a:rPr lang="de-DE" i="1" dirty="0" err="1"/>
              <a:t>with</a:t>
            </a:r>
            <a:r>
              <a:rPr lang="de-DE" i="1" dirty="0"/>
              <a:t> Craddock-400). </a:t>
            </a:r>
          </a:p>
          <a:p>
            <a:pPr marL="0" indent="0">
              <a:buNone/>
            </a:pPr>
            <a:r>
              <a:rPr lang="de-DE" i="1" dirty="0" err="1"/>
              <a:t>For</a:t>
            </a:r>
            <a:r>
              <a:rPr lang="de-DE" i="1" dirty="0"/>
              <a:t> </a:t>
            </a:r>
            <a:r>
              <a:rPr lang="de-DE" i="1" dirty="0" err="1"/>
              <a:t>brain</a:t>
            </a:r>
            <a:r>
              <a:rPr lang="de-DE" i="1" dirty="0"/>
              <a:t> </a:t>
            </a:r>
            <a:r>
              <a:rPr lang="de-DE" i="1" dirty="0" err="1"/>
              <a:t>age</a:t>
            </a:r>
            <a:r>
              <a:rPr lang="de-DE" i="1" dirty="0"/>
              <a:t> </a:t>
            </a:r>
            <a:r>
              <a:rPr lang="de-DE" i="1" dirty="0" err="1"/>
              <a:t>prediction</a:t>
            </a:r>
            <a:r>
              <a:rPr lang="de-DE" i="1" dirty="0"/>
              <a:t>, atlas-</a:t>
            </a:r>
            <a:r>
              <a:rPr lang="de-DE" i="1" dirty="0" err="1"/>
              <a:t>free</a:t>
            </a:r>
            <a:r>
              <a:rPr lang="de-DE" i="1" dirty="0"/>
              <a:t> </a:t>
            </a:r>
            <a:r>
              <a:rPr lang="de-DE" i="1" dirty="0" err="1"/>
              <a:t>achieves</a:t>
            </a:r>
            <a:r>
              <a:rPr lang="de-DE" i="1" dirty="0"/>
              <a:t> </a:t>
            </a:r>
            <a:r>
              <a:rPr lang="de-DE" b="1" i="1" dirty="0"/>
              <a:t>MAE = 4.03 </a:t>
            </a:r>
            <a:r>
              <a:rPr lang="de-DE" b="1" i="1" dirty="0" err="1"/>
              <a:t>years</a:t>
            </a:r>
            <a:r>
              <a:rPr lang="de-DE" i="1" dirty="0"/>
              <a:t> </a:t>
            </a:r>
            <a:r>
              <a:rPr lang="de-DE" i="1" dirty="0" err="1"/>
              <a:t>vs</a:t>
            </a:r>
            <a:r>
              <a:rPr lang="de-DE" i="1" dirty="0"/>
              <a:t> </a:t>
            </a:r>
            <a:r>
              <a:rPr lang="de-DE" b="1" i="1" dirty="0"/>
              <a:t>4.21 </a:t>
            </a:r>
            <a:r>
              <a:rPr lang="de-DE" b="1" i="1" dirty="0" err="1"/>
              <a:t>years</a:t>
            </a:r>
            <a:r>
              <a:rPr lang="de-DE" i="1" dirty="0"/>
              <a:t> </a:t>
            </a:r>
            <a:r>
              <a:rPr lang="de-DE" i="1" dirty="0" err="1"/>
              <a:t>for</a:t>
            </a:r>
            <a:r>
              <a:rPr lang="de-DE" i="1" dirty="0"/>
              <a:t> </a:t>
            </a:r>
            <a:r>
              <a:rPr lang="de-DE" i="1" dirty="0" err="1"/>
              <a:t>the</a:t>
            </a:r>
            <a:r>
              <a:rPr lang="de-DE" i="1" dirty="0"/>
              <a:t> </a:t>
            </a:r>
            <a:r>
              <a:rPr lang="de-DE" i="1" dirty="0" err="1"/>
              <a:t>best</a:t>
            </a:r>
            <a:r>
              <a:rPr lang="de-DE" i="1" dirty="0"/>
              <a:t> atlas-</a:t>
            </a:r>
            <a:r>
              <a:rPr lang="de-DE" i="1" dirty="0" err="1"/>
              <a:t>based</a:t>
            </a:r>
            <a:r>
              <a:rPr lang="de-DE" i="1" dirty="0"/>
              <a:t> </a:t>
            </a:r>
            <a:r>
              <a:rPr lang="de-DE" i="1" dirty="0" err="1"/>
              <a:t>approach</a:t>
            </a:r>
            <a:endParaRPr lang="en-US" dirty="0"/>
          </a:p>
          <a:p>
            <a:endParaRPr lang="en-US" dirty="0"/>
          </a:p>
        </p:txBody>
      </p:sp>
      <p:sp>
        <p:nvSpPr>
          <p:cNvPr id="3" name="Title 2">
            <a:extLst>
              <a:ext uri="{FF2B5EF4-FFF2-40B4-BE49-F238E27FC236}">
                <a16:creationId xmlns:a16="http://schemas.microsoft.com/office/drawing/2014/main" id="{8FD4931D-483B-C837-A17D-3AD6027BFCA7}"/>
              </a:ext>
            </a:extLst>
          </p:cNvPr>
          <p:cNvSpPr>
            <a:spLocks noGrp="1"/>
          </p:cNvSpPr>
          <p:nvPr>
            <p:ph type="title"/>
          </p:nvPr>
        </p:nvSpPr>
        <p:spPr/>
        <p:txBody>
          <a:bodyPr/>
          <a:lstStyle/>
          <a:p>
            <a:r>
              <a:rPr lang="en-US" dirty="0"/>
              <a:t>Atlas-free</a:t>
            </a:r>
          </a:p>
        </p:txBody>
      </p:sp>
      <p:pic>
        <p:nvPicPr>
          <p:cNvPr id="6" name="Picture 5" descr="A group of images of different colored objects&#10;&#10;AI-generated content may be incorrect.">
            <a:extLst>
              <a:ext uri="{FF2B5EF4-FFF2-40B4-BE49-F238E27FC236}">
                <a16:creationId xmlns:a16="http://schemas.microsoft.com/office/drawing/2014/main" id="{C6CE53A7-D93A-CA56-CCAB-E5167B828073}"/>
              </a:ext>
            </a:extLst>
          </p:cNvPr>
          <p:cNvPicPr>
            <a:picLocks noChangeAspect="1"/>
          </p:cNvPicPr>
          <p:nvPr/>
        </p:nvPicPr>
        <p:blipFill>
          <a:blip r:embed="rId2"/>
          <a:stretch>
            <a:fillRect/>
          </a:stretch>
        </p:blipFill>
        <p:spPr>
          <a:xfrm>
            <a:off x="3035220" y="3088429"/>
            <a:ext cx="5912010" cy="3378291"/>
          </a:xfrm>
          <a:prstGeom prst="rect">
            <a:avLst/>
          </a:prstGeom>
        </p:spPr>
      </p:pic>
      <p:sp>
        <p:nvSpPr>
          <p:cNvPr id="7" name="TextBox 6">
            <a:extLst>
              <a:ext uri="{FF2B5EF4-FFF2-40B4-BE49-F238E27FC236}">
                <a16:creationId xmlns:a16="http://schemas.microsoft.com/office/drawing/2014/main" id="{0E9A2E95-C7AB-F7BC-6196-4A41B544DA33}"/>
              </a:ext>
            </a:extLst>
          </p:cNvPr>
          <p:cNvSpPr txBox="1"/>
          <p:nvPr/>
        </p:nvSpPr>
        <p:spPr>
          <a:xfrm>
            <a:off x="216610" y="6611779"/>
            <a:ext cx="11543605" cy="246221"/>
          </a:xfrm>
          <a:prstGeom prst="rect">
            <a:avLst/>
          </a:prstGeom>
          <a:noFill/>
        </p:spPr>
        <p:txBody>
          <a:bodyPr wrap="square">
            <a:spAutoFit/>
          </a:bodyPr>
          <a:lstStyle/>
          <a:p>
            <a:r>
              <a:rPr lang="en-US" sz="1000" dirty="0"/>
              <a:t>Atlas-free Brain Network Transformer</a:t>
            </a:r>
          </a:p>
        </p:txBody>
      </p:sp>
    </p:spTree>
    <p:extLst>
      <p:ext uri="{BB962C8B-B14F-4D97-AF65-F5344CB8AC3E}">
        <p14:creationId xmlns:p14="http://schemas.microsoft.com/office/powerpoint/2010/main" val="2539756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sailing ship&#10;&#10;AI-generated content may be incorrect.">
            <a:extLst>
              <a:ext uri="{FF2B5EF4-FFF2-40B4-BE49-F238E27FC236}">
                <a16:creationId xmlns:a16="http://schemas.microsoft.com/office/drawing/2014/main" id="{14AA3782-6613-A488-78CD-A1D1F2DA2882}"/>
              </a:ext>
            </a:extLst>
          </p:cNvPr>
          <p:cNvPicPr>
            <a:picLocks noGrp="1" noChangeAspect="1"/>
          </p:cNvPicPr>
          <p:nvPr>
            <p:ph idx="1"/>
          </p:nvPr>
        </p:nvPicPr>
        <p:blipFill>
          <a:blip r:embed="rId3"/>
          <a:stretch>
            <a:fillRect/>
          </a:stretch>
        </p:blipFill>
        <p:spPr>
          <a:xfrm>
            <a:off x="736600" y="1961326"/>
            <a:ext cx="10718800" cy="3556000"/>
          </a:xfrm>
        </p:spPr>
      </p:pic>
      <p:sp>
        <p:nvSpPr>
          <p:cNvPr id="3" name="Title 2">
            <a:extLst>
              <a:ext uri="{FF2B5EF4-FFF2-40B4-BE49-F238E27FC236}">
                <a16:creationId xmlns:a16="http://schemas.microsoft.com/office/drawing/2014/main" id="{C6DBAC20-2556-9A40-F405-94DC3045E7B3}"/>
              </a:ext>
            </a:extLst>
          </p:cNvPr>
          <p:cNvSpPr>
            <a:spLocks noGrp="1"/>
          </p:cNvSpPr>
          <p:nvPr>
            <p:ph type="title"/>
          </p:nvPr>
        </p:nvSpPr>
        <p:spPr/>
        <p:txBody>
          <a:bodyPr/>
          <a:lstStyle/>
          <a:p>
            <a:r>
              <a:rPr lang="en-US" dirty="0"/>
              <a:t>Diagnosis </a:t>
            </a:r>
            <a:r>
              <a:rPr lang="en-US" dirty="0" err="1"/>
              <a:t>xAI</a:t>
            </a:r>
            <a:endParaRPr lang="en-US" dirty="0"/>
          </a:p>
        </p:txBody>
      </p:sp>
      <p:sp>
        <p:nvSpPr>
          <p:cNvPr id="7" name="TextBox 6">
            <a:extLst>
              <a:ext uri="{FF2B5EF4-FFF2-40B4-BE49-F238E27FC236}">
                <a16:creationId xmlns:a16="http://schemas.microsoft.com/office/drawing/2014/main" id="{40416486-6FB8-273B-4290-C4F1DDD3F6C6}"/>
              </a:ext>
            </a:extLst>
          </p:cNvPr>
          <p:cNvSpPr txBox="1"/>
          <p:nvPr/>
        </p:nvSpPr>
        <p:spPr>
          <a:xfrm>
            <a:off x="216610" y="6555432"/>
            <a:ext cx="11543605" cy="400110"/>
          </a:xfrm>
          <a:prstGeom prst="rect">
            <a:avLst/>
          </a:prstGeom>
          <a:noFill/>
        </p:spPr>
        <p:txBody>
          <a:bodyPr wrap="square">
            <a:spAutoFit/>
          </a:bodyPr>
          <a:lstStyle/>
          <a:p>
            <a:r>
              <a:rPr lang="en-US" sz="1000" dirty="0" err="1"/>
              <a:t>GNNExplainer</a:t>
            </a:r>
            <a:r>
              <a:rPr lang="en-US" sz="1000" dirty="0"/>
              <a:t>: Generating Explanations for Graph Neural Networks</a:t>
            </a:r>
          </a:p>
          <a:p>
            <a:endParaRPr lang="en-US" sz="1000" dirty="0"/>
          </a:p>
        </p:txBody>
      </p:sp>
      <p:sp>
        <p:nvSpPr>
          <p:cNvPr id="8" name="Text Placeholder 3">
            <a:extLst>
              <a:ext uri="{FF2B5EF4-FFF2-40B4-BE49-F238E27FC236}">
                <a16:creationId xmlns:a16="http://schemas.microsoft.com/office/drawing/2014/main" id="{14665E96-2080-B472-7EC6-36651CA6C489}"/>
              </a:ext>
            </a:extLst>
          </p:cNvPr>
          <p:cNvSpPr>
            <a:spLocks noGrp="1"/>
          </p:cNvSpPr>
          <p:nvPr>
            <p:ph type="body" sz="quarter" idx="14"/>
          </p:nvPr>
        </p:nvSpPr>
        <p:spPr>
          <a:xfrm>
            <a:off x="414882" y="912573"/>
            <a:ext cx="11345332" cy="428547"/>
          </a:xfrm>
        </p:spPr>
        <p:txBody>
          <a:bodyPr/>
          <a:lstStyle/>
          <a:p>
            <a:r>
              <a:rPr lang="en-US" dirty="0">
                <a:solidFill>
                  <a:schemeClr val="tx1">
                    <a:lumMod val="50000"/>
                    <a:lumOff val="50000"/>
                  </a:schemeClr>
                </a:solidFill>
              </a:rPr>
              <a:t>Extend GAAE</a:t>
            </a:r>
          </a:p>
        </p:txBody>
      </p:sp>
    </p:spTree>
    <p:extLst>
      <p:ext uri="{BB962C8B-B14F-4D97-AF65-F5344CB8AC3E}">
        <p14:creationId xmlns:p14="http://schemas.microsoft.com/office/powerpoint/2010/main" val="3635198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4AB50-21E7-0760-ACCF-D3F1634680C5}"/>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26FA013-64EE-F130-C97D-D38965BB1830}"/>
              </a:ext>
            </a:extLst>
          </p:cNvPr>
          <p:cNvPicPr>
            <a:picLocks noGrp="1" noChangeAspect="1"/>
          </p:cNvPicPr>
          <p:nvPr>
            <p:ph idx="1"/>
          </p:nvPr>
        </p:nvPicPr>
        <p:blipFill>
          <a:blip r:embed="rId2"/>
          <a:srcRect b="6870"/>
          <a:stretch>
            <a:fillRect/>
          </a:stretch>
        </p:blipFill>
        <p:spPr>
          <a:xfrm>
            <a:off x="2393010" y="2755307"/>
            <a:ext cx="7405979" cy="2673220"/>
          </a:xfrm>
        </p:spPr>
      </p:pic>
      <p:sp>
        <p:nvSpPr>
          <p:cNvPr id="3" name="Title 2">
            <a:extLst>
              <a:ext uri="{FF2B5EF4-FFF2-40B4-BE49-F238E27FC236}">
                <a16:creationId xmlns:a16="http://schemas.microsoft.com/office/drawing/2014/main" id="{F13D61AC-5E1F-8046-849E-2B9FA7B19103}"/>
              </a:ext>
            </a:extLst>
          </p:cNvPr>
          <p:cNvSpPr>
            <a:spLocks noGrp="1"/>
          </p:cNvSpPr>
          <p:nvPr>
            <p:ph type="title"/>
          </p:nvPr>
        </p:nvSpPr>
        <p:spPr/>
        <p:txBody>
          <a:bodyPr/>
          <a:lstStyle/>
          <a:p>
            <a:r>
              <a:rPr lang="en-US" dirty="0"/>
              <a:t>Diagnosis </a:t>
            </a:r>
            <a:r>
              <a:rPr lang="en-US" dirty="0" err="1"/>
              <a:t>xAI</a:t>
            </a:r>
            <a:endParaRPr lang="en-US" dirty="0"/>
          </a:p>
        </p:txBody>
      </p:sp>
      <p:sp>
        <p:nvSpPr>
          <p:cNvPr id="4" name="Text Placeholder 3">
            <a:extLst>
              <a:ext uri="{FF2B5EF4-FFF2-40B4-BE49-F238E27FC236}">
                <a16:creationId xmlns:a16="http://schemas.microsoft.com/office/drawing/2014/main" id="{AF13D6DB-6E54-9844-9433-D1D6F522B5EE}"/>
              </a:ext>
            </a:extLst>
          </p:cNvPr>
          <p:cNvSpPr>
            <a:spLocks noGrp="1"/>
          </p:cNvSpPr>
          <p:nvPr>
            <p:ph type="body" sz="quarter" idx="14"/>
          </p:nvPr>
        </p:nvSpPr>
        <p:spPr/>
        <p:txBody>
          <a:bodyPr/>
          <a:lstStyle/>
          <a:p>
            <a:r>
              <a:rPr lang="en-US" dirty="0">
                <a:solidFill>
                  <a:schemeClr val="tx1">
                    <a:lumMod val="50000"/>
                    <a:lumOff val="50000"/>
                  </a:schemeClr>
                </a:solidFill>
              </a:rPr>
              <a:t>CNN + RNNs/LSTM + </a:t>
            </a:r>
            <a:r>
              <a:rPr lang="en-US" dirty="0" err="1">
                <a:solidFill>
                  <a:schemeClr val="tx1">
                    <a:lumMod val="50000"/>
                    <a:lumOff val="50000"/>
                  </a:schemeClr>
                </a:solidFill>
              </a:rPr>
              <a:t>GradCAM</a:t>
            </a:r>
            <a:endParaRPr lang="en-US" dirty="0">
              <a:solidFill>
                <a:schemeClr val="tx1">
                  <a:lumMod val="50000"/>
                  <a:lumOff val="50000"/>
                </a:schemeClr>
              </a:solidFill>
            </a:endParaRPr>
          </a:p>
        </p:txBody>
      </p:sp>
      <p:sp>
        <p:nvSpPr>
          <p:cNvPr id="6" name="TextBox 5">
            <a:extLst>
              <a:ext uri="{FF2B5EF4-FFF2-40B4-BE49-F238E27FC236}">
                <a16:creationId xmlns:a16="http://schemas.microsoft.com/office/drawing/2014/main" id="{1715D17F-5681-7DBE-E27B-FAC8FEFE38FD}"/>
              </a:ext>
            </a:extLst>
          </p:cNvPr>
          <p:cNvSpPr txBox="1"/>
          <p:nvPr/>
        </p:nvSpPr>
        <p:spPr>
          <a:xfrm>
            <a:off x="216610" y="6555432"/>
            <a:ext cx="11543605" cy="246221"/>
          </a:xfrm>
          <a:prstGeom prst="rect">
            <a:avLst/>
          </a:prstGeom>
          <a:noFill/>
        </p:spPr>
        <p:txBody>
          <a:bodyPr wrap="square">
            <a:spAutoFit/>
          </a:bodyPr>
          <a:lstStyle/>
          <a:p>
            <a:r>
              <a:rPr lang="en-US" sz="1000" dirty="0"/>
              <a:t>Robust Tumor Localization with Pyramid Grad-CAM</a:t>
            </a:r>
          </a:p>
        </p:txBody>
      </p:sp>
    </p:spTree>
    <p:extLst>
      <p:ext uri="{BB962C8B-B14F-4D97-AF65-F5344CB8AC3E}">
        <p14:creationId xmlns:p14="http://schemas.microsoft.com/office/powerpoint/2010/main" val="4237784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31970E-37C4-05CE-9C26-D4F5612B5833}"/>
              </a:ext>
            </a:extLst>
          </p:cNvPr>
          <p:cNvPicPr>
            <a:picLocks noGrp="1" noChangeAspect="1"/>
          </p:cNvPicPr>
          <p:nvPr>
            <p:ph idx="1"/>
          </p:nvPr>
        </p:nvPicPr>
        <p:blipFill>
          <a:blip r:embed="rId2"/>
          <a:srcRect b="6870"/>
          <a:stretch>
            <a:fillRect/>
          </a:stretch>
        </p:blipFill>
        <p:spPr>
          <a:xfrm>
            <a:off x="3132931" y="2790031"/>
            <a:ext cx="5930900" cy="2140784"/>
          </a:xfrm>
        </p:spPr>
      </p:pic>
      <p:sp>
        <p:nvSpPr>
          <p:cNvPr id="3" name="Title 2">
            <a:extLst>
              <a:ext uri="{FF2B5EF4-FFF2-40B4-BE49-F238E27FC236}">
                <a16:creationId xmlns:a16="http://schemas.microsoft.com/office/drawing/2014/main" id="{8D35D05B-A470-EA70-22B4-ADC8F3935DA2}"/>
              </a:ext>
            </a:extLst>
          </p:cNvPr>
          <p:cNvSpPr>
            <a:spLocks noGrp="1"/>
          </p:cNvSpPr>
          <p:nvPr>
            <p:ph type="title"/>
          </p:nvPr>
        </p:nvSpPr>
        <p:spPr/>
        <p:txBody>
          <a:bodyPr/>
          <a:lstStyle/>
          <a:p>
            <a:r>
              <a:rPr lang="en-US" dirty="0"/>
              <a:t>Diagnosis </a:t>
            </a:r>
            <a:r>
              <a:rPr lang="en-US" dirty="0" err="1"/>
              <a:t>xAI</a:t>
            </a:r>
            <a:endParaRPr lang="en-US" dirty="0"/>
          </a:p>
        </p:txBody>
      </p:sp>
      <p:sp>
        <p:nvSpPr>
          <p:cNvPr id="4" name="Text Placeholder 3">
            <a:extLst>
              <a:ext uri="{FF2B5EF4-FFF2-40B4-BE49-F238E27FC236}">
                <a16:creationId xmlns:a16="http://schemas.microsoft.com/office/drawing/2014/main" id="{7D11929E-CF0E-04D7-6585-CFCA089F9BD1}"/>
              </a:ext>
            </a:extLst>
          </p:cNvPr>
          <p:cNvSpPr>
            <a:spLocks noGrp="1"/>
          </p:cNvSpPr>
          <p:nvPr>
            <p:ph type="body" sz="quarter" idx="14"/>
          </p:nvPr>
        </p:nvSpPr>
        <p:spPr/>
        <p:txBody>
          <a:bodyPr/>
          <a:lstStyle/>
          <a:p>
            <a:r>
              <a:rPr lang="en-US" dirty="0">
                <a:solidFill>
                  <a:schemeClr val="tx1">
                    <a:lumMod val="50000"/>
                    <a:lumOff val="50000"/>
                  </a:schemeClr>
                </a:solidFill>
              </a:rPr>
              <a:t>Transformer (Atlas-free Approach)</a:t>
            </a:r>
          </a:p>
        </p:txBody>
      </p:sp>
      <p:sp>
        <p:nvSpPr>
          <p:cNvPr id="6" name="TextBox 5">
            <a:extLst>
              <a:ext uri="{FF2B5EF4-FFF2-40B4-BE49-F238E27FC236}">
                <a16:creationId xmlns:a16="http://schemas.microsoft.com/office/drawing/2014/main" id="{87938FBA-7496-984F-0116-2D95E2EE0410}"/>
              </a:ext>
            </a:extLst>
          </p:cNvPr>
          <p:cNvSpPr txBox="1"/>
          <p:nvPr/>
        </p:nvSpPr>
        <p:spPr>
          <a:xfrm>
            <a:off x="216610" y="6555432"/>
            <a:ext cx="11543605" cy="246221"/>
          </a:xfrm>
          <a:prstGeom prst="rect">
            <a:avLst/>
          </a:prstGeom>
          <a:noFill/>
        </p:spPr>
        <p:txBody>
          <a:bodyPr wrap="square">
            <a:spAutoFit/>
          </a:bodyPr>
          <a:lstStyle/>
          <a:p>
            <a:r>
              <a:rPr lang="en-US" sz="1000" dirty="0"/>
              <a:t>Robust Tumor Localization with Pyramid Grad-CAM</a:t>
            </a:r>
          </a:p>
        </p:txBody>
      </p:sp>
    </p:spTree>
    <p:extLst>
      <p:ext uri="{BB962C8B-B14F-4D97-AF65-F5344CB8AC3E}">
        <p14:creationId xmlns:p14="http://schemas.microsoft.com/office/powerpoint/2010/main" val="1064747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3FC95-7DA0-E90C-5635-D473237400F2}"/>
              </a:ext>
            </a:extLst>
          </p:cNvPr>
          <p:cNvSpPr>
            <a:spLocks noGrp="1"/>
          </p:cNvSpPr>
          <p:nvPr>
            <p:ph type="title"/>
          </p:nvPr>
        </p:nvSpPr>
        <p:spPr>
          <a:xfrm>
            <a:off x="838200" y="2766218"/>
            <a:ext cx="10515600" cy="2303493"/>
          </a:xfrm>
        </p:spPr>
        <p:txBody>
          <a:bodyPr>
            <a:normAutofit/>
          </a:bodyPr>
          <a:lstStyle/>
          <a:p>
            <a:r>
              <a:rPr lang="en-US" b="1" i="1" dirty="0"/>
              <a:t>Focus: </a:t>
            </a:r>
            <a:br>
              <a:rPr lang="en-US" dirty="0"/>
            </a:br>
            <a:r>
              <a:rPr lang="en-US" dirty="0"/>
              <a:t>Find what works</a:t>
            </a:r>
            <a:br>
              <a:rPr lang="en-US" dirty="0"/>
            </a:br>
            <a:endParaRPr lang="en-US" dirty="0"/>
          </a:p>
        </p:txBody>
      </p:sp>
    </p:spTree>
    <p:extLst>
      <p:ext uri="{BB962C8B-B14F-4D97-AF65-F5344CB8AC3E}">
        <p14:creationId xmlns:p14="http://schemas.microsoft.com/office/powerpoint/2010/main" val="3832194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B5B69-E1EA-D9FE-41F8-C6637562C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ADA74-40D2-8632-F545-97CE46446820}"/>
              </a:ext>
            </a:extLst>
          </p:cNvPr>
          <p:cNvSpPr>
            <a:spLocks noGrp="1"/>
          </p:cNvSpPr>
          <p:nvPr>
            <p:ph type="title"/>
          </p:nvPr>
        </p:nvSpPr>
        <p:spPr>
          <a:xfrm>
            <a:off x="838200" y="2766218"/>
            <a:ext cx="10515600" cy="2303493"/>
          </a:xfrm>
        </p:spPr>
        <p:txBody>
          <a:bodyPr>
            <a:normAutofit/>
          </a:bodyPr>
          <a:lstStyle/>
          <a:p>
            <a:r>
              <a:rPr lang="en-US" b="1" i="1" dirty="0"/>
              <a:t>Focus: </a:t>
            </a:r>
            <a:br>
              <a:rPr lang="en-US" dirty="0"/>
            </a:br>
            <a:r>
              <a:rPr lang="en-US" dirty="0"/>
              <a:t>Find what works</a:t>
            </a:r>
            <a:br>
              <a:rPr lang="en-US" dirty="0"/>
            </a:br>
            <a:r>
              <a:rPr lang="en-US" dirty="0"/>
              <a:t>Finetune</a:t>
            </a:r>
          </a:p>
        </p:txBody>
      </p:sp>
    </p:spTree>
    <p:extLst>
      <p:ext uri="{BB962C8B-B14F-4D97-AF65-F5344CB8AC3E}">
        <p14:creationId xmlns:p14="http://schemas.microsoft.com/office/powerpoint/2010/main" val="21729622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FE418-5D00-CB7D-59A5-1C431939D3E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6F764C2-6E07-3219-346C-B6F3FCC008E2}"/>
              </a:ext>
            </a:extLst>
          </p:cNvPr>
          <p:cNvSpPr txBox="1">
            <a:spLocks/>
          </p:cNvSpPr>
          <p:nvPr/>
        </p:nvSpPr>
        <p:spPr>
          <a:xfrm>
            <a:off x="838200" y="2847243"/>
            <a:ext cx="10515600" cy="27086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i="1" dirty="0"/>
              <a:t>Focus: </a:t>
            </a:r>
            <a:br>
              <a:rPr lang="en-US" dirty="0"/>
            </a:br>
            <a:r>
              <a:rPr lang="en-US" dirty="0"/>
              <a:t>Find what works</a:t>
            </a:r>
            <a:br>
              <a:rPr lang="en-US" dirty="0"/>
            </a:br>
            <a:r>
              <a:rPr lang="en-US" dirty="0"/>
              <a:t>Finetune</a:t>
            </a:r>
          </a:p>
          <a:p>
            <a:r>
              <a:rPr lang="en-US" dirty="0"/>
              <a:t>Explain Results (in medical </a:t>
            </a:r>
          </a:p>
        </p:txBody>
      </p:sp>
    </p:spTree>
    <p:extLst>
      <p:ext uri="{BB962C8B-B14F-4D97-AF65-F5344CB8AC3E}">
        <p14:creationId xmlns:p14="http://schemas.microsoft.com/office/powerpoint/2010/main" val="1944473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54F9731-21C1-DFDF-4146-1C34FF39B2D2}"/>
              </a:ext>
            </a:extLst>
          </p:cNvPr>
          <p:cNvSpPr txBox="1"/>
          <p:nvPr/>
        </p:nvSpPr>
        <p:spPr>
          <a:xfrm>
            <a:off x="3049929" y="3102941"/>
            <a:ext cx="6099858" cy="646331"/>
          </a:xfrm>
          <a:prstGeom prst="rect">
            <a:avLst/>
          </a:prstGeom>
          <a:noFill/>
        </p:spPr>
        <p:txBody>
          <a:bodyPr wrap="square">
            <a:spAutoFit/>
          </a:bodyPr>
          <a:lstStyle/>
          <a:p>
            <a:r>
              <a:rPr lang="en-US" dirty="0">
                <a:hlinkClick r:id="rId2"/>
              </a:rPr>
              <a:t>Resting-state fMRI detects alterations in whole brain connectivity related to tumor biology in glioma patients</a:t>
            </a:r>
            <a:endParaRPr lang="en-US" dirty="0"/>
          </a:p>
        </p:txBody>
      </p:sp>
      <p:sp>
        <p:nvSpPr>
          <p:cNvPr id="6" name="Title 5">
            <a:extLst>
              <a:ext uri="{FF2B5EF4-FFF2-40B4-BE49-F238E27FC236}">
                <a16:creationId xmlns:a16="http://schemas.microsoft.com/office/drawing/2014/main" id="{8E87B7B1-930C-5C2A-7D59-C8ECE95FE8FE}"/>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392898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 4" descr="TUM_Glockenturm.tif"/>
          <p:cNvPicPr>
            <a:picLocks noChangeAspect="1"/>
          </p:cNvPicPr>
          <p:nvPr/>
        </p:nvPicPr>
        <p:blipFill>
          <a:blip r:embed="rId3"/>
          <a:stretch>
            <a:fillRect/>
          </a:stretch>
        </p:blipFill>
        <p:spPr>
          <a:xfrm>
            <a:off x="6890296" y="1807175"/>
            <a:ext cx="5092723" cy="4445000"/>
          </a:xfrm>
          <a:prstGeom prst="rect">
            <a:avLst/>
          </a:prstGeom>
        </p:spPr>
      </p:pic>
      <p:sp>
        <p:nvSpPr>
          <p:cNvPr id="5" name="Titel 4"/>
          <p:cNvSpPr>
            <a:spLocks noGrp="1"/>
          </p:cNvSpPr>
          <p:nvPr>
            <p:ph type="title"/>
          </p:nvPr>
        </p:nvSpPr>
        <p:spPr>
          <a:xfrm>
            <a:off x="425454" y="1175683"/>
            <a:ext cx="11345332" cy="511175"/>
          </a:xfrm>
        </p:spPr>
        <p:txBody>
          <a:bodyPr>
            <a:normAutofit fontScale="90000"/>
          </a:bodyPr>
          <a:lstStyle/>
          <a:p>
            <a:r>
              <a:rPr lang="en-US" noProof="0" dirty="0"/>
              <a:t>Literature Review &amp; Next Steps</a:t>
            </a:r>
          </a:p>
        </p:txBody>
      </p:sp>
      <p:sp>
        <p:nvSpPr>
          <p:cNvPr id="3" name="Inhaltsplatzhalter 2"/>
          <p:cNvSpPr>
            <a:spLocks noGrp="1"/>
          </p:cNvSpPr>
          <p:nvPr>
            <p:ph idx="10"/>
          </p:nvPr>
        </p:nvSpPr>
        <p:spPr>
          <a:xfrm>
            <a:off x="425451" y="1866421"/>
            <a:ext cx="11345332" cy="4596105"/>
          </a:xfrm>
        </p:spPr>
        <p:txBody>
          <a:bodyPr>
            <a:normAutofit fontScale="92500" lnSpcReduction="10000"/>
          </a:bodyPr>
          <a:lstStyle/>
          <a:p>
            <a:r>
              <a:rPr lang="de-DE" sz="1600" dirty="0"/>
              <a:t>Fraj Yassine Lakhal</a:t>
            </a:r>
          </a:p>
          <a:p>
            <a:r>
              <a:rPr lang="de-DE" sz="1600" i="1" dirty="0"/>
              <a:t>TUM School of Computation, Information and Technology</a:t>
            </a:r>
            <a:endParaRPr lang="de-DE" sz="1600" dirty="0"/>
          </a:p>
          <a:p>
            <a:endParaRPr lang="de-DE" dirty="0"/>
          </a:p>
          <a:p>
            <a:endParaRPr lang="de-DE" dirty="0"/>
          </a:p>
          <a:p>
            <a:endParaRPr lang="de-DE" dirty="0"/>
          </a:p>
          <a:p>
            <a:endParaRPr lang="de-DE" dirty="0"/>
          </a:p>
          <a:p>
            <a:r>
              <a:rPr lang="en-US" sz="1200" b="1" i="1" dirty="0"/>
              <a:t>Functional Neuroimaging, LMU</a:t>
            </a:r>
          </a:p>
          <a:p>
            <a:r>
              <a:rPr lang="de-DE" sz="1200" dirty="0"/>
              <a:t>Supervisor: Dr. med. Stephan Wunderlich</a:t>
            </a:r>
          </a:p>
          <a:p>
            <a:endParaRPr lang="de-DE" sz="1200" i="1" dirty="0"/>
          </a:p>
          <a:p>
            <a:r>
              <a:rPr lang="en-US" sz="1200" b="1" i="1" dirty="0"/>
              <a:t>Chair for Computer Aided Medical Procedures &amp; Augmented Reality, TUM</a:t>
            </a:r>
          </a:p>
          <a:p>
            <a:r>
              <a:rPr lang="en-US" sz="1333" dirty="0"/>
              <a:t>Supervisor(s): M.Sc. Chantal Pellegrini, Dr. Shahrooz Faghihroohi</a:t>
            </a:r>
            <a:endParaRPr lang="en-US" sz="1333" i="1" dirty="0"/>
          </a:p>
          <a:p>
            <a:endParaRPr lang="en-US" i="1" dirty="0"/>
          </a:p>
          <a:p>
            <a:endParaRPr lang="en-US" i="1" dirty="0"/>
          </a:p>
        </p:txBody>
      </p:sp>
      <p:sp>
        <p:nvSpPr>
          <p:cNvPr id="7" name="TextBox 6">
            <a:extLst>
              <a:ext uri="{FF2B5EF4-FFF2-40B4-BE49-F238E27FC236}">
                <a16:creationId xmlns:a16="http://schemas.microsoft.com/office/drawing/2014/main" id="{4184250C-65B7-1FC9-52C3-8EE2008FD156}"/>
              </a:ext>
            </a:extLst>
          </p:cNvPr>
          <p:cNvSpPr txBox="1"/>
          <p:nvPr/>
        </p:nvSpPr>
        <p:spPr>
          <a:xfrm>
            <a:off x="305135" y="6521771"/>
            <a:ext cx="6096000" cy="256545"/>
          </a:xfrm>
          <a:prstGeom prst="rect">
            <a:avLst/>
          </a:prstGeom>
          <a:noFill/>
        </p:spPr>
        <p:txBody>
          <a:bodyPr wrap="square">
            <a:spAutoFit/>
          </a:bodyPr>
          <a:lstStyle/>
          <a:p>
            <a:r>
              <a:rPr lang="de-DE" sz="1067" i="1" dirty="0"/>
              <a:t>München, 17. Dezember 2025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44761F-6EB7-9A91-4E6D-D2668F96A028}"/>
              </a:ext>
            </a:extLst>
          </p:cNvPr>
          <p:cNvSpPr>
            <a:spLocks noGrp="1"/>
          </p:cNvSpPr>
          <p:nvPr>
            <p:ph idx="1"/>
          </p:nvPr>
        </p:nvSpPr>
        <p:spPr/>
        <p:txBody>
          <a:bodyPr/>
          <a:lstStyle/>
          <a:p>
            <a:pPr marL="457189" indent="-457189">
              <a:buFont typeface="+mj-lt"/>
              <a:buAutoNum type="arabicPeriod"/>
            </a:pPr>
            <a:r>
              <a:rPr lang="en-US" i="1" dirty="0"/>
              <a:t>Theoretical Framework</a:t>
            </a:r>
          </a:p>
          <a:p>
            <a:pPr marL="457189" indent="-457189">
              <a:buFont typeface="+mj-lt"/>
              <a:buAutoNum type="arabicPeriod"/>
            </a:pPr>
            <a:r>
              <a:rPr lang="en-US" i="1" dirty="0"/>
              <a:t>Current Approach</a:t>
            </a:r>
          </a:p>
          <a:p>
            <a:pPr marL="457189" indent="-457189">
              <a:buFont typeface="+mj-lt"/>
              <a:buAutoNum type="arabicPeriod"/>
            </a:pPr>
            <a:r>
              <a:rPr lang="en-US" i="1" dirty="0"/>
              <a:t>Literature Review</a:t>
            </a:r>
          </a:p>
          <a:p>
            <a:pPr marL="457189" indent="-457189">
              <a:buFont typeface="+mj-lt"/>
              <a:buAutoNum type="arabicPeriod"/>
            </a:pPr>
            <a:endParaRPr lang="en-US" i="1" dirty="0"/>
          </a:p>
        </p:txBody>
      </p:sp>
      <p:sp>
        <p:nvSpPr>
          <p:cNvPr id="3" name="Slide Number Placeholder 2">
            <a:extLst>
              <a:ext uri="{FF2B5EF4-FFF2-40B4-BE49-F238E27FC236}">
                <a16:creationId xmlns:a16="http://schemas.microsoft.com/office/drawing/2014/main" id="{F2128D28-3560-142B-A0AB-5D7D8B99B4BE}"/>
              </a:ext>
            </a:extLst>
          </p:cNvPr>
          <p:cNvSpPr>
            <a:spLocks noGrp="1"/>
          </p:cNvSpPr>
          <p:nvPr>
            <p:ph type="sldNum" sz="quarter" idx="11"/>
          </p:nvPr>
        </p:nvSpPr>
        <p:spPr/>
        <p:txBody>
          <a:bodyPr/>
          <a:lstStyle/>
          <a:p>
            <a:fld id="{CE58CB1E-F828-4F11-99E0-327109AF9DA4}" type="slidenum">
              <a:rPr lang="de-DE" smtClean="0"/>
              <a:pPr/>
              <a:t>29</a:t>
            </a:fld>
            <a:endParaRPr lang="de-DE" dirty="0"/>
          </a:p>
        </p:txBody>
      </p:sp>
      <p:sp>
        <p:nvSpPr>
          <p:cNvPr id="4" name="Footer Placeholder 3">
            <a:extLst>
              <a:ext uri="{FF2B5EF4-FFF2-40B4-BE49-F238E27FC236}">
                <a16:creationId xmlns:a16="http://schemas.microsoft.com/office/drawing/2014/main" id="{54A1DCA1-8162-C9D6-6570-F540DE8A8EF2}"/>
              </a:ext>
            </a:extLst>
          </p:cNvPr>
          <p:cNvSpPr>
            <a:spLocks noGrp="1"/>
          </p:cNvSpPr>
          <p:nvPr>
            <p:ph type="ftr" sz="quarter" idx="12"/>
          </p:nvPr>
        </p:nvSpPr>
        <p:spPr/>
        <p:txBody>
          <a:bodyPr/>
          <a:lstStyle/>
          <a:p>
            <a:r>
              <a:rPr lang="de-DE" sz="1067" dirty="0"/>
              <a:t>Fraj Yassine Lakhal (TUM)</a:t>
            </a:r>
            <a:endParaRPr lang="en-US" sz="1067" dirty="0"/>
          </a:p>
        </p:txBody>
      </p:sp>
      <p:sp>
        <p:nvSpPr>
          <p:cNvPr id="5" name="Text Placeholder 4">
            <a:extLst>
              <a:ext uri="{FF2B5EF4-FFF2-40B4-BE49-F238E27FC236}">
                <a16:creationId xmlns:a16="http://schemas.microsoft.com/office/drawing/2014/main" id="{22D0BB00-1913-D7A4-4167-3E9BC38642A2}"/>
              </a:ext>
            </a:extLst>
          </p:cNvPr>
          <p:cNvSpPr>
            <a:spLocks noGrp="1"/>
          </p:cNvSpPr>
          <p:nvPr>
            <p:ph type="body" sz="quarter" idx="13"/>
          </p:nvPr>
        </p:nvSpPr>
        <p:spPr/>
        <p:txBody>
          <a:bodyPr/>
          <a:lstStyle/>
          <a:p>
            <a:endParaRPr lang="en-US" dirty="0"/>
          </a:p>
        </p:txBody>
      </p:sp>
      <p:sp>
        <p:nvSpPr>
          <p:cNvPr id="6" name="Title 5">
            <a:extLst>
              <a:ext uri="{FF2B5EF4-FFF2-40B4-BE49-F238E27FC236}">
                <a16:creationId xmlns:a16="http://schemas.microsoft.com/office/drawing/2014/main" id="{7E271AD9-A94F-EB48-25C6-61C781FF1439}"/>
              </a:ext>
            </a:extLst>
          </p:cNvPr>
          <p:cNvSpPr>
            <a:spLocks noGrp="1"/>
          </p:cNvSpPr>
          <p:nvPr>
            <p:ph type="title"/>
          </p:nvPr>
        </p:nvSpPr>
        <p:spPr/>
        <p:txBody>
          <a:bodyPr/>
          <a:lstStyle/>
          <a:p>
            <a:r>
              <a:rPr lang="en-US" dirty="0"/>
              <a:t>Outline</a:t>
            </a:r>
          </a:p>
        </p:txBody>
      </p:sp>
      <p:sp>
        <p:nvSpPr>
          <p:cNvPr id="7" name="Text Placeholder 6">
            <a:extLst>
              <a:ext uri="{FF2B5EF4-FFF2-40B4-BE49-F238E27FC236}">
                <a16:creationId xmlns:a16="http://schemas.microsoft.com/office/drawing/2014/main" id="{C1A6EEE7-DE49-09E6-0C3C-4118B2AD7FA1}"/>
              </a:ext>
            </a:extLst>
          </p:cNvPr>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1367249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DF3C4-8DE9-5529-700E-8BF37B9673D9}"/>
              </a:ext>
            </a:extLst>
          </p:cNvPr>
          <p:cNvSpPr>
            <a:spLocks noGrp="1"/>
          </p:cNvSpPr>
          <p:nvPr>
            <p:ph type="title"/>
          </p:nvPr>
        </p:nvSpPr>
        <p:spPr>
          <a:xfrm>
            <a:off x="414883" y="391280"/>
            <a:ext cx="11345332" cy="498791"/>
          </a:xfrm>
        </p:spPr>
        <p:txBody>
          <a:bodyPr/>
          <a:lstStyle/>
          <a:p>
            <a:r>
              <a:rPr lang="en-US" sz="2400" i="1" dirty="0"/>
              <a:t>Theoretical Framework: </a:t>
            </a:r>
            <a:r>
              <a:rPr lang="en-US" sz="2400" dirty="0"/>
              <a:t>fMRI as a Reliable Method for Brain Pathologies</a:t>
            </a:r>
          </a:p>
        </p:txBody>
      </p:sp>
      <p:sp>
        <p:nvSpPr>
          <p:cNvPr id="3" name="Slide Number Placeholder 2">
            <a:extLst>
              <a:ext uri="{FF2B5EF4-FFF2-40B4-BE49-F238E27FC236}">
                <a16:creationId xmlns:a16="http://schemas.microsoft.com/office/drawing/2014/main" id="{5F89613F-C2C6-8E3C-1A5E-37120E5B1600}"/>
              </a:ext>
            </a:extLst>
          </p:cNvPr>
          <p:cNvSpPr>
            <a:spLocks noGrp="1"/>
          </p:cNvSpPr>
          <p:nvPr>
            <p:ph type="sldNum" sz="quarter" idx="11"/>
          </p:nvPr>
        </p:nvSpPr>
        <p:spPr/>
        <p:txBody>
          <a:bodyPr/>
          <a:lstStyle/>
          <a:p>
            <a:fld id="{CE58CB1E-F828-4F11-99E0-327109AF9DA4}" type="slidenum">
              <a:rPr lang="de-DE" smtClean="0"/>
              <a:pPr/>
              <a:t>30</a:t>
            </a:fld>
            <a:endParaRPr lang="de-DE" dirty="0"/>
          </a:p>
        </p:txBody>
      </p:sp>
      <p:sp>
        <p:nvSpPr>
          <p:cNvPr id="5" name="Text Placeholder 4">
            <a:extLst>
              <a:ext uri="{FF2B5EF4-FFF2-40B4-BE49-F238E27FC236}">
                <a16:creationId xmlns:a16="http://schemas.microsoft.com/office/drawing/2014/main" id="{E82AE581-9E98-CA86-AB47-4269A0630B94}"/>
              </a:ext>
            </a:extLst>
          </p:cNvPr>
          <p:cNvSpPr>
            <a:spLocks noGrp="1"/>
          </p:cNvSpPr>
          <p:nvPr>
            <p:ph type="body" sz="quarter" idx="14"/>
          </p:nvPr>
        </p:nvSpPr>
        <p:spPr/>
        <p:txBody>
          <a:bodyPr/>
          <a:lstStyle/>
          <a:p>
            <a:r>
              <a:rPr lang="en-US" b="1" i="1" dirty="0"/>
              <a:t>(Stoecklein et al., 2020)</a:t>
            </a:r>
          </a:p>
        </p:txBody>
      </p:sp>
      <p:pic>
        <p:nvPicPr>
          <p:cNvPr id="7" name="Picture 6">
            <a:extLst>
              <a:ext uri="{FF2B5EF4-FFF2-40B4-BE49-F238E27FC236}">
                <a16:creationId xmlns:a16="http://schemas.microsoft.com/office/drawing/2014/main" id="{9D0CC482-452E-D8FE-A53E-3554C9D55B0D}"/>
              </a:ext>
            </a:extLst>
          </p:cNvPr>
          <p:cNvPicPr>
            <a:picLocks noChangeAspect="1"/>
          </p:cNvPicPr>
          <p:nvPr/>
        </p:nvPicPr>
        <p:blipFill>
          <a:blip r:embed="rId3"/>
          <a:srcRect l="861" t="2128" r="42430" b="1643"/>
          <a:stretch>
            <a:fillRect/>
          </a:stretch>
        </p:blipFill>
        <p:spPr>
          <a:xfrm>
            <a:off x="779489" y="1707820"/>
            <a:ext cx="4351257" cy="4400797"/>
          </a:xfrm>
          <a:prstGeom prst="rect">
            <a:avLst/>
          </a:prstGeom>
        </p:spPr>
      </p:pic>
      <p:sp>
        <p:nvSpPr>
          <p:cNvPr id="9" name="Rectangle 1">
            <a:extLst>
              <a:ext uri="{FF2B5EF4-FFF2-40B4-BE49-F238E27FC236}">
                <a16:creationId xmlns:a16="http://schemas.microsoft.com/office/drawing/2014/main" id="{5E3191FE-EE6D-39A3-D1B0-AB51CD29ED42}"/>
              </a:ext>
            </a:extLst>
          </p:cNvPr>
          <p:cNvSpPr txBox="1">
            <a:spLocks noChangeArrowheads="1"/>
          </p:cNvSpPr>
          <p:nvPr/>
        </p:nvSpPr>
        <p:spPr bwMode="auto">
          <a:xfrm>
            <a:off x="5833287" y="1439224"/>
            <a:ext cx="5323191"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algn="l" rtl="0" eaLnBrk="0" fontAlgn="base" hangingPunct="0">
              <a:lnSpc>
                <a:spcPct val="100000"/>
              </a:lnSpc>
              <a:spcBef>
                <a:spcPct val="0"/>
              </a:spcBef>
              <a:spcAft>
                <a:spcPct val="0"/>
              </a:spcAft>
              <a:defRPr sz="1600" kern="1200">
                <a:solidFill>
                  <a:schemeClr val="tx1"/>
                </a:solidFill>
                <a:latin typeface="Arial" panose="020B0604020202020204" pitchFamily="34" charset="0"/>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Arial" panose="020B0604020202020204" pitchFamily="34" charset="0"/>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r>
              <a:rPr lang="en-US" b="1" dirty="0"/>
              <a:t>Find damage beyond the Lesion: </a:t>
            </a:r>
          </a:p>
          <a:p>
            <a:r>
              <a:rPr lang="en-US" dirty="0"/>
              <a:t>abnormalities in functional connectivity could be detected not only adjacent to the visible lesion but also in distant brain tissue, even in the contralesional hemisphere.</a:t>
            </a:r>
          </a:p>
          <a:p>
            <a:endParaRPr lang="en-US" altLang="en-US" dirty="0"/>
          </a:p>
          <a:p>
            <a:r>
              <a:rPr lang="en-US" altLang="en-US" b="1" dirty="0"/>
              <a:t>Define imaging markers to quantify disease Aggressiveness: </a:t>
            </a:r>
          </a:p>
          <a:p>
            <a:r>
              <a:rPr lang="en-US" altLang="en-US" dirty="0"/>
              <a:t>ABI* showed a close correlation with the aggressiveness of the tumor: correlates with MOCA tests, IDH Mutation Status and WHO Grade (Pathological Severity)</a:t>
            </a:r>
          </a:p>
          <a:p>
            <a:endParaRPr lang="en-US" altLang="en-US" dirty="0"/>
          </a:p>
          <a:p>
            <a:r>
              <a:rPr lang="en-US" altLang="en-US" b="1" dirty="0"/>
              <a:t>Feasibility:</a:t>
            </a:r>
          </a:p>
          <a:p>
            <a:r>
              <a:rPr lang="en-US" altLang="en-US" dirty="0"/>
              <a:t>fMRI sequences can be "tacked onto a clinical routine MRI scan without major modification to the scanning procedure," and the post-analysis can be done automatically</a:t>
            </a:r>
          </a:p>
          <a:p>
            <a:endParaRPr lang="en-US" altLang="en-US" dirty="0"/>
          </a:p>
          <a:p>
            <a:r>
              <a:rPr lang="en-US" altLang="en-US" sz="1200" dirty="0"/>
              <a:t>*quantitative imaging marker, quantifies whole-brain functional connectivity damage</a:t>
            </a:r>
            <a:endParaRPr lang="en-US" altLang="en-US" sz="1400" dirty="0"/>
          </a:p>
        </p:txBody>
      </p:sp>
      <p:sp>
        <p:nvSpPr>
          <p:cNvPr id="13" name="TextBox 12">
            <a:extLst>
              <a:ext uri="{FF2B5EF4-FFF2-40B4-BE49-F238E27FC236}">
                <a16:creationId xmlns:a16="http://schemas.microsoft.com/office/drawing/2014/main" id="{0CE6C7E8-52B0-71BB-C16D-CC7A19D28815}"/>
              </a:ext>
            </a:extLst>
          </p:cNvPr>
          <p:cNvSpPr txBox="1"/>
          <p:nvPr/>
        </p:nvSpPr>
        <p:spPr>
          <a:xfrm>
            <a:off x="2082745" y="6147337"/>
            <a:ext cx="6096000" cy="256545"/>
          </a:xfrm>
          <a:prstGeom prst="rect">
            <a:avLst/>
          </a:prstGeom>
          <a:noFill/>
        </p:spPr>
        <p:txBody>
          <a:bodyPr wrap="square">
            <a:spAutoFit/>
          </a:bodyPr>
          <a:lstStyle/>
          <a:p>
            <a:r>
              <a:rPr lang="en-US" sz="1067" dirty="0"/>
              <a:t>(Stoecklein et al., 2020)</a:t>
            </a:r>
          </a:p>
        </p:txBody>
      </p:sp>
      <p:sp>
        <p:nvSpPr>
          <p:cNvPr id="16" name="TextBox 15">
            <a:extLst>
              <a:ext uri="{FF2B5EF4-FFF2-40B4-BE49-F238E27FC236}">
                <a16:creationId xmlns:a16="http://schemas.microsoft.com/office/drawing/2014/main" id="{B882CB3B-DDF4-12BC-A5AB-CF3A242B9200}"/>
              </a:ext>
            </a:extLst>
          </p:cNvPr>
          <p:cNvSpPr txBox="1"/>
          <p:nvPr/>
        </p:nvSpPr>
        <p:spPr>
          <a:xfrm>
            <a:off x="1" y="6525478"/>
            <a:ext cx="11682321" cy="338554"/>
          </a:xfrm>
          <a:prstGeom prst="rect">
            <a:avLst/>
          </a:prstGeom>
          <a:noFill/>
        </p:spPr>
        <p:txBody>
          <a:bodyPr wrap="square">
            <a:spAutoFit/>
          </a:bodyPr>
          <a:lstStyle/>
          <a:p>
            <a:r>
              <a:rPr lang="en-US" sz="800" dirty="0"/>
              <a:t>Stoecklein VM, Stoecklein S, </a:t>
            </a:r>
            <a:r>
              <a:rPr lang="en-US" sz="800" dirty="0" err="1"/>
              <a:t>Galiè</a:t>
            </a:r>
            <a:r>
              <a:rPr lang="en-US" sz="800" dirty="0"/>
              <a:t> F, Ren J, Schmutzer M, </a:t>
            </a:r>
            <a:r>
              <a:rPr lang="en-US" sz="800" dirty="0" err="1"/>
              <a:t>Unterrainer</a:t>
            </a:r>
            <a:r>
              <a:rPr lang="en-US" sz="800" dirty="0"/>
              <a:t> M, Albert NL, Kreth FW, Thon N, Liebig T, Ertl-Wagner B, Tonn JC, Liu H. Resting-state fMRI detects alterations in whole brain connectivity related to tumor biology in glioma patients. Neuro Oncol. 2020 Sep 29;22(9):1388-1398. </a:t>
            </a:r>
            <a:r>
              <a:rPr lang="en-US" sz="800" dirty="0" err="1"/>
              <a:t>doi</a:t>
            </a:r>
            <a:r>
              <a:rPr lang="en-US" sz="800" dirty="0"/>
              <a:t>: 10.1093/</a:t>
            </a:r>
            <a:r>
              <a:rPr lang="en-US" sz="800" dirty="0" err="1"/>
              <a:t>neuonc</a:t>
            </a:r>
            <a:r>
              <a:rPr lang="en-US" sz="800" dirty="0"/>
              <a:t>/noaa044. PMID: 32107555; PMCID: PMC7523460.</a:t>
            </a:r>
          </a:p>
        </p:txBody>
      </p:sp>
    </p:spTree>
    <p:extLst>
      <p:ext uri="{BB962C8B-B14F-4D97-AF65-F5344CB8AC3E}">
        <p14:creationId xmlns:p14="http://schemas.microsoft.com/office/powerpoint/2010/main" val="38721094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210D9-C652-3F03-253E-DA64D0262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B041E-8970-BF89-29DB-42DF81FF143C}"/>
              </a:ext>
            </a:extLst>
          </p:cNvPr>
          <p:cNvSpPr>
            <a:spLocks noGrp="1"/>
          </p:cNvSpPr>
          <p:nvPr>
            <p:ph type="title"/>
          </p:nvPr>
        </p:nvSpPr>
        <p:spPr>
          <a:xfrm>
            <a:off x="414883" y="391281"/>
            <a:ext cx="11345332" cy="508344"/>
          </a:xfrm>
        </p:spPr>
        <p:txBody>
          <a:bodyPr/>
          <a:lstStyle/>
          <a:p>
            <a:r>
              <a:rPr lang="en-US" sz="2667" i="1" dirty="0"/>
              <a:t>Theoretical Framework: </a:t>
            </a:r>
            <a:r>
              <a:rPr lang="en-US" sz="2667" dirty="0"/>
              <a:t>MCI and The Alzheimer’s Disease Continuum</a:t>
            </a:r>
          </a:p>
        </p:txBody>
      </p:sp>
      <p:sp>
        <p:nvSpPr>
          <p:cNvPr id="3" name="Slide Number Placeholder 2">
            <a:extLst>
              <a:ext uri="{FF2B5EF4-FFF2-40B4-BE49-F238E27FC236}">
                <a16:creationId xmlns:a16="http://schemas.microsoft.com/office/drawing/2014/main" id="{EF30ACB3-9BD7-3F14-2615-2ED4DB334A55}"/>
              </a:ext>
            </a:extLst>
          </p:cNvPr>
          <p:cNvSpPr>
            <a:spLocks noGrp="1"/>
          </p:cNvSpPr>
          <p:nvPr>
            <p:ph type="sldNum" sz="quarter" idx="11"/>
          </p:nvPr>
        </p:nvSpPr>
        <p:spPr/>
        <p:txBody>
          <a:bodyPr/>
          <a:lstStyle/>
          <a:p>
            <a:fld id="{CE58CB1E-F828-4F11-99E0-327109AF9DA4}" type="slidenum">
              <a:rPr lang="de-DE" smtClean="0"/>
              <a:pPr/>
              <a:t>31</a:t>
            </a:fld>
            <a:endParaRPr lang="de-DE" dirty="0"/>
          </a:p>
        </p:txBody>
      </p:sp>
      <p:sp>
        <p:nvSpPr>
          <p:cNvPr id="5" name="Text Placeholder 4">
            <a:extLst>
              <a:ext uri="{FF2B5EF4-FFF2-40B4-BE49-F238E27FC236}">
                <a16:creationId xmlns:a16="http://schemas.microsoft.com/office/drawing/2014/main" id="{A4DC1584-54B9-C6E4-D01C-B1C17E301087}"/>
              </a:ext>
            </a:extLst>
          </p:cNvPr>
          <p:cNvSpPr>
            <a:spLocks noGrp="1"/>
          </p:cNvSpPr>
          <p:nvPr>
            <p:ph type="body" sz="quarter" idx="14"/>
          </p:nvPr>
        </p:nvSpPr>
        <p:spPr/>
        <p:txBody>
          <a:bodyPr/>
          <a:lstStyle/>
          <a:p>
            <a:r>
              <a:rPr lang="en-US" b="1" i="1" dirty="0"/>
              <a:t>(Jessen et al., 2023)</a:t>
            </a:r>
          </a:p>
        </p:txBody>
      </p:sp>
      <p:sp>
        <p:nvSpPr>
          <p:cNvPr id="6" name="Rectangle 1">
            <a:extLst>
              <a:ext uri="{FF2B5EF4-FFF2-40B4-BE49-F238E27FC236}">
                <a16:creationId xmlns:a16="http://schemas.microsoft.com/office/drawing/2014/main" id="{7F475E9D-5A56-DD4E-2A86-49D334A76C78}"/>
              </a:ext>
            </a:extLst>
          </p:cNvPr>
          <p:cNvSpPr txBox="1">
            <a:spLocks noChangeArrowheads="1"/>
          </p:cNvSpPr>
          <p:nvPr/>
        </p:nvSpPr>
        <p:spPr bwMode="auto">
          <a:xfrm>
            <a:off x="414882" y="2022292"/>
            <a:ext cx="5510997"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algn="l" rtl="0" eaLnBrk="0" fontAlgn="base" hangingPunct="0">
              <a:lnSpc>
                <a:spcPct val="100000"/>
              </a:lnSpc>
              <a:spcBef>
                <a:spcPct val="0"/>
              </a:spcBef>
              <a:spcAft>
                <a:spcPct val="0"/>
              </a:spcAft>
              <a:defRPr sz="1600" kern="1200">
                <a:solidFill>
                  <a:schemeClr val="tx1"/>
                </a:solidFill>
                <a:latin typeface="Arial" panose="020B0604020202020204" pitchFamily="34" charset="0"/>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Arial" panose="020B0604020202020204" pitchFamily="34" charset="0"/>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r>
              <a:rPr lang="en-US" b="1" dirty="0"/>
              <a:t>AD Continuum is defined:</a:t>
            </a:r>
          </a:p>
          <a:p>
            <a:r>
              <a:rPr lang="en-US" altLang="en-US" dirty="0"/>
              <a:t>Stage 1 (asymptomatic, A+ Controls) </a:t>
            </a:r>
          </a:p>
          <a:p>
            <a:r>
              <a:rPr lang="en-US" altLang="en-US" dirty="0"/>
              <a:t>→ Stage 2 (SCD-A+) </a:t>
            </a:r>
          </a:p>
          <a:p>
            <a:r>
              <a:rPr lang="en-US" altLang="en-US" dirty="0"/>
              <a:t>→ Stage 3 (MCI-A+) </a:t>
            </a:r>
          </a:p>
          <a:p>
            <a:r>
              <a:rPr lang="en-US" altLang="en-US" dirty="0"/>
              <a:t>→ Stage 4 (DAT-A+)</a:t>
            </a:r>
          </a:p>
          <a:p>
            <a:endParaRPr lang="en-US" altLang="en-US" dirty="0"/>
          </a:p>
          <a:p>
            <a:endParaRPr lang="en-US" altLang="en-US" dirty="0"/>
          </a:p>
          <a:p>
            <a:r>
              <a:rPr lang="en-US" altLang="en-US" b="1" dirty="0"/>
              <a:t>Cognitive and Aß define the AD Continuum:</a:t>
            </a:r>
          </a:p>
          <a:p>
            <a:pPr marL="228594" indent="-228594">
              <a:buFont typeface="Arial" panose="020B0604020202020204" pitchFamily="34" charset="0"/>
              <a:buChar char="•"/>
            </a:pPr>
            <a:r>
              <a:rPr lang="en-US" altLang="en-US" dirty="0"/>
              <a:t>Preclinical Alzheimer's Cognitive Composite (PACC5) drastic cognitive decline as the disease progresses </a:t>
            </a:r>
          </a:p>
          <a:p>
            <a:pPr marL="228594" indent="-228594">
              <a:buFont typeface="Arial" panose="020B0604020202020204" pitchFamily="34" charset="0"/>
              <a:buChar char="•"/>
            </a:pPr>
            <a:r>
              <a:rPr lang="en-US" altLang="en-US" dirty="0"/>
              <a:t>A</a:t>
            </a:r>
            <a:r>
              <a:rPr lang="el-GR" altLang="en-US" dirty="0"/>
              <a:t>β </a:t>
            </a:r>
            <a:r>
              <a:rPr lang="en-US" altLang="en-US" dirty="0"/>
              <a:t>positivity (A+) based on the A</a:t>
            </a:r>
            <a:r>
              <a:rPr lang="el-GR" altLang="en-US" dirty="0"/>
              <a:t>β42/</a:t>
            </a:r>
            <a:r>
              <a:rPr lang="en-US" altLang="en-US" dirty="0"/>
              <a:t>A</a:t>
            </a:r>
            <a:r>
              <a:rPr lang="el-GR" altLang="en-US" dirty="0"/>
              <a:t>β40 </a:t>
            </a:r>
            <a:r>
              <a:rPr lang="en-US" altLang="en-US" dirty="0"/>
              <a:t>ratio cut-off to define all cases</a:t>
            </a:r>
          </a:p>
        </p:txBody>
      </p:sp>
      <p:pic>
        <p:nvPicPr>
          <p:cNvPr id="7" name="Picture 6" descr="A chart of different colored lines&#10;&#10;AI-generated content may be incorrect.">
            <a:extLst>
              <a:ext uri="{FF2B5EF4-FFF2-40B4-BE49-F238E27FC236}">
                <a16:creationId xmlns:a16="http://schemas.microsoft.com/office/drawing/2014/main" id="{CB6FD816-6D94-EFCF-6994-932B27B1F5F6}"/>
              </a:ext>
            </a:extLst>
          </p:cNvPr>
          <p:cNvPicPr>
            <a:picLocks noChangeAspect="1"/>
          </p:cNvPicPr>
          <p:nvPr/>
        </p:nvPicPr>
        <p:blipFill>
          <a:blip r:embed="rId3"/>
          <a:stretch>
            <a:fillRect/>
          </a:stretch>
        </p:blipFill>
        <p:spPr>
          <a:xfrm>
            <a:off x="6087545" y="1341120"/>
            <a:ext cx="5412752" cy="4659077"/>
          </a:xfrm>
          <a:prstGeom prst="rect">
            <a:avLst/>
          </a:prstGeom>
        </p:spPr>
      </p:pic>
      <p:sp>
        <p:nvSpPr>
          <p:cNvPr id="10" name="TextBox 9">
            <a:extLst>
              <a:ext uri="{FF2B5EF4-FFF2-40B4-BE49-F238E27FC236}">
                <a16:creationId xmlns:a16="http://schemas.microsoft.com/office/drawing/2014/main" id="{A783E700-FC79-770F-32B4-6966FEA1119F}"/>
              </a:ext>
            </a:extLst>
          </p:cNvPr>
          <p:cNvSpPr txBox="1"/>
          <p:nvPr/>
        </p:nvSpPr>
        <p:spPr>
          <a:xfrm>
            <a:off x="8254583" y="6003183"/>
            <a:ext cx="6096000" cy="256545"/>
          </a:xfrm>
          <a:prstGeom prst="rect">
            <a:avLst/>
          </a:prstGeom>
          <a:noFill/>
        </p:spPr>
        <p:txBody>
          <a:bodyPr wrap="square">
            <a:spAutoFit/>
          </a:bodyPr>
          <a:lstStyle/>
          <a:p>
            <a:r>
              <a:rPr lang="en-US" sz="1067" dirty="0"/>
              <a:t>(Jessen et al., 2023)</a:t>
            </a:r>
          </a:p>
        </p:txBody>
      </p:sp>
      <p:sp>
        <p:nvSpPr>
          <p:cNvPr id="9" name="TextBox 8">
            <a:extLst>
              <a:ext uri="{FF2B5EF4-FFF2-40B4-BE49-F238E27FC236}">
                <a16:creationId xmlns:a16="http://schemas.microsoft.com/office/drawing/2014/main" id="{CBBAA8F0-0F0B-5DF6-1929-67D3BA89BBB9}"/>
              </a:ext>
            </a:extLst>
          </p:cNvPr>
          <p:cNvSpPr txBox="1"/>
          <p:nvPr/>
        </p:nvSpPr>
        <p:spPr>
          <a:xfrm>
            <a:off x="37319" y="6365558"/>
            <a:ext cx="11777119" cy="461665"/>
          </a:xfrm>
          <a:prstGeom prst="rect">
            <a:avLst/>
          </a:prstGeom>
          <a:noFill/>
        </p:spPr>
        <p:txBody>
          <a:bodyPr wrap="square">
            <a:spAutoFit/>
          </a:bodyPr>
          <a:lstStyle/>
          <a:p>
            <a:r>
              <a:rPr lang="en-US" sz="800" dirty="0"/>
              <a:t>Jessen F, </a:t>
            </a:r>
            <a:r>
              <a:rPr lang="en-US" sz="800" dirty="0" err="1"/>
              <a:t>Wolfsgruber</a:t>
            </a:r>
            <a:r>
              <a:rPr lang="en-US" sz="800" dirty="0"/>
              <a:t> S, </a:t>
            </a:r>
            <a:r>
              <a:rPr lang="en-US" sz="800" dirty="0" err="1"/>
              <a:t>Kleineindam</a:t>
            </a:r>
            <a:r>
              <a:rPr lang="en-US" sz="800" dirty="0"/>
              <a:t> L, </a:t>
            </a:r>
            <a:r>
              <a:rPr lang="en-US" sz="800" dirty="0" err="1"/>
              <a:t>Spottke</a:t>
            </a:r>
            <a:r>
              <a:rPr lang="en-US" sz="800" dirty="0"/>
              <a:t> A, Altenstein S, Bartels C, Berger M, </a:t>
            </a:r>
            <a:r>
              <a:rPr lang="en-US" sz="800" dirty="0" err="1"/>
              <a:t>Brosseron</a:t>
            </a:r>
            <a:r>
              <a:rPr lang="en-US" sz="800" dirty="0"/>
              <a:t> F, </a:t>
            </a:r>
            <a:r>
              <a:rPr lang="en-US" sz="800" dirty="0" err="1"/>
              <a:t>Daamen</a:t>
            </a:r>
            <a:r>
              <a:rPr lang="en-US" sz="800" dirty="0"/>
              <a:t> M, </a:t>
            </a:r>
            <a:r>
              <a:rPr lang="en-US" sz="800" dirty="0" err="1"/>
              <a:t>Dichgans</a:t>
            </a:r>
            <a:r>
              <a:rPr lang="en-US" sz="800" dirty="0"/>
              <a:t> M, </a:t>
            </a:r>
            <a:r>
              <a:rPr lang="en-US" sz="800" dirty="0" err="1"/>
              <a:t>Dobisch</a:t>
            </a:r>
            <a:r>
              <a:rPr lang="en-US" sz="800" dirty="0"/>
              <a:t> L, Ewers M, </a:t>
            </a:r>
            <a:r>
              <a:rPr lang="en-US" sz="800" dirty="0" err="1"/>
              <a:t>Fenski</a:t>
            </a:r>
            <a:r>
              <a:rPr lang="en-US" sz="800" dirty="0"/>
              <a:t> F, </a:t>
            </a:r>
            <a:r>
              <a:rPr lang="en-US" sz="800" dirty="0" err="1"/>
              <a:t>Fliessbach</a:t>
            </a:r>
            <a:r>
              <a:rPr lang="en-US" sz="800" dirty="0"/>
              <a:t> K, Freiesleben SD, Glanz W, </a:t>
            </a:r>
            <a:r>
              <a:rPr lang="en-US" sz="800" dirty="0" err="1"/>
              <a:t>Görß</a:t>
            </a:r>
            <a:r>
              <a:rPr lang="en-US" sz="800" dirty="0"/>
              <a:t> D, Gürsel S, Janowitz D, </a:t>
            </a:r>
            <a:r>
              <a:rPr lang="en-US" sz="800" dirty="0" err="1"/>
              <a:t>Kilimann</a:t>
            </a:r>
            <a:r>
              <a:rPr lang="en-US" sz="800" dirty="0"/>
              <a:t> I, </a:t>
            </a:r>
            <a:r>
              <a:rPr lang="en-US" sz="800" dirty="0" err="1"/>
              <a:t>Kobeleva</a:t>
            </a:r>
            <a:r>
              <a:rPr lang="en-US" sz="800" dirty="0"/>
              <a:t> X, Lohse A, Maier F, Metzger C, Munk M, Preis L, Sanzenbacher C, </a:t>
            </a:r>
            <a:r>
              <a:rPr lang="en-US" sz="800" dirty="0" err="1"/>
              <a:t>Spruth</a:t>
            </a:r>
            <a:r>
              <a:rPr lang="en-US" sz="800" dirty="0"/>
              <a:t> E, </a:t>
            </a:r>
            <a:r>
              <a:rPr lang="en-US" sz="800" dirty="0" err="1"/>
              <a:t>Rauchmann</a:t>
            </a:r>
            <a:r>
              <a:rPr lang="en-US" sz="800" dirty="0"/>
              <a:t> B, Vukovich R, Yakupov R, Weyrauch AS, Ziegler G, Schmid M, Laske C, Perneczky R, Schneider A, Wiltfang J, Teipel S, Bürger K, Priller J, Peters O, Ramirez A, Boecker H, </a:t>
            </a:r>
            <a:r>
              <a:rPr lang="en-US" sz="800" dirty="0" err="1"/>
              <a:t>Heneka</a:t>
            </a:r>
            <a:r>
              <a:rPr lang="en-US" sz="800" dirty="0"/>
              <a:t> MT, Wagner M, </a:t>
            </a:r>
            <a:r>
              <a:rPr lang="en-US" sz="800" dirty="0" err="1"/>
              <a:t>Düzel</a:t>
            </a:r>
            <a:r>
              <a:rPr lang="en-US" sz="800" dirty="0"/>
              <a:t> E. Subjective cognitive decline and stage 2 of Alzheimer disease in patients from memory centers. </a:t>
            </a:r>
            <a:r>
              <a:rPr lang="en-US" sz="800" dirty="0" err="1"/>
              <a:t>Alzheimers</a:t>
            </a:r>
            <a:r>
              <a:rPr lang="en-US" sz="800" dirty="0"/>
              <a:t> Dement. 2023 Feb;19(2):487-497. </a:t>
            </a:r>
            <a:r>
              <a:rPr lang="en-US" sz="800" dirty="0" err="1"/>
              <a:t>doi</a:t>
            </a:r>
            <a:r>
              <a:rPr lang="en-US" sz="800" dirty="0"/>
              <a:t>: 10.1002/alz.12674. </a:t>
            </a:r>
            <a:r>
              <a:rPr lang="en-US" sz="800" dirty="0" err="1"/>
              <a:t>Epub</a:t>
            </a:r>
            <a:r>
              <a:rPr lang="en-US" sz="800" dirty="0"/>
              <a:t> 2022 Apr 22. PMID: 35451563.</a:t>
            </a:r>
          </a:p>
        </p:txBody>
      </p:sp>
    </p:spTree>
    <p:extLst>
      <p:ext uri="{BB962C8B-B14F-4D97-AF65-F5344CB8AC3E}">
        <p14:creationId xmlns:p14="http://schemas.microsoft.com/office/powerpoint/2010/main" val="3937423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E33EB-DC36-AB9B-F21A-90B99F24BA13}"/>
              </a:ext>
            </a:extLst>
          </p:cNvPr>
          <p:cNvSpPr>
            <a:spLocks noGrp="1"/>
          </p:cNvSpPr>
          <p:nvPr>
            <p:ph type="title"/>
          </p:nvPr>
        </p:nvSpPr>
        <p:spPr/>
        <p:txBody>
          <a:bodyPr/>
          <a:lstStyle/>
          <a:p>
            <a:r>
              <a:rPr lang="en-US" i="1" dirty="0"/>
              <a:t>Current Approach: </a:t>
            </a:r>
            <a:r>
              <a:rPr lang="en-US" dirty="0"/>
              <a:t>GAAE Model for Anomaly Detection</a:t>
            </a:r>
          </a:p>
        </p:txBody>
      </p:sp>
      <p:sp>
        <p:nvSpPr>
          <p:cNvPr id="3" name="Slide Number Placeholder 2">
            <a:extLst>
              <a:ext uri="{FF2B5EF4-FFF2-40B4-BE49-F238E27FC236}">
                <a16:creationId xmlns:a16="http://schemas.microsoft.com/office/drawing/2014/main" id="{F431F0F9-7F34-DF77-EBB6-3EF4035BA719}"/>
              </a:ext>
            </a:extLst>
          </p:cNvPr>
          <p:cNvSpPr>
            <a:spLocks noGrp="1"/>
          </p:cNvSpPr>
          <p:nvPr>
            <p:ph type="sldNum" sz="quarter" idx="11"/>
          </p:nvPr>
        </p:nvSpPr>
        <p:spPr/>
        <p:txBody>
          <a:bodyPr/>
          <a:lstStyle/>
          <a:p>
            <a:fld id="{CE58CB1E-F828-4F11-99E0-327109AF9DA4}" type="slidenum">
              <a:rPr lang="de-DE" smtClean="0"/>
              <a:pPr/>
              <a:t>32</a:t>
            </a:fld>
            <a:endParaRPr lang="de-DE" dirty="0"/>
          </a:p>
        </p:txBody>
      </p:sp>
      <p:sp>
        <p:nvSpPr>
          <p:cNvPr id="4" name="Footer Placeholder 3">
            <a:extLst>
              <a:ext uri="{FF2B5EF4-FFF2-40B4-BE49-F238E27FC236}">
                <a16:creationId xmlns:a16="http://schemas.microsoft.com/office/drawing/2014/main" id="{D3194E0A-422E-B40E-6263-EE9171C4BC1F}"/>
              </a:ext>
            </a:extLst>
          </p:cNvPr>
          <p:cNvSpPr>
            <a:spLocks noGrp="1"/>
          </p:cNvSpPr>
          <p:nvPr>
            <p:ph type="ftr" sz="quarter" idx="12"/>
          </p:nvPr>
        </p:nvSpPr>
        <p:spPr/>
        <p:txBody>
          <a:bodyPr/>
          <a:lstStyle/>
          <a:p>
            <a:r>
              <a:rPr lang="de-DE" dirty="0"/>
              <a:t>Fraj Yassine Lakhal (TUM)</a:t>
            </a:r>
            <a:endParaRPr lang="en-US" dirty="0"/>
          </a:p>
        </p:txBody>
      </p:sp>
      <p:sp>
        <p:nvSpPr>
          <p:cNvPr id="5" name="Text Placeholder 4">
            <a:extLst>
              <a:ext uri="{FF2B5EF4-FFF2-40B4-BE49-F238E27FC236}">
                <a16:creationId xmlns:a16="http://schemas.microsoft.com/office/drawing/2014/main" id="{B4121394-E689-46CD-C3DB-27D341CDE515}"/>
              </a:ext>
            </a:extLst>
          </p:cNvPr>
          <p:cNvSpPr>
            <a:spLocks noGrp="1"/>
          </p:cNvSpPr>
          <p:nvPr>
            <p:ph type="body" sz="quarter" idx="14"/>
          </p:nvPr>
        </p:nvSpPr>
        <p:spPr/>
        <p:txBody>
          <a:bodyPr/>
          <a:lstStyle/>
          <a:p>
            <a:endParaRPr lang="en-US"/>
          </a:p>
        </p:txBody>
      </p:sp>
      <mc:AlternateContent xmlns:mc="http://schemas.openxmlformats.org/markup-compatibility/2006" xmlns:a14="http://schemas.microsoft.com/office/drawing/2010/main">
        <mc:Choice Requires="a14">
          <p:sp>
            <p:nvSpPr>
              <p:cNvPr id="15" name="Rectangle 1">
                <a:extLst>
                  <a:ext uri="{FF2B5EF4-FFF2-40B4-BE49-F238E27FC236}">
                    <a16:creationId xmlns:a16="http://schemas.microsoft.com/office/drawing/2014/main" id="{879C8414-2861-7992-E341-111E858EEB7E}"/>
                  </a:ext>
                </a:extLst>
              </p:cNvPr>
              <p:cNvSpPr txBox="1">
                <a:spLocks noChangeArrowheads="1"/>
              </p:cNvSpPr>
              <p:nvPr/>
            </p:nvSpPr>
            <p:spPr bwMode="auto">
              <a:xfrm>
                <a:off x="414881" y="2136339"/>
                <a:ext cx="9064635" cy="258532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algn="l" rtl="0" eaLnBrk="0" fontAlgn="base" hangingPunct="0">
                  <a:lnSpc>
                    <a:spcPct val="100000"/>
                  </a:lnSpc>
                  <a:spcBef>
                    <a:spcPct val="0"/>
                  </a:spcBef>
                  <a:spcAft>
                    <a:spcPct val="0"/>
                  </a:spcAft>
                  <a:defRPr sz="1600" kern="1200">
                    <a:solidFill>
                      <a:schemeClr val="tx1"/>
                    </a:solidFill>
                    <a:latin typeface="Arial" panose="020B0604020202020204" pitchFamily="34" charset="0"/>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Arial" panose="020B0604020202020204" pitchFamily="34" charset="0"/>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r>
                  <a:rPr lang="en-US" b="1" dirty="0"/>
                  <a:t>Input Graph:</a:t>
                </a:r>
              </a:p>
              <a:p>
                <a:r>
                  <a:rPr lang="en-US" dirty="0"/>
                  <a:t>Node features: Correlation Vectors of the different ROI‘s BOLD Signals (pick top K with KNN)</a:t>
                </a:r>
              </a:p>
              <a:p>
                <a:r>
                  <a:rPr lang="en-US" dirty="0"/>
                  <a:t>Binary edges: 1 if </a:t>
                </a:r>
                <a14:m>
                  <m:oMath xmlns:m="http://schemas.openxmlformats.org/officeDocument/2006/math">
                    <m:r>
                      <a:rPr lang="en-US">
                        <a:latin typeface="Cambria Math" panose="02040503050406030204" pitchFamily="18" charset="0"/>
                      </a:rPr>
                      <m:t>𝑗</m:t>
                    </m:r>
                  </m:oMath>
                </a14:m>
                <a:r>
                  <a:rPr lang="en-US" dirty="0"/>
                  <a:t> is among </a:t>
                </a:r>
                <a14:m>
                  <m:oMath xmlns:m="http://schemas.openxmlformats.org/officeDocument/2006/math">
                    <m:r>
                      <a:rPr lang="en-US">
                        <a:latin typeface="Cambria Math" panose="02040503050406030204" pitchFamily="18" charset="0"/>
                      </a:rPr>
                      <m:t>𝑖</m:t>
                    </m:r>
                  </m:oMath>
                </a14:m>
                <a:r>
                  <a:rPr lang="en-US" dirty="0"/>
                  <a:t>'s top-</a:t>
                </a:r>
                <a14:m>
                  <m:oMath xmlns:m="http://schemas.openxmlformats.org/officeDocument/2006/math">
                    <m:r>
                      <a:rPr lang="en-US">
                        <a:latin typeface="Cambria Math" panose="02040503050406030204" pitchFamily="18" charset="0"/>
                      </a:rPr>
                      <m:t>𝑘</m:t>
                    </m:r>
                  </m:oMath>
                </a14:m>
                <a:r>
                  <a:rPr lang="en-US" dirty="0"/>
                  <a:t> neighbors for two nodes </a:t>
                </a:r>
                <a14:m>
                  <m:oMath xmlns:m="http://schemas.openxmlformats.org/officeDocument/2006/math">
                    <m:r>
                      <a:rPr lang="en-US">
                        <a:latin typeface="Cambria Math" panose="02040503050406030204" pitchFamily="18" charset="0"/>
                      </a:rPr>
                      <m:t>𝑖</m:t>
                    </m:r>
                    <m:r>
                      <a:rPr lang="de-DE">
                        <a:latin typeface="Cambria Math" panose="02040503050406030204" pitchFamily="18" charset="0"/>
                      </a:rPr>
                      <m:t> </m:t>
                    </m:r>
                    <m:r>
                      <m:rPr>
                        <m:sty m:val="p"/>
                      </m:rPr>
                      <a:rPr lang="de-DE">
                        <a:latin typeface="Cambria Math" panose="02040503050406030204" pitchFamily="18" charset="0"/>
                      </a:rPr>
                      <m:t>and</m:t>
                    </m:r>
                    <m:r>
                      <a:rPr lang="de-DE">
                        <a:latin typeface="Cambria Math" panose="02040503050406030204" pitchFamily="18" charset="0"/>
                      </a:rPr>
                      <m:t> </m:t>
                    </m:r>
                    <m:r>
                      <a:rPr lang="en-US">
                        <a:latin typeface="Cambria Math" panose="02040503050406030204" pitchFamily="18" charset="0"/>
                      </a:rPr>
                      <m:t>𝑗</m:t>
                    </m:r>
                  </m:oMath>
                </a14:m>
                <a:endParaRPr lang="en-US" dirty="0"/>
              </a:p>
              <a:p>
                <a:endParaRPr lang="en-US" dirty="0"/>
              </a:p>
              <a:p>
                <a:r>
                  <a:rPr lang="en-US" b="1" dirty="0"/>
                  <a:t>Architecture:</a:t>
                </a:r>
                <a:br>
                  <a:rPr lang="en-US" b="1" dirty="0"/>
                </a:br>
                <a:r>
                  <a:rPr lang="en-US" dirty="0"/>
                  <a:t>GATv2 Layers for Encoder and Decoder + </a:t>
                </a:r>
              </a:p>
              <a:p>
                <a:r>
                  <a:rPr lang="en-US" dirty="0"/>
                  <a:t>FiLM Conditioning on age and sex</a:t>
                </a:r>
              </a:p>
              <a:p>
                <a:br>
                  <a:rPr lang="en-US" b="1" dirty="0"/>
                </a:br>
                <a:r>
                  <a:rPr lang="en-US" b="1" dirty="0"/>
                  <a:t>Loss:</a:t>
                </a:r>
              </a:p>
              <a:p>
                <a:r>
                  <a:rPr lang="en-US" dirty="0"/>
                  <a:t>Feature + Adjacency Reconstruction Loss</a:t>
                </a:r>
              </a:p>
            </p:txBody>
          </p:sp>
        </mc:Choice>
        <mc:Fallback xmlns="">
          <p:sp>
            <p:nvSpPr>
              <p:cNvPr id="15" name="Rectangle 1">
                <a:extLst>
                  <a:ext uri="{FF2B5EF4-FFF2-40B4-BE49-F238E27FC236}">
                    <a16:creationId xmlns:a16="http://schemas.microsoft.com/office/drawing/2014/main" id="{879C8414-2861-7992-E341-111E858EEB7E}"/>
                  </a:ext>
                </a:extLst>
              </p:cNvPr>
              <p:cNvSpPr txBox="1">
                <a:spLocks noRot="1" noChangeAspect="1" noMove="1" noResize="1" noEditPoints="1" noAdjustHandles="1" noChangeArrowheads="1" noChangeShapeType="1" noTextEdit="1"/>
              </p:cNvSpPr>
              <p:nvPr/>
            </p:nvSpPr>
            <p:spPr bwMode="auto">
              <a:xfrm>
                <a:off x="414881" y="2136339"/>
                <a:ext cx="9064635" cy="2585323"/>
              </a:xfrm>
              <a:prstGeom prst="rect">
                <a:avLst/>
              </a:prstGeom>
              <a:blipFill>
                <a:blip r:embed="rId3"/>
                <a:stretch>
                  <a:fillRect b="-19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5112488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93961-3D08-92FE-A002-75F9AFCC2BA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378D63-99E4-E053-AD90-D3F8162C06F1}"/>
              </a:ext>
            </a:extLst>
          </p:cNvPr>
          <p:cNvSpPr>
            <a:spLocks noGrp="1"/>
          </p:cNvSpPr>
          <p:nvPr>
            <p:ph type="sldNum" sz="quarter" idx="15"/>
          </p:nvPr>
        </p:nvSpPr>
        <p:spPr>
          <a:xfrm>
            <a:off x="9033245" y="6473314"/>
            <a:ext cx="2736099" cy="365125"/>
          </a:xfrm>
        </p:spPr>
        <p:txBody>
          <a:bodyPr anchor="ctr">
            <a:normAutofit/>
          </a:bodyPr>
          <a:lstStyle/>
          <a:p>
            <a:pPr>
              <a:spcAft>
                <a:spcPts val="800"/>
              </a:spcAft>
            </a:pPr>
            <a:fld id="{CE58CB1E-F828-4F11-99E0-327109AF9DA4}" type="slidenum">
              <a:rPr lang="de-DE" smtClean="0"/>
              <a:pPr>
                <a:spcAft>
                  <a:spcPts val="800"/>
                </a:spcAft>
              </a:pPr>
              <a:t>33</a:t>
            </a:fld>
            <a:endParaRPr lang="de-DE"/>
          </a:p>
        </p:txBody>
      </p:sp>
      <p:sp>
        <p:nvSpPr>
          <p:cNvPr id="4" name="Footer Placeholder 3">
            <a:extLst>
              <a:ext uri="{FF2B5EF4-FFF2-40B4-BE49-F238E27FC236}">
                <a16:creationId xmlns:a16="http://schemas.microsoft.com/office/drawing/2014/main" id="{CB97A588-F68E-004D-D264-A7F747962158}"/>
              </a:ext>
            </a:extLst>
          </p:cNvPr>
          <p:cNvSpPr>
            <a:spLocks noGrp="1"/>
          </p:cNvSpPr>
          <p:nvPr>
            <p:ph type="ftr" sz="quarter" idx="16"/>
          </p:nvPr>
        </p:nvSpPr>
        <p:spPr>
          <a:xfrm>
            <a:off x="414883" y="6473314"/>
            <a:ext cx="8619040" cy="365125"/>
          </a:xfrm>
        </p:spPr>
        <p:txBody>
          <a:bodyPr anchor="ctr">
            <a:normAutofit/>
          </a:bodyPr>
          <a:lstStyle/>
          <a:p>
            <a:pPr>
              <a:spcAft>
                <a:spcPts val="800"/>
              </a:spcAft>
            </a:pPr>
            <a:r>
              <a:rPr lang="de-DE"/>
              <a:t>Fraj Yassine Lakhal (TUM)</a:t>
            </a:r>
            <a:endParaRPr lang="en-US"/>
          </a:p>
        </p:txBody>
      </p:sp>
      <p:sp>
        <p:nvSpPr>
          <p:cNvPr id="2" name="Title 1">
            <a:extLst>
              <a:ext uri="{FF2B5EF4-FFF2-40B4-BE49-F238E27FC236}">
                <a16:creationId xmlns:a16="http://schemas.microsoft.com/office/drawing/2014/main" id="{A4E4C347-AF91-9631-70A1-8E096EA9CF8D}"/>
              </a:ext>
            </a:extLst>
          </p:cNvPr>
          <p:cNvSpPr>
            <a:spLocks noGrp="1"/>
          </p:cNvSpPr>
          <p:nvPr>
            <p:ph type="title"/>
          </p:nvPr>
        </p:nvSpPr>
        <p:spPr>
          <a:xfrm>
            <a:off x="414883" y="391280"/>
            <a:ext cx="11345332" cy="507747"/>
          </a:xfrm>
        </p:spPr>
        <p:txBody>
          <a:bodyPr wrap="square" anchor="t">
            <a:normAutofit fontScale="90000"/>
          </a:bodyPr>
          <a:lstStyle/>
          <a:p>
            <a:r>
              <a:rPr lang="en-US" i="1" dirty="0"/>
              <a:t>Literature Review</a:t>
            </a:r>
          </a:p>
        </p:txBody>
      </p:sp>
      <p:sp>
        <p:nvSpPr>
          <p:cNvPr id="11" name="Text Placeholder 5">
            <a:extLst>
              <a:ext uri="{FF2B5EF4-FFF2-40B4-BE49-F238E27FC236}">
                <a16:creationId xmlns:a16="http://schemas.microsoft.com/office/drawing/2014/main" id="{4FD7F775-A478-21B8-2A82-736083A6F031}"/>
              </a:ext>
            </a:extLst>
          </p:cNvPr>
          <p:cNvSpPr>
            <a:spLocks noGrp="1"/>
          </p:cNvSpPr>
          <p:nvPr>
            <p:ph type="body" sz="quarter" idx="17"/>
          </p:nvPr>
        </p:nvSpPr>
        <p:spPr>
          <a:xfrm>
            <a:off x="414882" y="912573"/>
            <a:ext cx="11345332" cy="428547"/>
          </a:xfrm>
        </p:spPr>
        <p:txBody>
          <a:bodyPr/>
          <a:lstStyle/>
          <a:p>
            <a:r>
              <a:rPr lang="en-US" b="1" i="1" dirty="0"/>
              <a:t>The Diagnosis vs. Prognosis Problem</a:t>
            </a:r>
          </a:p>
        </p:txBody>
      </p:sp>
      <p:sp>
        <p:nvSpPr>
          <p:cNvPr id="5" name="Rectangle 1">
            <a:extLst>
              <a:ext uri="{FF2B5EF4-FFF2-40B4-BE49-F238E27FC236}">
                <a16:creationId xmlns:a16="http://schemas.microsoft.com/office/drawing/2014/main" id="{584BF76C-8E4F-CA8C-9CEF-AA736AEAD760}"/>
              </a:ext>
            </a:extLst>
          </p:cNvPr>
          <p:cNvSpPr txBox="1">
            <a:spLocks noChangeArrowheads="1"/>
          </p:cNvSpPr>
          <p:nvPr/>
        </p:nvSpPr>
        <p:spPr bwMode="auto">
          <a:xfrm>
            <a:off x="414881" y="1901066"/>
            <a:ext cx="8618364"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algn="l" rtl="0" eaLnBrk="0" fontAlgn="base" hangingPunct="0">
              <a:lnSpc>
                <a:spcPct val="100000"/>
              </a:lnSpc>
              <a:spcBef>
                <a:spcPct val="0"/>
              </a:spcBef>
              <a:spcAft>
                <a:spcPct val="0"/>
              </a:spcAft>
              <a:defRPr sz="1600" kern="1200">
                <a:solidFill>
                  <a:schemeClr val="tx1"/>
                </a:solidFill>
                <a:latin typeface="Arial" panose="020B0604020202020204" pitchFamily="34" charset="0"/>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Arial" panose="020B0604020202020204" pitchFamily="34" charset="0"/>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r>
              <a:rPr lang="en-US" b="1" dirty="0"/>
              <a:t>Searching literature was not straightforward:</a:t>
            </a:r>
          </a:p>
          <a:p>
            <a:endParaRPr lang="en-US" b="1" i="1" dirty="0"/>
          </a:p>
          <a:p>
            <a:pPr marL="228594" indent="-228594">
              <a:buFont typeface="Arial" panose="020B0604020202020204" pitchFamily="34" charset="0"/>
              <a:buChar char="•"/>
            </a:pPr>
            <a:r>
              <a:rPr lang="en-US" dirty="0"/>
              <a:t>Papers confuse prediction of AD with the DL term </a:t>
            </a:r>
          </a:p>
          <a:p>
            <a:pPr marL="228594" indent="-228594">
              <a:buFont typeface="Arial" panose="020B0604020202020204" pitchFamily="34" charset="0"/>
              <a:buChar char="•"/>
            </a:pPr>
            <a:r>
              <a:rPr lang="en-US" dirty="0"/>
              <a:t>Papers only mention MRI in their approach, without being specific</a:t>
            </a:r>
          </a:p>
          <a:p>
            <a:pPr marL="228594" indent="-228594">
              <a:buFont typeface="Arial" panose="020B0604020202020204" pitchFamily="34" charset="0"/>
              <a:buChar char="•"/>
            </a:pPr>
            <a:r>
              <a:rPr lang="en-US" dirty="0"/>
              <a:t>Most papers include some form of structural imaging sMRI, PET..</a:t>
            </a:r>
          </a:p>
          <a:p>
            <a:endParaRPr lang="en-US" dirty="0"/>
          </a:p>
          <a:p>
            <a:endParaRPr lang="en-US" dirty="0"/>
          </a:p>
        </p:txBody>
      </p:sp>
    </p:spTree>
    <p:extLst>
      <p:ext uri="{BB962C8B-B14F-4D97-AF65-F5344CB8AC3E}">
        <p14:creationId xmlns:p14="http://schemas.microsoft.com/office/powerpoint/2010/main" val="715366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92ABD7-B368-47EC-034D-B01B1FD68C9C}"/>
              </a:ext>
            </a:extLst>
          </p:cNvPr>
          <p:cNvSpPr>
            <a:spLocks noGrp="1"/>
          </p:cNvSpPr>
          <p:nvPr>
            <p:ph type="sldNum" sz="quarter" idx="15"/>
          </p:nvPr>
        </p:nvSpPr>
        <p:spPr>
          <a:xfrm>
            <a:off x="9033245" y="6473314"/>
            <a:ext cx="2736099" cy="365125"/>
          </a:xfrm>
        </p:spPr>
        <p:txBody>
          <a:bodyPr anchor="ctr">
            <a:normAutofit/>
          </a:bodyPr>
          <a:lstStyle/>
          <a:p>
            <a:pPr>
              <a:spcAft>
                <a:spcPts val="800"/>
              </a:spcAft>
            </a:pPr>
            <a:fld id="{CE58CB1E-F828-4F11-99E0-327109AF9DA4}" type="slidenum">
              <a:rPr lang="de-DE" smtClean="0"/>
              <a:pPr>
                <a:spcAft>
                  <a:spcPts val="800"/>
                </a:spcAft>
              </a:pPr>
              <a:t>34</a:t>
            </a:fld>
            <a:endParaRPr lang="de-DE"/>
          </a:p>
        </p:txBody>
      </p:sp>
      <p:sp>
        <p:nvSpPr>
          <p:cNvPr id="2" name="Title 1">
            <a:extLst>
              <a:ext uri="{FF2B5EF4-FFF2-40B4-BE49-F238E27FC236}">
                <a16:creationId xmlns:a16="http://schemas.microsoft.com/office/drawing/2014/main" id="{E2993702-2347-A9DF-650A-910148EF6829}"/>
              </a:ext>
            </a:extLst>
          </p:cNvPr>
          <p:cNvSpPr>
            <a:spLocks noGrp="1"/>
          </p:cNvSpPr>
          <p:nvPr>
            <p:ph type="title"/>
          </p:nvPr>
        </p:nvSpPr>
        <p:spPr>
          <a:xfrm>
            <a:off x="414883" y="391280"/>
            <a:ext cx="11345332" cy="507747"/>
          </a:xfrm>
        </p:spPr>
        <p:txBody>
          <a:bodyPr wrap="square" anchor="t">
            <a:normAutofit fontScale="90000"/>
          </a:bodyPr>
          <a:lstStyle/>
          <a:p>
            <a:r>
              <a:rPr lang="en-US" i="1" dirty="0"/>
              <a:t>Literature Review</a:t>
            </a:r>
          </a:p>
        </p:txBody>
      </p:sp>
      <p:sp>
        <p:nvSpPr>
          <p:cNvPr id="11" name="Text Placeholder 5">
            <a:extLst>
              <a:ext uri="{FF2B5EF4-FFF2-40B4-BE49-F238E27FC236}">
                <a16:creationId xmlns:a16="http://schemas.microsoft.com/office/drawing/2014/main" id="{A92B86CA-0225-EEDB-A77C-8618C046ECE9}"/>
              </a:ext>
            </a:extLst>
          </p:cNvPr>
          <p:cNvSpPr>
            <a:spLocks noGrp="1"/>
          </p:cNvSpPr>
          <p:nvPr>
            <p:ph type="body" sz="quarter" idx="17"/>
          </p:nvPr>
        </p:nvSpPr>
        <p:spPr>
          <a:xfrm>
            <a:off x="414882" y="912573"/>
            <a:ext cx="11345332" cy="428547"/>
          </a:xfrm>
        </p:spPr>
        <p:txBody>
          <a:bodyPr/>
          <a:lstStyle/>
          <a:p>
            <a:r>
              <a:rPr lang="en-US" b="1" i="1" dirty="0"/>
              <a:t>The Diagnosis vs. Prognosis Problem</a:t>
            </a:r>
          </a:p>
        </p:txBody>
      </p:sp>
      <p:sp>
        <p:nvSpPr>
          <p:cNvPr id="8" name="Rectangle 1">
            <a:extLst>
              <a:ext uri="{FF2B5EF4-FFF2-40B4-BE49-F238E27FC236}">
                <a16:creationId xmlns:a16="http://schemas.microsoft.com/office/drawing/2014/main" id="{E94BBFDB-6D5F-A93D-6ADB-526DCBF955EA}"/>
              </a:ext>
            </a:extLst>
          </p:cNvPr>
          <p:cNvSpPr txBox="1">
            <a:spLocks noChangeArrowheads="1"/>
          </p:cNvSpPr>
          <p:nvPr/>
        </p:nvSpPr>
        <p:spPr bwMode="auto">
          <a:xfrm>
            <a:off x="414881" y="2270398"/>
            <a:ext cx="861836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algn="l" rtl="0" eaLnBrk="0" fontAlgn="base" hangingPunct="0">
              <a:lnSpc>
                <a:spcPct val="100000"/>
              </a:lnSpc>
              <a:spcBef>
                <a:spcPct val="0"/>
              </a:spcBef>
              <a:spcAft>
                <a:spcPct val="0"/>
              </a:spcAft>
              <a:defRPr sz="1600" kern="1200">
                <a:solidFill>
                  <a:schemeClr val="tx1"/>
                </a:solidFill>
                <a:latin typeface="Arial" panose="020B0604020202020204" pitchFamily="34" charset="0"/>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Arial" panose="020B0604020202020204" pitchFamily="34" charset="0"/>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r>
              <a:rPr lang="en-US" b="1" dirty="0"/>
              <a:t>Only 1 paper </a:t>
            </a:r>
            <a:r>
              <a:rPr lang="en-US" dirty="0"/>
              <a:t>does the temporal prognosis of conversion from MCI to AD using fMRI: </a:t>
            </a:r>
            <a:endParaRPr lang="en-US" b="1" i="1" dirty="0"/>
          </a:p>
          <a:p>
            <a:r>
              <a:rPr lang="en-US" b="1" i="1" dirty="0"/>
              <a:t>(Kim et al., 2024)</a:t>
            </a:r>
          </a:p>
          <a:p>
            <a:endParaRPr lang="en-US" dirty="0"/>
          </a:p>
          <a:p>
            <a:endParaRPr lang="en-US" dirty="0"/>
          </a:p>
        </p:txBody>
      </p:sp>
      <p:pic>
        <p:nvPicPr>
          <p:cNvPr id="9" name="Picture 8" descr="A close-up of a screen&#10;&#10;AI-generated content may be incorrect.">
            <a:extLst>
              <a:ext uri="{FF2B5EF4-FFF2-40B4-BE49-F238E27FC236}">
                <a16:creationId xmlns:a16="http://schemas.microsoft.com/office/drawing/2014/main" id="{162D277B-FBB0-2B9D-DA67-D1E792CC053A}"/>
              </a:ext>
            </a:extLst>
          </p:cNvPr>
          <p:cNvPicPr>
            <a:picLocks noChangeAspect="1"/>
          </p:cNvPicPr>
          <p:nvPr/>
        </p:nvPicPr>
        <p:blipFill>
          <a:blip r:embed="rId3"/>
          <a:srcRect l="3698" r="1895"/>
          <a:stretch>
            <a:fillRect/>
          </a:stretch>
        </p:blipFill>
        <p:spPr>
          <a:xfrm>
            <a:off x="2680873" y="3338994"/>
            <a:ext cx="6352372" cy="1951004"/>
          </a:xfrm>
          <a:prstGeom prst="rect">
            <a:avLst/>
          </a:prstGeom>
        </p:spPr>
      </p:pic>
      <p:sp>
        <p:nvSpPr>
          <p:cNvPr id="6" name="TextBox 5">
            <a:extLst>
              <a:ext uri="{FF2B5EF4-FFF2-40B4-BE49-F238E27FC236}">
                <a16:creationId xmlns:a16="http://schemas.microsoft.com/office/drawing/2014/main" id="{6BBBC809-3AF5-B03E-41EB-CBDA77DAC6BA}"/>
              </a:ext>
            </a:extLst>
          </p:cNvPr>
          <p:cNvSpPr txBox="1"/>
          <p:nvPr/>
        </p:nvSpPr>
        <p:spPr>
          <a:xfrm>
            <a:off x="414880" y="6488668"/>
            <a:ext cx="10531707" cy="338554"/>
          </a:xfrm>
          <a:prstGeom prst="rect">
            <a:avLst/>
          </a:prstGeom>
          <a:noFill/>
        </p:spPr>
        <p:txBody>
          <a:bodyPr wrap="square">
            <a:spAutoFit/>
          </a:bodyPr>
          <a:lstStyle/>
          <a:p>
            <a:r>
              <a:rPr lang="en-US" sz="800" dirty="0"/>
              <a:t>Kim S, Kim M, Lee JE, Park BY, Park H. Prognostic model for predicting Alzheimer's disease conversion using functional connectome manifolds. </a:t>
            </a:r>
            <a:r>
              <a:rPr lang="en-US" sz="800" dirty="0" err="1"/>
              <a:t>Alzheimers</a:t>
            </a:r>
            <a:r>
              <a:rPr lang="en-US" sz="800" dirty="0"/>
              <a:t> Res Ther. 2024 Oct 9;16(1):217. </a:t>
            </a:r>
            <a:r>
              <a:rPr lang="en-US" sz="800" dirty="0" err="1"/>
              <a:t>doi</a:t>
            </a:r>
            <a:r>
              <a:rPr lang="en-US" sz="800" dirty="0"/>
              <a:t>: 10.1186/s13195-024-01589-3. PMID: 39385241; PMCID: PMC11465528.</a:t>
            </a:r>
          </a:p>
        </p:txBody>
      </p:sp>
    </p:spTree>
    <p:extLst>
      <p:ext uri="{BB962C8B-B14F-4D97-AF65-F5344CB8AC3E}">
        <p14:creationId xmlns:p14="http://schemas.microsoft.com/office/powerpoint/2010/main" val="649010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EF779-6618-80AF-D979-29B2C1B9AF1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F9193BF-CED8-377B-5D36-A84A7ABAC929}"/>
              </a:ext>
            </a:extLst>
          </p:cNvPr>
          <p:cNvSpPr>
            <a:spLocks noGrp="1"/>
          </p:cNvSpPr>
          <p:nvPr>
            <p:ph type="sldNum" sz="quarter" idx="15"/>
          </p:nvPr>
        </p:nvSpPr>
        <p:spPr>
          <a:xfrm>
            <a:off x="9033245" y="6473314"/>
            <a:ext cx="2736099" cy="365125"/>
          </a:xfrm>
        </p:spPr>
        <p:txBody>
          <a:bodyPr anchor="ctr">
            <a:normAutofit/>
          </a:bodyPr>
          <a:lstStyle/>
          <a:p>
            <a:pPr>
              <a:spcAft>
                <a:spcPts val="800"/>
              </a:spcAft>
            </a:pPr>
            <a:fld id="{CE58CB1E-F828-4F11-99E0-327109AF9DA4}" type="slidenum">
              <a:rPr lang="de-DE" smtClean="0"/>
              <a:pPr>
                <a:spcAft>
                  <a:spcPts val="800"/>
                </a:spcAft>
              </a:pPr>
              <a:t>35</a:t>
            </a:fld>
            <a:endParaRPr lang="de-DE"/>
          </a:p>
        </p:txBody>
      </p:sp>
      <p:sp>
        <p:nvSpPr>
          <p:cNvPr id="4" name="Footer Placeholder 3">
            <a:extLst>
              <a:ext uri="{FF2B5EF4-FFF2-40B4-BE49-F238E27FC236}">
                <a16:creationId xmlns:a16="http://schemas.microsoft.com/office/drawing/2014/main" id="{F6D51F7B-D09A-A6CA-A628-CBE9E4CF33C2}"/>
              </a:ext>
            </a:extLst>
          </p:cNvPr>
          <p:cNvSpPr>
            <a:spLocks noGrp="1"/>
          </p:cNvSpPr>
          <p:nvPr>
            <p:ph type="ftr" sz="quarter" idx="16"/>
          </p:nvPr>
        </p:nvSpPr>
        <p:spPr>
          <a:xfrm>
            <a:off x="414883" y="6473314"/>
            <a:ext cx="8619040" cy="365125"/>
          </a:xfrm>
        </p:spPr>
        <p:txBody>
          <a:bodyPr anchor="ctr">
            <a:normAutofit/>
          </a:bodyPr>
          <a:lstStyle/>
          <a:p>
            <a:pPr>
              <a:spcAft>
                <a:spcPts val="800"/>
              </a:spcAft>
            </a:pPr>
            <a:r>
              <a:rPr lang="de-DE"/>
              <a:t>Fraj Yassine Lakhal (TUM)</a:t>
            </a:r>
            <a:endParaRPr lang="en-US"/>
          </a:p>
        </p:txBody>
      </p:sp>
      <p:sp>
        <p:nvSpPr>
          <p:cNvPr id="2" name="Title 1">
            <a:extLst>
              <a:ext uri="{FF2B5EF4-FFF2-40B4-BE49-F238E27FC236}">
                <a16:creationId xmlns:a16="http://schemas.microsoft.com/office/drawing/2014/main" id="{E2DC3CE6-4898-4437-FEB8-987690AF2F16}"/>
              </a:ext>
            </a:extLst>
          </p:cNvPr>
          <p:cNvSpPr>
            <a:spLocks noGrp="1"/>
          </p:cNvSpPr>
          <p:nvPr>
            <p:ph type="title"/>
          </p:nvPr>
        </p:nvSpPr>
        <p:spPr>
          <a:xfrm>
            <a:off x="414883" y="391280"/>
            <a:ext cx="11345332" cy="507747"/>
          </a:xfrm>
        </p:spPr>
        <p:txBody>
          <a:bodyPr wrap="square" anchor="t">
            <a:normAutofit fontScale="90000"/>
          </a:bodyPr>
          <a:lstStyle/>
          <a:p>
            <a:r>
              <a:rPr lang="en-US" i="1" dirty="0"/>
              <a:t>Literature Review</a:t>
            </a:r>
          </a:p>
        </p:txBody>
      </p:sp>
      <p:sp>
        <p:nvSpPr>
          <p:cNvPr id="11" name="Text Placeholder 5">
            <a:extLst>
              <a:ext uri="{FF2B5EF4-FFF2-40B4-BE49-F238E27FC236}">
                <a16:creationId xmlns:a16="http://schemas.microsoft.com/office/drawing/2014/main" id="{378489A9-BBE3-EAD6-BD2B-F1DC09652CBE}"/>
              </a:ext>
            </a:extLst>
          </p:cNvPr>
          <p:cNvSpPr>
            <a:spLocks noGrp="1"/>
          </p:cNvSpPr>
          <p:nvPr>
            <p:ph type="body" sz="quarter" idx="17"/>
          </p:nvPr>
        </p:nvSpPr>
        <p:spPr>
          <a:xfrm>
            <a:off x="414882" y="912573"/>
            <a:ext cx="11345332" cy="428547"/>
          </a:xfrm>
        </p:spPr>
        <p:txBody>
          <a:bodyPr/>
          <a:lstStyle/>
          <a:p>
            <a:r>
              <a:rPr lang="en-US" b="1" i="1" dirty="0"/>
              <a:t>The Diagnosis vs. Prognosis Problem</a:t>
            </a:r>
          </a:p>
        </p:txBody>
      </p:sp>
      <p:sp>
        <p:nvSpPr>
          <p:cNvPr id="8" name="Rectangle 1">
            <a:extLst>
              <a:ext uri="{FF2B5EF4-FFF2-40B4-BE49-F238E27FC236}">
                <a16:creationId xmlns:a16="http://schemas.microsoft.com/office/drawing/2014/main" id="{A3202DC3-DC73-B258-A90C-05DE6F57EAE0}"/>
              </a:ext>
            </a:extLst>
          </p:cNvPr>
          <p:cNvSpPr txBox="1">
            <a:spLocks noChangeArrowheads="1"/>
          </p:cNvSpPr>
          <p:nvPr/>
        </p:nvSpPr>
        <p:spPr bwMode="auto">
          <a:xfrm>
            <a:off x="414881" y="2013228"/>
            <a:ext cx="8869027"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algn="l" rtl="0" eaLnBrk="0" fontAlgn="base" hangingPunct="0">
              <a:lnSpc>
                <a:spcPct val="100000"/>
              </a:lnSpc>
              <a:spcBef>
                <a:spcPct val="0"/>
              </a:spcBef>
              <a:spcAft>
                <a:spcPct val="0"/>
              </a:spcAft>
              <a:defRPr sz="1600" kern="1200">
                <a:solidFill>
                  <a:schemeClr val="tx1"/>
                </a:solidFill>
                <a:latin typeface="Arial" panose="020B0604020202020204" pitchFamily="34" charset="0"/>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Arial" panose="020B0604020202020204" pitchFamily="34" charset="0"/>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r>
              <a:rPr lang="en-US" b="1" dirty="0"/>
              <a:t>Only 1 paper </a:t>
            </a:r>
            <a:r>
              <a:rPr lang="en-US" dirty="0"/>
              <a:t>does the temporal prognosis of conversion from MCI to AD using fMRI: </a:t>
            </a:r>
            <a:endParaRPr lang="en-US" b="1" i="1" dirty="0"/>
          </a:p>
          <a:p>
            <a:r>
              <a:rPr lang="en-US" b="1" i="1" dirty="0"/>
              <a:t>(Kim et al., 2024)</a:t>
            </a:r>
          </a:p>
          <a:p>
            <a:endParaRPr lang="en-US" dirty="0"/>
          </a:p>
          <a:p>
            <a:r>
              <a:rPr lang="en-US" dirty="0"/>
              <a:t>All other papers treat it as a </a:t>
            </a:r>
            <a:r>
              <a:rPr lang="en-US" b="1" dirty="0"/>
              <a:t>classification problem (comparing sMCI to pMCI)</a:t>
            </a:r>
            <a:br>
              <a:rPr lang="en-US" dirty="0"/>
            </a:br>
            <a:r>
              <a:rPr lang="en-US" dirty="0"/>
              <a:t>- Will the MCI patient convert in 1/3/5 years, or no?</a:t>
            </a:r>
          </a:p>
          <a:p>
            <a:r>
              <a:rPr lang="en-US" dirty="0"/>
              <a:t>- Will this MCI patient ever convert to AD?</a:t>
            </a:r>
          </a:p>
          <a:p>
            <a:r>
              <a:rPr lang="en-US" dirty="0"/>
              <a:t>- …</a:t>
            </a:r>
          </a:p>
          <a:p>
            <a:r>
              <a:rPr lang="en-US" altLang="en-US" b="1" dirty="0"/>
              <a:t>→ choosing a best paper is not given as the comparison of performance is not feasible</a:t>
            </a:r>
          </a:p>
          <a:p>
            <a:endParaRPr lang="en-US" altLang="en-US" b="1" dirty="0"/>
          </a:p>
          <a:p>
            <a:r>
              <a:rPr lang="en-US" b="1" dirty="0"/>
              <a:t>Although some approaches can be slightly modified to produce a continuous result!</a:t>
            </a:r>
          </a:p>
          <a:p>
            <a:r>
              <a:rPr lang="en-US" dirty="0"/>
              <a:t>e.g. change the last classification layer to a regression layer</a:t>
            </a:r>
          </a:p>
        </p:txBody>
      </p:sp>
    </p:spTree>
    <p:extLst>
      <p:ext uri="{BB962C8B-B14F-4D97-AF65-F5344CB8AC3E}">
        <p14:creationId xmlns:p14="http://schemas.microsoft.com/office/powerpoint/2010/main" val="2267867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C8023-C86C-85CD-0A33-B7AD1E58CD06}"/>
              </a:ext>
            </a:extLst>
          </p:cNvPr>
          <p:cNvSpPr>
            <a:spLocks noGrp="1"/>
          </p:cNvSpPr>
          <p:nvPr>
            <p:ph type="title"/>
          </p:nvPr>
        </p:nvSpPr>
        <p:spPr>
          <a:xfrm>
            <a:off x="414883" y="391280"/>
            <a:ext cx="11345332" cy="508344"/>
          </a:xfrm>
        </p:spPr>
        <p:txBody>
          <a:bodyPr/>
          <a:lstStyle/>
          <a:p>
            <a:r>
              <a:rPr lang="en-US" sz="2667" i="1" dirty="0"/>
              <a:t>Literature Review: </a:t>
            </a:r>
            <a:r>
              <a:rPr lang="en-US" sz="2667" dirty="0"/>
              <a:t>Conversion Risk and Temporal Prognosis</a:t>
            </a:r>
          </a:p>
        </p:txBody>
      </p:sp>
      <p:sp>
        <p:nvSpPr>
          <p:cNvPr id="3" name="Slide Number Placeholder 2">
            <a:extLst>
              <a:ext uri="{FF2B5EF4-FFF2-40B4-BE49-F238E27FC236}">
                <a16:creationId xmlns:a16="http://schemas.microsoft.com/office/drawing/2014/main" id="{433C058A-6EDF-CA31-FBE5-383447E72A6C}"/>
              </a:ext>
            </a:extLst>
          </p:cNvPr>
          <p:cNvSpPr>
            <a:spLocks noGrp="1"/>
          </p:cNvSpPr>
          <p:nvPr>
            <p:ph type="sldNum" sz="quarter" idx="11"/>
          </p:nvPr>
        </p:nvSpPr>
        <p:spPr/>
        <p:txBody>
          <a:bodyPr/>
          <a:lstStyle/>
          <a:p>
            <a:fld id="{CE58CB1E-F828-4F11-99E0-327109AF9DA4}" type="slidenum">
              <a:rPr lang="de-DE" smtClean="0"/>
              <a:pPr/>
              <a:t>36</a:t>
            </a:fld>
            <a:endParaRPr lang="de-DE" dirty="0"/>
          </a:p>
        </p:txBody>
      </p:sp>
      <p:sp>
        <p:nvSpPr>
          <p:cNvPr id="5" name="Text Placeholder 4">
            <a:extLst>
              <a:ext uri="{FF2B5EF4-FFF2-40B4-BE49-F238E27FC236}">
                <a16:creationId xmlns:a16="http://schemas.microsoft.com/office/drawing/2014/main" id="{36F1DBD3-F4E9-8B12-1F3B-E13758E6F28B}"/>
              </a:ext>
            </a:extLst>
          </p:cNvPr>
          <p:cNvSpPr>
            <a:spLocks noGrp="1"/>
          </p:cNvSpPr>
          <p:nvPr>
            <p:ph type="body" sz="quarter" idx="14"/>
          </p:nvPr>
        </p:nvSpPr>
        <p:spPr/>
        <p:txBody>
          <a:bodyPr/>
          <a:lstStyle/>
          <a:p>
            <a:r>
              <a:rPr lang="en-US" b="1" i="1" dirty="0"/>
              <a:t>(Kim et al., 2024)</a:t>
            </a:r>
          </a:p>
          <a:p>
            <a:endParaRPr lang="en-US" dirty="0"/>
          </a:p>
          <a:p>
            <a:endParaRPr lang="en-US" dirty="0"/>
          </a:p>
        </p:txBody>
      </p:sp>
      <p:sp>
        <p:nvSpPr>
          <p:cNvPr id="10" name="Rectangle 1">
            <a:extLst>
              <a:ext uri="{FF2B5EF4-FFF2-40B4-BE49-F238E27FC236}">
                <a16:creationId xmlns:a16="http://schemas.microsoft.com/office/drawing/2014/main" id="{2455E8DB-1744-1617-1538-E04FEF2D3B19}"/>
              </a:ext>
            </a:extLst>
          </p:cNvPr>
          <p:cNvSpPr txBox="1">
            <a:spLocks noChangeArrowheads="1"/>
          </p:cNvSpPr>
          <p:nvPr/>
        </p:nvSpPr>
        <p:spPr bwMode="auto">
          <a:xfrm>
            <a:off x="414881" y="2628782"/>
            <a:ext cx="8449304"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algn="l" rtl="0" eaLnBrk="0" fontAlgn="base" hangingPunct="0">
              <a:lnSpc>
                <a:spcPct val="100000"/>
              </a:lnSpc>
              <a:spcBef>
                <a:spcPct val="0"/>
              </a:spcBef>
              <a:spcAft>
                <a:spcPct val="0"/>
              </a:spcAft>
              <a:defRPr sz="1600" kern="1200">
                <a:solidFill>
                  <a:schemeClr val="tx1"/>
                </a:solidFill>
                <a:latin typeface="Arial" panose="020B0604020202020204" pitchFamily="34" charset="0"/>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Arial" panose="020B0604020202020204" pitchFamily="34" charset="0"/>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r>
              <a:rPr lang="en-US" b="1" dirty="0"/>
              <a:t>Dataset</a:t>
            </a:r>
          </a:p>
          <a:p>
            <a:r>
              <a:rPr lang="en-US" dirty="0"/>
              <a:t>ADNI and OASIS</a:t>
            </a:r>
          </a:p>
          <a:p>
            <a:endParaRPr lang="en-US" b="1" dirty="0"/>
          </a:p>
          <a:p>
            <a:r>
              <a:rPr lang="en-US" b="1" dirty="0"/>
              <a:t>Architecture:</a:t>
            </a:r>
            <a:br>
              <a:rPr lang="en-US" b="1" dirty="0"/>
            </a:br>
            <a:r>
              <a:rPr lang="en-US" dirty="0"/>
              <a:t>Time-to-Event Modeling (Survival Analysis)+The exact conversion time is interval-censored (it occurred between the last MCI and first AD diagnosis date)</a:t>
            </a:r>
          </a:p>
        </p:txBody>
      </p:sp>
      <p:sp>
        <p:nvSpPr>
          <p:cNvPr id="6" name="TextBox 5">
            <a:extLst>
              <a:ext uri="{FF2B5EF4-FFF2-40B4-BE49-F238E27FC236}">
                <a16:creationId xmlns:a16="http://schemas.microsoft.com/office/drawing/2014/main" id="{4567026E-36D4-821D-9F4F-577580C00689}"/>
              </a:ext>
            </a:extLst>
          </p:cNvPr>
          <p:cNvSpPr txBox="1"/>
          <p:nvPr/>
        </p:nvSpPr>
        <p:spPr>
          <a:xfrm>
            <a:off x="295935" y="6466720"/>
            <a:ext cx="10531707" cy="338554"/>
          </a:xfrm>
          <a:prstGeom prst="rect">
            <a:avLst/>
          </a:prstGeom>
          <a:noFill/>
        </p:spPr>
        <p:txBody>
          <a:bodyPr wrap="square">
            <a:spAutoFit/>
          </a:bodyPr>
          <a:lstStyle/>
          <a:p>
            <a:r>
              <a:rPr lang="en-US" sz="800" dirty="0"/>
              <a:t>Kim S, Kim M, Lee JE, Park BY, Park H. Prognostic model for predicting Alzheimer's disease conversion using functional connectome manifolds. </a:t>
            </a:r>
            <a:r>
              <a:rPr lang="en-US" sz="800" dirty="0" err="1"/>
              <a:t>Alzheimers</a:t>
            </a:r>
            <a:r>
              <a:rPr lang="en-US" sz="800" dirty="0"/>
              <a:t> Res Ther. 2024 Oct 9;16(1):217. </a:t>
            </a:r>
            <a:r>
              <a:rPr lang="en-US" sz="800" dirty="0" err="1"/>
              <a:t>doi</a:t>
            </a:r>
            <a:r>
              <a:rPr lang="en-US" sz="800" dirty="0"/>
              <a:t>: 10.1186/s13195-024-01589-3. PMID: 39385241; PMCID: PMC11465528.</a:t>
            </a:r>
          </a:p>
        </p:txBody>
      </p:sp>
    </p:spTree>
    <p:extLst>
      <p:ext uri="{BB962C8B-B14F-4D97-AF65-F5344CB8AC3E}">
        <p14:creationId xmlns:p14="http://schemas.microsoft.com/office/powerpoint/2010/main" val="1836987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902BD-AA5C-DF1A-57FD-9BED66396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ACD7A-66B8-938F-FF79-AC4BCB078FA9}"/>
              </a:ext>
            </a:extLst>
          </p:cNvPr>
          <p:cNvSpPr>
            <a:spLocks noGrp="1"/>
          </p:cNvSpPr>
          <p:nvPr>
            <p:ph type="title"/>
          </p:nvPr>
        </p:nvSpPr>
        <p:spPr>
          <a:xfrm>
            <a:off x="414883" y="391280"/>
            <a:ext cx="11345332" cy="508344"/>
          </a:xfrm>
        </p:spPr>
        <p:txBody>
          <a:bodyPr/>
          <a:lstStyle/>
          <a:p>
            <a:r>
              <a:rPr lang="en-US" sz="2667" i="1" dirty="0"/>
              <a:t>Literature Review: </a:t>
            </a:r>
            <a:r>
              <a:rPr lang="en-US" sz="2667" dirty="0"/>
              <a:t>Conversion Risk and Temporal Prognosis</a:t>
            </a:r>
          </a:p>
        </p:txBody>
      </p:sp>
      <p:sp>
        <p:nvSpPr>
          <p:cNvPr id="3" name="Slide Number Placeholder 2">
            <a:extLst>
              <a:ext uri="{FF2B5EF4-FFF2-40B4-BE49-F238E27FC236}">
                <a16:creationId xmlns:a16="http://schemas.microsoft.com/office/drawing/2014/main" id="{FF3D17F9-216E-E579-A3E1-8974C98AD7F2}"/>
              </a:ext>
            </a:extLst>
          </p:cNvPr>
          <p:cNvSpPr>
            <a:spLocks noGrp="1"/>
          </p:cNvSpPr>
          <p:nvPr>
            <p:ph type="sldNum" sz="quarter" idx="11"/>
          </p:nvPr>
        </p:nvSpPr>
        <p:spPr/>
        <p:txBody>
          <a:bodyPr/>
          <a:lstStyle/>
          <a:p>
            <a:fld id="{CE58CB1E-F828-4F11-99E0-327109AF9DA4}" type="slidenum">
              <a:rPr lang="de-DE" smtClean="0"/>
              <a:pPr/>
              <a:t>37</a:t>
            </a:fld>
            <a:endParaRPr lang="de-DE" dirty="0"/>
          </a:p>
        </p:txBody>
      </p:sp>
      <p:sp>
        <p:nvSpPr>
          <p:cNvPr id="5" name="Text Placeholder 4">
            <a:extLst>
              <a:ext uri="{FF2B5EF4-FFF2-40B4-BE49-F238E27FC236}">
                <a16:creationId xmlns:a16="http://schemas.microsoft.com/office/drawing/2014/main" id="{9834C606-1C66-F800-59DC-84E96F731D15}"/>
              </a:ext>
            </a:extLst>
          </p:cNvPr>
          <p:cNvSpPr>
            <a:spLocks noGrp="1"/>
          </p:cNvSpPr>
          <p:nvPr>
            <p:ph type="body" sz="quarter" idx="14"/>
          </p:nvPr>
        </p:nvSpPr>
        <p:spPr/>
        <p:txBody>
          <a:bodyPr/>
          <a:lstStyle/>
          <a:p>
            <a:r>
              <a:rPr lang="en-US" b="1" i="1" dirty="0"/>
              <a:t>(Kim et al., 2024)</a:t>
            </a:r>
          </a:p>
          <a:p>
            <a:endParaRPr lang="en-US" dirty="0"/>
          </a:p>
          <a:p>
            <a:endParaRPr lang="en-US" dirty="0"/>
          </a:p>
        </p:txBody>
      </p:sp>
      <p:sp>
        <p:nvSpPr>
          <p:cNvPr id="10" name="Rectangle 1">
            <a:extLst>
              <a:ext uri="{FF2B5EF4-FFF2-40B4-BE49-F238E27FC236}">
                <a16:creationId xmlns:a16="http://schemas.microsoft.com/office/drawing/2014/main" id="{496F05FB-AB7E-107F-F5DD-D79E850229C2}"/>
              </a:ext>
            </a:extLst>
          </p:cNvPr>
          <p:cNvSpPr txBox="1">
            <a:spLocks noChangeArrowheads="1"/>
          </p:cNvSpPr>
          <p:nvPr/>
        </p:nvSpPr>
        <p:spPr bwMode="auto">
          <a:xfrm>
            <a:off x="414881" y="1574543"/>
            <a:ext cx="8449304"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algn="l" rtl="0" eaLnBrk="0" fontAlgn="base" hangingPunct="0">
              <a:lnSpc>
                <a:spcPct val="100000"/>
              </a:lnSpc>
              <a:spcBef>
                <a:spcPct val="0"/>
              </a:spcBef>
              <a:spcAft>
                <a:spcPct val="0"/>
              </a:spcAft>
              <a:defRPr sz="1600" kern="1200">
                <a:solidFill>
                  <a:schemeClr val="tx1"/>
                </a:solidFill>
                <a:latin typeface="Arial" panose="020B0604020202020204" pitchFamily="34" charset="0"/>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Arial" panose="020B0604020202020204" pitchFamily="34" charset="0"/>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r>
              <a:rPr lang="en-US" b="1" dirty="0"/>
              <a:t>Survival analysis:</a:t>
            </a:r>
            <a:br>
              <a:rPr lang="en-US" dirty="0"/>
            </a:br>
            <a:r>
              <a:rPr lang="en-US" dirty="0"/>
              <a:t>Each subject </a:t>
            </a:r>
            <a:r>
              <a:rPr lang="en-US" i="1" dirty="0"/>
              <a:t>i </a:t>
            </a:r>
            <a:r>
              <a:rPr lang="en-US" dirty="0"/>
              <a:t>is represented by the triplet: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b="1" dirty="0"/>
              <a:t>Risk of conversion at time </a:t>
            </a:r>
            <a:r>
              <a:rPr lang="en-US" b="1" i="1" dirty="0"/>
              <a:t>t</a:t>
            </a:r>
            <a:r>
              <a:rPr lang="en-US" b="1" dirty="0"/>
              <a:t>:</a:t>
            </a:r>
          </a:p>
          <a:p>
            <a:r>
              <a:rPr lang="en-US" dirty="0"/>
              <a:t>Using Cox Proportional Hazards Model</a:t>
            </a:r>
          </a:p>
          <a:p>
            <a:endParaRPr lang="en-US" dirty="0"/>
          </a:p>
          <a:p>
            <a:endParaRPr lang="en-US" dirty="0"/>
          </a:p>
          <a:p>
            <a:endParaRPr lang="en-US" dirty="0"/>
          </a:p>
        </p:txBody>
      </p:sp>
      <p:pic>
        <p:nvPicPr>
          <p:cNvPr id="16" name="Picture 15" descr="A white paper with black text&#10;&#10;AI-generated content may be incorrect.">
            <a:extLst>
              <a:ext uri="{FF2B5EF4-FFF2-40B4-BE49-F238E27FC236}">
                <a16:creationId xmlns:a16="http://schemas.microsoft.com/office/drawing/2014/main" id="{002632A5-283A-9D1F-1AED-E601DF43E769}"/>
              </a:ext>
            </a:extLst>
          </p:cNvPr>
          <p:cNvPicPr>
            <a:picLocks noChangeAspect="1"/>
          </p:cNvPicPr>
          <p:nvPr/>
        </p:nvPicPr>
        <p:blipFill>
          <a:blip r:embed="rId3"/>
          <a:srcRect t="4577"/>
          <a:stretch>
            <a:fillRect/>
          </a:stretch>
        </p:blipFill>
        <p:spPr>
          <a:xfrm>
            <a:off x="1991833" y="2519008"/>
            <a:ext cx="8208335" cy="1673097"/>
          </a:xfrm>
          <a:prstGeom prst="rect">
            <a:avLst/>
          </a:prstGeom>
        </p:spPr>
      </p:pic>
      <p:pic>
        <p:nvPicPr>
          <p:cNvPr id="18" name="Picture 17" descr="A math equations on a white background&#10;&#10;AI-generated content may be incorrect.">
            <a:extLst>
              <a:ext uri="{FF2B5EF4-FFF2-40B4-BE49-F238E27FC236}">
                <a16:creationId xmlns:a16="http://schemas.microsoft.com/office/drawing/2014/main" id="{251A6D5C-2A27-8856-C299-24C880000DEE}"/>
              </a:ext>
            </a:extLst>
          </p:cNvPr>
          <p:cNvPicPr>
            <a:picLocks noChangeAspect="1"/>
          </p:cNvPicPr>
          <p:nvPr/>
        </p:nvPicPr>
        <p:blipFill>
          <a:blip r:embed="rId4"/>
          <a:stretch>
            <a:fillRect/>
          </a:stretch>
        </p:blipFill>
        <p:spPr>
          <a:xfrm>
            <a:off x="2226803" y="4938792"/>
            <a:ext cx="7572139" cy="1396801"/>
          </a:xfrm>
          <a:prstGeom prst="rect">
            <a:avLst/>
          </a:prstGeom>
        </p:spPr>
      </p:pic>
      <p:sp>
        <p:nvSpPr>
          <p:cNvPr id="6" name="TextBox 5">
            <a:extLst>
              <a:ext uri="{FF2B5EF4-FFF2-40B4-BE49-F238E27FC236}">
                <a16:creationId xmlns:a16="http://schemas.microsoft.com/office/drawing/2014/main" id="{35AEA243-086E-FB60-88A6-62847E6EBF24}"/>
              </a:ext>
            </a:extLst>
          </p:cNvPr>
          <p:cNvSpPr txBox="1"/>
          <p:nvPr/>
        </p:nvSpPr>
        <p:spPr>
          <a:xfrm>
            <a:off x="414881" y="6488668"/>
            <a:ext cx="10531707" cy="338554"/>
          </a:xfrm>
          <a:prstGeom prst="rect">
            <a:avLst/>
          </a:prstGeom>
          <a:noFill/>
        </p:spPr>
        <p:txBody>
          <a:bodyPr wrap="square">
            <a:spAutoFit/>
          </a:bodyPr>
          <a:lstStyle/>
          <a:p>
            <a:r>
              <a:rPr lang="en-US" sz="800" dirty="0"/>
              <a:t>Kim S, Kim M, Lee JE, Park BY, Park H. Prognostic model for predicting Alzheimer's disease conversion using functional connectome manifolds. </a:t>
            </a:r>
            <a:r>
              <a:rPr lang="en-US" sz="800" dirty="0" err="1"/>
              <a:t>Alzheimers</a:t>
            </a:r>
            <a:r>
              <a:rPr lang="en-US" sz="800" dirty="0"/>
              <a:t> Res Ther. 2024 Oct 9;16(1):217. </a:t>
            </a:r>
            <a:r>
              <a:rPr lang="en-US" sz="800" dirty="0" err="1"/>
              <a:t>doi</a:t>
            </a:r>
            <a:r>
              <a:rPr lang="en-US" sz="800" dirty="0"/>
              <a:t>: 10.1186/s13195-024-01589-3. PMID: 39385241; PMCID: PMC11465528.</a:t>
            </a:r>
          </a:p>
        </p:txBody>
      </p:sp>
    </p:spTree>
    <p:extLst>
      <p:ext uri="{BB962C8B-B14F-4D97-AF65-F5344CB8AC3E}">
        <p14:creationId xmlns:p14="http://schemas.microsoft.com/office/powerpoint/2010/main" val="14367954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599F3-D30C-C83D-8589-E65B7D491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D8CB9-3615-9B68-063A-C3A3479F8E5C}"/>
              </a:ext>
            </a:extLst>
          </p:cNvPr>
          <p:cNvSpPr>
            <a:spLocks noGrp="1"/>
          </p:cNvSpPr>
          <p:nvPr>
            <p:ph type="title"/>
          </p:nvPr>
        </p:nvSpPr>
        <p:spPr>
          <a:xfrm>
            <a:off x="414883" y="391280"/>
            <a:ext cx="11345332" cy="508344"/>
          </a:xfrm>
        </p:spPr>
        <p:txBody>
          <a:bodyPr/>
          <a:lstStyle/>
          <a:p>
            <a:r>
              <a:rPr lang="en-US" sz="2667" i="1" dirty="0"/>
              <a:t>Literature Review: </a:t>
            </a:r>
            <a:r>
              <a:rPr lang="en-US" sz="2667" dirty="0"/>
              <a:t>Conversion Risk and Temporal Prognosis</a:t>
            </a:r>
          </a:p>
        </p:txBody>
      </p:sp>
      <p:sp>
        <p:nvSpPr>
          <p:cNvPr id="3" name="Slide Number Placeholder 2">
            <a:extLst>
              <a:ext uri="{FF2B5EF4-FFF2-40B4-BE49-F238E27FC236}">
                <a16:creationId xmlns:a16="http://schemas.microsoft.com/office/drawing/2014/main" id="{5171C5D1-A59E-1598-5C42-7D5D9B713C37}"/>
              </a:ext>
            </a:extLst>
          </p:cNvPr>
          <p:cNvSpPr>
            <a:spLocks noGrp="1"/>
          </p:cNvSpPr>
          <p:nvPr>
            <p:ph type="sldNum" sz="quarter" idx="11"/>
          </p:nvPr>
        </p:nvSpPr>
        <p:spPr/>
        <p:txBody>
          <a:bodyPr/>
          <a:lstStyle/>
          <a:p>
            <a:fld id="{CE58CB1E-F828-4F11-99E0-327109AF9DA4}" type="slidenum">
              <a:rPr lang="de-DE" smtClean="0"/>
              <a:pPr/>
              <a:t>38</a:t>
            </a:fld>
            <a:endParaRPr lang="de-DE" dirty="0"/>
          </a:p>
        </p:txBody>
      </p:sp>
      <p:sp>
        <p:nvSpPr>
          <p:cNvPr id="5" name="Text Placeholder 4">
            <a:extLst>
              <a:ext uri="{FF2B5EF4-FFF2-40B4-BE49-F238E27FC236}">
                <a16:creationId xmlns:a16="http://schemas.microsoft.com/office/drawing/2014/main" id="{11D5B158-B5A5-69FB-68C3-E4425087625B}"/>
              </a:ext>
            </a:extLst>
          </p:cNvPr>
          <p:cNvSpPr>
            <a:spLocks noGrp="1"/>
          </p:cNvSpPr>
          <p:nvPr>
            <p:ph type="body" sz="quarter" idx="14"/>
          </p:nvPr>
        </p:nvSpPr>
        <p:spPr/>
        <p:txBody>
          <a:bodyPr/>
          <a:lstStyle/>
          <a:p>
            <a:r>
              <a:rPr lang="en-US" b="1" i="1" dirty="0"/>
              <a:t>(Kim et al., 2024)</a:t>
            </a:r>
          </a:p>
          <a:p>
            <a:endParaRPr lang="en-US" dirty="0"/>
          </a:p>
          <a:p>
            <a:endParaRPr lang="en-US" dirty="0"/>
          </a:p>
        </p:txBody>
      </p:sp>
      <p:sp>
        <p:nvSpPr>
          <p:cNvPr id="10" name="Rectangle 1">
            <a:extLst>
              <a:ext uri="{FF2B5EF4-FFF2-40B4-BE49-F238E27FC236}">
                <a16:creationId xmlns:a16="http://schemas.microsoft.com/office/drawing/2014/main" id="{26A114A2-0413-792E-9BDE-F4FDFD8D467E}"/>
              </a:ext>
            </a:extLst>
          </p:cNvPr>
          <p:cNvSpPr txBox="1">
            <a:spLocks noChangeArrowheads="1"/>
          </p:cNvSpPr>
          <p:nvPr/>
        </p:nvSpPr>
        <p:spPr bwMode="auto">
          <a:xfrm>
            <a:off x="414881" y="2641533"/>
            <a:ext cx="9546644" cy="1928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algn="l" rtl="0" eaLnBrk="0" fontAlgn="base" hangingPunct="0">
              <a:lnSpc>
                <a:spcPct val="100000"/>
              </a:lnSpc>
              <a:spcBef>
                <a:spcPct val="0"/>
              </a:spcBef>
              <a:spcAft>
                <a:spcPct val="0"/>
              </a:spcAft>
              <a:defRPr sz="1600" kern="1200">
                <a:solidFill>
                  <a:schemeClr val="tx1"/>
                </a:solidFill>
                <a:latin typeface="Arial" panose="020B0604020202020204" pitchFamily="34" charset="0"/>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Arial" panose="020B0604020202020204" pitchFamily="34" charset="0"/>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r>
              <a:rPr lang="en-US" sz="2133" b="1" i="1" dirty="0"/>
              <a:t>Model Evaluation and Validation</a:t>
            </a:r>
          </a:p>
          <a:p>
            <a:endParaRPr lang="en-US" b="1" dirty="0"/>
          </a:p>
          <a:p>
            <a:r>
              <a:rPr lang="en-US" b="1" dirty="0"/>
              <a:t>• Concordance Index (C-index): </a:t>
            </a:r>
          </a:p>
          <a:p>
            <a:r>
              <a:rPr lang="en-US" dirty="0"/>
              <a:t>Used to evaluate how well the model predicts the ordering of conversion times.</a:t>
            </a:r>
          </a:p>
          <a:p>
            <a:r>
              <a:rPr lang="en-US" b="1" dirty="0"/>
              <a:t>• Risk Groups: </a:t>
            </a:r>
          </a:p>
          <a:p>
            <a:r>
              <a:rPr lang="en-US" dirty="0"/>
              <a:t>Participants were stratified into fast and slow conversion groups based on a zero cutoff of the predicted risk score</a:t>
            </a:r>
          </a:p>
        </p:txBody>
      </p:sp>
      <p:sp>
        <p:nvSpPr>
          <p:cNvPr id="6" name="TextBox 5">
            <a:extLst>
              <a:ext uri="{FF2B5EF4-FFF2-40B4-BE49-F238E27FC236}">
                <a16:creationId xmlns:a16="http://schemas.microsoft.com/office/drawing/2014/main" id="{74D7F5C0-64A9-99B1-7BA5-D50BE17B3C32}"/>
              </a:ext>
            </a:extLst>
          </p:cNvPr>
          <p:cNvSpPr txBox="1"/>
          <p:nvPr/>
        </p:nvSpPr>
        <p:spPr>
          <a:xfrm>
            <a:off x="414880" y="6488668"/>
            <a:ext cx="10531707" cy="338554"/>
          </a:xfrm>
          <a:prstGeom prst="rect">
            <a:avLst/>
          </a:prstGeom>
          <a:noFill/>
        </p:spPr>
        <p:txBody>
          <a:bodyPr wrap="square">
            <a:spAutoFit/>
          </a:bodyPr>
          <a:lstStyle/>
          <a:p>
            <a:r>
              <a:rPr lang="en-US" sz="800" dirty="0"/>
              <a:t>Kim S, Kim M, Lee JE, Park BY, Park H. Prognostic model for predicting Alzheimer's disease conversion using functional connectome manifolds. </a:t>
            </a:r>
            <a:r>
              <a:rPr lang="en-US" sz="800" dirty="0" err="1"/>
              <a:t>Alzheimers</a:t>
            </a:r>
            <a:r>
              <a:rPr lang="en-US" sz="800" dirty="0"/>
              <a:t> Res Ther. 2024 Oct 9;16(1):217. </a:t>
            </a:r>
            <a:r>
              <a:rPr lang="en-US" sz="800" dirty="0" err="1"/>
              <a:t>doi</a:t>
            </a:r>
            <a:r>
              <a:rPr lang="en-US" sz="800" dirty="0"/>
              <a:t>: 10.1186/s13195-024-01589-3. PMID: 39385241; PMCID: PMC11465528.</a:t>
            </a:r>
          </a:p>
        </p:txBody>
      </p:sp>
    </p:spTree>
    <p:extLst>
      <p:ext uri="{BB962C8B-B14F-4D97-AF65-F5344CB8AC3E}">
        <p14:creationId xmlns:p14="http://schemas.microsoft.com/office/powerpoint/2010/main" val="27126505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E7187-3744-A0CE-1DC4-3CDD67BC1E34}"/>
              </a:ext>
            </a:extLst>
          </p:cNvPr>
          <p:cNvSpPr>
            <a:spLocks noGrp="1"/>
          </p:cNvSpPr>
          <p:nvPr>
            <p:ph type="title"/>
          </p:nvPr>
        </p:nvSpPr>
        <p:spPr/>
        <p:txBody>
          <a:bodyPr/>
          <a:lstStyle/>
          <a:p>
            <a:r>
              <a:rPr lang="en-US" i="1" dirty="0"/>
              <a:t>Literature Review: </a:t>
            </a:r>
            <a:r>
              <a:rPr lang="en-US" dirty="0"/>
              <a:t>SOTA Papers List</a:t>
            </a:r>
          </a:p>
        </p:txBody>
      </p:sp>
      <p:sp>
        <p:nvSpPr>
          <p:cNvPr id="3" name="Slide Number Placeholder 2">
            <a:extLst>
              <a:ext uri="{FF2B5EF4-FFF2-40B4-BE49-F238E27FC236}">
                <a16:creationId xmlns:a16="http://schemas.microsoft.com/office/drawing/2014/main" id="{CED0C1B1-ABB2-7654-ADB3-574BDBDCD37B}"/>
              </a:ext>
            </a:extLst>
          </p:cNvPr>
          <p:cNvSpPr>
            <a:spLocks noGrp="1"/>
          </p:cNvSpPr>
          <p:nvPr>
            <p:ph type="sldNum" sz="quarter" idx="11"/>
          </p:nvPr>
        </p:nvSpPr>
        <p:spPr/>
        <p:txBody>
          <a:bodyPr/>
          <a:lstStyle/>
          <a:p>
            <a:fld id="{CE58CB1E-F828-4F11-99E0-327109AF9DA4}" type="slidenum">
              <a:rPr lang="de-DE" smtClean="0"/>
              <a:pPr/>
              <a:t>39</a:t>
            </a:fld>
            <a:endParaRPr lang="de-DE" dirty="0"/>
          </a:p>
        </p:txBody>
      </p:sp>
      <p:sp>
        <p:nvSpPr>
          <p:cNvPr id="4" name="Footer Placeholder 3">
            <a:extLst>
              <a:ext uri="{FF2B5EF4-FFF2-40B4-BE49-F238E27FC236}">
                <a16:creationId xmlns:a16="http://schemas.microsoft.com/office/drawing/2014/main" id="{DA61FC8E-577A-CE55-CB73-9ABE42AA9709}"/>
              </a:ext>
            </a:extLst>
          </p:cNvPr>
          <p:cNvSpPr>
            <a:spLocks noGrp="1"/>
          </p:cNvSpPr>
          <p:nvPr>
            <p:ph type="ftr" sz="quarter" idx="12"/>
          </p:nvPr>
        </p:nvSpPr>
        <p:spPr/>
        <p:txBody>
          <a:bodyPr/>
          <a:lstStyle/>
          <a:p>
            <a:r>
              <a:rPr lang="de-DE"/>
              <a:t>Fraj Yassine Lakhal (TUM)</a:t>
            </a:r>
            <a:endParaRPr lang="en-US" dirty="0"/>
          </a:p>
        </p:txBody>
      </p:sp>
      <p:sp>
        <p:nvSpPr>
          <p:cNvPr id="6" name="Title 1">
            <a:extLst>
              <a:ext uri="{FF2B5EF4-FFF2-40B4-BE49-F238E27FC236}">
                <a16:creationId xmlns:a16="http://schemas.microsoft.com/office/drawing/2014/main" id="{7E99553E-7CF4-70D2-6B21-FEB272ADFB1B}"/>
              </a:ext>
            </a:extLst>
          </p:cNvPr>
          <p:cNvSpPr txBox="1">
            <a:spLocks/>
          </p:cNvSpPr>
          <p:nvPr/>
        </p:nvSpPr>
        <p:spPr>
          <a:xfrm>
            <a:off x="424013" y="2473247"/>
            <a:ext cx="11345332"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a:lnSpc>
                <a:spcPct val="100000"/>
              </a:lnSpc>
            </a:pPr>
            <a:r>
              <a:rPr lang="en-US" sz="1600" b="1" i="1" dirty="0">
                <a:latin typeface="Arial" panose="020B0604020202020204" pitchFamily="34" charset="0"/>
                <a:ea typeface="+mn-ea"/>
                <a:cs typeface="+mn-cs"/>
              </a:rPr>
              <a:t>Different Architectures for Baseline Conversion to AD: </a:t>
            </a:r>
            <a:r>
              <a:rPr lang="en-US" sz="1600" dirty="0">
                <a:latin typeface="Arial" panose="020B0604020202020204" pitchFamily="34" charset="0"/>
                <a:ea typeface="+mn-ea"/>
                <a:cs typeface="+mn-cs"/>
              </a:rPr>
              <a:t>sMCI vs pMCI (CNNs, LSTMs..)</a:t>
            </a:r>
          </a:p>
          <a:p>
            <a:pPr>
              <a:lnSpc>
                <a:spcPct val="100000"/>
              </a:lnSpc>
            </a:pPr>
            <a:r>
              <a:rPr lang="en-US" sz="1600" dirty="0">
                <a:latin typeface="Arial" panose="020B0604020202020204" pitchFamily="34" charset="0"/>
                <a:ea typeface="+mn-ea"/>
                <a:cs typeface="+mn-cs"/>
              </a:rPr>
              <a:t>+ Foundation Models (Brain-JEPA..)</a:t>
            </a:r>
          </a:p>
          <a:p>
            <a:pPr>
              <a:lnSpc>
                <a:spcPct val="100000"/>
              </a:lnSpc>
            </a:pPr>
            <a:r>
              <a:rPr lang="en-US" sz="1600" dirty="0">
                <a:latin typeface="Arial" panose="020B0604020202020204" pitchFamily="34" charset="0"/>
                <a:ea typeface="+mn-ea"/>
                <a:cs typeface="+mn-cs"/>
              </a:rPr>
              <a:t>+ SOTA Methods for fMRI Preprocessing</a:t>
            </a:r>
          </a:p>
          <a:p>
            <a:pPr>
              <a:lnSpc>
                <a:spcPct val="100000"/>
              </a:lnSpc>
            </a:pPr>
            <a:r>
              <a:rPr lang="en-US" sz="1600" dirty="0">
                <a:latin typeface="Arial" panose="020B0604020202020204" pitchFamily="34" charset="0"/>
                <a:ea typeface="+mn-ea"/>
                <a:cs typeface="+mn-cs"/>
              </a:rPr>
              <a:t>+ GNN Graph Generation (Task-aware GNN-based fMRI..)</a:t>
            </a:r>
          </a:p>
          <a:p>
            <a:pPr>
              <a:lnSpc>
                <a:spcPct val="100000"/>
              </a:lnSpc>
            </a:pPr>
            <a:r>
              <a:rPr lang="en-US" sz="1600" dirty="0">
                <a:latin typeface="Arial" panose="020B0604020202020204" pitchFamily="34" charset="0"/>
                <a:ea typeface="+mn-ea"/>
                <a:cs typeface="+mn-cs"/>
              </a:rPr>
              <a:t>+ Accuracy Improvements when including Genotypes, Aß, Cognitive Scores…</a:t>
            </a:r>
          </a:p>
        </p:txBody>
      </p:sp>
      <p:sp>
        <p:nvSpPr>
          <p:cNvPr id="7" name="Text Placeholder 4">
            <a:extLst>
              <a:ext uri="{FF2B5EF4-FFF2-40B4-BE49-F238E27FC236}">
                <a16:creationId xmlns:a16="http://schemas.microsoft.com/office/drawing/2014/main" id="{961E892A-3FFF-BBD2-61E4-DC754ECF7E66}"/>
              </a:ext>
            </a:extLst>
          </p:cNvPr>
          <p:cNvSpPr>
            <a:spLocks noGrp="1"/>
          </p:cNvSpPr>
          <p:nvPr>
            <p:ph type="body" sz="quarter" idx="14"/>
          </p:nvPr>
        </p:nvSpPr>
        <p:spPr>
          <a:xfrm>
            <a:off x="414882" y="912573"/>
            <a:ext cx="11345332" cy="428547"/>
          </a:xfrm>
        </p:spPr>
        <p:txBody>
          <a:bodyPr/>
          <a:lstStyle/>
          <a:p>
            <a:r>
              <a:rPr lang="en-US" b="1" i="1" dirty="0"/>
              <a:t>(OneNote Notebook)</a:t>
            </a:r>
          </a:p>
        </p:txBody>
      </p:sp>
    </p:spTree>
    <p:extLst>
      <p:ext uri="{BB962C8B-B14F-4D97-AF65-F5344CB8AC3E}">
        <p14:creationId xmlns:p14="http://schemas.microsoft.com/office/powerpoint/2010/main" val="26713927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 4" descr="TUM_Glockenturm.tif"/>
          <p:cNvPicPr>
            <a:picLocks noChangeAspect="1"/>
          </p:cNvPicPr>
          <p:nvPr/>
        </p:nvPicPr>
        <p:blipFill>
          <a:blip r:embed="rId3"/>
          <a:stretch>
            <a:fillRect/>
          </a:stretch>
        </p:blipFill>
        <p:spPr>
          <a:xfrm>
            <a:off x="5727407" y="1062269"/>
            <a:ext cx="6817853" cy="5950719"/>
          </a:xfrm>
          <a:prstGeom prst="rect">
            <a:avLst/>
          </a:prstGeom>
        </p:spPr>
      </p:pic>
      <p:sp>
        <p:nvSpPr>
          <p:cNvPr id="5" name="Titel 4"/>
          <p:cNvSpPr>
            <a:spLocks noGrp="1"/>
          </p:cNvSpPr>
          <p:nvPr>
            <p:ph type="title"/>
          </p:nvPr>
        </p:nvSpPr>
        <p:spPr>
          <a:xfrm>
            <a:off x="425454" y="1175683"/>
            <a:ext cx="11345332" cy="1725824"/>
          </a:xfrm>
        </p:spPr>
        <p:txBody>
          <a:bodyPr/>
          <a:lstStyle/>
          <a:p>
            <a:pPr>
              <a:lnSpc>
                <a:spcPts val="3333"/>
              </a:lnSpc>
            </a:pPr>
            <a:r>
              <a:rPr lang="en-US" sz="3733" b="1" dirty="0">
                <a:solidFill>
                  <a:srgbClr val="0064BD"/>
                </a:solidFill>
              </a:rPr>
              <a:t>Pretraining: Model Architecture</a:t>
            </a:r>
            <a:br>
              <a:rPr lang="en-US" sz="3733" b="1" dirty="0"/>
            </a:br>
            <a:r>
              <a:rPr lang="de-DE" sz="1867" b="1" dirty="0"/>
              <a:t>Fraj Yassine Lakhal</a:t>
            </a:r>
            <a:br>
              <a:rPr lang="de-DE" sz="1467" dirty="0"/>
            </a:br>
            <a:r>
              <a:rPr lang="en-US" sz="1867" dirty="0"/>
              <a:t>TUM School of Computation, Information and Technology</a:t>
            </a:r>
            <a:br>
              <a:rPr lang="de-DE" sz="2400" dirty="0"/>
            </a:br>
            <a:endParaRPr lang="en-US" sz="3733" b="1" dirty="0"/>
          </a:p>
        </p:txBody>
      </p:sp>
      <p:sp>
        <p:nvSpPr>
          <p:cNvPr id="3" name="Inhaltsplatzhalter 2"/>
          <p:cNvSpPr>
            <a:spLocks noGrp="1"/>
          </p:cNvSpPr>
          <p:nvPr>
            <p:ph idx="10"/>
          </p:nvPr>
        </p:nvSpPr>
        <p:spPr>
          <a:xfrm>
            <a:off x="416979" y="2712483"/>
            <a:ext cx="11349568" cy="3475957"/>
          </a:xfrm>
        </p:spPr>
        <p:txBody>
          <a:bodyPr/>
          <a:lstStyle/>
          <a:p>
            <a:r>
              <a:rPr lang="en-US" sz="1200" b="1" dirty="0"/>
              <a:t>Functional Neuroimaging, LMU</a:t>
            </a:r>
          </a:p>
          <a:p>
            <a:r>
              <a:rPr lang="de-DE" sz="1200" dirty="0">
                <a:solidFill>
                  <a:schemeClr val="bg1">
                    <a:lumMod val="50000"/>
                  </a:schemeClr>
                </a:solidFill>
              </a:rPr>
              <a:t>Supervisor: </a:t>
            </a:r>
            <a:r>
              <a:rPr lang="de-DE" sz="1200" dirty="0"/>
              <a:t>Dr. med. Stephan Wunderlich</a:t>
            </a:r>
          </a:p>
          <a:p>
            <a:endParaRPr lang="de-DE" sz="1200" i="1" dirty="0"/>
          </a:p>
          <a:p>
            <a:r>
              <a:rPr lang="en-US" sz="1200" b="1" dirty="0"/>
              <a:t>Computer Aided Medical Procedures &amp; Augmented Reality, TUM</a:t>
            </a:r>
          </a:p>
          <a:p>
            <a:r>
              <a:rPr lang="en-US" sz="1200" dirty="0">
                <a:solidFill>
                  <a:schemeClr val="bg1">
                    <a:lumMod val="50000"/>
                  </a:schemeClr>
                </a:solidFill>
              </a:rPr>
              <a:t>Supervisor(s): </a:t>
            </a:r>
            <a:r>
              <a:rPr lang="en-US" sz="1200" dirty="0"/>
              <a:t>M.Sc. Chantal Pellegrini, Dr. Shahrooz Faghihroohi</a:t>
            </a:r>
            <a:endParaRPr lang="en-US" sz="1200" i="1" dirty="0"/>
          </a:p>
          <a:p>
            <a:endParaRPr lang="en-US" i="1" dirty="0"/>
          </a:p>
          <a:p>
            <a:endParaRPr lang="en-US" i="1" dirty="0"/>
          </a:p>
        </p:txBody>
      </p:sp>
      <p:sp>
        <p:nvSpPr>
          <p:cNvPr id="7" name="TextBox 6">
            <a:extLst>
              <a:ext uri="{FF2B5EF4-FFF2-40B4-BE49-F238E27FC236}">
                <a16:creationId xmlns:a16="http://schemas.microsoft.com/office/drawing/2014/main" id="{4184250C-65B7-1FC9-52C3-8EE2008FD156}"/>
              </a:ext>
            </a:extLst>
          </p:cNvPr>
          <p:cNvSpPr txBox="1"/>
          <p:nvPr/>
        </p:nvSpPr>
        <p:spPr>
          <a:xfrm>
            <a:off x="305135" y="6521771"/>
            <a:ext cx="6096000" cy="256545"/>
          </a:xfrm>
          <a:prstGeom prst="rect">
            <a:avLst/>
          </a:prstGeom>
          <a:noFill/>
        </p:spPr>
        <p:txBody>
          <a:bodyPr wrap="square">
            <a:spAutoFit/>
          </a:bodyPr>
          <a:lstStyle/>
          <a:p>
            <a:r>
              <a:rPr lang="de-DE" sz="1067" b="1" dirty="0">
                <a:solidFill>
                  <a:schemeClr val="tx2"/>
                </a:solidFill>
              </a:rPr>
              <a:t>München, 13. Januar 2026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44761F-6EB7-9A91-4E6D-D2668F96A028}"/>
              </a:ext>
            </a:extLst>
          </p:cNvPr>
          <p:cNvSpPr>
            <a:spLocks noGrp="1"/>
          </p:cNvSpPr>
          <p:nvPr>
            <p:ph idx="1"/>
          </p:nvPr>
        </p:nvSpPr>
        <p:spPr/>
        <p:txBody>
          <a:bodyPr/>
          <a:lstStyle/>
          <a:p>
            <a:pPr marL="457189" indent="-457189">
              <a:buFont typeface="+mj-lt"/>
              <a:buAutoNum type="arabicPeriod"/>
            </a:pPr>
            <a:r>
              <a:rPr lang="en-US" dirty="0"/>
              <a:t>DELCODE Dataset</a:t>
            </a:r>
          </a:p>
          <a:p>
            <a:pPr marL="457189" indent="-457189">
              <a:buFont typeface="+mj-lt"/>
              <a:buAutoNum type="arabicPeriod"/>
            </a:pPr>
            <a:r>
              <a:rPr lang="en-US" dirty="0"/>
              <a:t>Statistical Tests </a:t>
            </a:r>
          </a:p>
          <a:p>
            <a:pPr marL="457189" indent="-457189">
              <a:buFont typeface="+mj-lt"/>
              <a:buAutoNum type="arabicPeriod"/>
            </a:pPr>
            <a:r>
              <a:rPr lang="en-US" dirty="0"/>
              <a:t>Pretrained Model Architecture: Supervised vs Unsupervised Learning</a:t>
            </a:r>
          </a:p>
        </p:txBody>
      </p:sp>
      <p:sp>
        <p:nvSpPr>
          <p:cNvPr id="3" name="Slide Number Placeholder 2">
            <a:extLst>
              <a:ext uri="{FF2B5EF4-FFF2-40B4-BE49-F238E27FC236}">
                <a16:creationId xmlns:a16="http://schemas.microsoft.com/office/drawing/2014/main" id="{F2128D28-3560-142B-A0AB-5D7D8B99B4BE}"/>
              </a:ext>
            </a:extLst>
          </p:cNvPr>
          <p:cNvSpPr>
            <a:spLocks noGrp="1"/>
          </p:cNvSpPr>
          <p:nvPr>
            <p:ph type="sldNum" sz="quarter" idx="11"/>
          </p:nvPr>
        </p:nvSpPr>
        <p:spPr/>
        <p:txBody>
          <a:bodyPr/>
          <a:lstStyle/>
          <a:p>
            <a:fld id="{CE58CB1E-F828-4F11-99E0-327109AF9DA4}" type="slidenum">
              <a:rPr lang="de-DE" smtClean="0"/>
              <a:pPr/>
              <a:t>41</a:t>
            </a:fld>
            <a:endParaRPr lang="de-DE" dirty="0"/>
          </a:p>
        </p:txBody>
      </p:sp>
      <p:sp>
        <p:nvSpPr>
          <p:cNvPr id="4" name="Footer Placeholder 3">
            <a:extLst>
              <a:ext uri="{FF2B5EF4-FFF2-40B4-BE49-F238E27FC236}">
                <a16:creationId xmlns:a16="http://schemas.microsoft.com/office/drawing/2014/main" id="{54A1DCA1-8162-C9D6-6570-F540DE8A8EF2}"/>
              </a:ext>
            </a:extLst>
          </p:cNvPr>
          <p:cNvSpPr>
            <a:spLocks noGrp="1"/>
          </p:cNvSpPr>
          <p:nvPr>
            <p:ph type="ftr" sz="quarter" idx="12"/>
          </p:nvPr>
        </p:nvSpPr>
        <p:spPr/>
        <p:txBody>
          <a:bodyPr/>
          <a:lstStyle/>
          <a:p>
            <a:r>
              <a:rPr lang="de-DE" sz="1067" dirty="0"/>
              <a:t>Fraj Yassine Lakhal (TUM)</a:t>
            </a:r>
            <a:endParaRPr lang="en-US" sz="1067" dirty="0"/>
          </a:p>
        </p:txBody>
      </p:sp>
      <p:sp>
        <p:nvSpPr>
          <p:cNvPr id="6" name="Title 5">
            <a:extLst>
              <a:ext uri="{FF2B5EF4-FFF2-40B4-BE49-F238E27FC236}">
                <a16:creationId xmlns:a16="http://schemas.microsoft.com/office/drawing/2014/main" id="{7E271AD9-A94F-EB48-25C6-61C781FF1439}"/>
              </a:ext>
            </a:extLst>
          </p:cNvPr>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25556699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2FA3D1A-4E27-FE38-5CE4-BEBEB2672667}"/>
              </a:ext>
            </a:extLst>
          </p:cNvPr>
          <p:cNvSpPr>
            <a:spLocks noGrp="1"/>
          </p:cNvSpPr>
          <p:nvPr>
            <p:ph type="sldNum" sz="quarter" idx="11"/>
          </p:nvPr>
        </p:nvSpPr>
        <p:spPr/>
        <p:txBody>
          <a:bodyPr/>
          <a:lstStyle/>
          <a:p>
            <a:fld id="{CE58CB1E-F828-4F11-99E0-327109AF9DA4}" type="slidenum">
              <a:rPr lang="de-DE" smtClean="0"/>
              <a:pPr/>
              <a:t>42</a:t>
            </a:fld>
            <a:endParaRPr lang="de-DE" dirty="0"/>
          </a:p>
        </p:txBody>
      </p:sp>
      <p:sp>
        <p:nvSpPr>
          <p:cNvPr id="4" name="Footer Placeholder 3">
            <a:extLst>
              <a:ext uri="{FF2B5EF4-FFF2-40B4-BE49-F238E27FC236}">
                <a16:creationId xmlns:a16="http://schemas.microsoft.com/office/drawing/2014/main" id="{D489F214-98D1-8CA9-22DD-A0E72C408F91}"/>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D75F33AD-E58F-6408-8AE1-61A04A4785A6}"/>
              </a:ext>
            </a:extLst>
          </p:cNvPr>
          <p:cNvSpPr>
            <a:spLocks noGrp="1"/>
          </p:cNvSpPr>
          <p:nvPr>
            <p:ph type="title"/>
          </p:nvPr>
        </p:nvSpPr>
        <p:spPr/>
        <p:txBody>
          <a:bodyPr/>
          <a:lstStyle/>
          <a:p>
            <a:r>
              <a:rPr lang="en-US" dirty="0"/>
              <a:t>DELCODE Dataset</a:t>
            </a:r>
          </a:p>
        </p:txBody>
      </p:sp>
      <p:sp>
        <p:nvSpPr>
          <p:cNvPr id="7" name="Text Placeholder 6">
            <a:extLst>
              <a:ext uri="{FF2B5EF4-FFF2-40B4-BE49-F238E27FC236}">
                <a16:creationId xmlns:a16="http://schemas.microsoft.com/office/drawing/2014/main" id="{A450FC7C-7DFA-14EA-CE77-F1655C10E2B0}"/>
              </a:ext>
            </a:extLst>
          </p:cNvPr>
          <p:cNvSpPr>
            <a:spLocks noGrp="1"/>
          </p:cNvSpPr>
          <p:nvPr>
            <p:ph type="body" sz="quarter" idx="14"/>
          </p:nvPr>
        </p:nvSpPr>
        <p:spPr/>
        <p:txBody>
          <a:bodyPr/>
          <a:lstStyle/>
          <a:p>
            <a:r>
              <a:rPr lang="en-US" b="1" dirty="0"/>
              <a:t>Cohorts</a:t>
            </a:r>
          </a:p>
        </p:txBody>
      </p:sp>
      <p:pic>
        <p:nvPicPr>
          <p:cNvPr id="13" name="Picture 12" descr="A screenshot of a medical code&#10;&#10;AI-generated content may be incorrect.">
            <a:extLst>
              <a:ext uri="{FF2B5EF4-FFF2-40B4-BE49-F238E27FC236}">
                <a16:creationId xmlns:a16="http://schemas.microsoft.com/office/drawing/2014/main" id="{AD532809-D453-19B4-5623-4A7FEAF9B398}"/>
              </a:ext>
            </a:extLst>
          </p:cNvPr>
          <p:cNvPicPr>
            <a:picLocks noChangeAspect="1"/>
          </p:cNvPicPr>
          <p:nvPr/>
        </p:nvPicPr>
        <p:blipFill>
          <a:blip r:embed="rId2"/>
          <a:srcRect t="21125"/>
          <a:stretch>
            <a:fillRect/>
          </a:stretch>
        </p:blipFill>
        <p:spPr>
          <a:xfrm>
            <a:off x="289942" y="1841291"/>
            <a:ext cx="4893153" cy="1963000"/>
          </a:xfrm>
          <a:prstGeom prst="rect">
            <a:avLst/>
          </a:prstGeom>
        </p:spPr>
      </p:pic>
      <p:pic>
        <p:nvPicPr>
          <p:cNvPr id="15" name="Picture 14" descr="A table with numbers and symbols&#10;&#10;AI-generated content may be incorrect.">
            <a:extLst>
              <a:ext uri="{FF2B5EF4-FFF2-40B4-BE49-F238E27FC236}">
                <a16:creationId xmlns:a16="http://schemas.microsoft.com/office/drawing/2014/main" id="{72B66211-5929-365E-ECFF-E803A36CBE4B}"/>
              </a:ext>
            </a:extLst>
          </p:cNvPr>
          <p:cNvPicPr>
            <a:picLocks noChangeAspect="1"/>
          </p:cNvPicPr>
          <p:nvPr/>
        </p:nvPicPr>
        <p:blipFill>
          <a:blip r:embed="rId3"/>
          <a:stretch>
            <a:fillRect/>
          </a:stretch>
        </p:blipFill>
        <p:spPr>
          <a:xfrm>
            <a:off x="5639443" y="1980986"/>
            <a:ext cx="5635756" cy="1863137"/>
          </a:xfrm>
          <a:prstGeom prst="rect">
            <a:avLst/>
          </a:prstGeom>
        </p:spPr>
      </p:pic>
      <p:pic>
        <p:nvPicPr>
          <p:cNvPr id="17" name="Picture 16" descr="A close up of a text&#10;&#10;AI-generated content may be incorrect.">
            <a:extLst>
              <a:ext uri="{FF2B5EF4-FFF2-40B4-BE49-F238E27FC236}">
                <a16:creationId xmlns:a16="http://schemas.microsoft.com/office/drawing/2014/main" id="{F0DFC5F3-67E9-5A56-B58B-5AE5DFBA8379}"/>
              </a:ext>
            </a:extLst>
          </p:cNvPr>
          <p:cNvPicPr>
            <a:picLocks noChangeAspect="1"/>
          </p:cNvPicPr>
          <p:nvPr/>
        </p:nvPicPr>
        <p:blipFill>
          <a:blip r:embed="rId4"/>
          <a:stretch>
            <a:fillRect/>
          </a:stretch>
        </p:blipFill>
        <p:spPr>
          <a:xfrm>
            <a:off x="5808039" y="1606763"/>
            <a:ext cx="2871683" cy="422517"/>
          </a:xfrm>
          <a:prstGeom prst="rect">
            <a:avLst/>
          </a:prstGeom>
        </p:spPr>
      </p:pic>
      <p:pic>
        <p:nvPicPr>
          <p:cNvPr id="19" name="Picture 18" descr="A table with numbers and a number&#10;&#10;AI-generated content may be incorrect.">
            <a:extLst>
              <a:ext uri="{FF2B5EF4-FFF2-40B4-BE49-F238E27FC236}">
                <a16:creationId xmlns:a16="http://schemas.microsoft.com/office/drawing/2014/main" id="{DBAC7385-BB60-DF06-E5C1-477E8A1BF859}"/>
              </a:ext>
            </a:extLst>
          </p:cNvPr>
          <p:cNvPicPr>
            <a:picLocks noChangeAspect="1"/>
          </p:cNvPicPr>
          <p:nvPr/>
        </p:nvPicPr>
        <p:blipFill>
          <a:blip r:embed="rId5"/>
          <a:stretch>
            <a:fillRect/>
          </a:stretch>
        </p:blipFill>
        <p:spPr>
          <a:xfrm>
            <a:off x="2890119" y="3910317"/>
            <a:ext cx="5298565" cy="2556403"/>
          </a:xfrm>
          <a:prstGeom prst="rect">
            <a:avLst/>
          </a:prstGeom>
        </p:spPr>
      </p:pic>
      <p:pic>
        <p:nvPicPr>
          <p:cNvPr id="20" name="Picture 19" descr="A screenshot of a medical code&#10;&#10;AI-generated content may be incorrect.">
            <a:extLst>
              <a:ext uri="{FF2B5EF4-FFF2-40B4-BE49-F238E27FC236}">
                <a16:creationId xmlns:a16="http://schemas.microsoft.com/office/drawing/2014/main" id="{76AAC5C3-CDBD-B179-D397-4FEC2DA787FD}"/>
              </a:ext>
            </a:extLst>
          </p:cNvPr>
          <p:cNvPicPr>
            <a:picLocks noChangeAspect="1"/>
          </p:cNvPicPr>
          <p:nvPr/>
        </p:nvPicPr>
        <p:blipFill>
          <a:blip r:embed="rId2"/>
          <a:srcRect t="3745" b="78113"/>
          <a:stretch>
            <a:fillRect/>
          </a:stretch>
        </p:blipFill>
        <p:spPr>
          <a:xfrm>
            <a:off x="488347" y="1606763"/>
            <a:ext cx="2608415" cy="240692"/>
          </a:xfrm>
          <a:prstGeom prst="rect">
            <a:avLst/>
          </a:prstGeom>
        </p:spPr>
      </p:pic>
    </p:spTree>
    <p:extLst>
      <p:ext uri="{BB962C8B-B14F-4D97-AF65-F5344CB8AC3E}">
        <p14:creationId xmlns:p14="http://schemas.microsoft.com/office/powerpoint/2010/main" val="7628089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medical report&#10;&#10;AI-generated content may be incorrect.">
            <a:extLst>
              <a:ext uri="{FF2B5EF4-FFF2-40B4-BE49-F238E27FC236}">
                <a16:creationId xmlns:a16="http://schemas.microsoft.com/office/drawing/2014/main" id="{BBBFCF18-90C7-02C6-B3C8-304AE374930F}"/>
              </a:ext>
            </a:extLst>
          </p:cNvPr>
          <p:cNvPicPr>
            <a:picLocks noGrp="1" noChangeAspect="1"/>
          </p:cNvPicPr>
          <p:nvPr>
            <p:ph idx="1"/>
          </p:nvPr>
        </p:nvPicPr>
        <p:blipFill>
          <a:blip r:embed="rId2"/>
          <a:srcRect r="1672"/>
          <a:stretch>
            <a:fillRect/>
          </a:stretch>
        </p:blipFill>
        <p:spPr>
          <a:xfrm>
            <a:off x="3461288" y="2286691"/>
            <a:ext cx="4577168" cy="3241052"/>
          </a:xfrm>
        </p:spPr>
      </p:pic>
      <p:sp>
        <p:nvSpPr>
          <p:cNvPr id="3" name="Slide Number Placeholder 2">
            <a:extLst>
              <a:ext uri="{FF2B5EF4-FFF2-40B4-BE49-F238E27FC236}">
                <a16:creationId xmlns:a16="http://schemas.microsoft.com/office/drawing/2014/main" id="{85777A20-8213-4510-E72C-3142DF1E71A0}"/>
              </a:ext>
            </a:extLst>
          </p:cNvPr>
          <p:cNvSpPr>
            <a:spLocks noGrp="1"/>
          </p:cNvSpPr>
          <p:nvPr>
            <p:ph type="sldNum" sz="quarter" idx="11"/>
          </p:nvPr>
        </p:nvSpPr>
        <p:spPr/>
        <p:txBody>
          <a:bodyPr/>
          <a:lstStyle/>
          <a:p>
            <a:fld id="{CE58CB1E-F828-4F11-99E0-327109AF9DA4}" type="slidenum">
              <a:rPr lang="de-DE" smtClean="0"/>
              <a:pPr/>
              <a:t>43</a:t>
            </a:fld>
            <a:endParaRPr lang="de-DE" dirty="0"/>
          </a:p>
        </p:txBody>
      </p:sp>
      <p:sp>
        <p:nvSpPr>
          <p:cNvPr id="4" name="Footer Placeholder 3">
            <a:extLst>
              <a:ext uri="{FF2B5EF4-FFF2-40B4-BE49-F238E27FC236}">
                <a16:creationId xmlns:a16="http://schemas.microsoft.com/office/drawing/2014/main" id="{56BDBC62-C57C-36F1-E55E-64E471D4D9A9}"/>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37DB13B5-5A67-1C83-F7F7-EA76D7E1178B}"/>
              </a:ext>
            </a:extLst>
          </p:cNvPr>
          <p:cNvSpPr>
            <a:spLocks noGrp="1"/>
          </p:cNvSpPr>
          <p:nvPr>
            <p:ph type="title"/>
          </p:nvPr>
        </p:nvSpPr>
        <p:spPr/>
        <p:txBody>
          <a:bodyPr/>
          <a:lstStyle/>
          <a:p>
            <a:r>
              <a:rPr lang="en-US" dirty="0"/>
              <a:t>DELCODE Dataset</a:t>
            </a:r>
          </a:p>
        </p:txBody>
      </p:sp>
      <p:sp>
        <p:nvSpPr>
          <p:cNvPr id="7" name="Text Placeholder 6">
            <a:extLst>
              <a:ext uri="{FF2B5EF4-FFF2-40B4-BE49-F238E27FC236}">
                <a16:creationId xmlns:a16="http://schemas.microsoft.com/office/drawing/2014/main" id="{E0986081-E52D-7555-2315-5EE0011C17F1}"/>
              </a:ext>
            </a:extLst>
          </p:cNvPr>
          <p:cNvSpPr>
            <a:spLocks noGrp="1"/>
          </p:cNvSpPr>
          <p:nvPr>
            <p:ph type="body" sz="quarter" idx="14"/>
          </p:nvPr>
        </p:nvSpPr>
        <p:spPr/>
        <p:txBody>
          <a:bodyPr/>
          <a:lstStyle/>
          <a:p>
            <a:r>
              <a:rPr lang="en-US" b="1" dirty="0"/>
              <a:t>Scanning Procedure</a:t>
            </a:r>
          </a:p>
        </p:txBody>
      </p:sp>
    </p:spTree>
    <p:extLst>
      <p:ext uri="{BB962C8B-B14F-4D97-AF65-F5344CB8AC3E}">
        <p14:creationId xmlns:p14="http://schemas.microsoft.com/office/powerpoint/2010/main" val="12426034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DF6933-C1A4-E001-E7D7-E40DC707C9CE}"/>
              </a:ext>
            </a:extLst>
          </p:cNvPr>
          <p:cNvSpPr>
            <a:spLocks noGrp="1"/>
          </p:cNvSpPr>
          <p:nvPr>
            <p:ph type="sldNum" sz="quarter" idx="11"/>
          </p:nvPr>
        </p:nvSpPr>
        <p:spPr/>
        <p:txBody>
          <a:bodyPr/>
          <a:lstStyle/>
          <a:p>
            <a:fld id="{CE58CB1E-F828-4F11-99E0-327109AF9DA4}" type="slidenum">
              <a:rPr lang="de-DE" smtClean="0"/>
              <a:pPr/>
              <a:t>44</a:t>
            </a:fld>
            <a:endParaRPr lang="de-DE" dirty="0"/>
          </a:p>
        </p:txBody>
      </p:sp>
      <p:sp>
        <p:nvSpPr>
          <p:cNvPr id="4" name="Footer Placeholder 3">
            <a:extLst>
              <a:ext uri="{FF2B5EF4-FFF2-40B4-BE49-F238E27FC236}">
                <a16:creationId xmlns:a16="http://schemas.microsoft.com/office/drawing/2014/main" id="{7DF5BA95-A17C-0046-9518-0ADD81A7314D}"/>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A54B474A-B420-42B0-8E1D-5FEFAFC2129E}"/>
              </a:ext>
            </a:extLst>
          </p:cNvPr>
          <p:cNvSpPr>
            <a:spLocks noGrp="1"/>
          </p:cNvSpPr>
          <p:nvPr>
            <p:ph type="title"/>
          </p:nvPr>
        </p:nvSpPr>
        <p:spPr/>
        <p:txBody>
          <a:bodyPr/>
          <a:lstStyle/>
          <a:p>
            <a:r>
              <a:rPr lang="en-US" dirty="0"/>
              <a:t>DELCODE Dataset</a:t>
            </a:r>
          </a:p>
        </p:txBody>
      </p:sp>
      <p:sp>
        <p:nvSpPr>
          <p:cNvPr id="7" name="Text Placeholder 6">
            <a:extLst>
              <a:ext uri="{FF2B5EF4-FFF2-40B4-BE49-F238E27FC236}">
                <a16:creationId xmlns:a16="http://schemas.microsoft.com/office/drawing/2014/main" id="{8EECA2DE-F875-D365-C883-4A8751A017CA}"/>
              </a:ext>
            </a:extLst>
          </p:cNvPr>
          <p:cNvSpPr>
            <a:spLocks noGrp="1"/>
          </p:cNvSpPr>
          <p:nvPr>
            <p:ph type="body" sz="quarter" idx="14"/>
          </p:nvPr>
        </p:nvSpPr>
        <p:spPr/>
        <p:txBody>
          <a:bodyPr/>
          <a:lstStyle/>
          <a:p>
            <a:r>
              <a:rPr lang="en-US" b="1" dirty="0"/>
              <a:t>Clinical Biomarkers</a:t>
            </a:r>
          </a:p>
        </p:txBody>
      </p:sp>
      <p:pic>
        <p:nvPicPr>
          <p:cNvPr id="13" name="Picture 12" descr="A close-up of a list of medical information&#10;&#10;AI-generated content may be incorrect.">
            <a:extLst>
              <a:ext uri="{FF2B5EF4-FFF2-40B4-BE49-F238E27FC236}">
                <a16:creationId xmlns:a16="http://schemas.microsoft.com/office/drawing/2014/main" id="{418C4964-6ECB-06A2-306D-9D83393F589E}"/>
              </a:ext>
            </a:extLst>
          </p:cNvPr>
          <p:cNvPicPr>
            <a:picLocks noChangeAspect="1"/>
          </p:cNvPicPr>
          <p:nvPr/>
        </p:nvPicPr>
        <p:blipFill>
          <a:blip r:embed="rId2"/>
          <a:stretch>
            <a:fillRect/>
          </a:stretch>
        </p:blipFill>
        <p:spPr>
          <a:xfrm>
            <a:off x="821781" y="3938840"/>
            <a:ext cx="4117011" cy="1444989"/>
          </a:xfrm>
          <a:prstGeom prst="rect">
            <a:avLst/>
          </a:prstGeom>
        </p:spPr>
      </p:pic>
      <p:pic>
        <p:nvPicPr>
          <p:cNvPr id="15" name="Picture 14" descr="A screenshot of a test&#10;&#10;AI-generated content may be incorrect.">
            <a:extLst>
              <a:ext uri="{FF2B5EF4-FFF2-40B4-BE49-F238E27FC236}">
                <a16:creationId xmlns:a16="http://schemas.microsoft.com/office/drawing/2014/main" id="{3F7AE476-B73D-D132-17A4-2DAD8B54F1A1}"/>
              </a:ext>
            </a:extLst>
          </p:cNvPr>
          <p:cNvPicPr>
            <a:picLocks noChangeAspect="1"/>
          </p:cNvPicPr>
          <p:nvPr/>
        </p:nvPicPr>
        <p:blipFill>
          <a:blip r:embed="rId3"/>
          <a:stretch>
            <a:fillRect/>
          </a:stretch>
        </p:blipFill>
        <p:spPr>
          <a:xfrm>
            <a:off x="6727267" y="4127491"/>
            <a:ext cx="4117011" cy="1067688"/>
          </a:xfrm>
          <a:prstGeom prst="rect">
            <a:avLst/>
          </a:prstGeom>
        </p:spPr>
      </p:pic>
      <p:pic>
        <p:nvPicPr>
          <p:cNvPr id="17" name="Picture 16" descr="A close-up of a cell&#10;&#10;AI-generated content may be incorrect.">
            <a:extLst>
              <a:ext uri="{FF2B5EF4-FFF2-40B4-BE49-F238E27FC236}">
                <a16:creationId xmlns:a16="http://schemas.microsoft.com/office/drawing/2014/main" id="{1509F402-FCC0-44A6-FF07-0F2FDEFA86A2}"/>
              </a:ext>
            </a:extLst>
          </p:cNvPr>
          <p:cNvPicPr>
            <a:picLocks noChangeAspect="1"/>
          </p:cNvPicPr>
          <p:nvPr/>
        </p:nvPicPr>
        <p:blipFill>
          <a:blip r:embed="rId4"/>
          <a:stretch>
            <a:fillRect/>
          </a:stretch>
        </p:blipFill>
        <p:spPr>
          <a:xfrm>
            <a:off x="6771719" y="5384104"/>
            <a:ext cx="4523052" cy="1037397"/>
          </a:xfrm>
          <a:prstGeom prst="rect">
            <a:avLst/>
          </a:prstGeom>
        </p:spPr>
      </p:pic>
      <p:pic>
        <p:nvPicPr>
          <p:cNvPr id="19" name="Picture 18" descr="A close up of a text&#10;&#10;AI-generated content may be incorrect.">
            <a:extLst>
              <a:ext uri="{FF2B5EF4-FFF2-40B4-BE49-F238E27FC236}">
                <a16:creationId xmlns:a16="http://schemas.microsoft.com/office/drawing/2014/main" id="{6D9AFF52-17C8-8BF5-9F28-31F3447884D9}"/>
              </a:ext>
            </a:extLst>
          </p:cNvPr>
          <p:cNvPicPr>
            <a:picLocks noChangeAspect="1"/>
          </p:cNvPicPr>
          <p:nvPr/>
        </p:nvPicPr>
        <p:blipFill>
          <a:blip r:embed="rId5"/>
          <a:stretch>
            <a:fillRect/>
          </a:stretch>
        </p:blipFill>
        <p:spPr>
          <a:xfrm>
            <a:off x="638040" y="5412104"/>
            <a:ext cx="6089227" cy="1156181"/>
          </a:xfrm>
          <a:prstGeom prst="rect">
            <a:avLst/>
          </a:prstGeom>
        </p:spPr>
      </p:pic>
      <p:pic>
        <p:nvPicPr>
          <p:cNvPr id="21" name="Content Placeholder 8" descr="A screenshot of a computer&#10;&#10;AI-generated content may be incorrect.">
            <a:extLst>
              <a:ext uri="{FF2B5EF4-FFF2-40B4-BE49-F238E27FC236}">
                <a16:creationId xmlns:a16="http://schemas.microsoft.com/office/drawing/2014/main" id="{DD31A84D-CD43-9B1C-19B7-059D48CCD871}"/>
              </a:ext>
            </a:extLst>
          </p:cNvPr>
          <p:cNvPicPr>
            <a:picLocks noGrp="1" noChangeAspect="1"/>
          </p:cNvPicPr>
          <p:nvPr>
            <p:ph idx="1"/>
          </p:nvPr>
        </p:nvPicPr>
        <p:blipFill>
          <a:blip r:embed="rId6"/>
          <a:stretch>
            <a:fillRect/>
          </a:stretch>
        </p:blipFill>
        <p:spPr>
          <a:xfrm>
            <a:off x="1891263" y="1518535"/>
            <a:ext cx="7927987" cy="2500493"/>
          </a:xfrm>
        </p:spPr>
      </p:pic>
    </p:spTree>
    <p:extLst>
      <p:ext uri="{BB962C8B-B14F-4D97-AF65-F5344CB8AC3E}">
        <p14:creationId xmlns:p14="http://schemas.microsoft.com/office/powerpoint/2010/main" val="36825248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5326549-830C-7B6F-7D61-85D04751712B}"/>
              </a:ext>
            </a:extLst>
          </p:cNvPr>
          <p:cNvSpPr>
            <a:spLocks noGrp="1"/>
          </p:cNvSpPr>
          <p:nvPr>
            <p:ph type="sldNum" sz="quarter" idx="11"/>
          </p:nvPr>
        </p:nvSpPr>
        <p:spPr/>
        <p:txBody>
          <a:bodyPr/>
          <a:lstStyle/>
          <a:p>
            <a:fld id="{CE58CB1E-F828-4F11-99E0-327109AF9DA4}" type="slidenum">
              <a:rPr lang="de-DE" smtClean="0"/>
              <a:pPr/>
              <a:t>45</a:t>
            </a:fld>
            <a:endParaRPr lang="de-DE" dirty="0"/>
          </a:p>
        </p:txBody>
      </p:sp>
      <p:sp>
        <p:nvSpPr>
          <p:cNvPr id="4" name="Footer Placeholder 3">
            <a:extLst>
              <a:ext uri="{FF2B5EF4-FFF2-40B4-BE49-F238E27FC236}">
                <a16:creationId xmlns:a16="http://schemas.microsoft.com/office/drawing/2014/main" id="{43402C12-C21D-6BD8-0F13-DE624B4ECD8D}"/>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C4276165-C245-36F6-6154-8E9B8EC51343}"/>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668C0405-1AAD-EC82-A554-5C64B71F46DD}"/>
              </a:ext>
            </a:extLst>
          </p:cNvPr>
          <p:cNvSpPr>
            <a:spLocks noGrp="1"/>
          </p:cNvSpPr>
          <p:nvPr>
            <p:ph type="body" sz="quarter" idx="14"/>
          </p:nvPr>
        </p:nvSpPr>
        <p:spPr/>
        <p:txBody>
          <a:bodyPr/>
          <a:lstStyle/>
          <a:p>
            <a:r>
              <a:rPr lang="en-US" b="1" dirty="0"/>
              <a:t>PERMANOVA Test</a:t>
            </a:r>
          </a:p>
        </p:txBody>
      </p:sp>
      <p:pic>
        <p:nvPicPr>
          <p:cNvPr id="17" name="Picture 16" descr="A graph with a number of permutations&#10;&#10;AI-generated content may be incorrect.">
            <a:extLst>
              <a:ext uri="{FF2B5EF4-FFF2-40B4-BE49-F238E27FC236}">
                <a16:creationId xmlns:a16="http://schemas.microsoft.com/office/drawing/2014/main" id="{1ABBE3F7-9EAB-CCC8-AAA7-BD6660A54552}"/>
              </a:ext>
            </a:extLst>
          </p:cNvPr>
          <p:cNvPicPr>
            <a:picLocks noChangeAspect="1"/>
          </p:cNvPicPr>
          <p:nvPr/>
        </p:nvPicPr>
        <p:blipFill>
          <a:blip r:embed="rId3"/>
          <a:stretch>
            <a:fillRect/>
          </a:stretch>
        </p:blipFill>
        <p:spPr>
          <a:xfrm>
            <a:off x="2082285" y="1749741"/>
            <a:ext cx="7215913" cy="3530827"/>
          </a:xfrm>
          <a:prstGeom prst="rect">
            <a:avLst/>
          </a:prstGeom>
        </p:spPr>
      </p:pic>
      <p:sp>
        <p:nvSpPr>
          <p:cNvPr id="20" name="TextBox 19">
            <a:extLst>
              <a:ext uri="{FF2B5EF4-FFF2-40B4-BE49-F238E27FC236}">
                <a16:creationId xmlns:a16="http://schemas.microsoft.com/office/drawing/2014/main" id="{34017C3A-C59F-5D11-654B-BFDCDE429115}"/>
              </a:ext>
            </a:extLst>
          </p:cNvPr>
          <p:cNvSpPr txBox="1"/>
          <p:nvPr/>
        </p:nvSpPr>
        <p:spPr>
          <a:xfrm>
            <a:off x="4096451" y="5280569"/>
            <a:ext cx="4388947" cy="414409"/>
          </a:xfrm>
          <a:prstGeom prst="rect">
            <a:avLst/>
          </a:prstGeom>
          <a:noFill/>
        </p:spPr>
        <p:txBody>
          <a:bodyPr wrap="square" lIns="0" tIns="0" rIns="0" bIns="0" rtlCol="0">
            <a:spAutoFit/>
          </a:bodyPr>
          <a:lstStyle/>
          <a:p>
            <a:pPr>
              <a:lnSpc>
                <a:spcPct val="114000"/>
              </a:lnSpc>
            </a:pPr>
            <a:r>
              <a:rPr lang="en-US" sz="800" dirty="0" err="1"/>
              <a:t>Rasero</a:t>
            </a:r>
            <a:r>
              <a:rPr lang="en-US" sz="800" dirty="0"/>
              <a:t>, J., Amoroso, N., La Rocca, M., Tangaro, S., Bellotti, R., &amp; Stramaglia, S. (2017). </a:t>
            </a:r>
            <a:br>
              <a:rPr lang="en-US" sz="800" dirty="0"/>
            </a:br>
            <a:r>
              <a:rPr lang="en-US" sz="800" dirty="0"/>
              <a:t>Multivariate regression analysis of structural MRI connectivity matrices in Alzheimer's disease. </a:t>
            </a:r>
            <a:br>
              <a:rPr lang="en-US" sz="800" dirty="0"/>
            </a:br>
            <a:r>
              <a:rPr lang="en-US" sz="800" i="1" dirty="0"/>
              <a:t>PLOS ONE</a:t>
            </a:r>
            <a:r>
              <a:rPr lang="en-US" sz="800" dirty="0"/>
              <a:t>, </a:t>
            </a:r>
            <a:r>
              <a:rPr lang="en-US" sz="800" i="1" dirty="0"/>
              <a:t>12</a:t>
            </a:r>
            <a:r>
              <a:rPr lang="en-US" sz="800" dirty="0"/>
              <a:t>(11), e0187281. </a:t>
            </a:r>
            <a:r>
              <a:rPr lang="en-US" sz="800" dirty="0">
                <a:hlinkClick r:id="rId4"/>
              </a:rPr>
              <a:t>https://doi.org/10.1371/journal.pone.0187281</a:t>
            </a:r>
            <a:endParaRPr lang="en-US" sz="800" dirty="0"/>
          </a:p>
        </p:txBody>
      </p:sp>
    </p:spTree>
    <p:extLst>
      <p:ext uri="{BB962C8B-B14F-4D97-AF65-F5344CB8AC3E}">
        <p14:creationId xmlns:p14="http://schemas.microsoft.com/office/powerpoint/2010/main" val="11747472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of a number of graphs&#10;&#10;AI-generated content may be incorrect.">
            <a:extLst>
              <a:ext uri="{FF2B5EF4-FFF2-40B4-BE49-F238E27FC236}">
                <a16:creationId xmlns:a16="http://schemas.microsoft.com/office/drawing/2014/main" id="{A96C523D-589B-3A01-5CAD-14151B590A66}"/>
              </a:ext>
            </a:extLst>
          </p:cNvPr>
          <p:cNvPicPr>
            <a:picLocks noGrp="1" noChangeAspect="1"/>
          </p:cNvPicPr>
          <p:nvPr>
            <p:ph idx="1"/>
          </p:nvPr>
        </p:nvPicPr>
        <p:blipFill>
          <a:blip r:embed="rId3"/>
          <a:stretch>
            <a:fillRect/>
          </a:stretch>
        </p:blipFill>
        <p:spPr>
          <a:xfrm>
            <a:off x="414881" y="2078074"/>
            <a:ext cx="11345332" cy="3867353"/>
          </a:xfrm>
        </p:spPr>
      </p:pic>
      <p:sp>
        <p:nvSpPr>
          <p:cNvPr id="3" name="Slide Number Placeholder 2">
            <a:extLst>
              <a:ext uri="{FF2B5EF4-FFF2-40B4-BE49-F238E27FC236}">
                <a16:creationId xmlns:a16="http://schemas.microsoft.com/office/drawing/2014/main" id="{EEC18936-5A86-F6ED-9AED-F7AB1124FBDE}"/>
              </a:ext>
            </a:extLst>
          </p:cNvPr>
          <p:cNvSpPr>
            <a:spLocks noGrp="1"/>
          </p:cNvSpPr>
          <p:nvPr>
            <p:ph type="sldNum" sz="quarter" idx="11"/>
          </p:nvPr>
        </p:nvSpPr>
        <p:spPr/>
        <p:txBody>
          <a:bodyPr/>
          <a:lstStyle/>
          <a:p>
            <a:fld id="{CE58CB1E-F828-4F11-99E0-327109AF9DA4}" type="slidenum">
              <a:rPr lang="de-DE" smtClean="0"/>
              <a:pPr/>
              <a:t>46</a:t>
            </a:fld>
            <a:endParaRPr lang="de-DE" dirty="0"/>
          </a:p>
        </p:txBody>
      </p:sp>
      <p:sp>
        <p:nvSpPr>
          <p:cNvPr id="4" name="Footer Placeholder 3">
            <a:extLst>
              <a:ext uri="{FF2B5EF4-FFF2-40B4-BE49-F238E27FC236}">
                <a16:creationId xmlns:a16="http://schemas.microsoft.com/office/drawing/2014/main" id="{C7F7DD30-2447-7C22-0A0A-E687B14F8309}"/>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57418D35-EE57-060A-7848-88C5EF453A2A}"/>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742D4139-1710-4DE3-1A05-D09E7A9E8DF8}"/>
              </a:ext>
            </a:extLst>
          </p:cNvPr>
          <p:cNvSpPr>
            <a:spLocks noGrp="1"/>
          </p:cNvSpPr>
          <p:nvPr>
            <p:ph type="body" sz="quarter" idx="14"/>
          </p:nvPr>
        </p:nvSpPr>
        <p:spPr/>
        <p:txBody>
          <a:bodyPr/>
          <a:lstStyle/>
          <a:p>
            <a:r>
              <a:rPr lang="en-US" b="1" dirty="0"/>
              <a:t>NBS Tests</a:t>
            </a:r>
          </a:p>
        </p:txBody>
      </p:sp>
      <p:sp>
        <p:nvSpPr>
          <p:cNvPr id="11" name="TextBox 10">
            <a:extLst>
              <a:ext uri="{FF2B5EF4-FFF2-40B4-BE49-F238E27FC236}">
                <a16:creationId xmlns:a16="http://schemas.microsoft.com/office/drawing/2014/main" id="{6DDF2C81-18D9-5B57-CA5F-AAFA6AABF49E}"/>
              </a:ext>
            </a:extLst>
          </p:cNvPr>
          <p:cNvSpPr txBox="1"/>
          <p:nvPr/>
        </p:nvSpPr>
        <p:spPr>
          <a:xfrm>
            <a:off x="2789696" y="6024704"/>
            <a:ext cx="6096000" cy="338554"/>
          </a:xfrm>
          <a:prstGeom prst="rect">
            <a:avLst/>
          </a:prstGeom>
          <a:noFill/>
        </p:spPr>
        <p:txBody>
          <a:bodyPr wrap="square">
            <a:spAutoFit/>
          </a:bodyPr>
          <a:lstStyle/>
          <a:p>
            <a:r>
              <a:rPr lang="en-US" sz="800" dirty="0">
                <a:latin typeface="fkGroteskNeue"/>
              </a:rPr>
              <a:t>Zalesky, A., </a:t>
            </a:r>
            <a:r>
              <a:rPr lang="en-US" sz="800" dirty="0" err="1">
                <a:latin typeface="fkGroteskNeue"/>
              </a:rPr>
              <a:t>Fornito</a:t>
            </a:r>
            <a:r>
              <a:rPr lang="en-US" sz="800" dirty="0">
                <a:latin typeface="fkGroteskNeue"/>
              </a:rPr>
              <a:t>, A., &amp; Bullmore, E. (2010). Network-based statistic: Identifying differences in brain networks. </a:t>
            </a:r>
            <a:r>
              <a:rPr lang="en-US" sz="800" i="1" dirty="0" err="1">
                <a:latin typeface="fkGroteskNeue"/>
              </a:rPr>
              <a:t>NeuroImage</a:t>
            </a:r>
            <a:r>
              <a:rPr lang="en-US" sz="800" dirty="0">
                <a:latin typeface="fkGroteskNeue"/>
              </a:rPr>
              <a:t>, </a:t>
            </a:r>
            <a:r>
              <a:rPr lang="en-US" sz="800" i="1" dirty="0">
                <a:latin typeface="fkGroteskNeue"/>
              </a:rPr>
              <a:t>53</a:t>
            </a:r>
            <a:r>
              <a:rPr lang="en-US" sz="800" dirty="0">
                <a:latin typeface="fkGroteskNeue"/>
              </a:rPr>
              <a:t>(4), 1197-1207. </a:t>
            </a:r>
            <a:r>
              <a:rPr lang="en-US" sz="800" dirty="0">
                <a:latin typeface="fkGroteskNeue"/>
                <a:hlinkClick r:id="rId4"/>
              </a:rPr>
              <a:t>https://doi.org/10.1016/j.neuroimage.2010.06.041</a:t>
            </a:r>
            <a:endParaRPr lang="en-US" sz="800" dirty="0"/>
          </a:p>
        </p:txBody>
      </p:sp>
    </p:spTree>
    <p:extLst>
      <p:ext uri="{BB962C8B-B14F-4D97-AF65-F5344CB8AC3E}">
        <p14:creationId xmlns:p14="http://schemas.microsoft.com/office/powerpoint/2010/main" val="9325272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een bar chart with orange and green lines&#10;&#10;AI-generated content may be incorrect.">
            <a:extLst>
              <a:ext uri="{FF2B5EF4-FFF2-40B4-BE49-F238E27FC236}">
                <a16:creationId xmlns:a16="http://schemas.microsoft.com/office/drawing/2014/main" id="{67E5AA75-7030-4BC5-8D9B-E1B938C41ECD}"/>
              </a:ext>
            </a:extLst>
          </p:cNvPr>
          <p:cNvPicPr>
            <a:picLocks noGrp="1" noChangeAspect="1"/>
          </p:cNvPicPr>
          <p:nvPr>
            <p:ph idx="1"/>
          </p:nvPr>
        </p:nvPicPr>
        <p:blipFill>
          <a:blip r:embed="rId3"/>
          <a:stretch>
            <a:fillRect/>
          </a:stretch>
        </p:blipFill>
        <p:spPr>
          <a:xfrm>
            <a:off x="438633" y="2164071"/>
            <a:ext cx="11297828" cy="3867149"/>
          </a:xfrm>
        </p:spPr>
      </p:pic>
      <p:sp>
        <p:nvSpPr>
          <p:cNvPr id="3" name="Slide Number Placeholder 2">
            <a:extLst>
              <a:ext uri="{FF2B5EF4-FFF2-40B4-BE49-F238E27FC236}">
                <a16:creationId xmlns:a16="http://schemas.microsoft.com/office/drawing/2014/main" id="{20D87AD9-FA45-A33B-7426-A7803F010EAD}"/>
              </a:ext>
            </a:extLst>
          </p:cNvPr>
          <p:cNvSpPr>
            <a:spLocks noGrp="1"/>
          </p:cNvSpPr>
          <p:nvPr>
            <p:ph type="sldNum" sz="quarter" idx="11"/>
          </p:nvPr>
        </p:nvSpPr>
        <p:spPr/>
        <p:txBody>
          <a:bodyPr/>
          <a:lstStyle/>
          <a:p>
            <a:fld id="{CE58CB1E-F828-4F11-99E0-327109AF9DA4}" type="slidenum">
              <a:rPr lang="de-DE" smtClean="0"/>
              <a:pPr/>
              <a:t>47</a:t>
            </a:fld>
            <a:endParaRPr lang="de-DE" dirty="0"/>
          </a:p>
        </p:txBody>
      </p:sp>
      <p:sp>
        <p:nvSpPr>
          <p:cNvPr id="4" name="Footer Placeholder 3">
            <a:extLst>
              <a:ext uri="{FF2B5EF4-FFF2-40B4-BE49-F238E27FC236}">
                <a16:creationId xmlns:a16="http://schemas.microsoft.com/office/drawing/2014/main" id="{78D15B63-580D-2F47-1B24-357477DDCB7E}"/>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D467DFFC-9812-B061-9BB8-65BBEE4A5891}"/>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33CDC6D0-27A2-E116-A1E5-884A669F5FD9}"/>
              </a:ext>
            </a:extLst>
          </p:cNvPr>
          <p:cNvSpPr>
            <a:spLocks noGrp="1"/>
          </p:cNvSpPr>
          <p:nvPr>
            <p:ph type="body" sz="quarter" idx="14"/>
          </p:nvPr>
        </p:nvSpPr>
        <p:spPr/>
        <p:txBody>
          <a:bodyPr/>
          <a:lstStyle/>
          <a:p>
            <a:r>
              <a:rPr lang="en-US" b="1" dirty="0"/>
              <a:t>NBS Tests</a:t>
            </a:r>
          </a:p>
        </p:txBody>
      </p:sp>
      <p:sp>
        <p:nvSpPr>
          <p:cNvPr id="10" name="TextBox 9">
            <a:extLst>
              <a:ext uri="{FF2B5EF4-FFF2-40B4-BE49-F238E27FC236}">
                <a16:creationId xmlns:a16="http://schemas.microsoft.com/office/drawing/2014/main" id="{71705560-7589-8936-85AD-C54FB24769A9}"/>
              </a:ext>
            </a:extLst>
          </p:cNvPr>
          <p:cNvSpPr txBox="1"/>
          <p:nvPr/>
        </p:nvSpPr>
        <p:spPr>
          <a:xfrm>
            <a:off x="3295975" y="6031220"/>
            <a:ext cx="6096000" cy="338554"/>
          </a:xfrm>
          <a:prstGeom prst="rect">
            <a:avLst/>
          </a:prstGeom>
          <a:noFill/>
        </p:spPr>
        <p:txBody>
          <a:bodyPr wrap="square">
            <a:spAutoFit/>
          </a:bodyPr>
          <a:lstStyle/>
          <a:p>
            <a:r>
              <a:rPr lang="en-US" sz="800" dirty="0">
                <a:latin typeface="fkGroteskNeue"/>
              </a:rPr>
              <a:t>Zalesky, A., </a:t>
            </a:r>
            <a:r>
              <a:rPr lang="en-US" sz="800" dirty="0" err="1">
                <a:latin typeface="fkGroteskNeue"/>
              </a:rPr>
              <a:t>Fornito</a:t>
            </a:r>
            <a:r>
              <a:rPr lang="en-US" sz="800" dirty="0">
                <a:latin typeface="fkGroteskNeue"/>
              </a:rPr>
              <a:t>, A., &amp; Bullmore, E. (2010). Network-based statistic: Identifying differences in brain networks. </a:t>
            </a:r>
            <a:r>
              <a:rPr lang="en-US" sz="800" i="1" dirty="0" err="1">
                <a:latin typeface="fkGroteskNeue"/>
              </a:rPr>
              <a:t>NeuroImage</a:t>
            </a:r>
            <a:r>
              <a:rPr lang="en-US" sz="800" dirty="0">
                <a:latin typeface="fkGroteskNeue"/>
              </a:rPr>
              <a:t>, </a:t>
            </a:r>
            <a:r>
              <a:rPr lang="en-US" sz="800" i="1" dirty="0">
                <a:latin typeface="fkGroteskNeue"/>
              </a:rPr>
              <a:t>53</a:t>
            </a:r>
            <a:r>
              <a:rPr lang="en-US" sz="800" dirty="0">
                <a:latin typeface="fkGroteskNeue"/>
              </a:rPr>
              <a:t>(4), 1197-1207. </a:t>
            </a:r>
            <a:r>
              <a:rPr lang="en-US" sz="800" dirty="0">
                <a:latin typeface="fkGroteskNeue"/>
                <a:hlinkClick r:id="rId4"/>
              </a:rPr>
              <a:t>https://doi.org/10.1016/j.neuroimage.2010.06.041</a:t>
            </a:r>
            <a:endParaRPr lang="en-US" sz="800" dirty="0"/>
          </a:p>
        </p:txBody>
      </p:sp>
    </p:spTree>
    <p:extLst>
      <p:ext uri="{BB962C8B-B14F-4D97-AF65-F5344CB8AC3E}">
        <p14:creationId xmlns:p14="http://schemas.microsoft.com/office/powerpoint/2010/main" val="22808137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of different sizes and colors&#10;&#10;AI-generated content may be incorrect.">
            <a:extLst>
              <a:ext uri="{FF2B5EF4-FFF2-40B4-BE49-F238E27FC236}">
                <a16:creationId xmlns:a16="http://schemas.microsoft.com/office/drawing/2014/main" id="{55E01426-F477-256C-3940-8D5BF35CA77D}"/>
              </a:ext>
            </a:extLst>
          </p:cNvPr>
          <p:cNvPicPr>
            <a:picLocks noGrp="1" noChangeAspect="1"/>
          </p:cNvPicPr>
          <p:nvPr>
            <p:ph idx="1"/>
          </p:nvPr>
        </p:nvPicPr>
        <p:blipFill>
          <a:blip r:embed="rId3"/>
          <a:stretch>
            <a:fillRect/>
          </a:stretch>
        </p:blipFill>
        <p:spPr>
          <a:xfrm>
            <a:off x="424013" y="1973541"/>
            <a:ext cx="11345332" cy="3867353"/>
          </a:xfrm>
        </p:spPr>
      </p:pic>
      <p:sp>
        <p:nvSpPr>
          <p:cNvPr id="3" name="Slide Number Placeholder 2">
            <a:extLst>
              <a:ext uri="{FF2B5EF4-FFF2-40B4-BE49-F238E27FC236}">
                <a16:creationId xmlns:a16="http://schemas.microsoft.com/office/drawing/2014/main" id="{1D673000-F8AD-110E-393C-75CB153F2CE6}"/>
              </a:ext>
            </a:extLst>
          </p:cNvPr>
          <p:cNvSpPr>
            <a:spLocks noGrp="1"/>
          </p:cNvSpPr>
          <p:nvPr>
            <p:ph type="sldNum" sz="quarter" idx="11"/>
          </p:nvPr>
        </p:nvSpPr>
        <p:spPr/>
        <p:txBody>
          <a:bodyPr/>
          <a:lstStyle/>
          <a:p>
            <a:fld id="{CE58CB1E-F828-4F11-99E0-327109AF9DA4}" type="slidenum">
              <a:rPr lang="de-DE" smtClean="0"/>
              <a:pPr/>
              <a:t>48</a:t>
            </a:fld>
            <a:endParaRPr lang="de-DE" dirty="0"/>
          </a:p>
        </p:txBody>
      </p:sp>
      <p:sp>
        <p:nvSpPr>
          <p:cNvPr id="4" name="Footer Placeholder 3">
            <a:extLst>
              <a:ext uri="{FF2B5EF4-FFF2-40B4-BE49-F238E27FC236}">
                <a16:creationId xmlns:a16="http://schemas.microsoft.com/office/drawing/2014/main" id="{A66DCFD5-5C99-A664-4B68-1137CF079743}"/>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E38D7C77-CC91-8CB0-B90A-BCBEA2B0DF3A}"/>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41EE289C-51DB-078A-180E-992AA41A7344}"/>
              </a:ext>
            </a:extLst>
          </p:cNvPr>
          <p:cNvSpPr>
            <a:spLocks noGrp="1"/>
          </p:cNvSpPr>
          <p:nvPr>
            <p:ph type="body" sz="quarter" idx="14"/>
          </p:nvPr>
        </p:nvSpPr>
        <p:spPr/>
        <p:txBody>
          <a:bodyPr/>
          <a:lstStyle/>
          <a:p>
            <a:r>
              <a:rPr lang="en-US" b="1" dirty="0"/>
              <a:t>FDR, Cohen’s d</a:t>
            </a:r>
          </a:p>
        </p:txBody>
      </p:sp>
      <p:sp>
        <p:nvSpPr>
          <p:cNvPr id="12" name="TextBox 11">
            <a:extLst>
              <a:ext uri="{FF2B5EF4-FFF2-40B4-BE49-F238E27FC236}">
                <a16:creationId xmlns:a16="http://schemas.microsoft.com/office/drawing/2014/main" id="{5819A151-FF1C-09A8-4EDB-ECDF0EFE317E}"/>
              </a:ext>
            </a:extLst>
          </p:cNvPr>
          <p:cNvSpPr txBox="1"/>
          <p:nvPr/>
        </p:nvSpPr>
        <p:spPr>
          <a:xfrm>
            <a:off x="6581613" y="5785000"/>
            <a:ext cx="5372747" cy="461665"/>
          </a:xfrm>
          <a:prstGeom prst="rect">
            <a:avLst/>
          </a:prstGeom>
          <a:noFill/>
        </p:spPr>
        <p:txBody>
          <a:bodyPr wrap="square">
            <a:spAutoFit/>
          </a:bodyPr>
          <a:lstStyle/>
          <a:p>
            <a:pPr algn="ctr"/>
            <a:r>
              <a:rPr lang="en-US" sz="800" dirty="0"/>
              <a:t>Miao D, Zhou X, Wu X, Chen C, Tian L. (2022). Distinct profiles of functional connectivity density aberrance in Alzheimer's disease and mild cognitive impairment. Frontiers in Psychiatry, 13:1079149. </a:t>
            </a:r>
            <a:r>
              <a:rPr lang="en-US" sz="800" dirty="0" err="1"/>
              <a:t>doi</a:t>
            </a:r>
            <a:r>
              <a:rPr lang="en-US" sz="800" dirty="0"/>
              <a:t>: 10.3389/fpsyt.2022.1079149</a:t>
            </a:r>
          </a:p>
        </p:txBody>
      </p:sp>
      <p:sp>
        <p:nvSpPr>
          <p:cNvPr id="15" name="TextBox 14">
            <a:extLst>
              <a:ext uri="{FF2B5EF4-FFF2-40B4-BE49-F238E27FC236}">
                <a16:creationId xmlns:a16="http://schemas.microsoft.com/office/drawing/2014/main" id="{F8B08B70-9028-12C2-D2E1-347FDB89DDD1}"/>
              </a:ext>
            </a:extLst>
          </p:cNvPr>
          <p:cNvSpPr txBox="1"/>
          <p:nvPr/>
        </p:nvSpPr>
        <p:spPr>
          <a:xfrm>
            <a:off x="1203898" y="5751391"/>
            <a:ext cx="4597831" cy="584775"/>
          </a:xfrm>
          <a:prstGeom prst="rect">
            <a:avLst/>
          </a:prstGeom>
          <a:noFill/>
        </p:spPr>
        <p:txBody>
          <a:bodyPr wrap="square">
            <a:spAutoFit/>
          </a:bodyPr>
          <a:lstStyle/>
          <a:p>
            <a:pPr algn="ctr"/>
            <a:r>
              <a:rPr lang="en-US" sz="800" dirty="0" err="1"/>
              <a:t>Rechberger</a:t>
            </a:r>
            <a:r>
              <a:rPr lang="en-US" sz="800" dirty="0"/>
              <a:t> S, Li Y, Kopetzky SJ, Butz-Ostendorf M; for the Alzheimer's Disease Neuroimaging Initiative. (2022). Automated High-Definition MRI Processing Routine Robustly Detects Longitudinal Morphometry Changes in Alzheimer's Disease Patients. Frontiers in Aging Neuroscience, 14:832828. </a:t>
            </a:r>
            <a:r>
              <a:rPr lang="en-US" sz="800" dirty="0" err="1"/>
              <a:t>doi</a:t>
            </a:r>
            <a:r>
              <a:rPr lang="en-US" sz="800" dirty="0"/>
              <a:t>: 10.3389/fnagi.2022.832828</a:t>
            </a:r>
          </a:p>
        </p:txBody>
      </p:sp>
    </p:spTree>
    <p:extLst>
      <p:ext uri="{BB962C8B-B14F-4D97-AF65-F5344CB8AC3E}">
        <p14:creationId xmlns:p14="http://schemas.microsoft.com/office/powerpoint/2010/main" val="20917479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of a number of people&#10;&#10;AI-generated content may be incorrect.">
            <a:extLst>
              <a:ext uri="{FF2B5EF4-FFF2-40B4-BE49-F238E27FC236}">
                <a16:creationId xmlns:a16="http://schemas.microsoft.com/office/drawing/2014/main" id="{0A7E799B-7691-15C6-59E5-10AD43F04D87}"/>
              </a:ext>
            </a:extLst>
          </p:cNvPr>
          <p:cNvPicPr>
            <a:picLocks noGrp="1" noChangeAspect="1"/>
          </p:cNvPicPr>
          <p:nvPr>
            <p:ph idx="1"/>
          </p:nvPr>
        </p:nvPicPr>
        <p:blipFill>
          <a:blip r:embed="rId3"/>
          <a:srcRect r="45166"/>
          <a:stretch>
            <a:fillRect/>
          </a:stretch>
        </p:blipFill>
        <p:spPr>
          <a:xfrm>
            <a:off x="2973116" y="2240886"/>
            <a:ext cx="5332504" cy="3332661"/>
          </a:xfrm>
        </p:spPr>
      </p:pic>
      <p:sp>
        <p:nvSpPr>
          <p:cNvPr id="3" name="Slide Number Placeholder 2">
            <a:extLst>
              <a:ext uri="{FF2B5EF4-FFF2-40B4-BE49-F238E27FC236}">
                <a16:creationId xmlns:a16="http://schemas.microsoft.com/office/drawing/2014/main" id="{2B6C6D29-86D4-50CB-D71D-C5DF03E101F4}"/>
              </a:ext>
            </a:extLst>
          </p:cNvPr>
          <p:cNvSpPr>
            <a:spLocks noGrp="1"/>
          </p:cNvSpPr>
          <p:nvPr>
            <p:ph type="sldNum" sz="quarter" idx="11"/>
          </p:nvPr>
        </p:nvSpPr>
        <p:spPr/>
        <p:txBody>
          <a:bodyPr/>
          <a:lstStyle/>
          <a:p>
            <a:fld id="{CE58CB1E-F828-4F11-99E0-327109AF9DA4}" type="slidenum">
              <a:rPr lang="de-DE" smtClean="0"/>
              <a:pPr/>
              <a:t>49</a:t>
            </a:fld>
            <a:endParaRPr lang="de-DE" dirty="0"/>
          </a:p>
        </p:txBody>
      </p:sp>
      <p:sp>
        <p:nvSpPr>
          <p:cNvPr id="4" name="Footer Placeholder 3">
            <a:extLst>
              <a:ext uri="{FF2B5EF4-FFF2-40B4-BE49-F238E27FC236}">
                <a16:creationId xmlns:a16="http://schemas.microsoft.com/office/drawing/2014/main" id="{4E84AE1A-6B6A-D36C-4BFA-0A01D942EA24}"/>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3A57FBD6-4731-0B9A-9D75-6709F3A8A272}"/>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1F3BF3C9-3427-B5B7-E427-30CE66626263}"/>
              </a:ext>
            </a:extLst>
          </p:cNvPr>
          <p:cNvSpPr>
            <a:spLocks noGrp="1"/>
          </p:cNvSpPr>
          <p:nvPr>
            <p:ph type="body" sz="quarter" idx="14"/>
          </p:nvPr>
        </p:nvSpPr>
        <p:spPr/>
        <p:txBody>
          <a:bodyPr/>
          <a:lstStyle/>
          <a:p>
            <a:r>
              <a:rPr lang="en-US" b="1" dirty="0"/>
              <a:t>Age Effect: Age distribution</a:t>
            </a:r>
          </a:p>
        </p:txBody>
      </p:sp>
    </p:spTree>
    <p:extLst>
      <p:ext uri="{BB962C8B-B14F-4D97-AF65-F5344CB8AC3E}">
        <p14:creationId xmlns:p14="http://schemas.microsoft.com/office/powerpoint/2010/main" val="27622118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809AC4-12B0-B392-321B-AC63DB42A2F0}"/>
              </a:ext>
            </a:extLst>
          </p:cNvPr>
          <p:cNvSpPr>
            <a:spLocks noGrp="1"/>
          </p:cNvSpPr>
          <p:nvPr>
            <p:ph idx="1"/>
          </p:nvPr>
        </p:nvSpPr>
        <p:spPr/>
        <p:txBody>
          <a:bodyPr/>
          <a:lstStyle/>
          <a:p>
            <a:r>
              <a:rPr lang="en-US" dirty="0"/>
              <a:t>1) </a:t>
            </a:r>
            <a:r>
              <a:rPr lang="en-US" b="1" dirty="0"/>
              <a:t>Connectivity = </a:t>
            </a:r>
            <a:r>
              <a:rPr lang="el-GR" b="1" dirty="0"/>
              <a:t>β₀ + β₁ × </a:t>
            </a:r>
            <a:r>
              <a:rPr lang="en-US" b="1" dirty="0"/>
              <a:t>Age + </a:t>
            </a:r>
            <a:r>
              <a:rPr lang="el-GR" b="1" dirty="0"/>
              <a:t>ε</a:t>
            </a:r>
            <a:endParaRPr lang="de-DE" b="1" dirty="0"/>
          </a:p>
          <a:p>
            <a:r>
              <a:rPr lang="en-US" dirty="0"/>
              <a:t>We fit a linear regression model</a:t>
            </a:r>
          </a:p>
          <a:p>
            <a:endParaRPr lang="en-US" dirty="0"/>
          </a:p>
          <a:p>
            <a:r>
              <a:rPr lang="en-US" dirty="0"/>
              <a:t>2) </a:t>
            </a:r>
            <a:r>
              <a:rPr lang="en-US" b="1" dirty="0"/>
              <a:t>Cᵢⱼᶜᵒ</a:t>
            </a:r>
            <a:r>
              <a:rPr lang="en-US" b="1" dirty="0" err="1"/>
              <a:t>ʳʳ</a:t>
            </a:r>
            <a:r>
              <a:rPr lang="en-US" b="1" dirty="0"/>
              <a:t>ᵉᶜᵗᵉᵈ = Cᵢⱼ - </a:t>
            </a:r>
            <a:r>
              <a:rPr lang="el-GR" b="1" dirty="0"/>
              <a:t>β₁ × </a:t>
            </a:r>
            <a:r>
              <a:rPr lang="en-US" b="1" dirty="0"/>
              <a:t>Ageᵢ + </a:t>
            </a:r>
            <a:r>
              <a:rPr lang="el-GR" b="1" dirty="0"/>
              <a:t>β₁ × </a:t>
            </a:r>
            <a:r>
              <a:rPr lang="en-US" b="1" dirty="0" err="1"/>
              <a:t>Age_mean</a:t>
            </a:r>
            <a:endParaRPr lang="en-US" b="1" dirty="0"/>
          </a:p>
          <a:p>
            <a:r>
              <a:rPr lang="en-US" dirty="0"/>
              <a:t>For each subject, we predict their connectivity based solely on their age using this model, then subtract this age-driven prediction from their actual connectivity values. </a:t>
            </a:r>
          </a:p>
          <a:p>
            <a:r>
              <a:rPr lang="en-US" dirty="0"/>
              <a:t>We add back the mean connectivity so the corrected values stay in a meaningful range</a:t>
            </a:r>
          </a:p>
        </p:txBody>
      </p:sp>
      <p:sp>
        <p:nvSpPr>
          <p:cNvPr id="3" name="Slide Number Placeholder 2">
            <a:extLst>
              <a:ext uri="{FF2B5EF4-FFF2-40B4-BE49-F238E27FC236}">
                <a16:creationId xmlns:a16="http://schemas.microsoft.com/office/drawing/2014/main" id="{FA9B1A1D-1DC4-F64B-8153-B901ABA69D87}"/>
              </a:ext>
            </a:extLst>
          </p:cNvPr>
          <p:cNvSpPr>
            <a:spLocks noGrp="1"/>
          </p:cNvSpPr>
          <p:nvPr>
            <p:ph type="sldNum" sz="quarter" idx="11"/>
          </p:nvPr>
        </p:nvSpPr>
        <p:spPr/>
        <p:txBody>
          <a:bodyPr/>
          <a:lstStyle/>
          <a:p>
            <a:fld id="{CE58CB1E-F828-4F11-99E0-327109AF9DA4}" type="slidenum">
              <a:rPr lang="de-DE" smtClean="0"/>
              <a:pPr/>
              <a:t>50</a:t>
            </a:fld>
            <a:endParaRPr lang="de-DE" dirty="0"/>
          </a:p>
        </p:txBody>
      </p:sp>
      <p:sp>
        <p:nvSpPr>
          <p:cNvPr id="4" name="Footer Placeholder 3">
            <a:extLst>
              <a:ext uri="{FF2B5EF4-FFF2-40B4-BE49-F238E27FC236}">
                <a16:creationId xmlns:a16="http://schemas.microsoft.com/office/drawing/2014/main" id="{5F6A4189-8C58-434F-B5A7-660E1239DC86}"/>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7596F0F7-297F-8C84-968B-17F94348C4AA}"/>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EED47019-E36C-EFEC-D3A4-05AD6605EE19}"/>
              </a:ext>
            </a:extLst>
          </p:cNvPr>
          <p:cNvSpPr>
            <a:spLocks noGrp="1"/>
          </p:cNvSpPr>
          <p:nvPr>
            <p:ph type="body" sz="quarter" idx="14"/>
          </p:nvPr>
        </p:nvSpPr>
        <p:spPr/>
        <p:txBody>
          <a:bodyPr/>
          <a:lstStyle/>
          <a:p>
            <a:r>
              <a:rPr lang="en-US" b="1" dirty="0"/>
              <a:t>Age Effect: Regressing out the age</a:t>
            </a:r>
          </a:p>
        </p:txBody>
      </p:sp>
    </p:spTree>
    <p:extLst>
      <p:ext uri="{BB962C8B-B14F-4D97-AF65-F5344CB8AC3E}">
        <p14:creationId xmlns:p14="http://schemas.microsoft.com/office/powerpoint/2010/main" val="13922508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een and red distribution graph&#10;&#10;AI-generated content may be incorrect.">
            <a:extLst>
              <a:ext uri="{FF2B5EF4-FFF2-40B4-BE49-F238E27FC236}">
                <a16:creationId xmlns:a16="http://schemas.microsoft.com/office/drawing/2014/main" id="{07E75429-9C6E-757A-2121-16A575425F8D}"/>
              </a:ext>
            </a:extLst>
          </p:cNvPr>
          <p:cNvPicPr>
            <a:picLocks noGrp="1" noChangeAspect="1"/>
          </p:cNvPicPr>
          <p:nvPr>
            <p:ph idx="1"/>
          </p:nvPr>
        </p:nvPicPr>
        <p:blipFill>
          <a:blip r:embed="rId2"/>
          <a:stretch>
            <a:fillRect/>
          </a:stretch>
        </p:blipFill>
        <p:spPr>
          <a:xfrm>
            <a:off x="362928" y="2711478"/>
            <a:ext cx="11345333" cy="3233949"/>
          </a:xfrm>
        </p:spPr>
      </p:pic>
      <p:sp>
        <p:nvSpPr>
          <p:cNvPr id="3" name="Slide Number Placeholder 2">
            <a:extLst>
              <a:ext uri="{FF2B5EF4-FFF2-40B4-BE49-F238E27FC236}">
                <a16:creationId xmlns:a16="http://schemas.microsoft.com/office/drawing/2014/main" id="{847C0C52-A522-F921-6FC0-957103F01121}"/>
              </a:ext>
            </a:extLst>
          </p:cNvPr>
          <p:cNvSpPr>
            <a:spLocks noGrp="1"/>
          </p:cNvSpPr>
          <p:nvPr>
            <p:ph type="sldNum" sz="quarter" idx="11"/>
          </p:nvPr>
        </p:nvSpPr>
        <p:spPr/>
        <p:txBody>
          <a:bodyPr/>
          <a:lstStyle/>
          <a:p>
            <a:fld id="{CE58CB1E-F828-4F11-99E0-327109AF9DA4}" type="slidenum">
              <a:rPr lang="de-DE" smtClean="0"/>
              <a:pPr/>
              <a:t>51</a:t>
            </a:fld>
            <a:endParaRPr lang="de-DE" dirty="0"/>
          </a:p>
        </p:txBody>
      </p:sp>
      <p:sp>
        <p:nvSpPr>
          <p:cNvPr id="4" name="Footer Placeholder 3">
            <a:extLst>
              <a:ext uri="{FF2B5EF4-FFF2-40B4-BE49-F238E27FC236}">
                <a16:creationId xmlns:a16="http://schemas.microsoft.com/office/drawing/2014/main" id="{D3853C22-9946-DC48-251F-313C80011AD5}"/>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B356E6B7-329F-07E3-FB4B-BED3508DA5AD}"/>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F38B31E3-8F14-8B26-04CA-B981C82B6B43}"/>
              </a:ext>
            </a:extLst>
          </p:cNvPr>
          <p:cNvSpPr>
            <a:spLocks noGrp="1"/>
          </p:cNvSpPr>
          <p:nvPr>
            <p:ph type="body" sz="quarter" idx="14"/>
          </p:nvPr>
        </p:nvSpPr>
        <p:spPr/>
        <p:txBody>
          <a:bodyPr/>
          <a:lstStyle/>
          <a:p>
            <a:r>
              <a:rPr lang="en-US" b="1" dirty="0"/>
              <a:t>Age Effect: Before and after regressing out the age</a:t>
            </a:r>
          </a:p>
          <a:p>
            <a:endParaRPr lang="en-US" b="1" dirty="0"/>
          </a:p>
        </p:txBody>
      </p:sp>
    </p:spTree>
    <p:extLst>
      <p:ext uri="{BB962C8B-B14F-4D97-AF65-F5344CB8AC3E}">
        <p14:creationId xmlns:p14="http://schemas.microsoft.com/office/powerpoint/2010/main" val="17789455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diagram of a computer&#10;&#10;AI-generated content may be incorrect.">
            <a:extLst>
              <a:ext uri="{FF2B5EF4-FFF2-40B4-BE49-F238E27FC236}">
                <a16:creationId xmlns:a16="http://schemas.microsoft.com/office/drawing/2014/main" id="{E51C662C-DE76-97DB-261A-980806B9F8B5}"/>
              </a:ext>
            </a:extLst>
          </p:cNvPr>
          <p:cNvPicPr>
            <a:picLocks noGrp="1" noChangeAspect="1"/>
          </p:cNvPicPr>
          <p:nvPr>
            <p:ph idx="1"/>
          </p:nvPr>
        </p:nvPicPr>
        <p:blipFill>
          <a:blip r:embed="rId2"/>
          <a:stretch>
            <a:fillRect/>
          </a:stretch>
        </p:blipFill>
        <p:spPr>
          <a:xfrm>
            <a:off x="564804" y="1525899"/>
            <a:ext cx="5187904" cy="5011941"/>
          </a:xfrm>
        </p:spPr>
      </p:pic>
      <p:sp>
        <p:nvSpPr>
          <p:cNvPr id="3" name="Slide Number Placeholder 2">
            <a:extLst>
              <a:ext uri="{FF2B5EF4-FFF2-40B4-BE49-F238E27FC236}">
                <a16:creationId xmlns:a16="http://schemas.microsoft.com/office/drawing/2014/main" id="{8A56FD0C-1F1F-454C-A688-B38F1DC25331}"/>
              </a:ext>
            </a:extLst>
          </p:cNvPr>
          <p:cNvSpPr>
            <a:spLocks noGrp="1"/>
          </p:cNvSpPr>
          <p:nvPr>
            <p:ph type="sldNum" sz="quarter" idx="11"/>
          </p:nvPr>
        </p:nvSpPr>
        <p:spPr/>
        <p:txBody>
          <a:bodyPr/>
          <a:lstStyle/>
          <a:p>
            <a:fld id="{CE58CB1E-F828-4F11-99E0-327109AF9DA4}" type="slidenum">
              <a:rPr lang="de-DE" smtClean="0"/>
              <a:pPr/>
              <a:t>52</a:t>
            </a:fld>
            <a:endParaRPr lang="de-DE" dirty="0"/>
          </a:p>
        </p:txBody>
      </p:sp>
      <p:sp>
        <p:nvSpPr>
          <p:cNvPr id="4" name="Footer Placeholder 3">
            <a:extLst>
              <a:ext uri="{FF2B5EF4-FFF2-40B4-BE49-F238E27FC236}">
                <a16:creationId xmlns:a16="http://schemas.microsoft.com/office/drawing/2014/main" id="{6F211E44-B32F-58BE-71FA-F39A2EFD23C0}"/>
              </a:ext>
            </a:extLst>
          </p:cNvPr>
          <p:cNvSpPr>
            <a:spLocks noGrp="1"/>
          </p:cNvSpPr>
          <p:nvPr>
            <p:ph type="ftr" sz="quarter" idx="12"/>
          </p:nvPr>
        </p:nvSpPr>
        <p:spPr/>
        <p:txBody>
          <a:bodyPr/>
          <a:lstStyle/>
          <a:p>
            <a:r>
              <a:rPr lang="de-DE"/>
              <a:t>Fraj Yassine Lakhal (TUM)</a:t>
            </a:r>
            <a:endParaRPr lang="en-US" dirty="0"/>
          </a:p>
        </p:txBody>
      </p:sp>
      <p:pic>
        <p:nvPicPr>
          <p:cNvPr id="11" name="Picture 10" descr="A diagram of a computer&#10;&#10;AI-generated content may be incorrect.">
            <a:extLst>
              <a:ext uri="{FF2B5EF4-FFF2-40B4-BE49-F238E27FC236}">
                <a16:creationId xmlns:a16="http://schemas.microsoft.com/office/drawing/2014/main" id="{153EBEE4-9C86-D636-F751-734F1AF1EC90}"/>
              </a:ext>
            </a:extLst>
          </p:cNvPr>
          <p:cNvPicPr>
            <a:picLocks noChangeAspect="1"/>
          </p:cNvPicPr>
          <p:nvPr/>
        </p:nvPicPr>
        <p:blipFill>
          <a:blip r:embed="rId3"/>
          <a:stretch>
            <a:fillRect/>
          </a:stretch>
        </p:blipFill>
        <p:spPr>
          <a:xfrm>
            <a:off x="6205982" y="1278562"/>
            <a:ext cx="4604257" cy="5009973"/>
          </a:xfrm>
          <a:prstGeom prst="rect">
            <a:avLst/>
          </a:prstGeom>
        </p:spPr>
      </p:pic>
      <p:sp>
        <p:nvSpPr>
          <p:cNvPr id="12" name="Title 5">
            <a:extLst>
              <a:ext uri="{FF2B5EF4-FFF2-40B4-BE49-F238E27FC236}">
                <a16:creationId xmlns:a16="http://schemas.microsoft.com/office/drawing/2014/main" id="{D071BD28-2CA4-9E49-82AD-641682EA575B}"/>
              </a:ext>
            </a:extLst>
          </p:cNvPr>
          <p:cNvSpPr>
            <a:spLocks noGrp="1"/>
          </p:cNvSpPr>
          <p:nvPr>
            <p:ph type="title"/>
          </p:nvPr>
        </p:nvSpPr>
        <p:spPr>
          <a:xfrm>
            <a:off x="414883" y="391280"/>
            <a:ext cx="11345332" cy="531940"/>
          </a:xfrm>
        </p:spPr>
        <p:txBody>
          <a:bodyPr/>
          <a:lstStyle/>
          <a:p>
            <a:r>
              <a:rPr lang="en-US" dirty="0"/>
              <a:t>Pretrained Model Architecture</a:t>
            </a:r>
          </a:p>
        </p:txBody>
      </p:sp>
      <p:sp>
        <p:nvSpPr>
          <p:cNvPr id="13" name="Text Placeholder 6">
            <a:extLst>
              <a:ext uri="{FF2B5EF4-FFF2-40B4-BE49-F238E27FC236}">
                <a16:creationId xmlns:a16="http://schemas.microsoft.com/office/drawing/2014/main" id="{B1AAB18C-337B-1E43-FCF7-426B21179538}"/>
              </a:ext>
            </a:extLst>
          </p:cNvPr>
          <p:cNvSpPr txBox="1">
            <a:spLocks/>
          </p:cNvSpPr>
          <p:nvPr/>
        </p:nvSpPr>
        <p:spPr>
          <a:xfrm>
            <a:off x="414882" y="912573"/>
            <a:ext cx="11345332" cy="428547"/>
          </a:xfrm>
          <a:prstGeom prst="rect">
            <a:avLst/>
          </a:prstGeom>
        </p:spPr>
        <p:txBody>
          <a:bodyPr lIns="0" tIns="124800" rIns="0" bIns="0"/>
          <a:lstStyle>
            <a:lvl1pPr marL="0" marR="0" indent="0" algn="l" defTabSz="914400" rtl="0" eaLnBrk="0" fontAlgn="base" latinLnBrk="0" hangingPunct="0">
              <a:lnSpc>
                <a:spcPts val="1800"/>
              </a:lnSpc>
              <a:spcBef>
                <a:spcPts val="600"/>
              </a:spcBef>
              <a:spcAft>
                <a:spcPct val="0"/>
              </a:spcAft>
              <a:buClrTx/>
              <a:buSzTx/>
              <a:buFontTx/>
              <a:buNone/>
              <a:tabLst/>
              <a:defRPr sz="1800" kern="1200">
                <a:solidFill>
                  <a:schemeClr val="bg2"/>
                </a:solidFill>
                <a:latin typeface="+mj-lt"/>
                <a:ea typeface="+mn-ea"/>
                <a:cs typeface="+mn-cs"/>
              </a:defRPr>
            </a:lvl1pPr>
            <a:lvl2pPr marL="0" indent="0" algn="l" rtl="0" eaLnBrk="0" fontAlgn="base" hangingPunct="0">
              <a:lnSpc>
                <a:spcPct val="100000"/>
              </a:lnSpc>
              <a:spcBef>
                <a:spcPct val="0"/>
              </a:spcBef>
              <a:spcAft>
                <a:spcPct val="0"/>
              </a:spcAft>
              <a:buFont typeface="Arial" charset="0"/>
              <a:buNone/>
              <a:defRPr sz="1600" kern="1200">
                <a:solidFill>
                  <a:schemeClr val="tx1"/>
                </a:solidFill>
                <a:latin typeface="+mn-lt"/>
                <a:ea typeface="+mn-ea"/>
                <a:cs typeface="+mn-cs"/>
              </a:defRPr>
            </a:lvl2pPr>
            <a:lvl3pPr marL="176213" indent="0" algn="l" rtl="0" eaLnBrk="0" fontAlgn="base" hangingPunct="0">
              <a:lnSpc>
                <a:spcPct val="125000"/>
              </a:lnSpc>
              <a:spcBef>
                <a:spcPct val="0"/>
              </a:spcBef>
              <a:spcAft>
                <a:spcPct val="0"/>
              </a:spcAft>
              <a:buFont typeface="Symbol" pitchFamily="18" charset="2"/>
              <a:buNone/>
              <a:defRPr sz="1400" kern="1200">
                <a:solidFill>
                  <a:schemeClr val="tx1"/>
                </a:solidFill>
                <a:latin typeface="+mn-lt"/>
                <a:ea typeface="+mn-ea"/>
                <a:cs typeface="+mn-cs"/>
              </a:defRPr>
            </a:lvl3pPr>
            <a:lvl4pPr marL="360363" indent="0" algn="l" rtl="0" eaLnBrk="0" fontAlgn="base" hangingPunct="0">
              <a:lnSpc>
                <a:spcPct val="125000"/>
              </a:lnSpc>
              <a:spcBef>
                <a:spcPct val="0"/>
              </a:spcBef>
              <a:spcAft>
                <a:spcPct val="0"/>
              </a:spcAft>
              <a:buFont typeface="Symbol" pitchFamily="18" charset="2"/>
              <a:buNone/>
              <a:defRPr sz="1400" kern="1200">
                <a:solidFill>
                  <a:schemeClr val="tx1"/>
                </a:solidFill>
                <a:latin typeface="+mn-lt"/>
                <a:ea typeface="+mn-ea"/>
                <a:cs typeface="+mn-cs"/>
              </a:defRPr>
            </a:lvl4pPr>
            <a:lvl5pPr marL="538162" indent="0" algn="l" rtl="0" eaLnBrk="0" fontAlgn="base" hangingPunct="0">
              <a:lnSpc>
                <a:spcPct val="125000"/>
              </a:lnSpc>
              <a:spcBef>
                <a:spcPct val="0"/>
              </a:spcBef>
              <a:spcAft>
                <a:spcPct val="0"/>
              </a:spcAft>
              <a:buFont typeface="Symbol" pitchFamily="18" charset="2"/>
              <a:buNone/>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GAAE vs GEC: Architectures</a:t>
            </a:r>
          </a:p>
        </p:txBody>
      </p:sp>
    </p:spTree>
    <p:extLst>
      <p:ext uri="{BB962C8B-B14F-4D97-AF65-F5344CB8AC3E}">
        <p14:creationId xmlns:p14="http://schemas.microsoft.com/office/powerpoint/2010/main" val="14314590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and a diagram&#10;&#10;AI-generated content may be incorrect.">
            <a:extLst>
              <a:ext uri="{FF2B5EF4-FFF2-40B4-BE49-F238E27FC236}">
                <a16:creationId xmlns:a16="http://schemas.microsoft.com/office/drawing/2014/main" id="{F052F937-F1AD-1205-914A-104A415A4DD3}"/>
              </a:ext>
            </a:extLst>
          </p:cNvPr>
          <p:cNvPicPr>
            <a:picLocks noGrp="1" noChangeAspect="1"/>
          </p:cNvPicPr>
          <p:nvPr>
            <p:ph idx="1"/>
          </p:nvPr>
        </p:nvPicPr>
        <p:blipFill>
          <a:blip r:embed="rId2"/>
          <a:stretch>
            <a:fillRect/>
          </a:stretch>
        </p:blipFill>
        <p:spPr>
          <a:xfrm>
            <a:off x="6415391" y="2805710"/>
            <a:ext cx="5570048" cy="2422257"/>
          </a:xfrm>
        </p:spPr>
      </p:pic>
      <p:sp>
        <p:nvSpPr>
          <p:cNvPr id="3" name="Slide Number Placeholder 2">
            <a:extLst>
              <a:ext uri="{FF2B5EF4-FFF2-40B4-BE49-F238E27FC236}">
                <a16:creationId xmlns:a16="http://schemas.microsoft.com/office/drawing/2014/main" id="{4A7CCB29-3A69-341C-EB5C-0F7E400C0968}"/>
              </a:ext>
            </a:extLst>
          </p:cNvPr>
          <p:cNvSpPr>
            <a:spLocks noGrp="1"/>
          </p:cNvSpPr>
          <p:nvPr>
            <p:ph type="sldNum" sz="quarter" idx="11"/>
          </p:nvPr>
        </p:nvSpPr>
        <p:spPr/>
        <p:txBody>
          <a:bodyPr/>
          <a:lstStyle/>
          <a:p>
            <a:fld id="{CE58CB1E-F828-4F11-99E0-327109AF9DA4}" type="slidenum">
              <a:rPr lang="de-DE" smtClean="0"/>
              <a:pPr/>
              <a:t>53</a:t>
            </a:fld>
            <a:endParaRPr lang="de-DE" dirty="0"/>
          </a:p>
        </p:txBody>
      </p:sp>
      <p:sp>
        <p:nvSpPr>
          <p:cNvPr id="4" name="Footer Placeholder 3">
            <a:extLst>
              <a:ext uri="{FF2B5EF4-FFF2-40B4-BE49-F238E27FC236}">
                <a16:creationId xmlns:a16="http://schemas.microsoft.com/office/drawing/2014/main" id="{A66FAC69-55BE-0238-36C8-2BAD851E70F8}"/>
              </a:ext>
            </a:extLst>
          </p:cNvPr>
          <p:cNvSpPr>
            <a:spLocks noGrp="1"/>
          </p:cNvSpPr>
          <p:nvPr>
            <p:ph type="ftr" sz="quarter" idx="12"/>
          </p:nvPr>
        </p:nvSpPr>
        <p:spPr/>
        <p:txBody>
          <a:bodyPr/>
          <a:lstStyle/>
          <a:p>
            <a:r>
              <a:rPr lang="de-DE" dirty="0"/>
              <a:t>Fraj Yassine Lakhal (TUM)</a:t>
            </a:r>
            <a:endParaRPr lang="en-US" dirty="0"/>
          </a:p>
        </p:txBody>
      </p:sp>
      <p:sp>
        <p:nvSpPr>
          <p:cNvPr id="6" name="Title 5">
            <a:extLst>
              <a:ext uri="{FF2B5EF4-FFF2-40B4-BE49-F238E27FC236}">
                <a16:creationId xmlns:a16="http://schemas.microsoft.com/office/drawing/2014/main" id="{9BBB13DB-2E32-AD6C-B28F-47B99B4CE355}"/>
              </a:ext>
            </a:extLst>
          </p:cNvPr>
          <p:cNvSpPr>
            <a:spLocks noGrp="1"/>
          </p:cNvSpPr>
          <p:nvPr>
            <p:ph type="title"/>
          </p:nvPr>
        </p:nvSpPr>
        <p:spPr/>
        <p:txBody>
          <a:bodyPr/>
          <a:lstStyle/>
          <a:p>
            <a:r>
              <a:rPr lang="en-US" dirty="0"/>
              <a:t>Pretrained Model Architecture</a:t>
            </a:r>
          </a:p>
        </p:txBody>
      </p:sp>
      <p:sp>
        <p:nvSpPr>
          <p:cNvPr id="7" name="Text Placeholder 6">
            <a:extLst>
              <a:ext uri="{FF2B5EF4-FFF2-40B4-BE49-F238E27FC236}">
                <a16:creationId xmlns:a16="http://schemas.microsoft.com/office/drawing/2014/main" id="{30A0163C-5848-9B69-4793-A7744AE0DC49}"/>
              </a:ext>
            </a:extLst>
          </p:cNvPr>
          <p:cNvSpPr>
            <a:spLocks noGrp="1"/>
          </p:cNvSpPr>
          <p:nvPr>
            <p:ph type="body" sz="quarter" idx="14"/>
          </p:nvPr>
        </p:nvSpPr>
        <p:spPr/>
        <p:txBody>
          <a:bodyPr/>
          <a:lstStyle/>
          <a:p>
            <a:r>
              <a:rPr lang="en-US" dirty="0"/>
              <a:t>GAAE vs GEC: Evaluation on Classification</a:t>
            </a:r>
          </a:p>
        </p:txBody>
      </p:sp>
      <p:pic>
        <p:nvPicPr>
          <p:cNvPr id="11" name="Picture 10" descr="A graph and diagram of a function&#10;&#10;AI-generated content may be incorrect.">
            <a:extLst>
              <a:ext uri="{FF2B5EF4-FFF2-40B4-BE49-F238E27FC236}">
                <a16:creationId xmlns:a16="http://schemas.microsoft.com/office/drawing/2014/main" id="{6FFC9430-F014-B10D-D3F8-F2DDE974D14A}"/>
              </a:ext>
            </a:extLst>
          </p:cNvPr>
          <p:cNvPicPr>
            <a:picLocks noChangeAspect="1"/>
          </p:cNvPicPr>
          <p:nvPr/>
        </p:nvPicPr>
        <p:blipFill>
          <a:blip r:embed="rId3"/>
          <a:stretch>
            <a:fillRect/>
          </a:stretch>
        </p:blipFill>
        <p:spPr>
          <a:xfrm>
            <a:off x="206562" y="2830732"/>
            <a:ext cx="5512509" cy="2397235"/>
          </a:xfrm>
          <a:prstGeom prst="rect">
            <a:avLst/>
          </a:prstGeom>
        </p:spPr>
      </p:pic>
      <p:sp>
        <p:nvSpPr>
          <p:cNvPr id="12" name="TextBox 11">
            <a:extLst>
              <a:ext uri="{FF2B5EF4-FFF2-40B4-BE49-F238E27FC236}">
                <a16:creationId xmlns:a16="http://schemas.microsoft.com/office/drawing/2014/main" id="{C2FE1463-45B7-D103-42A6-7F28CDE9067C}"/>
              </a:ext>
            </a:extLst>
          </p:cNvPr>
          <p:cNvSpPr txBox="1"/>
          <p:nvPr/>
        </p:nvSpPr>
        <p:spPr>
          <a:xfrm>
            <a:off x="7816031" y="5362611"/>
            <a:ext cx="2312813" cy="222753"/>
          </a:xfrm>
          <a:prstGeom prst="rect">
            <a:avLst/>
          </a:prstGeom>
          <a:noFill/>
        </p:spPr>
        <p:txBody>
          <a:bodyPr wrap="none" lIns="0" tIns="0" rIns="0" bIns="0" rtlCol="0">
            <a:spAutoFit/>
          </a:bodyPr>
          <a:lstStyle/>
          <a:p>
            <a:pPr>
              <a:lnSpc>
                <a:spcPct val="114000"/>
              </a:lnSpc>
            </a:pPr>
            <a:r>
              <a:rPr lang="en-US" sz="1333" dirty="0"/>
              <a:t>Graph Encoder Classifier (GEC)</a:t>
            </a:r>
          </a:p>
        </p:txBody>
      </p:sp>
      <p:sp>
        <p:nvSpPr>
          <p:cNvPr id="13" name="TextBox 12">
            <a:extLst>
              <a:ext uri="{FF2B5EF4-FFF2-40B4-BE49-F238E27FC236}">
                <a16:creationId xmlns:a16="http://schemas.microsoft.com/office/drawing/2014/main" id="{CEB3EAC7-ACE5-4835-8DF5-5F7C1A9855C9}"/>
              </a:ext>
            </a:extLst>
          </p:cNvPr>
          <p:cNvSpPr txBox="1"/>
          <p:nvPr/>
        </p:nvSpPr>
        <p:spPr>
          <a:xfrm>
            <a:off x="1825753" y="5362611"/>
            <a:ext cx="2774927" cy="222753"/>
          </a:xfrm>
          <a:prstGeom prst="rect">
            <a:avLst/>
          </a:prstGeom>
          <a:noFill/>
        </p:spPr>
        <p:txBody>
          <a:bodyPr wrap="none" lIns="0" tIns="0" rIns="0" bIns="0" rtlCol="0">
            <a:spAutoFit/>
          </a:bodyPr>
          <a:lstStyle/>
          <a:p>
            <a:pPr>
              <a:lnSpc>
                <a:spcPct val="114000"/>
              </a:lnSpc>
            </a:pPr>
            <a:r>
              <a:rPr lang="en-US" sz="1333" dirty="0"/>
              <a:t>Graph Attention Auto-Encoder (GAAE)</a:t>
            </a:r>
          </a:p>
        </p:txBody>
      </p:sp>
    </p:spTree>
    <p:extLst>
      <p:ext uri="{BB962C8B-B14F-4D97-AF65-F5344CB8AC3E}">
        <p14:creationId xmlns:p14="http://schemas.microsoft.com/office/powerpoint/2010/main" val="40314648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02416-8B9D-43E6-3998-FF7DE423321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9DB813B-5BF7-8704-FF1B-5D10C5671024}"/>
              </a:ext>
            </a:extLst>
          </p:cNvPr>
          <p:cNvSpPr>
            <a:spLocks noGrp="1"/>
          </p:cNvSpPr>
          <p:nvPr>
            <p:ph type="sldNum" sz="quarter" idx="11"/>
          </p:nvPr>
        </p:nvSpPr>
        <p:spPr/>
        <p:txBody>
          <a:bodyPr/>
          <a:lstStyle/>
          <a:p>
            <a:fld id="{CE58CB1E-F828-4F11-99E0-327109AF9DA4}" type="slidenum">
              <a:rPr lang="de-DE" smtClean="0"/>
              <a:pPr/>
              <a:t>54</a:t>
            </a:fld>
            <a:endParaRPr lang="de-DE" dirty="0"/>
          </a:p>
        </p:txBody>
      </p:sp>
      <p:sp>
        <p:nvSpPr>
          <p:cNvPr id="4" name="Footer Placeholder 3">
            <a:extLst>
              <a:ext uri="{FF2B5EF4-FFF2-40B4-BE49-F238E27FC236}">
                <a16:creationId xmlns:a16="http://schemas.microsoft.com/office/drawing/2014/main" id="{333E3ED3-A877-580E-AF11-DEBA7531ED87}"/>
              </a:ext>
            </a:extLst>
          </p:cNvPr>
          <p:cNvSpPr>
            <a:spLocks noGrp="1"/>
          </p:cNvSpPr>
          <p:nvPr>
            <p:ph type="ftr" sz="quarter" idx="12"/>
          </p:nvPr>
        </p:nvSpPr>
        <p:spPr/>
        <p:txBody>
          <a:bodyPr/>
          <a:lstStyle/>
          <a:p>
            <a:r>
              <a:rPr lang="de-DE" dirty="0"/>
              <a:t>Fraj Yassine Lakhal (TUM)</a:t>
            </a:r>
            <a:endParaRPr lang="en-US" dirty="0"/>
          </a:p>
        </p:txBody>
      </p:sp>
      <p:sp>
        <p:nvSpPr>
          <p:cNvPr id="6" name="Title 5">
            <a:extLst>
              <a:ext uri="{FF2B5EF4-FFF2-40B4-BE49-F238E27FC236}">
                <a16:creationId xmlns:a16="http://schemas.microsoft.com/office/drawing/2014/main" id="{C0F2A077-F3BD-5F4B-A7B9-3210C0BD2AFE}"/>
              </a:ext>
            </a:extLst>
          </p:cNvPr>
          <p:cNvSpPr>
            <a:spLocks noGrp="1"/>
          </p:cNvSpPr>
          <p:nvPr>
            <p:ph type="title"/>
          </p:nvPr>
        </p:nvSpPr>
        <p:spPr/>
        <p:txBody>
          <a:bodyPr/>
          <a:lstStyle/>
          <a:p>
            <a:r>
              <a:rPr lang="en-US" dirty="0"/>
              <a:t>Pretrained Model Architecture</a:t>
            </a:r>
          </a:p>
        </p:txBody>
      </p:sp>
      <p:sp>
        <p:nvSpPr>
          <p:cNvPr id="7" name="Text Placeholder 6">
            <a:extLst>
              <a:ext uri="{FF2B5EF4-FFF2-40B4-BE49-F238E27FC236}">
                <a16:creationId xmlns:a16="http://schemas.microsoft.com/office/drawing/2014/main" id="{FD203512-02E0-525B-EA9F-C4CAB94D44D6}"/>
              </a:ext>
            </a:extLst>
          </p:cNvPr>
          <p:cNvSpPr>
            <a:spLocks noGrp="1"/>
          </p:cNvSpPr>
          <p:nvPr>
            <p:ph type="body" sz="quarter" idx="14"/>
          </p:nvPr>
        </p:nvSpPr>
        <p:spPr/>
        <p:txBody>
          <a:bodyPr/>
          <a:lstStyle/>
          <a:p>
            <a:r>
              <a:rPr lang="en-US" dirty="0"/>
              <a:t>GAAE vs GEC: Evaluation on Classification</a:t>
            </a:r>
          </a:p>
        </p:txBody>
      </p:sp>
      <p:sp>
        <p:nvSpPr>
          <p:cNvPr id="8" name="Rectangle 1">
            <a:extLst>
              <a:ext uri="{FF2B5EF4-FFF2-40B4-BE49-F238E27FC236}">
                <a16:creationId xmlns:a16="http://schemas.microsoft.com/office/drawing/2014/main" id="{D78A75F4-3FBB-4A61-28E9-894D7BE30F4D}"/>
              </a:ext>
            </a:extLst>
          </p:cNvPr>
          <p:cNvSpPr>
            <a:spLocks noGrp="1" noChangeArrowheads="1"/>
          </p:cNvSpPr>
          <p:nvPr>
            <p:ph idx="1"/>
          </p:nvPr>
        </p:nvSpPr>
        <p:spPr bwMode="auto">
          <a:xfrm>
            <a:off x="414882" y="2754136"/>
            <a:ext cx="11004959"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ctr" anchorCtr="0" compatLnSpc="1">
            <a:prstTxWarp prst="textNoShape">
              <a:avLst/>
            </a:prstTxWarp>
            <a:spAutoFit/>
          </a:bodyPr>
          <a:lstStyle/>
          <a:p>
            <a:pPr marL="228594" indent="-228594" defTabSz="1219170" eaLnBrk="0" fontAlgn="base" hangingPunct="0">
              <a:lnSpc>
                <a:spcPct val="100000"/>
              </a:lnSpc>
              <a:spcBef>
                <a:spcPct val="0"/>
              </a:spcBef>
              <a:spcAft>
                <a:spcPct val="0"/>
              </a:spcAft>
            </a:pPr>
            <a:r>
              <a:rPr lang="en-US" altLang="en-US" sz="1400" b="1" dirty="0">
                <a:solidFill>
                  <a:srgbClr val="000000"/>
                </a:solidFill>
                <a:latin typeface="Arial" panose="020B0604020202020204" pitchFamily="34" charset="0"/>
              </a:rPr>
              <a:t>Discriminative Learning (Inter-Cohort Variability):</a:t>
            </a:r>
            <a:r>
              <a:rPr lang="en-US" altLang="en-US" sz="1400" dirty="0">
                <a:solidFill>
                  <a:srgbClr val="000000"/>
                </a:solidFill>
                <a:latin typeface="Arial" panose="020B0604020202020204" pitchFamily="34" charset="0"/>
              </a:rPr>
              <a:t> The GEC uses supervised learning with labeled data, which forces the model to focus on the variability </a:t>
            </a:r>
            <a:r>
              <a:rPr lang="en-US" altLang="en-US" sz="1400" i="1" dirty="0">
                <a:solidFill>
                  <a:srgbClr val="000000"/>
                </a:solidFill>
                <a:latin typeface="Arial" panose="020B0604020202020204" pitchFamily="34" charset="0"/>
              </a:rPr>
              <a:t>between</a:t>
            </a:r>
            <a:r>
              <a:rPr lang="en-US" altLang="en-US" sz="1400" dirty="0">
                <a:solidFill>
                  <a:srgbClr val="000000"/>
                </a:solidFill>
                <a:latin typeface="Arial" panose="020B0604020202020204" pitchFamily="34" charset="0"/>
              </a:rPr>
              <a:t> cohorts (e.g., Converters vs. Non-Converters) rather than the variability within them.</a:t>
            </a:r>
          </a:p>
          <a:p>
            <a:pPr defTabSz="1219170" eaLnBrk="0" fontAlgn="base" hangingPunct="0">
              <a:lnSpc>
                <a:spcPct val="100000"/>
              </a:lnSpc>
              <a:spcBef>
                <a:spcPct val="0"/>
              </a:spcBef>
              <a:spcAft>
                <a:spcPct val="0"/>
              </a:spcAft>
            </a:pPr>
            <a:endParaRPr lang="en-US" altLang="en-US" sz="1400" dirty="0">
              <a:solidFill>
                <a:srgbClr val="000000"/>
              </a:solidFill>
              <a:latin typeface="Arial" panose="020B0604020202020204" pitchFamily="34" charset="0"/>
            </a:endParaRPr>
          </a:p>
          <a:p>
            <a:pPr defTabSz="1219170" eaLnBrk="0" fontAlgn="base" hangingPunct="0">
              <a:lnSpc>
                <a:spcPct val="100000"/>
              </a:lnSpc>
              <a:spcBef>
                <a:spcPct val="0"/>
              </a:spcBef>
              <a:spcAft>
                <a:spcPct val="0"/>
              </a:spcAft>
            </a:pPr>
            <a:r>
              <a:rPr lang="en-US" altLang="en-US" sz="1400" dirty="0">
                <a:solidFill>
                  <a:srgbClr val="000000"/>
                </a:solidFill>
                <a:latin typeface="Arial" panose="020B0604020202020204" pitchFamily="34" charset="0"/>
              </a:rPr>
              <a:t>→ The GEC allows the model to identify specific nodes and edges in the brain graph that are critical for differentiating the cohorts, rather than trying to model the global brain structure.</a:t>
            </a:r>
          </a:p>
          <a:p>
            <a:pPr marL="228594" indent="-228594" defTabSz="1219170" eaLnBrk="0" fontAlgn="base" hangingPunct="0">
              <a:lnSpc>
                <a:spcPct val="100000"/>
              </a:lnSpc>
              <a:spcBef>
                <a:spcPct val="0"/>
              </a:spcBef>
              <a:spcAft>
                <a:spcPct val="0"/>
              </a:spcAft>
            </a:pPr>
            <a:endParaRPr lang="en-US" altLang="en-US" sz="1400" dirty="0">
              <a:solidFill>
                <a:srgbClr val="000000"/>
              </a:solidFill>
              <a:latin typeface="Arial" panose="020B0604020202020204" pitchFamily="34" charset="0"/>
            </a:endParaRPr>
          </a:p>
          <a:p>
            <a:pPr marL="228594" indent="-228594" defTabSz="1219170" eaLnBrk="0" fontAlgn="base" hangingPunct="0">
              <a:lnSpc>
                <a:spcPct val="100000"/>
              </a:lnSpc>
              <a:spcBef>
                <a:spcPct val="0"/>
              </a:spcBef>
              <a:spcAft>
                <a:spcPct val="0"/>
              </a:spcAft>
            </a:pPr>
            <a:endParaRPr lang="en-US" altLang="en-US" sz="1400" b="1" dirty="0">
              <a:solidFill>
                <a:srgbClr val="000000"/>
              </a:solidFill>
              <a:latin typeface="Arial" panose="020B0604020202020204" pitchFamily="34" charset="0"/>
            </a:endParaRPr>
          </a:p>
          <a:p>
            <a:pPr marL="228594" indent="-228594" defTabSz="1219170" eaLnBrk="0" fontAlgn="base" hangingPunct="0">
              <a:lnSpc>
                <a:spcPct val="100000"/>
              </a:lnSpc>
              <a:spcBef>
                <a:spcPct val="0"/>
              </a:spcBef>
              <a:spcAft>
                <a:spcPct val="0"/>
              </a:spcAft>
            </a:pPr>
            <a:r>
              <a:rPr lang="en-US" altLang="en-US" sz="1400" b="1" dirty="0">
                <a:solidFill>
                  <a:srgbClr val="000000"/>
                </a:solidFill>
                <a:latin typeface="Arial" panose="020B0604020202020204" pitchFamily="34" charset="0"/>
              </a:rPr>
              <a:t>Noise Reduction:</a:t>
            </a:r>
            <a:r>
              <a:rPr lang="en-US" altLang="en-US" sz="1400" dirty="0">
                <a:solidFill>
                  <a:srgbClr val="000000"/>
                </a:solidFill>
                <a:latin typeface="Arial" panose="020B0604020202020204" pitchFamily="34" charset="0"/>
              </a:rPr>
              <a:t> The reconstruction-based GAAE approach learned "noisy features" because the differences between patients </a:t>
            </a:r>
            <a:r>
              <a:rPr lang="en-US" altLang="en-US" sz="1400" i="1" dirty="0">
                <a:solidFill>
                  <a:srgbClr val="000000"/>
                </a:solidFill>
                <a:latin typeface="Arial" panose="020B0604020202020204" pitchFamily="34" charset="0"/>
              </a:rPr>
              <a:t>within</a:t>
            </a:r>
            <a:r>
              <a:rPr lang="en-US" altLang="en-US" sz="1400" dirty="0">
                <a:solidFill>
                  <a:srgbClr val="000000"/>
                </a:solidFill>
                <a:latin typeface="Arial" panose="020B0604020202020204" pitchFamily="34" charset="0"/>
              </a:rPr>
              <a:t> the same group were large. </a:t>
            </a:r>
          </a:p>
          <a:p>
            <a:pPr marL="228594" indent="-228594" defTabSz="1219170" eaLnBrk="0" fontAlgn="base" hangingPunct="0">
              <a:lnSpc>
                <a:spcPct val="100000"/>
              </a:lnSpc>
              <a:spcBef>
                <a:spcPct val="0"/>
              </a:spcBef>
              <a:spcAft>
                <a:spcPct val="0"/>
              </a:spcAft>
            </a:pPr>
            <a:endParaRPr lang="en-US" altLang="en-US" sz="1400" dirty="0">
              <a:solidFill>
                <a:srgbClr val="000000"/>
              </a:solidFill>
              <a:latin typeface="Arial" panose="020B0604020202020204" pitchFamily="34" charset="0"/>
            </a:endParaRPr>
          </a:p>
        </p:txBody>
      </p:sp>
    </p:spTree>
    <p:extLst>
      <p:ext uri="{BB962C8B-B14F-4D97-AF65-F5344CB8AC3E}">
        <p14:creationId xmlns:p14="http://schemas.microsoft.com/office/powerpoint/2010/main" val="17177742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 4" descr="TUM_Glockenturm.tif"/>
          <p:cNvPicPr>
            <a:picLocks noChangeAspect="1"/>
          </p:cNvPicPr>
          <p:nvPr/>
        </p:nvPicPr>
        <p:blipFill>
          <a:blip r:embed="rId3"/>
          <a:stretch>
            <a:fillRect/>
          </a:stretch>
        </p:blipFill>
        <p:spPr>
          <a:xfrm>
            <a:off x="5586730" y="907282"/>
            <a:ext cx="6817853" cy="5950719"/>
          </a:xfrm>
          <a:prstGeom prst="rect">
            <a:avLst/>
          </a:prstGeom>
        </p:spPr>
      </p:pic>
      <p:sp>
        <p:nvSpPr>
          <p:cNvPr id="5" name="Titel 4"/>
          <p:cNvSpPr>
            <a:spLocks noGrp="1"/>
          </p:cNvSpPr>
          <p:nvPr>
            <p:ph type="title"/>
          </p:nvPr>
        </p:nvSpPr>
        <p:spPr>
          <a:xfrm>
            <a:off x="425454" y="1175683"/>
            <a:ext cx="11345332" cy="1725824"/>
          </a:xfrm>
        </p:spPr>
        <p:txBody>
          <a:bodyPr>
            <a:normAutofit fontScale="90000"/>
          </a:bodyPr>
          <a:lstStyle/>
          <a:p>
            <a:pPr>
              <a:lnSpc>
                <a:spcPct val="100000"/>
              </a:lnSpc>
              <a:spcAft>
                <a:spcPts val="133"/>
              </a:spcAft>
            </a:pPr>
            <a:r>
              <a:rPr lang="en-US" sz="3733" b="1" dirty="0">
                <a:solidFill>
                  <a:srgbClr val="0064BD"/>
                </a:solidFill>
              </a:rPr>
              <a:t>Pretraining: </a:t>
            </a:r>
            <a:br>
              <a:rPr lang="en-US" sz="3733" b="1" dirty="0">
                <a:solidFill>
                  <a:srgbClr val="0064BD"/>
                </a:solidFill>
              </a:rPr>
            </a:br>
            <a:r>
              <a:rPr lang="en-US" sz="3733" b="1" dirty="0">
                <a:solidFill>
                  <a:srgbClr val="0064BD"/>
                </a:solidFill>
              </a:rPr>
              <a:t>Results + Classification</a:t>
            </a:r>
            <a:br>
              <a:rPr lang="en-US" sz="3733" b="1" dirty="0"/>
            </a:br>
            <a:br>
              <a:rPr lang="en-US" sz="1333" b="1" dirty="0"/>
            </a:br>
            <a:r>
              <a:rPr lang="de-DE" sz="1867" b="1" dirty="0"/>
              <a:t>Fraj Yassine Lakhal</a:t>
            </a:r>
            <a:br>
              <a:rPr lang="de-DE" sz="1467" dirty="0"/>
            </a:br>
            <a:r>
              <a:rPr lang="en-US" sz="1867" dirty="0"/>
              <a:t>TUM School of Computation, Information and Technology</a:t>
            </a:r>
            <a:br>
              <a:rPr lang="de-DE" sz="2400" dirty="0"/>
            </a:br>
            <a:endParaRPr lang="en-US" sz="3733" b="1" dirty="0"/>
          </a:p>
        </p:txBody>
      </p:sp>
      <p:sp>
        <p:nvSpPr>
          <p:cNvPr id="3" name="Inhaltsplatzhalter 2"/>
          <p:cNvSpPr>
            <a:spLocks noGrp="1"/>
          </p:cNvSpPr>
          <p:nvPr>
            <p:ph idx="10"/>
          </p:nvPr>
        </p:nvSpPr>
        <p:spPr>
          <a:xfrm>
            <a:off x="421216" y="3454196"/>
            <a:ext cx="11349568" cy="3475957"/>
          </a:xfrm>
        </p:spPr>
        <p:txBody>
          <a:bodyPr/>
          <a:lstStyle/>
          <a:p>
            <a:r>
              <a:rPr lang="en-US" sz="1200" b="1" dirty="0"/>
              <a:t>Functional Neuroimaging, LMU</a:t>
            </a:r>
          </a:p>
          <a:p>
            <a:r>
              <a:rPr lang="de-DE" sz="1200" dirty="0">
                <a:solidFill>
                  <a:schemeClr val="bg1">
                    <a:lumMod val="50000"/>
                  </a:schemeClr>
                </a:solidFill>
              </a:rPr>
              <a:t>Supervisor: </a:t>
            </a:r>
            <a:r>
              <a:rPr lang="de-DE" sz="1200" dirty="0"/>
              <a:t>Dr. med. Stephan Wunderlich</a:t>
            </a:r>
          </a:p>
          <a:p>
            <a:endParaRPr lang="de-DE" sz="1200" i="1" dirty="0"/>
          </a:p>
          <a:p>
            <a:r>
              <a:rPr lang="en-US" sz="1200" b="1" dirty="0"/>
              <a:t>Computer Aided Medical Procedures &amp; Augmented Reality, TUM</a:t>
            </a:r>
          </a:p>
          <a:p>
            <a:r>
              <a:rPr lang="en-US" sz="1200" dirty="0">
                <a:solidFill>
                  <a:schemeClr val="bg1">
                    <a:lumMod val="50000"/>
                  </a:schemeClr>
                </a:solidFill>
              </a:rPr>
              <a:t>Supervisor(s): </a:t>
            </a:r>
            <a:r>
              <a:rPr lang="en-US" sz="1200" dirty="0"/>
              <a:t>M.Sc. Chantal Pellegrini, Dr. Shahrooz Faghihroohi</a:t>
            </a:r>
            <a:endParaRPr lang="en-US" sz="1200" i="1" dirty="0"/>
          </a:p>
          <a:p>
            <a:endParaRPr lang="en-US" i="1" dirty="0"/>
          </a:p>
          <a:p>
            <a:endParaRPr lang="en-US" i="1" dirty="0"/>
          </a:p>
        </p:txBody>
      </p:sp>
      <p:sp>
        <p:nvSpPr>
          <p:cNvPr id="7" name="TextBox 6">
            <a:extLst>
              <a:ext uri="{FF2B5EF4-FFF2-40B4-BE49-F238E27FC236}">
                <a16:creationId xmlns:a16="http://schemas.microsoft.com/office/drawing/2014/main" id="{4184250C-65B7-1FC9-52C3-8EE2008FD156}"/>
              </a:ext>
            </a:extLst>
          </p:cNvPr>
          <p:cNvSpPr txBox="1"/>
          <p:nvPr/>
        </p:nvSpPr>
        <p:spPr>
          <a:xfrm>
            <a:off x="305135" y="6521771"/>
            <a:ext cx="6096000" cy="256545"/>
          </a:xfrm>
          <a:prstGeom prst="rect">
            <a:avLst/>
          </a:prstGeom>
          <a:noFill/>
        </p:spPr>
        <p:txBody>
          <a:bodyPr wrap="square">
            <a:spAutoFit/>
          </a:bodyPr>
          <a:lstStyle/>
          <a:p>
            <a:r>
              <a:rPr lang="de-DE" sz="1067" b="1" dirty="0">
                <a:solidFill>
                  <a:schemeClr val="tx2"/>
                </a:solidFill>
              </a:rPr>
              <a:t>München, 13. Januar 2026</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44761F-6EB7-9A91-4E6D-D2668F96A028}"/>
              </a:ext>
            </a:extLst>
          </p:cNvPr>
          <p:cNvSpPr>
            <a:spLocks noGrp="1"/>
          </p:cNvSpPr>
          <p:nvPr>
            <p:ph idx="1"/>
          </p:nvPr>
        </p:nvSpPr>
        <p:spPr/>
        <p:txBody>
          <a:bodyPr/>
          <a:lstStyle/>
          <a:p>
            <a:pPr marL="457189" indent="-457189">
              <a:buFont typeface="+mj-lt"/>
              <a:buAutoNum type="arabicPeriod"/>
            </a:pPr>
            <a:r>
              <a:rPr lang="en-US" dirty="0"/>
              <a:t>Papers Review</a:t>
            </a:r>
          </a:p>
          <a:p>
            <a:pPr marL="457189" indent="-457189">
              <a:buFont typeface="+mj-lt"/>
              <a:buAutoNum type="arabicPeriod"/>
            </a:pPr>
            <a:r>
              <a:rPr lang="en-US" dirty="0"/>
              <a:t>Latent Vector Study (from Pretrained Encoder)</a:t>
            </a:r>
          </a:p>
          <a:p>
            <a:pPr marL="457189" indent="-457189">
              <a:buFont typeface="+mj-lt"/>
              <a:buAutoNum type="arabicPeriod"/>
            </a:pPr>
            <a:r>
              <a:rPr lang="en-US" dirty="0"/>
              <a:t>Preparing for Kickoff Presentation</a:t>
            </a:r>
          </a:p>
        </p:txBody>
      </p:sp>
      <p:sp>
        <p:nvSpPr>
          <p:cNvPr id="3" name="Slide Number Placeholder 2">
            <a:extLst>
              <a:ext uri="{FF2B5EF4-FFF2-40B4-BE49-F238E27FC236}">
                <a16:creationId xmlns:a16="http://schemas.microsoft.com/office/drawing/2014/main" id="{F2128D28-3560-142B-A0AB-5D7D8B99B4BE}"/>
              </a:ext>
            </a:extLst>
          </p:cNvPr>
          <p:cNvSpPr>
            <a:spLocks noGrp="1"/>
          </p:cNvSpPr>
          <p:nvPr>
            <p:ph type="sldNum" sz="quarter" idx="11"/>
          </p:nvPr>
        </p:nvSpPr>
        <p:spPr/>
        <p:txBody>
          <a:bodyPr/>
          <a:lstStyle/>
          <a:p>
            <a:fld id="{CE58CB1E-F828-4F11-99E0-327109AF9DA4}" type="slidenum">
              <a:rPr lang="de-DE" smtClean="0"/>
              <a:pPr/>
              <a:t>56</a:t>
            </a:fld>
            <a:endParaRPr lang="de-DE" dirty="0"/>
          </a:p>
        </p:txBody>
      </p:sp>
      <p:sp>
        <p:nvSpPr>
          <p:cNvPr id="4" name="Footer Placeholder 3">
            <a:extLst>
              <a:ext uri="{FF2B5EF4-FFF2-40B4-BE49-F238E27FC236}">
                <a16:creationId xmlns:a16="http://schemas.microsoft.com/office/drawing/2014/main" id="{54A1DCA1-8162-C9D6-6570-F540DE8A8EF2}"/>
              </a:ext>
            </a:extLst>
          </p:cNvPr>
          <p:cNvSpPr>
            <a:spLocks noGrp="1"/>
          </p:cNvSpPr>
          <p:nvPr>
            <p:ph type="ftr" sz="quarter" idx="12"/>
          </p:nvPr>
        </p:nvSpPr>
        <p:spPr/>
        <p:txBody>
          <a:bodyPr/>
          <a:lstStyle/>
          <a:p>
            <a:r>
              <a:rPr lang="de-DE" sz="1067" dirty="0"/>
              <a:t>Fraj Yassine Lakhal (TUM)</a:t>
            </a:r>
            <a:endParaRPr lang="en-US" sz="1067" dirty="0"/>
          </a:p>
        </p:txBody>
      </p:sp>
      <p:sp>
        <p:nvSpPr>
          <p:cNvPr id="6" name="Title 5">
            <a:extLst>
              <a:ext uri="{FF2B5EF4-FFF2-40B4-BE49-F238E27FC236}">
                <a16:creationId xmlns:a16="http://schemas.microsoft.com/office/drawing/2014/main" id="{7E271AD9-A94F-EB48-25C6-61C781FF1439}"/>
              </a:ext>
            </a:extLst>
          </p:cNvPr>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25781708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71B4BF-D55F-AD5A-A71D-BE5A27D9603F}"/>
              </a:ext>
            </a:extLst>
          </p:cNvPr>
          <p:cNvSpPr>
            <a:spLocks noGrp="1"/>
          </p:cNvSpPr>
          <p:nvPr>
            <p:ph idx="1"/>
          </p:nvPr>
        </p:nvSpPr>
        <p:spPr>
          <a:xfrm>
            <a:off x="414882" y="1834570"/>
            <a:ext cx="6049556" cy="4632151"/>
          </a:xfrm>
        </p:spPr>
        <p:txBody>
          <a:bodyPr/>
          <a:lstStyle/>
          <a:p>
            <a:r>
              <a:rPr lang="en-US" sz="1400" dirty="0">
                <a:solidFill>
                  <a:srgbClr val="FF0000"/>
                </a:solidFill>
              </a:rPr>
              <a:t>- ST-GCN (Spatio-temporal GCN)</a:t>
            </a:r>
          </a:p>
          <a:p>
            <a:pPr marL="304792" indent="-304792">
              <a:buAutoNum type="arabicPeriod"/>
            </a:pPr>
            <a:r>
              <a:rPr lang="en-US" sz="1400" dirty="0"/>
              <a:t>Pretext Model (Unsupervised)</a:t>
            </a:r>
          </a:p>
          <a:p>
            <a:pPr marL="304792" indent="-304792">
              <a:buAutoNum type="arabicPeriod"/>
            </a:pPr>
            <a:r>
              <a:rPr lang="en-US" sz="1400" dirty="0"/>
              <a:t>Fine-Tuning Model (Supervised)</a:t>
            </a:r>
          </a:p>
          <a:p>
            <a:r>
              <a:rPr lang="en-US" sz="1400" dirty="0"/>
              <a:t>They jointly model the brain's network structure and how that activity evolves</a:t>
            </a:r>
          </a:p>
          <a:p>
            <a:r>
              <a:rPr lang="en-US" sz="1400" u="sng" dirty="0"/>
              <a:t>Spatial Edges:</a:t>
            </a:r>
            <a:r>
              <a:rPr lang="en-US" sz="1400" dirty="0"/>
              <a:t> connect different ROIs (nodes) within the same time point using Pearson correlation (what we do so far)</a:t>
            </a:r>
          </a:p>
          <a:p>
            <a:r>
              <a:rPr lang="en-US" sz="1400" u="sng" dirty="0">
                <a:highlight>
                  <a:srgbClr val="FFFF00"/>
                </a:highlight>
              </a:rPr>
              <a:t>Temporal Edges:</a:t>
            </a:r>
            <a:r>
              <a:rPr lang="en-US" sz="1400" dirty="0">
                <a:highlight>
                  <a:srgbClr val="FFFF00"/>
                </a:highlight>
              </a:rPr>
              <a:t> no “edges”, but they rather apply a standard 1D convolution kernel (size 1×L) that slides across the time axis</a:t>
            </a:r>
          </a:p>
          <a:p>
            <a:endParaRPr lang="en-US" sz="1400" dirty="0">
              <a:highlight>
                <a:srgbClr val="FFFF00"/>
              </a:highlight>
            </a:endParaRPr>
          </a:p>
          <a:p>
            <a:r>
              <a:rPr lang="en-US" sz="1400" dirty="0">
                <a:solidFill>
                  <a:srgbClr val="FF0000"/>
                </a:solidFill>
              </a:rPr>
              <a:t>- Statistical Significance Analysis</a:t>
            </a:r>
          </a:p>
          <a:p>
            <a:r>
              <a:rPr lang="en-US" sz="1400" dirty="0"/>
              <a:t>Used a paired sample t-test to evaluate the difference in prediction probability distributions between their proposed UCGL model and nine competing methods</a:t>
            </a:r>
          </a:p>
        </p:txBody>
      </p:sp>
      <p:sp>
        <p:nvSpPr>
          <p:cNvPr id="3" name="Slide Number Placeholder 2">
            <a:extLst>
              <a:ext uri="{FF2B5EF4-FFF2-40B4-BE49-F238E27FC236}">
                <a16:creationId xmlns:a16="http://schemas.microsoft.com/office/drawing/2014/main" id="{85588876-642F-0378-E8A8-9679EF598E03}"/>
              </a:ext>
            </a:extLst>
          </p:cNvPr>
          <p:cNvSpPr>
            <a:spLocks noGrp="1"/>
          </p:cNvSpPr>
          <p:nvPr>
            <p:ph type="sldNum" sz="quarter" idx="11"/>
          </p:nvPr>
        </p:nvSpPr>
        <p:spPr/>
        <p:txBody>
          <a:bodyPr/>
          <a:lstStyle/>
          <a:p>
            <a:fld id="{CE58CB1E-F828-4F11-99E0-327109AF9DA4}" type="slidenum">
              <a:rPr lang="de-DE" smtClean="0"/>
              <a:pPr/>
              <a:t>57</a:t>
            </a:fld>
            <a:endParaRPr lang="de-DE" dirty="0"/>
          </a:p>
        </p:txBody>
      </p:sp>
      <p:sp>
        <p:nvSpPr>
          <p:cNvPr id="4" name="Footer Placeholder 3">
            <a:extLst>
              <a:ext uri="{FF2B5EF4-FFF2-40B4-BE49-F238E27FC236}">
                <a16:creationId xmlns:a16="http://schemas.microsoft.com/office/drawing/2014/main" id="{98F4C661-6276-B05D-FC45-D7B74B6B3544}"/>
              </a:ext>
            </a:extLst>
          </p:cNvPr>
          <p:cNvSpPr>
            <a:spLocks noGrp="1"/>
          </p:cNvSpPr>
          <p:nvPr>
            <p:ph type="ftr" sz="quarter" idx="12"/>
          </p:nvPr>
        </p:nvSpPr>
        <p:spPr/>
        <p:txBody>
          <a:bodyPr/>
          <a:lstStyle/>
          <a:p>
            <a:r>
              <a:rPr lang="de-DE" dirty="0"/>
              <a:t>Fraj Yassine Lakhal (TUM)</a:t>
            </a:r>
            <a:endParaRPr lang="en-US" dirty="0"/>
          </a:p>
        </p:txBody>
      </p:sp>
      <p:sp>
        <p:nvSpPr>
          <p:cNvPr id="6" name="Title 5">
            <a:extLst>
              <a:ext uri="{FF2B5EF4-FFF2-40B4-BE49-F238E27FC236}">
                <a16:creationId xmlns:a16="http://schemas.microsoft.com/office/drawing/2014/main" id="{A801BA00-2FF2-ABBA-A2FC-2A92CCA4EEE6}"/>
              </a:ext>
            </a:extLst>
          </p:cNvPr>
          <p:cNvSpPr>
            <a:spLocks noGrp="1"/>
          </p:cNvSpPr>
          <p:nvPr>
            <p:ph type="title"/>
          </p:nvPr>
        </p:nvSpPr>
        <p:spPr>
          <a:xfrm>
            <a:off x="414883" y="391280"/>
            <a:ext cx="11345332" cy="492443"/>
          </a:xfrm>
        </p:spPr>
        <p:txBody>
          <a:bodyPr/>
          <a:lstStyle/>
          <a:p>
            <a:pPr>
              <a:lnSpc>
                <a:spcPct val="100000"/>
              </a:lnSpc>
            </a:pPr>
            <a:r>
              <a:rPr lang="en-US" sz="1600" dirty="0"/>
              <a:t>Unsupervised contrastive graph learning for resting-state functional MRI analysis and brain disorder detection </a:t>
            </a:r>
            <a:br>
              <a:rPr lang="en-US" sz="1600" dirty="0"/>
            </a:br>
            <a:r>
              <a:rPr lang="en-US" sz="1600" dirty="0"/>
              <a:t>(Weng et al. 2023)</a:t>
            </a:r>
          </a:p>
        </p:txBody>
      </p:sp>
      <p:sp>
        <p:nvSpPr>
          <p:cNvPr id="8" name="Text Placeholder 6">
            <a:extLst>
              <a:ext uri="{FF2B5EF4-FFF2-40B4-BE49-F238E27FC236}">
                <a16:creationId xmlns:a16="http://schemas.microsoft.com/office/drawing/2014/main" id="{BAE16D7A-6674-44F7-7051-231EBAD024EA}"/>
              </a:ext>
            </a:extLst>
          </p:cNvPr>
          <p:cNvSpPr>
            <a:spLocks noGrp="1"/>
          </p:cNvSpPr>
          <p:nvPr>
            <p:ph type="body" sz="quarter" idx="14"/>
          </p:nvPr>
        </p:nvSpPr>
        <p:spPr>
          <a:xfrm>
            <a:off x="414882" y="912573"/>
            <a:ext cx="11345332" cy="428547"/>
          </a:xfrm>
        </p:spPr>
        <p:txBody>
          <a:bodyPr/>
          <a:lstStyle/>
          <a:p>
            <a:endParaRPr lang="en-US" dirty="0"/>
          </a:p>
        </p:txBody>
      </p:sp>
      <p:pic>
        <p:nvPicPr>
          <p:cNvPr id="10" name="Picture 9" descr="A diagram of a multi-layer structure&#10;&#10;AI-generated content may be incorrect.">
            <a:extLst>
              <a:ext uri="{FF2B5EF4-FFF2-40B4-BE49-F238E27FC236}">
                <a16:creationId xmlns:a16="http://schemas.microsoft.com/office/drawing/2014/main" id="{6808554B-D46C-DFBE-662D-E91822944530}"/>
              </a:ext>
            </a:extLst>
          </p:cNvPr>
          <p:cNvPicPr>
            <a:picLocks noChangeAspect="1"/>
          </p:cNvPicPr>
          <p:nvPr/>
        </p:nvPicPr>
        <p:blipFill>
          <a:blip r:embed="rId3"/>
          <a:stretch>
            <a:fillRect/>
          </a:stretch>
        </p:blipFill>
        <p:spPr>
          <a:xfrm>
            <a:off x="6707689" y="2180432"/>
            <a:ext cx="5357568" cy="2729771"/>
          </a:xfrm>
          <a:prstGeom prst="rect">
            <a:avLst/>
          </a:prstGeom>
        </p:spPr>
      </p:pic>
      <p:sp>
        <p:nvSpPr>
          <p:cNvPr id="18" name="TextBox 17">
            <a:extLst>
              <a:ext uri="{FF2B5EF4-FFF2-40B4-BE49-F238E27FC236}">
                <a16:creationId xmlns:a16="http://schemas.microsoft.com/office/drawing/2014/main" id="{C520B0C8-C84C-8208-DB41-7E4375E732D4}"/>
              </a:ext>
            </a:extLst>
          </p:cNvPr>
          <p:cNvSpPr txBox="1"/>
          <p:nvPr/>
        </p:nvSpPr>
        <p:spPr>
          <a:xfrm>
            <a:off x="6935547" y="4864263"/>
            <a:ext cx="4901852" cy="461665"/>
          </a:xfrm>
          <a:prstGeom prst="rect">
            <a:avLst/>
          </a:prstGeom>
          <a:noFill/>
        </p:spPr>
        <p:txBody>
          <a:bodyPr wrap="square">
            <a:spAutoFit/>
          </a:bodyPr>
          <a:lstStyle/>
          <a:p>
            <a:r>
              <a:rPr lang="en-US" sz="800" dirty="0">
                <a:solidFill>
                  <a:srgbClr val="212121"/>
                </a:solidFill>
                <a:latin typeface="BlinkMacSystemFont"/>
              </a:rPr>
              <a:t>Wang X, Chu Y, Wang Q, Cao L, Qiao L, Zhang L, Liu M. Unsupervised contrastive graph learning for resting-state functional MRI analysis and brain disorder detection. Hum Brain Mapp. 2023 Dec 1;44(17):5672-5692. </a:t>
            </a:r>
            <a:r>
              <a:rPr lang="en-US" sz="800" dirty="0" err="1">
                <a:solidFill>
                  <a:srgbClr val="212121"/>
                </a:solidFill>
                <a:latin typeface="BlinkMacSystemFont"/>
              </a:rPr>
              <a:t>doi</a:t>
            </a:r>
            <a:r>
              <a:rPr lang="en-US" sz="800" dirty="0">
                <a:solidFill>
                  <a:srgbClr val="212121"/>
                </a:solidFill>
                <a:latin typeface="BlinkMacSystemFont"/>
              </a:rPr>
              <a:t>: 10.1002/hbm.26469. </a:t>
            </a:r>
            <a:r>
              <a:rPr lang="en-US" sz="800" dirty="0" err="1">
                <a:solidFill>
                  <a:srgbClr val="212121"/>
                </a:solidFill>
                <a:latin typeface="BlinkMacSystemFont"/>
              </a:rPr>
              <a:t>Epub</a:t>
            </a:r>
            <a:r>
              <a:rPr lang="en-US" sz="800" dirty="0">
                <a:solidFill>
                  <a:srgbClr val="212121"/>
                </a:solidFill>
                <a:latin typeface="BlinkMacSystemFont"/>
              </a:rPr>
              <a:t> 2023 Sep 5. PMID: 37668327; PMCID: PMC10619386.</a:t>
            </a:r>
            <a:endParaRPr lang="en-US" sz="800" dirty="0"/>
          </a:p>
        </p:txBody>
      </p:sp>
    </p:spTree>
    <p:extLst>
      <p:ext uri="{BB962C8B-B14F-4D97-AF65-F5344CB8AC3E}">
        <p14:creationId xmlns:p14="http://schemas.microsoft.com/office/powerpoint/2010/main" val="5044300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BEA09-46CF-F497-C4E4-2F163A36529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BD4005-5A52-16BB-B400-EEAE8D0BB8A2}"/>
              </a:ext>
            </a:extLst>
          </p:cNvPr>
          <p:cNvSpPr>
            <a:spLocks noGrp="1"/>
          </p:cNvSpPr>
          <p:nvPr>
            <p:ph idx="1"/>
          </p:nvPr>
        </p:nvSpPr>
        <p:spPr>
          <a:xfrm>
            <a:off x="425455" y="2381048"/>
            <a:ext cx="5010843" cy="3867353"/>
          </a:xfrm>
        </p:spPr>
        <p:txBody>
          <a:bodyPr/>
          <a:lstStyle/>
          <a:p>
            <a:pPr marL="228594" indent="-228594">
              <a:buFontTx/>
              <a:buChar char="-"/>
            </a:pPr>
            <a:r>
              <a:rPr lang="en-US" sz="1467" dirty="0">
                <a:solidFill>
                  <a:srgbClr val="FF0000"/>
                </a:solidFill>
              </a:rPr>
              <a:t>Window Slicing for Contrastive Learning</a:t>
            </a:r>
          </a:p>
          <a:p>
            <a:r>
              <a:rPr lang="en-US" sz="1467" dirty="0"/>
              <a:t>They minimize the difference between two sliced BOLD Signals of the same patient</a:t>
            </a:r>
          </a:p>
          <a:p>
            <a:r>
              <a:rPr lang="en-US" sz="1467" dirty="0"/>
              <a:t>Authors Claim: Slicing does not alter temporal dependencies</a:t>
            </a:r>
            <a:endParaRPr lang="en-US" sz="1467" dirty="0">
              <a:solidFill>
                <a:srgbClr val="FF0000"/>
              </a:solidFill>
            </a:endParaRPr>
          </a:p>
          <a:p>
            <a:pPr marL="380990" indent="-380990">
              <a:buFontTx/>
              <a:buChar char="-"/>
            </a:pPr>
            <a:endParaRPr lang="en-US" sz="1467" dirty="0">
              <a:solidFill>
                <a:srgbClr val="FF0000"/>
              </a:solidFill>
            </a:endParaRPr>
          </a:p>
          <a:p>
            <a:pPr marL="380990" indent="-380990">
              <a:buFontTx/>
              <a:buChar char="-"/>
            </a:pPr>
            <a:r>
              <a:rPr lang="en-US" sz="1467" dirty="0">
                <a:solidFill>
                  <a:srgbClr val="FF0000"/>
                </a:solidFill>
              </a:rPr>
              <a:t>Graph Diffusion Augmentation (GDA)</a:t>
            </a:r>
          </a:p>
          <a:p>
            <a:r>
              <a:rPr lang="en-US" sz="1467" dirty="0"/>
              <a:t>Authors add Gaussian noise to nodes and edges</a:t>
            </a:r>
          </a:p>
          <a:p>
            <a:r>
              <a:rPr lang="en-US" sz="1467" dirty="0"/>
              <a:t>Authors Claim: Graph Transformer can denoise the augmented samples during the generation process.</a:t>
            </a:r>
          </a:p>
        </p:txBody>
      </p:sp>
      <p:sp>
        <p:nvSpPr>
          <p:cNvPr id="3" name="Slide Number Placeholder 2">
            <a:extLst>
              <a:ext uri="{FF2B5EF4-FFF2-40B4-BE49-F238E27FC236}">
                <a16:creationId xmlns:a16="http://schemas.microsoft.com/office/drawing/2014/main" id="{4B872414-AF96-2D00-B951-19684E49F75D}"/>
              </a:ext>
            </a:extLst>
          </p:cNvPr>
          <p:cNvSpPr>
            <a:spLocks noGrp="1"/>
          </p:cNvSpPr>
          <p:nvPr>
            <p:ph type="sldNum" sz="quarter" idx="11"/>
          </p:nvPr>
        </p:nvSpPr>
        <p:spPr/>
        <p:txBody>
          <a:bodyPr/>
          <a:lstStyle/>
          <a:p>
            <a:fld id="{CE58CB1E-F828-4F11-99E0-327109AF9DA4}" type="slidenum">
              <a:rPr lang="de-DE" smtClean="0"/>
              <a:pPr/>
              <a:t>58</a:t>
            </a:fld>
            <a:endParaRPr lang="de-DE" dirty="0"/>
          </a:p>
        </p:txBody>
      </p:sp>
      <p:sp>
        <p:nvSpPr>
          <p:cNvPr id="4" name="Footer Placeholder 3">
            <a:extLst>
              <a:ext uri="{FF2B5EF4-FFF2-40B4-BE49-F238E27FC236}">
                <a16:creationId xmlns:a16="http://schemas.microsoft.com/office/drawing/2014/main" id="{4E78995D-C565-C4BE-DECB-975FF85651C9}"/>
              </a:ext>
            </a:extLst>
          </p:cNvPr>
          <p:cNvSpPr>
            <a:spLocks noGrp="1"/>
          </p:cNvSpPr>
          <p:nvPr>
            <p:ph type="ftr" sz="quarter" idx="12"/>
          </p:nvPr>
        </p:nvSpPr>
        <p:spPr/>
        <p:txBody>
          <a:bodyPr/>
          <a:lstStyle/>
          <a:p>
            <a:r>
              <a:rPr lang="de-DE"/>
              <a:t>Fraj Yassine Lakhal (TUM)</a:t>
            </a:r>
            <a:endParaRPr lang="en-US" dirty="0"/>
          </a:p>
        </p:txBody>
      </p:sp>
      <p:sp>
        <p:nvSpPr>
          <p:cNvPr id="5" name="Text Placeholder 4">
            <a:extLst>
              <a:ext uri="{FF2B5EF4-FFF2-40B4-BE49-F238E27FC236}">
                <a16:creationId xmlns:a16="http://schemas.microsoft.com/office/drawing/2014/main" id="{374966AA-0DF1-FE21-2060-2E227DC6B2A0}"/>
              </a:ext>
            </a:extLst>
          </p:cNvPr>
          <p:cNvSpPr>
            <a:spLocks noGrp="1"/>
          </p:cNvSpPr>
          <p:nvPr>
            <p:ph type="body" sz="quarter" idx="13"/>
          </p:nvPr>
        </p:nvSpPr>
        <p:spPr/>
        <p:txBody>
          <a:bodyPr/>
          <a:lstStyle/>
          <a:p>
            <a:endParaRPr lang="en-US" dirty="0"/>
          </a:p>
        </p:txBody>
      </p:sp>
      <p:sp>
        <p:nvSpPr>
          <p:cNvPr id="6" name="Title 5">
            <a:extLst>
              <a:ext uri="{FF2B5EF4-FFF2-40B4-BE49-F238E27FC236}">
                <a16:creationId xmlns:a16="http://schemas.microsoft.com/office/drawing/2014/main" id="{EA074097-3572-711D-2623-816FFBE9F73A}"/>
              </a:ext>
            </a:extLst>
          </p:cNvPr>
          <p:cNvSpPr>
            <a:spLocks noGrp="1"/>
          </p:cNvSpPr>
          <p:nvPr>
            <p:ph type="title"/>
          </p:nvPr>
        </p:nvSpPr>
        <p:spPr>
          <a:xfrm>
            <a:off x="414884" y="391281"/>
            <a:ext cx="10065227" cy="492443"/>
          </a:xfrm>
        </p:spPr>
        <p:txBody>
          <a:bodyPr/>
          <a:lstStyle/>
          <a:p>
            <a:pPr>
              <a:lnSpc>
                <a:spcPct val="100000"/>
              </a:lnSpc>
            </a:pPr>
            <a:r>
              <a:rPr lang="en-US" sz="1600" dirty="0"/>
              <a:t>Self-supervised graph contrastive learning with diffusion augmentation for functional MRI analysis and brain disorder detection (Weng et al. 2025)</a:t>
            </a:r>
          </a:p>
        </p:txBody>
      </p:sp>
      <p:sp>
        <p:nvSpPr>
          <p:cNvPr id="8" name="Text Placeholder 6">
            <a:extLst>
              <a:ext uri="{FF2B5EF4-FFF2-40B4-BE49-F238E27FC236}">
                <a16:creationId xmlns:a16="http://schemas.microsoft.com/office/drawing/2014/main" id="{6A490691-B64E-D3F3-FFC1-174A01DC27A5}"/>
              </a:ext>
            </a:extLst>
          </p:cNvPr>
          <p:cNvSpPr>
            <a:spLocks noGrp="1"/>
          </p:cNvSpPr>
          <p:nvPr>
            <p:ph type="body" sz="quarter" idx="14"/>
          </p:nvPr>
        </p:nvSpPr>
        <p:spPr>
          <a:xfrm>
            <a:off x="414882" y="912573"/>
            <a:ext cx="11345332" cy="428547"/>
          </a:xfrm>
        </p:spPr>
        <p:txBody>
          <a:bodyPr/>
          <a:lstStyle/>
          <a:p>
            <a:endParaRPr lang="en-US" dirty="0"/>
          </a:p>
        </p:txBody>
      </p:sp>
      <p:pic>
        <p:nvPicPr>
          <p:cNvPr id="9" name="Picture 8" descr="A diagram of a graph&#10;&#10;AI-generated content may be incorrect.">
            <a:extLst>
              <a:ext uri="{FF2B5EF4-FFF2-40B4-BE49-F238E27FC236}">
                <a16:creationId xmlns:a16="http://schemas.microsoft.com/office/drawing/2014/main" id="{2FA15C66-48AB-5D86-A5A4-A8327AA02688}"/>
              </a:ext>
            </a:extLst>
          </p:cNvPr>
          <p:cNvPicPr>
            <a:picLocks noChangeAspect="1"/>
          </p:cNvPicPr>
          <p:nvPr/>
        </p:nvPicPr>
        <p:blipFill>
          <a:blip r:embed="rId2"/>
          <a:stretch>
            <a:fillRect/>
          </a:stretch>
        </p:blipFill>
        <p:spPr>
          <a:xfrm>
            <a:off x="6051783" y="2897687"/>
            <a:ext cx="5962924" cy="2857124"/>
          </a:xfrm>
          <a:prstGeom prst="rect">
            <a:avLst/>
          </a:prstGeom>
        </p:spPr>
      </p:pic>
      <p:sp>
        <p:nvSpPr>
          <p:cNvPr id="11" name="TextBox 10">
            <a:extLst>
              <a:ext uri="{FF2B5EF4-FFF2-40B4-BE49-F238E27FC236}">
                <a16:creationId xmlns:a16="http://schemas.microsoft.com/office/drawing/2014/main" id="{A6524105-097E-115A-133E-2FE43457015F}"/>
              </a:ext>
            </a:extLst>
          </p:cNvPr>
          <p:cNvSpPr txBox="1"/>
          <p:nvPr/>
        </p:nvSpPr>
        <p:spPr>
          <a:xfrm>
            <a:off x="6265134" y="5699206"/>
            <a:ext cx="5396740" cy="461665"/>
          </a:xfrm>
          <a:prstGeom prst="rect">
            <a:avLst/>
          </a:prstGeom>
          <a:noFill/>
        </p:spPr>
        <p:txBody>
          <a:bodyPr wrap="square">
            <a:spAutoFit/>
          </a:bodyPr>
          <a:lstStyle/>
          <a:p>
            <a:r>
              <a:rPr lang="en-US" sz="800" dirty="0"/>
              <a:t>Wang X, Fang Y, Wang Q, Yap PT, Zhu H, Liu M. Self-supervised graph contrastive learning with diffusion augmentation for functional MRI analysis and brain disorder detection. Med Image Anal. 2025 Apr;101:103403. </a:t>
            </a:r>
            <a:r>
              <a:rPr lang="en-US" sz="800" dirty="0" err="1"/>
              <a:t>doi</a:t>
            </a:r>
            <a:r>
              <a:rPr lang="en-US" sz="800" dirty="0"/>
              <a:t>: 10.1016/j.media.2024.103403. </a:t>
            </a:r>
            <a:r>
              <a:rPr lang="en-US" sz="800" dirty="0" err="1"/>
              <a:t>Epub</a:t>
            </a:r>
            <a:r>
              <a:rPr lang="en-US" sz="800" dirty="0"/>
              <a:t> 2024 Nov 29. PMID: 39637557; PMCID: PMC11875923.</a:t>
            </a:r>
          </a:p>
        </p:txBody>
      </p:sp>
    </p:spTree>
    <p:extLst>
      <p:ext uri="{BB962C8B-B14F-4D97-AF65-F5344CB8AC3E}">
        <p14:creationId xmlns:p14="http://schemas.microsoft.com/office/powerpoint/2010/main" val="6219787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B791BB-E047-A842-2C90-853AE4A0E99A}"/>
              </a:ext>
            </a:extLst>
          </p:cNvPr>
          <p:cNvSpPr>
            <a:spLocks noGrp="1"/>
          </p:cNvSpPr>
          <p:nvPr>
            <p:ph idx="1"/>
          </p:nvPr>
        </p:nvSpPr>
        <p:spPr>
          <a:xfrm>
            <a:off x="425454" y="1503124"/>
            <a:ext cx="11345332" cy="4745277"/>
          </a:xfrm>
        </p:spPr>
        <p:txBody>
          <a:bodyPr/>
          <a:lstStyle/>
          <a:p>
            <a:r>
              <a:rPr lang="en-US" sz="1467" u="sng" dirty="0"/>
              <a:t>Critique 1: Invalid Invariance Assumption</a:t>
            </a:r>
          </a:p>
          <a:p>
            <a:r>
              <a:rPr lang="en-US" sz="1467" dirty="0"/>
              <a:t>In CV, an object remains the same regardless of orientation (e.g., we can still identify a rotated cat). In fMRI, we cannot assume a "sliced" or "noisy" brain signal retains the same disease pathology</a:t>
            </a:r>
          </a:p>
          <a:p>
            <a:r>
              <a:rPr lang="en-US" sz="1467" b="1" dirty="0"/>
              <a:t>Problem</a:t>
            </a:r>
            <a:r>
              <a:rPr lang="en-US" sz="1467" dirty="0"/>
              <a:t>: Brain disorders like AD are </a:t>
            </a:r>
            <a:r>
              <a:rPr lang="en-US" sz="1467" u="sng" dirty="0"/>
              <a:t>potentially</a:t>
            </a:r>
            <a:r>
              <a:rPr lang="en-US" sz="1467" dirty="0"/>
              <a:t> defined by subtle, millisecond-scale synchronizations between specific regions</a:t>
            </a:r>
          </a:p>
          <a:p>
            <a:r>
              <a:rPr lang="en-US" sz="1467" b="1" dirty="0"/>
              <a:t>Consequence</a:t>
            </a:r>
            <a:r>
              <a:rPr lang="en-US" sz="1467" dirty="0"/>
              <a:t>: A "disrupted functional connection" critical for diagnosis might disappear completely if the time-series is sliced or if noise is added</a:t>
            </a:r>
          </a:p>
        </p:txBody>
      </p:sp>
      <p:sp>
        <p:nvSpPr>
          <p:cNvPr id="3" name="Slide Number Placeholder 2">
            <a:extLst>
              <a:ext uri="{FF2B5EF4-FFF2-40B4-BE49-F238E27FC236}">
                <a16:creationId xmlns:a16="http://schemas.microsoft.com/office/drawing/2014/main" id="{5CD81489-55D3-9D47-CBB2-D17430CE92E5}"/>
              </a:ext>
            </a:extLst>
          </p:cNvPr>
          <p:cNvSpPr>
            <a:spLocks noGrp="1"/>
          </p:cNvSpPr>
          <p:nvPr>
            <p:ph type="sldNum" sz="quarter" idx="11"/>
          </p:nvPr>
        </p:nvSpPr>
        <p:spPr/>
        <p:txBody>
          <a:bodyPr/>
          <a:lstStyle/>
          <a:p>
            <a:fld id="{CE58CB1E-F828-4F11-99E0-327109AF9DA4}" type="slidenum">
              <a:rPr lang="de-DE" smtClean="0"/>
              <a:pPr/>
              <a:t>59</a:t>
            </a:fld>
            <a:endParaRPr lang="de-DE" dirty="0"/>
          </a:p>
        </p:txBody>
      </p:sp>
      <p:sp>
        <p:nvSpPr>
          <p:cNvPr id="4" name="Footer Placeholder 3">
            <a:extLst>
              <a:ext uri="{FF2B5EF4-FFF2-40B4-BE49-F238E27FC236}">
                <a16:creationId xmlns:a16="http://schemas.microsoft.com/office/drawing/2014/main" id="{7EF89845-CE6D-D7AB-518F-75D77C6B2545}"/>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8311AFC2-D4E3-0B68-0ED9-710D4F76100E}"/>
              </a:ext>
            </a:extLst>
          </p:cNvPr>
          <p:cNvSpPr>
            <a:spLocks noGrp="1"/>
          </p:cNvSpPr>
          <p:nvPr>
            <p:ph type="title"/>
          </p:nvPr>
        </p:nvSpPr>
        <p:spPr/>
        <p:txBody>
          <a:bodyPr/>
          <a:lstStyle/>
          <a:p>
            <a:r>
              <a:rPr lang="en-US" dirty="0"/>
              <a:t>Diffusion Models and Slicing Windows</a:t>
            </a:r>
          </a:p>
        </p:txBody>
      </p:sp>
      <p:sp>
        <p:nvSpPr>
          <p:cNvPr id="7" name="Text Placeholder 6">
            <a:extLst>
              <a:ext uri="{FF2B5EF4-FFF2-40B4-BE49-F238E27FC236}">
                <a16:creationId xmlns:a16="http://schemas.microsoft.com/office/drawing/2014/main" id="{25FB7033-AA96-FC0F-D631-73E7CFAAB05C}"/>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3681295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824F6-95D3-4BCB-649F-F771A278A9A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CB2551-A683-5717-3C86-E415D32C97B3}"/>
              </a:ext>
            </a:extLst>
          </p:cNvPr>
          <p:cNvSpPr>
            <a:spLocks noGrp="1"/>
          </p:cNvSpPr>
          <p:nvPr>
            <p:ph idx="1"/>
          </p:nvPr>
        </p:nvSpPr>
        <p:spPr>
          <a:xfrm>
            <a:off x="425454" y="1503124"/>
            <a:ext cx="11345332" cy="4745277"/>
          </a:xfrm>
        </p:spPr>
        <p:txBody>
          <a:bodyPr/>
          <a:lstStyle/>
          <a:p>
            <a:r>
              <a:rPr lang="en-US" sz="1467" dirty="0">
                <a:solidFill>
                  <a:schemeClr val="bg1">
                    <a:lumMod val="85000"/>
                  </a:schemeClr>
                </a:solidFill>
              </a:rPr>
              <a:t>Critique 1: Invalid Invariance Assumption</a:t>
            </a:r>
          </a:p>
          <a:p>
            <a:r>
              <a:rPr lang="en-US" sz="1467" dirty="0">
                <a:solidFill>
                  <a:schemeClr val="bg1">
                    <a:lumMod val="85000"/>
                  </a:schemeClr>
                </a:solidFill>
              </a:rPr>
              <a:t>In CV, an object remains the same regardless of orientation (e.g., we can still identify a rotated cat). In fMRI, we cannot assume a "sliced" or "noisy" brain signal retains the same disease pathology</a:t>
            </a:r>
          </a:p>
          <a:p>
            <a:r>
              <a:rPr lang="en-US" sz="1467" dirty="0">
                <a:solidFill>
                  <a:schemeClr val="bg1">
                    <a:lumMod val="85000"/>
                  </a:schemeClr>
                </a:solidFill>
              </a:rPr>
              <a:t>Problem: Brain disorders like AD are potentially defined by subtle, millisecond-scale synchronizations between specific regions</a:t>
            </a:r>
          </a:p>
          <a:p>
            <a:r>
              <a:rPr lang="en-US" sz="1467" dirty="0">
                <a:solidFill>
                  <a:schemeClr val="bg1">
                    <a:lumMod val="85000"/>
                  </a:schemeClr>
                </a:solidFill>
              </a:rPr>
              <a:t>Consequence: A "disrupted functional connection" critical for diagnosis might disappear completely if the time-series is sliced or if noise is added</a:t>
            </a:r>
          </a:p>
          <a:p>
            <a:endParaRPr lang="en-US" sz="1467" dirty="0"/>
          </a:p>
          <a:p>
            <a:r>
              <a:rPr lang="en-US" sz="1467" u="sng" dirty="0"/>
              <a:t>Critique 2: Overfitting and Memorization on Small Datasets</a:t>
            </a:r>
          </a:p>
          <a:p>
            <a:r>
              <a:rPr lang="en-US" sz="1467" dirty="0"/>
              <a:t>Diffusion models require large amounts of data to learn true distributions. Our dataset is relatively small (e.g., ~600 subjects)</a:t>
            </a:r>
          </a:p>
          <a:p>
            <a:r>
              <a:rPr lang="en-US" sz="1467" b="1" dirty="0"/>
              <a:t>Problem</a:t>
            </a:r>
            <a:r>
              <a:rPr lang="en-US" sz="1467" dirty="0"/>
              <a:t>: As you noted, diffusion models trained on small datasets tend to memorize training samples rather than learning a generalizable distribution.</a:t>
            </a:r>
          </a:p>
          <a:p>
            <a:r>
              <a:rPr lang="en-US" sz="1467" b="1" dirty="0"/>
              <a:t>Consequence</a:t>
            </a:r>
            <a:r>
              <a:rPr lang="en-US" sz="1467" dirty="0"/>
              <a:t>: The "new" generated graphs might just be noisy copies of the training data</a:t>
            </a:r>
          </a:p>
        </p:txBody>
      </p:sp>
      <p:sp>
        <p:nvSpPr>
          <p:cNvPr id="3" name="Slide Number Placeholder 2">
            <a:extLst>
              <a:ext uri="{FF2B5EF4-FFF2-40B4-BE49-F238E27FC236}">
                <a16:creationId xmlns:a16="http://schemas.microsoft.com/office/drawing/2014/main" id="{13FE505C-3C4B-6ADC-1CA7-E8D426DA328A}"/>
              </a:ext>
            </a:extLst>
          </p:cNvPr>
          <p:cNvSpPr>
            <a:spLocks noGrp="1"/>
          </p:cNvSpPr>
          <p:nvPr>
            <p:ph type="sldNum" sz="quarter" idx="11"/>
          </p:nvPr>
        </p:nvSpPr>
        <p:spPr/>
        <p:txBody>
          <a:bodyPr/>
          <a:lstStyle/>
          <a:p>
            <a:fld id="{CE58CB1E-F828-4F11-99E0-327109AF9DA4}" type="slidenum">
              <a:rPr lang="de-DE" smtClean="0"/>
              <a:pPr/>
              <a:t>60</a:t>
            </a:fld>
            <a:endParaRPr lang="de-DE" dirty="0"/>
          </a:p>
        </p:txBody>
      </p:sp>
      <p:sp>
        <p:nvSpPr>
          <p:cNvPr id="4" name="Footer Placeholder 3">
            <a:extLst>
              <a:ext uri="{FF2B5EF4-FFF2-40B4-BE49-F238E27FC236}">
                <a16:creationId xmlns:a16="http://schemas.microsoft.com/office/drawing/2014/main" id="{A5BF0489-6FD8-8142-8D32-2D0CB1C77633}"/>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A79774F7-E761-7B58-7A7F-57DD76C73231}"/>
              </a:ext>
            </a:extLst>
          </p:cNvPr>
          <p:cNvSpPr>
            <a:spLocks noGrp="1"/>
          </p:cNvSpPr>
          <p:nvPr>
            <p:ph type="title"/>
          </p:nvPr>
        </p:nvSpPr>
        <p:spPr/>
        <p:txBody>
          <a:bodyPr/>
          <a:lstStyle/>
          <a:p>
            <a:r>
              <a:rPr lang="en-US" dirty="0"/>
              <a:t>Diffusion Models and Slicing Windows</a:t>
            </a:r>
          </a:p>
        </p:txBody>
      </p:sp>
      <p:sp>
        <p:nvSpPr>
          <p:cNvPr id="7" name="Text Placeholder 6">
            <a:extLst>
              <a:ext uri="{FF2B5EF4-FFF2-40B4-BE49-F238E27FC236}">
                <a16:creationId xmlns:a16="http://schemas.microsoft.com/office/drawing/2014/main" id="{C1387482-FE36-2366-BDF2-140F2889EAF8}"/>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6007920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CB52A-37C8-615B-FD66-E9EC1DD0D7A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42A238-6909-C737-99BD-DFD5775E28CC}"/>
              </a:ext>
            </a:extLst>
          </p:cNvPr>
          <p:cNvSpPr>
            <a:spLocks noGrp="1"/>
          </p:cNvSpPr>
          <p:nvPr>
            <p:ph idx="1"/>
          </p:nvPr>
        </p:nvSpPr>
        <p:spPr>
          <a:xfrm>
            <a:off x="425454" y="1503124"/>
            <a:ext cx="11345332" cy="4745277"/>
          </a:xfrm>
        </p:spPr>
        <p:txBody>
          <a:bodyPr>
            <a:normAutofit fontScale="85000" lnSpcReduction="10000"/>
          </a:bodyPr>
          <a:lstStyle/>
          <a:p>
            <a:r>
              <a:rPr lang="en-US" sz="1467" u="sng" dirty="0">
                <a:solidFill>
                  <a:schemeClr val="bg1">
                    <a:lumMod val="85000"/>
                  </a:schemeClr>
                </a:solidFill>
              </a:rPr>
              <a:t>Critique 1: Invalid Invariance Assumption</a:t>
            </a:r>
          </a:p>
          <a:p>
            <a:r>
              <a:rPr lang="en-US" sz="1467" dirty="0">
                <a:solidFill>
                  <a:schemeClr val="bg1">
                    <a:lumMod val="85000"/>
                  </a:schemeClr>
                </a:solidFill>
              </a:rPr>
              <a:t>In CV, an object remains the same regardless of orientation (e.g., we can still identify a rotated cat). In fMRI, we cannot assume a "sliced" or "noisy" brain signal retains the same disease pathology</a:t>
            </a:r>
          </a:p>
          <a:p>
            <a:r>
              <a:rPr lang="en-US" sz="1467" b="1" dirty="0">
                <a:solidFill>
                  <a:schemeClr val="bg1">
                    <a:lumMod val="85000"/>
                  </a:schemeClr>
                </a:solidFill>
              </a:rPr>
              <a:t>Problem</a:t>
            </a:r>
            <a:r>
              <a:rPr lang="en-US" sz="1467" dirty="0">
                <a:solidFill>
                  <a:schemeClr val="bg1">
                    <a:lumMod val="85000"/>
                  </a:schemeClr>
                </a:solidFill>
              </a:rPr>
              <a:t>: Brain disorders like AD are </a:t>
            </a:r>
            <a:r>
              <a:rPr lang="en-US" sz="1467" u="sng" dirty="0">
                <a:solidFill>
                  <a:schemeClr val="bg1">
                    <a:lumMod val="85000"/>
                  </a:schemeClr>
                </a:solidFill>
              </a:rPr>
              <a:t>potentially</a:t>
            </a:r>
            <a:r>
              <a:rPr lang="en-US" sz="1467" dirty="0">
                <a:solidFill>
                  <a:schemeClr val="bg1">
                    <a:lumMod val="85000"/>
                  </a:schemeClr>
                </a:solidFill>
              </a:rPr>
              <a:t> defined by subtle, millisecond-scale synchronizations between specific regions</a:t>
            </a:r>
          </a:p>
          <a:p>
            <a:r>
              <a:rPr lang="en-US" sz="1467" b="1" dirty="0">
                <a:solidFill>
                  <a:schemeClr val="bg1">
                    <a:lumMod val="85000"/>
                  </a:schemeClr>
                </a:solidFill>
              </a:rPr>
              <a:t>Consequence</a:t>
            </a:r>
            <a:r>
              <a:rPr lang="en-US" sz="1467" dirty="0">
                <a:solidFill>
                  <a:schemeClr val="bg1">
                    <a:lumMod val="85000"/>
                  </a:schemeClr>
                </a:solidFill>
              </a:rPr>
              <a:t>: A "disrupted functional connection" critical for diagnosis might disappear completely if the time-series is sliced or if noise is added</a:t>
            </a:r>
          </a:p>
          <a:p>
            <a:endParaRPr lang="en-US" sz="1467" dirty="0">
              <a:solidFill>
                <a:schemeClr val="bg1">
                  <a:lumMod val="85000"/>
                </a:schemeClr>
              </a:solidFill>
            </a:endParaRPr>
          </a:p>
          <a:p>
            <a:r>
              <a:rPr lang="en-US" sz="1467" u="sng" dirty="0">
                <a:solidFill>
                  <a:schemeClr val="bg1">
                    <a:lumMod val="85000"/>
                  </a:schemeClr>
                </a:solidFill>
              </a:rPr>
              <a:t>Critique 2: Overfitting and Memorization on Small Datasets</a:t>
            </a:r>
          </a:p>
          <a:p>
            <a:r>
              <a:rPr lang="en-US" sz="1467" dirty="0">
                <a:solidFill>
                  <a:schemeClr val="bg1">
                    <a:lumMod val="85000"/>
                  </a:schemeClr>
                </a:solidFill>
              </a:rPr>
              <a:t>Diffusion models require large amounts of data to learn true distributions. Our dataset is relatively small (e.g., ~600 subjects)</a:t>
            </a:r>
          </a:p>
          <a:p>
            <a:r>
              <a:rPr lang="en-US" sz="1467" b="1" dirty="0">
                <a:solidFill>
                  <a:schemeClr val="bg1">
                    <a:lumMod val="85000"/>
                  </a:schemeClr>
                </a:solidFill>
              </a:rPr>
              <a:t>Problem</a:t>
            </a:r>
            <a:r>
              <a:rPr lang="en-US" sz="1467" dirty="0">
                <a:solidFill>
                  <a:schemeClr val="bg1">
                    <a:lumMod val="85000"/>
                  </a:schemeClr>
                </a:solidFill>
              </a:rPr>
              <a:t>: As you noted, diffusion models trained on small datasets tend to memorize training samples rather than learning a generalizable distribution.</a:t>
            </a:r>
          </a:p>
          <a:p>
            <a:r>
              <a:rPr lang="en-US" sz="1467" b="1" dirty="0">
                <a:solidFill>
                  <a:schemeClr val="bg1">
                    <a:lumMod val="85000"/>
                  </a:schemeClr>
                </a:solidFill>
              </a:rPr>
              <a:t>Consequence</a:t>
            </a:r>
            <a:r>
              <a:rPr lang="en-US" sz="1467" dirty="0">
                <a:solidFill>
                  <a:schemeClr val="bg1">
                    <a:lumMod val="85000"/>
                  </a:schemeClr>
                </a:solidFill>
              </a:rPr>
              <a:t>: The "new" generated graphs might just be noisy copies of the training data</a:t>
            </a:r>
          </a:p>
          <a:p>
            <a:endParaRPr lang="en-US" sz="1467" dirty="0"/>
          </a:p>
          <a:p>
            <a:r>
              <a:rPr lang="en-US" sz="1467" u="sng" dirty="0"/>
              <a:t>Critique 3: The Signal-to-Noise Ratio Issue</a:t>
            </a:r>
          </a:p>
          <a:p>
            <a:r>
              <a:rPr lang="en-US" sz="1467" dirty="0"/>
              <a:t>BOLD signals are already dominated by noise (heartbeat, respiration, scanner drift), with the disease signal being a fraction of the variance.</a:t>
            </a:r>
          </a:p>
          <a:p>
            <a:r>
              <a:rPr lang="en-US" sz="1467" b="1" dirty="0"/>
              <a:t>Problem</a:t>
            </a:r>
            <a:r>
              <a:rPr lang="en-US" sz="1467" dirty="0"/>
              <a:t>: Adding more noise (via diffusion) adds to the low SNR problem.</a:t>
            </a:r>
          </a:p>
          <a:p>
            <a:r>
              <a:rPr lang="en-US" sz="1467" b="1" dirty="0"/>
              <a:t>Consequence</a:t>
            </a:r>
            <a:r>
              <a:rPr lang="en-US" sz="1467" dirty="0"/>
              <a:t>: The augmentation strategies might drown out the weak, subtle modulation that characterizes the disease</a:t>
            </a:r>
          </a:p>
        </p:txBody>
      </p:sp>
      <p:sp>
        <p:nvSpPr>
          <p:cNvPr id="3" name="Slide Number Placeholder 2">
            <a:extLst>
              <a:ext uri="{FF2B5EF4-FFF2-40B4-BE49-F238E27FC236}">
                <a16:creationId xmlns:a16="http://schemas.microsoft.com/office/drawing/2014/main" id="{B7FBF2EE-B8AE-5EFA-0D9D-CD28F833EB6A}"/>
              </a:ext>
            </a:extLst>
          </p:cNvPr>
          <p:cNvSpPr>
            <a:spLocks noGrp="1"/>
          </p:cNvSpPr>
          <p:nvPr>
            <p:ph type="sldNum" sz="quarter" idx="11"/>
          </p:nvPr>
        </p:nvSpPr>
        <p:spPr/>
        <p:txBody>
          <a:bodyPr/>
          <a:lstStyle/>
          <a:p>
            <a:fld id="{CE58CB1E-F828-4F11-99E0-327109AF9DA4}" type="slidenum">
              <a:rPr lang="de-DE" smtClean="0"/>
              <a:pPr/>
              <a:t>61</a:t>
            </a:fld>
            <a:endParaRPr lang="de-DE" dirty="0"/>
          </a:p>
        </p:txBody>
      </p:sp>
      <p:sp>
        <p:nvSpPr>
          <p:cNvPr id="4" name="Footer Placeholder 3">
            <a:extLst>
              <a:ext uri="{FF2B5EF4-FFF2-40B4-BE49-F238E27FC236}">
                <a16:creationId xmlns:a16="http://schemas.microsoft.com/office/drawing/2014/main" id="{0E37479A-8121-1FB7-F85E-B890AED5ABF6}"/>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0827A448-6CF0-CE25-EF12-7BA2377E6D42}"/>
              </a:ext>
            </a:extLst>
          </p:cNvPr>
          <p:cNvSpPr>
            <a:spLocks noGrp="1"/>
          </p:cNvSpPr>
          <p:nvPr>
            <p:ph type="title"/>
          </p:nvPr>
        </p:nvSpPr>
        <p:spPr/>
        <p:txBody>
          <a:bodyPr/>
          <a:lstStyle/>
          <a:p>
            <a:r>
              <a:rPr lang="en-US" dirty="0"/>
              <a:t>Diffusion Models and Slicing Windows</a:t>
            </a:r>
          </a:p>
        </p:txBody>
      </p:sp>
      <p:sp>
        <p:nvSpPr>
          <p:cNvPr id="7" name="Text Placeholder 6">
            <a:extLst>
              <a:ext uri="{FF2B5EF4-FFF2-40B4-BE49-F238E27FC236}">
                <a16:creationId xmlns:a16="http://schemas.microsoft.com/office/drawing/2014/main" id="{89378649-8C9C-C797-5972-F3C607D4C212}"/>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8493530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F1C97-C87D-44AA-F660-ABC47077C9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99561F-00CB-A83A-4E91-58EB8B8916DC}"/>
              </a:ext>
            </a:extLst>
          </p:cNvPr>
          <p:cNvSpPr>
            <a:spLocks noGrp="1"/>
          </p:cNvSpPr>
          <p:nvPr>
            <p:ph idx="1"/>
          </p:nvPr>
        </p:nvSpPr>
        <p:spPr>
          <a:xfrm>
            <a:off x="425454" y="2381048"/>
            <a:ext cx="5662092" cy="3867353"/>
          </a:xfrm>
        </p:spPr>
        <p:txBody>
          <a:bodyPr/>
          <a:lstStyle/>
          <a:p>
            <a:r>
              <a:rPr lang="en-US" sz="1600" dirty="0">
                <a:solidFill>
                  <a:srgbClr val="FF0000"/>
                </a:solidFill>
                <a:highlight>
                  <a:srgbClr val="FFFF00"/>
                </a:highlight>
              </a:rPr>
              <a:t>- Functional Connectivity (FC) and Effective Connectivity (EC)</a:t>
            </a:r>
          </a:p>
          <a:p>
            <a:r>
              <a:rPr lang="en-US" sz="1600" dirty="0"/>
              <a:t>With EC, we can capture the directional effects that one brain region exerts over another.</a:t>
            </a:r>
          </a:p>
          <a:p>
            <a:r>
              <a:rPr lang="en-US" sz="1600" dirty="0"/>
              <a:t>Authors use structural relationships (measured via transfer entropy) with attention relationships (measured via learnable weights).</a:t>
            </a:r>
          </a:p>
          <a:p>
            <a:endParaRPr lang="en-US" sz="1600" dirty="0"/>
          </a:p>
          <a:p>
            <a:r>
              <a:rPr lang="en-US" sz="1600" dirty="0">
                <a:solidFill>
                  <a:srgbClr val="FF0000"/>
                </a:solidFill>
              </a:rPr>
              <a:t>- Ablation Studies</a:t>
            </a:r>
          </a:p>
          <a:p>
            <a:r>
              <a:rPr lang="en-US" sz="1600" dirty="0"/>
              <a:t>Removing the Pretrained model for example.</a:t>
            </a:r>
          </a:p>
        </p:txBody>
      </p:sp>
      <p:sp>
        <p:nvSpPr>
          <p:cNvPr id="3" name="Slide Number Placeholder 2">
            <a:extLst>
              <a:ext uri="{FF2B5EF4-FFF2-40B4-BE49-F238E27FC236}">
                <a16:creationId xmlns:a16="http://schemas.microsoft.com/office/drawing/2014/main" id="{F5ED5F8E-933D-8A1C-3DF5-12B14B6E62B0}"/>
              </a:ext>
            </a:extLst>
          </p:cNvPr>
          <p:cNvSpPr>
            <a:spLocks noGrp="1"/>
          </p:cNvSpPr>
          <p:nvPr>
            <p:ph type="sldNum" sz="quarter" idx="11"/>
          </p:nvPr>
        </p:nvSpPr>
        <p:spPr/>
        <p:txBody>
          <a:bodyPr/>
          <a:lstStyle/>
          <a:p>
            <a:fld id="{CE58CB1E-F828-4F11-99E0-327109AF9DA4}" type="slidenum">
              <a:rPr lang="de-DE" smtClean="0"/>
              <a:pPr/>
              <a:t>62</a:t>
            </a:fld>
            <a:endParaRPr lang="de-DE" dirty="0"/>
          </a:p>
        </p:txBody>
      </p:sp>
      <p:sp>
        <p:nvSpPr>
          <p:cNvPr id="4" name="Footer Placeholder 3">
            <a:extLst>
              <a:ext uri="{FF2B5EF4-FFF2-40B4-BE49-F238E27FC236}">
                <a16:creationId xmlns:a16="http://schemas.microsoft.com/office/drawing/2014/main" id="{02BCD9F2-81D0-8839-27DD-A8D49AC67905}"/>
              </a:ext>
            </a:extLst>
          </p:cNvPr>
          <p:cNvSpPr>
            <a:spLocks noGrp="1"/>
          </p:cNvSpPr>
          <p:nvPr>
            <p:ph type="ftr" sz="quarter" idx="12"/>
          </p:nvPr>
        </p:nvSpPr>
        <p:spPr/>
        <p:txBody>
          <a:bodyPr/>
          <a:lstStyle/>
          <a:p>
            <a:r>
              <a:rPr lang="de-DE" dirty="0"/>
              <a:t>Fraj Yassine Lakhal (TUM)</a:t>
            </a:r>
            <a:endParaRPr lang="en-US" dirty="0"/>
          </a:p>
        </p:txBody>
      </p:sp>
      <p:sp>
        <p:nvSpPr>
          <p:cNvPr id="5" name="Text Placeholder 4">
            <a:extLst>
              <a:ext uri="{FF2B5EF4-FFF2-40B4-BE49-F238E27FC236}">
                <a16:creationId xmlns:a16="http://schemas.microsoft.com/office/drawing/2014/main" id="{7AF5B617-AF4B-0407-34F4-6F6F5CEA8AC0}"/>
              </a:ext>
            </a:extLst>
          </p:cNvPr>
          <p:cNvSpPr>
            <a:spLocks noGrp="1"/>
          </p:cNvSpPr>
          <p:nvPr>
            <p:ph type="body" sz="quarter" idx="13"/>
          </p:nvPr>
        </p:nvSpPr>
        <p:spPr/>
        <p:txBody>
          <a:bodyPr/>
          <a:lstStyle/>
          <a:p>
            <a:endParaRPr lang="en-US" dirty="0"/>
          </a:p>
        </p:txBody>
      </p:sp>
      <p:sp>
        <p:nvSpPr>
          <p:cNvPr id="6" name="Title 5">
            <a:extLst>
              <a:ext uri="{FF2B5EF4-FFF2-40B4-BE49-F238E27FC236}">
                <a16:creationId xmlns:a16="http://schemas.microsoft.com/office/drawing/2014/main" id="{F1F2D521-F520-CAC6-DD7E-2444EAD56977}"/>
              </a:ext>
            </a:extLst>
          </p:cNvPr>
          <p:cNvSpPr>
            <a:spLocks noGrp="1"/>
          </p:cNvSpPr>
          <p:nvPr>
            <p:ph type="title"/>
          </p:nvPr>
        </p:nvSpPr>
        <p:spPr>
          <a:xfrm>
            <a:off x="414883" y="391281"/>
            <a:ext cx="10365852" cy="492443"/>
          </a:xfrm>
        </p:spPr>
        <p:txBody>
          <a:bodyPr/>
          <a:lstStyle/>
          <a:p>
            <a:pPr>
              <a:lnSpc>
                <a:spcPct val="100000"/>
              </a:lnSpc>
            </a:pPr>
            <a:r>
              <a:rPr lang="en-US" sz="1600" dirty="0"/>
              <a:t>Self-supervised Learning with Adaptive Graph Structure and Function Representation for Cross-Dataset Brain Disorder Diagnosis (Chen et al. 2024)</a:t>
            </a:r>
          </a:p>
        </p:txBody>
      </p:sp>
      <p:sp>
        <p:nvSpPr>
          <p:cNvPr id="8" name="Text Placeholder 6">
            <a:extLst>
              <a:ext uri="{FF2B5EF4-FFF2-40B4-BE49-F238E27FC236}">
                <a16:creationId xmlns:a16="http://schemas.microsoft.com/office/drawing/2014/main" id="{AD18EBDC-1DFC-3FC5-526F-2AC186D3BD89}"/>
              </a:ext>
            </a:extLst>
          </p:cNvPr>
          <p:cNvSpPr>
            <a:spLocks noGrp="1"/>
          </p:cNvSpPr>
          <p:nvPr>
            <p:ph type="body" sz="quarter" idx="14"/>
          </p:nvPr>
        </p:nvSpPr>
        <p:spPr>
          <a:xfrm>
            <a:off x="414882" y="912573"/>
            <a:ext cx="11345332" cy="428547"/>
          </a:xfrm>
        </p:spPr>
        <p:txBody>
          <a:bodyPr/>
          <a:lstStyle/>
          <a:p>
            <a:endParaRPr lang="en-US" dirty="0"/>
          </a:p>
        </p:txBody>
      </p:sp>
      <p:pic>
        <p:nvPicPr>
          <p:cNvPr id="9" name="Picture 8" descr="A diagram of a brain network&#10;&#10;AI-generated content may be incorrect.">
            <a:extLst>
              <a:ext uri="{FF2B5EF4-FFF2-40B4-BE49-F238E27FC236}">
                <a16:creationId xmlns:a16="http://schemas.microsoft.com/office/drawing/2014/main" id="{5A8B06A3-C59F-460C-2CFE-D3BA24C4BCB1}"/>
              </a:ext>
            </a:extLst>
          </p:cNvPr>
          <p:cNvPicPr>
            <a:picLocks noChangeAspect="1"/>
          </p:cNvPicPr>
          <p:nvPr/>
        </p:nvPicPr>
        <p:blipFill>
          <a:blip r:embed="rId3"/>
          <a:stretch>
            <a:fillRect/>
          </a:stretch>
        </p:blipFill>
        <p:spPr>
          <a:xfrm>
            <a:off x="6087545" y="2741276"/>
            <a:ext cx="5916835" cy="2860299"/>
          </a:xfrm>
          <a:prstGeom prst="rect">
            <a:avLst/>
          </a:prstGeom>
        </p:spPr>
      </p:pic>
      <p:sp>
        <p:nvSpPr>
          <p:cNvPr id="11" name="TextBox 10">
            <a:extLst>
              <a:ext uri="{FF2B5EF4-FFF2-40B4-BE49-F238E27FC236}">
                <a16:creationId xmlns:a16="http://schemas.microsoft.com/office/drawing/2014/main" id="{8FEBDD7D-0722-C6D5-2946-BA3BFAAB258E}"/>
              </a:ext>
            </a:extLst>
          </p:cNvPr>
          <p:cNvSpPr txBox="1"/>
          <p:nvPr/>
        </p:nvSpPr>
        <p:spPr>
          <a:xfrm>
            <a:off x="6582267" y="5601575"/>
            <a:ext cx="4901956" cy="584775"/>
          </a:xfrm>
          <a:prstGeom prst="rect">
            <a:avLst/>
          </a:prstGeom>
          <a:noFill/>
        </p:spPr>
        <p:txBody>
          <a:bodyPr wrap="square">
            <a:spAutoFit/>
          </a:bodyPr>
          <a:lstStyle/>
          <a:p>
            <a:r>
              <a:rPr lang="en-US" sz="800" dirty="0"/>
              <a:t>Che_Selfsupervised_MICCAI2024, Chen, </a:t>
            </a:r>
            <a:r>
              <a:rPr lang="en-US" sz="800" dirty="0" err="1"/>
              <a:t>Dongdong</a:t>
            </a:r>
            <a:r>
              <a:rPr lang="en-US" sz="800" dirty="0"/>
              <a:t> and Yao, Linlin and Liu, </a:t>
            </a:r>
            <a:r>
              <a:rPr lang="en-US" sz="800" dirty="0" err="1"/>
              <a:t>Mengjun</a:t>
            </a:r>
            <a:r>
              <a:rPr lang="en-US" sz="800" dirty="0"/>
              <a:t> and Shen, </a:t>
            </a:r>
            <a:r>
              <a:rPr lang="en-US" sz="800" dirty="0" err="1"/>
              <a:t>Zhenrong</a:t>
            </a:r>
            <a:r>
              <a:rPr lang="en-US" sz="800" dirty="0"/>
              <a:t> and Hu, Yuqi and Song, </a:t>
            </a:r>
            <a:r>
              <a:rPr lang="en-US" sz="800" dirty="0" err="1"/>
              <a:t>Zhiyun</a:t>
            </a:r>
            <a:r>
              <a:rPr lang="en-US" sz="800" dirty="0"/>
              <a:t> and Wang, Qian and Zhang, Lichi}, Self-supervised Learning with Adaptive Graph Structure and Function Representation For Cross-Dataset Brain Disorder Diagnosis } }, {proceedings of Medical Image Computing and Computer Assisted Intervention -- MICCAI 2024},</a:t>
            </a:r>
          </a:p>
        </p:txBody>
      </p:sp>
    </p:spTree>
    <p:extLst>
      <p:ext uri="{BB962C8B-B14F-4D97-AF65-F5344CB8AC3E}">
        <p14:creationId xmlns:p14="http://schemas.microsoft.com/office/powerpoint/2010/main" val="842965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498C0-F978-1C83-B9A1-8CBB3BBE494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4EC9FF-2C73-4BF3-3D38-8CF993351713}"/>
              </a:ext>
            </a:extLst>
          </p:cNvPr>
          <p:cNvSpPr>
            <a:spLocks noGrp="1"/>
          </p:cNvSpPr>
          <p:nvPr>
            <p:ph idx="1"/>
          </p:nvPr>
        </p:nvSpPr>
        <p:spPr>
          <a:xfrm>
            <a:off x="425455" y="2381048"/>
            <a:ext cx="5670547" cy="3867353"/>
          </a:xfrm>
        </p:spPr>
        <p:txBody>
          <a:bodyPr/>
          <a:lstStyle/>
          <a:p>
            <a:r>
              <a:rPr lang="en-US" sz="1600" dirty="0">
                <a:solidFill>
                  <a:srgbClr val="FF0000"/>
                </a:solidFill>
                <a:highlight>
                  <a:srgbClr val="FFFF00"/>
                </a:highlight>
              </a:rPr>
              <a:t>- Bi-Graph Modeling with raw BOLD Signals: </a:t>
            </a:r>
          </a:p>
          <a:p>
            <a:r>
              <a:rPr lang="en-US" sz="1600" dirty="0"/>
              <a:t>They model the brain as a dual evolving system where Dynamic FC (undirected) captures spatial correlations and Dynamic EC (directed) captures temporal causal progression simultaneously.</a:t>
            </a:r>
          </a:p>
          <a:p>
            <a:pPr marL="380990" indent="-380990">
              <a:buFontTx/>
              <a:buChar char="-"/>
            </a:pPr>
            <a:endParaRPr lang="en-US" sz="1600" dirty="0">
              <a:solidFill>
                <a:srgbClr val="FF0000"/>
              </a:solidFill>
            </a:endParaRPr>
          </a:p>
          <a:p>
            <a:r>
              <a:rPr lang="en-US" sz="1600" dirty="0">
                <a:solidFill>
                  <a:srgbClr val="FF0000"/>
                </a:solidFill>
                <a:highlight>
                  <a:srgbClr val="FFFF00"/>
                </a:highlight>
              </a:rPr>
              <a:t>- Grad-CAM</a:t>
            </a:r>
          </a:p>
          <a:p>
            <a:r>
              <a:rPr lang="en-US" sz="1600" dirty="0"/>
              <a:t>Authors analyze salient brain regions in the brain network, by using class activation value of all testing subjects in the multi-class classification task.</a:t>
            </a:r>
          </a:p>
        </p:txBody>
      </p:sp>
      <p:sp>
        <p:nvSpPr>
          <p:cNvPr id="3" name="Slide Number Placeholder 2">
            <a:extLst>
              <a:ext uri="{FF2B5EF4-FFF2-40B4-BE49-F238E27FC236}">
                <a16:creationId xmlns:a16="http://schemas.microsoft.com/office/drawing/2014/main" id="{1B5EED34-348F-E56A-7F33-D17214D1AD65}"/>
              </a:ext>
            </a:extLst>
          </p:cNvPr>
          <p:cNvSpPr>
            <a:spLocks noGrp="1"/>
          </p:cNvSpPr>
          <p:nvPr>
            <p:ph type="sldNum" sz="quarter" idx="11"/>
          </p:nvPr>
        </p:nvSpPr>
        <p:spPr/>
        <p:txBody>
          <a:bodyPr/>
          <a:lstStyle/>
          <a:p>
            <a:fld id="{CE58CB1E-F828-4F11-99E0-327109AF9DA4}" type="slidenum">
              <a:rPr lang="de-DE" smtClean="0"/>
              <a:pPr/>
              <a:t>63</a:t>
            </a:fld>
            <a:endParaRPr lang="de-DE" dirty="0"/>
          </a:p>
        </p:txBody>
      </p:sp>
      <p:sp>
        <p:nvSpPr>
          <p:cNvPr id="4" name="Footer Placeholder 3">
            <a:extLst>
              <a:ext uri="{FF2B5EF4-FFF2-40B4-BE49-F238E27FC236}">
                <a16:creationId xmlns:a16="http://schemas.microsoft.com/office/drawing/2014/main" id="{702AC966-1744-82B7-3AC7-2BC47BDAA667}"/>
              </a:ext>
            </a:extLst>
          </p:cNvPr>
          <p:cNvSpPr>
            <a:spLocks noGrp="1"/>
          </p:cNvSpPr>
          <p:nvPr>
            <p:ph type="ftr" sz="quarter" idx="12"/>
          </p:nvPr>
        </p:nvSpPr>
        <p:spPr/>
        <p:txBody>
          <a:bodyPr/>
          <a:lstStyle/>
          <a:p>
            <a:r>
              <a:rPr lang="de-DE"/>
              <a:t>Fraj Yassine Lakhal (TUM)</a:t>
            </a:r>
            <a:endParaRPr lang="en-US" dirty="0"/>
          </a:p>
        </p:txBody>
      </p:sp>
      <p:sp>
        <p:nvSpPr>
          <p:cNvPr id="5" name="Text Placeholder 4">
            <a:extLst>
              <a:ext uri="{FF2B5EF4-FFF2-40B4-BE49-F238E27FC236}">
                <a16:creationId xmlns:a16="http://schemas.microsoft.com/office/drawing/2014/main" id="{FE4C8F27-A9EB-E9D0-80FC-627C4C116605}"/>
              </a:ext>
            </a:extLst>
          </p:cNvPr>
          <p:cNvSpPr>
            <a:spLocks noGrp="1"/>
          </p:cNvSpPr>
          <p:nvPr>
            <p:ph type="body" sz="quarter" idx="13"/>
          </p:nvPr>
        </p:nvSpPr>
        <p:spPr/>
        <p:txBody>
          <a:bodyPr/>
          <a:lstStyle/>
          <a:p>
            <a:endParaRPr lang="en-US" dirty="0"/>
          </a:p>
        </p:txBody>
      </p:sp>
      <p:sp>
        <p:nvSpPr>
          <p:cNvPr id="6" name="Title 5">
            <a:extLst>
              <a:ext uri="{FF2B5EF4-FFF2-40B4-BE49-F238E27FC236}">
                <a16:creationId xmlns:a16="http://schemas.microsoft.com/office/drawing/2014/main" id="{56F4D194-3B1E-117C-E3FD-E32763FAE332}"/>
              </a:ext>
            </a:extLst>
          </p:cNvPr>
          <p:cNvSpPr>
            <a:spLocks noGrp="1"/>
          </p:cNvSpPr>
          <p:nvPr>
            <p:ph type="title"/>
          </p:nvPr>
        </p:nvSpPr>
        <p:spPr>
          <a:xfrm>
            <a:off x="414883" y="391281"/>
            <a:ext cx="11345332" cy="492443"/>
          </a:xfrm>
        </p:spPr>
        <p:txBody>
          <a:bodyPr/>
          <a:lstStyle/>
          <a:p>
            <a:pPr>
              <a:lnSpc>
                <a:spcPct val="100000"/>
              </a:lnSpc>
            </a:pPr>
            <a:r>
              <a:rPr lang="en-US" sz="1600" dirty="0"/>
              <a:t>Guiding fusion of dynamic functional and effective connectivity in </a:t>
            </a:r>
            <a:r>
              <a:rPr lang="en-US" sz="1600" dirty="0" err="1"/>
              <a:t>spatio</a:t>
            </a:r>
            <a:r>
              <a:rPr lang="en-US" sz="1600" dirty="0"/>
              <a:t>-temporal graph neural network for brain disorder classification (Chen et al. 2025)</a:t>
            </a:r>
          </a:p>
        </p:txBody>
      </p:sp>
      <p:sp>
        <p:nvSpPr>
          <p:cNvPr id="8" name="Text Placeholder 6">
            <a:extLst>
              <a:ext uri="{FF2B5EF4-FFF2-40B4-BE49-F238E27FC236}">
                <a16:creationId xmlns:a16="http://schemas.microsoft.com/office/drawing/2014/main" id="{45A0D084-35B2-305A-A9E5-5E069FD4E316}"/>
              </a:ext>
            </a:extLst>
          </p:cNvPr>
          <p:cNvSpPr>
            <a:spLocks noGrp="1"/>
          </p:cNvSpPr>
          <p:nvPr>
            <p:ph type="body" sz="quarter" idx="14"/>
          </p:nvPr>
        </p:nvSpPr>
        <p:spPr>
          <a:xfrm>
            <a:off x="414882" y="912573"/>
            <a:ext cx="11345332" cy="428547"/>
          </a:xfrm>
        </p:spPr>
        <p:txBody>
          <a:bodyPr/>
          <a:lstStyle/>
          <a:p>
            <a:endParaRPr lang="en-US" dirty="0"/>
          </a:p>
        </p:txBody>
      </p:sp>
      <p:pic>
        <p:nvPicPr>
          <p:cNvPr id="9" name="Picture 8" descr="A diagram of a graphing process&#10;&#10;AI-generated content may be incorrect.">
            <a:extLst>
              <a:ext uri="{FF2B5EF4-FFF2-40B4-BE49-F238E27FC236}">
                <a16:creationId xmlns:a16="http://schemas.microsoft.com/office/drawing/2014/main" id="{E3763B7A-1177-A7F5-8C58-F94E950D1000}"/>
              </a:ext>
            </a:extLst>
          </p:cNvPr>
          <p:cNvPicPr>
            <a:picLocks noChangeAspect="1"/>
          </p:cNvPicPr>
          <p:nvPr/>
        </p:nvPicPr>
        <p:blipFill>
          <a:blip r:embed="rId2"/>
          <a:stretch>
            <a:fillRect/>
          </a:stretch>
        </p:blipFill>
        <p:spPr>
          <a:xfrm>
            <a:off x="6461965" y="2898861"/>
            <a:ext cx="5730035" cy="2103313"/>
          </a:xfrm>
          <a:prstGeom prst="rect">
            <a:avLst/>
          </a:prstGeom>
        </p:spPr>
      </p:pic>
      <p:sp>
        <p:nvSpPr>
          <p:cNvPr id="11" name="TextBox 10">
            <a:extLst>
              <a:ext uri="{FF2B5EF4-FFF2-40B4-BE49-F238E27FC236}">
                <a16:creationId xmlns:a16="http://schemas.microsoft.com/office/drawing/2014/main" id="{26BB1988-7D76-27C6-A2A3-64B181A78AF4}"/>
              </a:ext>
            </a:extLst>
          </p:cNvPr>
          <p:cNvSpPr txBox="1"/>
          <p:nvPr/>
        </p:nvSpPr>
        <p:spPr>
          <a:xfrm>
            <a:off x="7026004" y="4919309"/>
            <a:ext cx="4910203" cy="584775"/>
          </a:xfrm>
          <a:prstGeom prst="rect">
            <a:avLst/>
          </a:prstGeom>
          <a:noFill/>
        </p:spPr>
        <p:txBody>
          <a:bodyPr wrap="square">
            <a:spAutoFit/>
          </a:bodyPr>
          <a:lstStyle/>
          <a:p>
            <a:r>
              <a:rPr lang="en-US" sz="800" dirty="0" err="1"/>
              <a:t>Dongdong</a:t>
            </a:r>
            <a:r>
              <a:rPr lang="en-US" sz="800" dirty="0"/>
              <a:t> Chen, </a:t>
            </a:r>
            <a:r>
              <a:rPr lang="en-US" sz="800" dirty="0" err="1"/>
              <a:t>Mengjun</a:t>
            </a:r>
            <a:r>
              <a:rPr lang="en-US" sz="800" dirty="0"/>
              <a:t> Liu, Sheng Wang, </a:t>
            </a:r>
            <a:r>
              <a:rPr lang="en-US" sz="800" dirty="0" err="1"/>
              <a:t>Zheren</a:t>
            </a:r>
            <a:r>
              <a:rPr lang="en-US" sz="800" dirty="0"/>
              <a:t> Li, Lu Bai, Qian Wang, </a:t>
            </a:r>
            <a:r>
              <a:rPr lang="en-US" sz="800" dirty="0" err="1"/>
              <a:t>Dinggang</a:t>
            </a:r>
            <a:r>
              <a:rPr lang="en-US" sz="800" dirty="0"/>
              <a:t> Shen, Lichi </a:t>
            </a:r>
            <a:r>
              <a:rPr lang="en-US" sz="800" dirty="0" err="1"/>
              <a:t>Zhang,Guiding</a:t>
            </a:r>
            <a:r>
              <a:rPr lang="en-US" sz="800" dirty="0"/>
              <a:t> fusion of dynamic functional and effective connectivity in </a:t>
            </a:r>
            <a:r>
              <a:rPr lang="en-US" sz="800" dirty="0" err="1"/>
              <a:t>spatio</a:t>
            </a:r>
            <a:r>
              <a:rPr lang="en-US" sz="800" dirty="0"/>
              <a:t>-temporal graph neural network for brain disorder </a:t>
            </a:r>
            <a:r>
              <a:rPr lang="en-US" sz="800" dirty="0" err="1"/>
              <a:t>classification,Knowledge</a:t>
            </a:r>
            <a:r>
              <a:rPr lang="en-US" sz="800" dirty="0"/>
              <a:t>-Based Systems, https://</a:t>
            </a:r>
            <a:r>
              <a:rPr lang="en-US" sz="800" dirty="0" err="1"/>
              <a:t>doi.org</a:t>
            </a:r>
            <a:r>
              <a:rPr lang="en-US" sz="800" dirty="0"/>
              <a:t>/10.1016/j.knosys.2024.112856.</a:t>
            </a:r>
          </a:p>
        </p:txBody>
      </p:sp>
    </p:spTree>
    <p:extLst>
      <p:ext uri="{BB962C8B-B14F-4D97-AF65-F5344CB8AC3E}">
        <p14:creationId xmlns:p14="http://schemas.microsoft.com/office/powerpoint/2010/main" val="3858114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4BA3D-8251-9A6B-10A5-1B3DF657FC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6F7470-11A8-CE56-AD7B-98E680875998}"/>
              </a:ext>
            </a:extLst>
          </p:cNvPr>
          <p:cNvSpPr>
            <a:spLocks noGrp="1"/>
          </p:cNvSpPr>
          <p:nvPr>
            <p:ph idx="1"/>
          </p:nvPr>
        </p:nvSpPr>
        <p:spPr>
          <a:xfrm>
            <a:off x="425455" y="2381048"/>
            <a:ext cx="6063029" cy="3867353"/>
          </a:xfrm>
        </p:spPr>
        <p:txBody>
          <a:bodyPr>
            <a:normAutofit fontScale="92500" lnSpcReduction="20000"/>
          </a:bodyPr>
          <a:lstStyle/>
          <a:p>
            <a:r>
              <a:rPr lang="en-US" sz="1600" dirty="0">
                <a:solidFill>
                  <a:srgbClr val="FF0000"/>
                </a:solidFill>
              </a:rPr>
              <a:t>- Inter-Subject Graph</a:t>
            </a:r>
          </a:p>
          <a:p>
            <a:endParaRPr lang="en-US" sz="1600" dirty="0">
              <a:solidFill>
                <a:srgbClr val="FF0000"/>
              </a:solidFill>
            </a:endParaRPr>
          </a:p>
          <a:p>
            <a:r>
              <a:rPr lang="en-US" sz="1600" dirty="0">
                <a:solidFill>
                  <a:srgbClr val="FF0000"/>
                </a:solidFill>
              </a:rPr>
              <a:t>- High Order FC</a:t>
            </a:r>
          </a:p>
          <a:p>
            <a:r>
              <a:rPr lang="en-US" sz="1600" dirty="0"/>
              <a:t>They consider each row of the FC matrix as a feature vector describing a brain region. They then calculate the Pearson correlation between these rows.</a:t>
            </a:r>
          </a:p>
          <a:p>
            <a:endParaRPr lang="en-US" sz="1600" dirty="0"/>
          </a:p>
          <a:p>
            <a:r>
              <a:rPr lang="en-US" sz="1600" dirty="0">
                <a:solidFill>
                  <a:srgbClr val="FF0000"/>
                </a:solidFill>
              </a:rPr>
              <a:t>- Minority Class Issue (Multi-View Contrastive Learning, Cost-Sensitive Weighting)</a:t>
            </a:r>
          </a:p>
          <a:p>
            <a:r>
              <a:rPr lang="en-US" sz="1600" dirty="0"/>
              <a:t>Under/Oversampling don’t capture more knowledge from minority class</a:t>
            </a:r>
          </a:p>
          <a:p>
            <a:r>
              <a:rPr lang="en-US" sz="1600" dirty="0"/>
              <a:t>Maximize agreement between FC and HOFC + while applying cost-sensitive weighting </a:t>
            </a:r>
          </a:p>
        </p:txBody>
      </p:sp>
      <p:sp>
        <p:nvSpPr>
          <p:cNvPr id="3" name="Slide Number Placeholder 2">
            <a:extLst>
              <a:ext uri="{FF2B5EF4-FFF2-40B4-BE49-F238E27FC236}">
                <a16:creationId xmlns:a16="http://schemas.microsoft.com/office/drawing/2014/main" id="{8E89ADF5-8F61-46DE-62DA-F9DF6C3CBF0E}"/>
              </a:ext>
            </a:extLst>
          </p:cNvPr>
          <p:cNvSpPr>
            <a:spLocks noGrp="1"/>
          </p:cNvSpPr>
          <p:nvPr>
            <p:ph type="sldNum" sz="quarter" idx="11"/>
          </p:nvPr>
        </p:nvSpPr>
        <p:spPr/>
        <p:txBody>
          <a:bodyPr/>
          <a:lstStyle/>
          <a:p>
            <a:fld id="{CE58CB1E-F828-4F11-99E0-327109AF9DA4}" type="slidenum">
              <a:rPr lang="de-DE" smtClean="0"/>
              <a:pPr/>
              <a:t>64</a:t>
            </a:fld>
            <a:endParaRPr lang="de-DE" dirty="0"/>
          </a:p>
        </p:txBody>
      </p:sp>
      <p:sp>
        <p:nvSpPr>
          <p:cNvPr id="4" name="Footer Placeholder 3">
            <a:extLst>
              <a:ext uri="{FF2B5EF4-FFF2-40B4-BE49-F238E27FC236}">
                <a16:creationId xmlns:a16="http://schemas.microsoft.com/office/drawing/2014/main" id="{12E94882-CD80-6755-8552-ACBA90C498F1}"/>
              </a:ext>
            </a:extLst>
          </p:cNvPr>
          <p:cNvSpPr>
            <a:spLocks noGrp="1"/>
          </p:cNvSpPr>
          <p:nvPr>
            <p:ph type="ftr" sz="quarter" idx="12"/>
          </p:nvPr>
        </p:nvSpPr>
        <p:spPr/>
        <p:txBody>
          <a:bodyPr/>
          <a:lstStyle/>
          <a:p>
            <a:r>
              <a:rPr lang="de-DE"/>
              <a:t>Fraj Yassine Lakhal (TUM)</a:t>
            </a:r>
            <a:endParaRPr lang="en-US" dirty="0"/>
          </a:p>
        </p:txBody>
      </p:sp>
      <p:sp>
        <p:nvSpPr>
          <p:cNvPr id="5" name="Text Placeholder 4">
            <a:extLst>
              <a:ext uri="{FF2B5EF4-FFF2-40B4-BE49-F238E27FC236}">
                <a16:creationId xmlns:a16="http://schemas.microsoft.com/office/drawing/2014/main" id="{A468CD63-F8AD-8BBC-8255-3B6777943BA6}"/>
              </a:ext>
            </a:extLst>
          </p:cNvPr>
          <p:cNvSpPr>
            <a:spLocks noGrp="1"/>
          </p:cNvSpPr>
          <p:nvPr>
            <p:ph type="body" sz="quarter" idx="13"/>
          </p:nvPr>
        </p:nvSpPr>
        <p:spPr/>
        <p:txBody>
          <a:bodyPr/>
          <a:lstStyle/>
          <a:p>
            <a:endParaRPr lang="en-US" dirty="0"/>
          </a:p>
        </p:txBody>
      </p:sp>
      <p:sp>
        <p:nvSpPr>
          <p:cNvPr id="6" name="Title 5">
            <a:extLst>
              <a:ext uri="{FF2B5EF4-FFF2-40B4-BE49-F238E27FC236}">
                <a16:creationId xmlns:a16="http://schemas.microsoft.com/office/drawing/2014/main" id="{8D15B2A1-180C-5C83-57D5-10F138C22CB1}"/>
              </a:ext>
            </a:extLst>
          </p:cNvPr>
          <p:cNvSpPr>
            <a:spLocks noGrp="1"/>
          </p:cNvSpPr>
          <p:nvPr>
            <p:ph type="title"/>
          </p:nvPr>
        </p:nvSpPr>
        <p:spPr>
          <a:xfrm>
            <a:off x="414883" y="391281"/>
            <a:ext cx="11345332" cy="492443"/>
          </a:xfrm>
        </p:spPr>
        <p:txBody>
          <a:bodyPr/>
          <a:lstStyle/>
          <a:p>
            <a:pPr>
              <a:lnSpc>
                <a:spcPct val="100000"/>
              </a:lnSpc>
            </a:pPr>
            <a:r>
              <a:rPr lang="en-US" sz="1600" dirty="0"/>
              <a:t>Cost-Sensitive Weighted Contrastive Learning Based on Graph Convolutional Networks for Imbalanced Alzheimer’s Disease Staging (Hu et al. 2024)</a:t>
            </a:r>
          </a:p>
        </p:txBody>
      </p:sp>
      <p:sp>
        <p:nvSpPr>
          <p:cNvPr id="8" name="Text Placeholder 6">
            <a:extLst>
              <a:ext uri="{FF2B5EF4-FFF2-40B4-BE49-F238E27FC236}">
                <a16:creationId xmlns:a16="http://schemas.microsoft.com/office/drawing/2014/main" id="{0876EDEC-E1FD-3AC9-F60D-7A70CFE7CAAC}"/>
              </a:ext>
            </a:extLst>
          </p:cNvPr>
          <p:cNvSpPr>
            <a:spLocks noGrp="1"/>
          </p:cNvSpPr>
          <p:nvPr>
            <p:ph type="body" sz="quarter" idx="14"/>
          </p:nvPr>
        </p:nvSpPr>
        <p:spPr>
          <a:xfrm>
            <a:off x="414882" y="912573"/>
            <a:ext cx="11345332" cy="428547"/>
          </a:xfrm>
        </p:spPr>
        <p:txBody>
          <a:bodyPr/>
          <a:lstStyle/>
          <a:p>
            <a:endParaRPr lang="en-US" dirty="0"/>
          </a:p>
        </p:txBody>
      </p:sp>
      <p:pic>
        <p:nvPicPr>
          <p:cNvPr id="9" name="Picture 8" descr="A diagram of a computer program&#10;&#10;AI-generated content may be incorrect.">
            <a:extLst>
              <a:ext uri="{FF2B5EF4-FFF2-40B4-BE49-F238E27FC236}">
                <a16:creationId xmlns:a16="http://schemas.microsoft.com/office/drawing/2014/main" id="{65B8CA3A-494B-8698-F049-720ABF000C04}"/>
              </a:ext>
            </a:extLst>
          </p:cNvPr>
          <p:cNvPicPr>
            <a:picLocks noChangeAspect="1"/>
          </p:cNvPicPr>
          <p:nvPr/>
        </p:nvPicPr>
        <p:blipFill>
          <a:blip r:embed="rId2"/>
          <a:stretch>
            <a:fillRect/>
          </a:stretch>
        </p:blipFill>
        <p:spPr>
          <a:xfrm>
            <a:off x="6488483" y="3281361"/>
            <a:ext cx="5569907" cy="1630104"/>
          </a:xfrm>
          <a:prstGeom prst="rect">
            <a:avLst/>
          </a:prstGeom>
        </p:spPr>
      </p:pic>
      <p:sp>
        <p:nvSpPr>
          <p:cNvPr id="11" name="TextBox 10">
            <a:extLst>
              <a:ext uri="{FF2B5EF4-FFF2-40B4-BE49-F238E27FC236}">
                <a16:creationId xmlns:a16="http://schemas.microsoft.com/office/drawing/2014/main" id="{B3991A67-7908-58C0-9DC8-86B9C61BF304}"/>
              </a:ext>
            </a:extLst>
          </p:cNvPr>
          <p:cNvSpPr txBox="1"/>
          <p:nvPr/>
        </p:nvSpPr>
        <p:spPr>
          <a:xfrm>
            <a:off x="7469688" y="5136379"/>
            <a:ext cx="3607496" cy="584775"/>
          </a:xfrm>
          <a:prstGeom prst="rect">
            <a:avLst/>
          </a:prstGeom>
          <a:noFill/>
        </p:spPr>
        <p:txBody>
          <a:bodyPr wrap="square">
            <a:spAutoFit/>
          </a:bodyPr>
          <a:lstStyle/>
          <a:p>
            <a:r>
              <a:rPr lang="en-US" sz="800" dirty="0"/>
              <a:t>Hu Y, Wang J, Zhu H, Li J, Shi J. Cost-Sensitive Weighted Contrastive Learning Based on Graph Convolutional Networks for Imbalanced Alzheimer's Disease Staging. IEEE Trans Med Imaging. 2024 Sep;43(9):3126-3136. </a:t>
            </a:r>
            <a:r>
              <a:rPr lang="en-US" sz="800" dirty="0" err="1"/>
              <a:t>doi</a:t>
            </a:r>
            <a:r>
              <a:rPr lang="en-US" sz="800" dirty="0"/>
              <a:t>: 10.1109/TMI.2024.3389747. </a:t>
            </a:r>
            <a:r>
              <a:rPr lang="en-US" sz="800" dirty="0" err="1"/>
              <a:t>Epub</a:t>
            </a:r>
            <a:r>
              <a:rPr lang="en-US" sz="800" dirty="0"/>
              <a:t> 2024 Sep 3. PMID: 38625767.</a:t>
            </a:r>
          </a:p>
        </p:txBody>
      </p:sp>
      <p:pic>
        <p:nvPicPr>
          <p:cNvPr id="14" name="Picture 13" descr="A black and white math equations&#10;&#10;AI-generated content may be incorrect.">
            <a:extLst>
              <a:ext uri="{FF2B5EF4-FFF2-40B4-BE49-F238E27FC236}">
                <a16:creationId xmlns:a16="http://schemas.microsoft.com/office/drawing/2014/main" id="{B7A603F3-AD66-E0E8-B6F3-41688E09CE1E}"/>
              </a:ext>
            </a:extLst>
          </p:cNvPr>
          <p:cNvPicPr>
            <a:picLocks noChangeAspect="1"/>
          </p:cNvPicPr>
          <p:nvPr/>
        </p:nvPicPr>
        <p:blipFill>
          <a:blip r:embed="rId3"/>
          <a:srcRect t="14776" b="12412"/>
          <a:stretch>
            <a:fillRect/>
          </a:stretch>
        </p:blipFill>
        <p:spPr>
          <a:xfrm>
            <a:off x="2132799" y="5670256"/>
            <a:ext cx="816560" cy="409573"/>
          </a:xfrm>
          <a:prstGeom prst="rect">
            <a:avLst/>
          </a:prstGeom>
        </p:spPr>
      </p:pic>
    </p:spTree>
    <p:extLst>
      <p:ext uri="{BB962C8B-B14F-4D97-AF65-F5344CB8AC3E}">
        <p14:creationId xmlns:p14="http://schemas.microsoft.com/office/powerpoint/2010/main" val="30293620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oup of graphs with different colored lines&#10;&#10;AI-generated content may be incorrect.">
            <a:extLst>
              <a:ext uri="{FF2B5EF4-FFF2-40B4-BE49-F238E27FC236}">
                <a16:creationId xmlns:a16="http://schemas.microsoft.com/office/drawing/2014/main" id="{0DE8180B-2F71-81CB-F3E9-375F26153A69}"/>
              </a:ext>
            </a:extLst>
          </p:cNvPr>
          <p:cNvPicPr>
            <a:picLocks noGrp="1" noChangeAspect="1"/>
          </p:cNvPicPr>
          <p:nvPr>
            <p:ph idx="1"/>
          </p:nvPr>
        </p:nvPicPr>
        <p:blipFill>
          <a:blip r:embed="rId2"/>
          <a:stretch>
            <a:fillRect/>
          </a:stretch>
        </p:blipFill>
        <p:spPr>
          <a:xfrm>
            <a:off x="414882" y="2372047"/>
            <a:ext cx="5126325" cy="3867149"/>
          </a:xfrm>
        </p:spPr>
      </p:pic>
      <p:sp>
        <p:nvSpPr>
          <p:cNvPr id="3" name="Slide Number Placeholder 2">
            <a:extLst>
              <a:ext uri="{FF2B5EF4-FFF2-40B4-BE49-F238E27FC236}">
                <a16:creationId xmlns:a16="http://schemas.microsoft.com/office/drawing/2014/main" id="{DEE52EC7-5B36-45DC-6465-D4EC96ED5327}"/>
              </a:ext>
            </a:extLst>
          </p:cNvPr>
          <p:cNvSpPr>
            <a:spLocks noGrp="1"/>
          </p:cNvSpPr>
          <p:nvPr>
            <p:ph type="sldNum" sz="quarter" idx="11"/>
          </p:nvPr>
        </p:nvSpPr>
        <p:spPr/>
        <p:txBody>
          <a:bodyPr/>
          <a:lstStyle/>
          <a:p>
            <a:fld id="{CE58CB1E-F828-4F11-99E0-327109AF9DA4}" type="slidenum">
              <a:rPr lang="de-DE" smtClean="0"/>
              <a:pPr/>
              <a:t>65</a:t>
            </a:fld>
            <a:endParaRPr lang="de-DE" dirty="0"/>
          </a:p>
        </p:txBody>
      </p:sp>
      <p:sp>
        <p:nvSpPr>
          <p:cNvPr id="4" name="Footer Placeholder 3">
            <a:extLst>
              <a:ext uri="{FF2B5EF4-FFF2-40B4-BE49-F238E27FC236}">
                <a16:creationId xmlns:a16="http://schemas.microsoft.com/office/drawing/2014/main" id="{69BFDCA2-05BD-EC21-3F35-49B925DA97CC}"/>
              </a:ext>
            </a:extLst>
          </p:cNvPr>
          <p:cNvSpPr>
            <a:spLocks noGrp="1"/>
          </p:cNvSpPr>
          <p:nvPr>
            <p:ph type="ftr" sz="quarter" idx="12"/>
          </p:nvPr>
        </p:nvSpPr>
        <p:spPr/>
        <p:txBody>
          <a:bodyPr/>
          <a:lstStyle/>
          <a:p>
            <a:r>
              <a:rPr lang="de-DE"/>
              <a:t>Fraj Yassine Lakhal (TUM)</a:t>
            </a:r>
            <a:endParaRPr lang="en-US" dirty="0"/>
          </a:p>
        </p:txBody>
      </p:sp>
      <p:sp>
        <p:nvSpPr>
          <p:cNvPr id="5" name="Text Placeholder 4">
            <a:extLst>
              <a:ext uri="{FF2B5EF4-FFF2-40B4-BE49-F238E27FC236}">
                <a16:creationId xmlns:a16="http://schemas.microsoft.com/office/drawing/2014/main" id="{8D760B18-61FE-8E61-28DD-C2B23F32969E}"/>
              </a:ext>
            </a:extLst>
          </p:cNvPr>
          <p:cNvSpPr>
            <a:spLocks noGrp="1"/>
          </p:cNvSpPr>
          <p:nvPr>
            <p:ph type="body" sz="quarter" idx="13"/>
          </p:nvPr>
        </p:nvSpPr>
        <p:spPr/>
        <p:txBody>
          <a:bodyPr/>
          <a:lstStyle/>
          <a:p>
            <a:endParaRPr lang="en-US"/>
          </a:p>
        </p:txBody>
      </p:sp>
      <p:sp>
        <p:nvSpPr>
          <p:cNvPr id="6" name="Title 5">
            <a:extLst>
              <a:ext uri="{FF2B5EF4-FFF2-40B4-BE49-F238E27FC236}">
                <a16:creationId xmlns:a16="http://schemas.microsoft.com/office/drawing/2014/main" id="{08A91C5F-6139-C70E-71C6-E2A2368A8397}"/>
              </a:ext>
            </a:extLst>
          </p:cNvPr>
          <p:cNvSpPr>
            <a:spLocks noGrp="1"/>
          </p:cNvSpPr>
          <p:nvPr>
            <p:ph type="title"/>
          </p:nvPr>
        </p:nvSpPr>
        <p:spPr/>
        <p:txBody>
          <a:bodyPr/>
          <a:lstStyle/>
          <a:p>
            <a:r>
              <a:rPr lang="en-US" dirty="0"/>
              <a:t>Pretrained Model: Latent Vector Study</a:t>
            </a:r>
          </a:p>
        </p:txBody>
      </p:sp>
      <p:sp>
        <p:nvSpPr>
          <p:cNvPr id="7" name="Text Placeholder 6">
            <a:extLst>
              <a:ext uri="{FF2B5EF4-FFF2-40B4-BE49-F238E27FC236}">
                <a16:creationId xmlns:a16="http://schemas.microsoft.com/office/drawing/2014/main" id="{A6D7C6EC-9E8F-0EDB-A993-7FD639C0EAEE}"/>
              </a:ext>
            </a:extLst>
          </p:cNvPr>
          <p:cNvSpPr>
            <a:spLocks noGrp="1"/>
          </p:cNvSpPr>
          <p:nvPr>
            <p:ph type="body" sz="quarter" idx="14"/>
          </p:nvPr>
        </p:nvSpPr>
        <p:spPr/>
        <p:txBody>
          <a:bodyPr/>
          <a:lstStyle/>
          <a:p>
            <a:r>
              <a:rPr lang="en-US" dirty="0"/>
              <a:t>Encoder Trained on All Cohorts</a:t>
            </a:r>
          </a:p>
        </p:txBody>
      </p:sp>
      <p:pic>
        <p:nvPicPr>
          <p:cNvPr id="11" name="Picture 10" descr="A screenshot of a graph&#10;&#10;AI-generated content may be incorrect.">
            <a:extLst>
              <a:ext uri="{FF2B5EF4-FFF2-40B4-BE49-F238E27FC236}">
                <a16:creationId xmlns:a16="http://schemas.microsoft.com/office/drawing/2014/main" id="{4DF7056D-136A-0ECB-FDA1-21ADB7C12F7A}"/>
              </a:ext>
            </a:extLst>
          </p:cNvPr>
          <p:cNvPicPr>
            <a:picLocks noChangeAspect="1"/>
          </p:cNvPicPr>
          <p:nvPr/>
        </p:nvPicPr>
        <p:blipFill>
          <a:blip r:embed="rId3"/>
          <a:stretch>
            <a:fillRect/>
          </a:stretch>
        </p:blipFill>
        <p:spPr>
          <a:xfrm>
            <a:off x="5746034" y="2430124"/>
            <a:ext cx="5675433" cy="1997752"/>
          </a:xfrm>
          <a:prstGeom prst="rect">
            <a:avLst/>
          </a:prstGeom>
        </p:spPr>
      </p:pic>
      <p:pic>
        <p:nvPicPr>
          <p:cNvPr id="15" name="Picture 14" descr="A screenshot of a graph&#10;&#10;AI-generated content may be incorrect.">
            <a:extLst>
              <a:ext uri="{FF2B5EF4-FFF2-40B4-BE49-F238E27FC236}">
                <a16:creationId xmlns:a16="http://schemas.microsoft.com/office/drawing/2014/main" id="{09E31947-093C-7A3B-ADFF-0D11B6C8F080}"/>
              </a:ext>
            </a:extLst>
          </p:cNvPr>
          <p:cNvPicPr>
            <a:picLocks noChangeAspect="1"/>
          </p:cNvPicPr>
          <p:nvPr/>
        </p:nvPicPr>
        <p:blipFill>
          <a:blip r:embed="rId4"/>
          <a:stretch>
            <a:fillRect/>
          </a:stretch>
        </p:blipFill>
        <p:spPr>
          <a:xfrm>
            <a:off x="5809263" y="4468966"/>
            <a:ext cx="5675436" cy="1997753"/>
          </a:xfrm>
          <a:prstGeom prst="rect">
            <a:avLst/>
          </a:prstGeom>
        </p:spPr>
      </p:pic>
    </p:spTree>
    <p:extLst>
      <p:ext uri="{BB962C8B-B14F-4D97-AF65-F5344CB8AC3E}">
        <p14:creationId xmlns:p14="http://schemas.microsoft.com/office/powerpoint/2010/main" val="24795731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FC32214-674A-D58D-3EFC-359FD8496384}"/>
              </a:ext>
            </a:extLst>
          </p:cNvPr>
          <p:cNvPicPr>
            <a:picLocks noGrp="1" noChangeAspect="1"/>
          </p:cNvPicPr>
          <p:nvPr>
            <p:ph idx="1"/>
          </p:nvPr>
        </p:nvPicPr>
        <p:blipFill>
          <a:blip r:embed="rId2"/>
          <a:stretch>
            <a:fillRect/>
          </a:stretch>
        </p:blipFill>
        <p:spPr>
          <a:xfrm>
            <a:off x="1011239" y="1973640"/>
            <a:ext cx="4561335" cy="3793435"/>
          </a:xfrm>
          <a:prstGeom prst="rect">
            <a:avLst/>
          </a:prstGeom>
        </p:spPr>
      </p:pic>
      <p:sp>
        <p:nvSpPr>
          <p:cNvPr id="3" name="Slide Number Placeholder 2">
            <a:extLst>
              <a:ext uri="{FF2B5EF4-FFF2-40B4-BE49-F238E27FC236}">
                <a16:creationId xmlns:a16="http://schemas.microsoft.com/office/drawing/2014/main" id="{3779A610-3443-3F8C-C5E0-E70913E62A41}"/>
              </a:ext>
            </a:extLst>
          </p:cNvPr>
          <p:cNvSpPr>
            <a:spLocks noGrp="1"/>
          </p:cNvSpPr>
          <p:nvPr>
            <p:ph type="sldNum" sz="quarter" idx="11"/>
          </p:nvPr>
        </p:nvSpPr>
        <p:spPr/>
        <p:txBody>
          <a:bodyPr/>
          <a:lstStyle/>
          <a:p>
            <a:fld id="{CE58CB1E-F828-4F11-99E0-327109AF9DA4}" type="slidenum">
              <a:rPr lang="de-DE" smtClean="0"/>
              <a:pPr/>
              <a:t>66</a:t>
            </a:fld>
            <a:endParaRPr lang="de-DE" dirty="0"/>
          </a:p>
        </p:txBody>
      </p:sp>
      <p:sp>
        <p:nvSpPr>
          <p:cNvPr id="4" name="Footer Placeholder 3">
            <a:extLst>
              <a:ext uri="{FF2B5EF4-FFF2-40B4-BE49-F238E27FC236}">
                <a16:creationId xmlns:a16="http://schemas.microsoft.com/office/drawing/2014/main" id="{CE463220-46A2-10D0-A97A-EB7C837CAEB4}"/>
              </a:ext>
            </a:extLst>
          </p:cNvPr>
          <p:cNvSpPr>
            <a:spLocks noGrp="1"/>
          </p:cNvSpPr>
          <p:nvPr>
            <p:ph type="ftr" sz="quarter" idx="12"/>
          </p:nvPr>
        </p:nvSpPr>
        <p:spPr/>
        <p:txBody>
          <a:bodyPr/>
          <a:lstStyle/>
          <a:p>
            <a:r>
              <a:rPr lang="de-DE"/>
              <a:t>Fraj Yassine Lakhal (TUM)</a:t>
            </a:r>
            <a:endParaRPr lang="en-US" dirty="0"/>
          </a:p>
        </p:txBody>
      </p:sp>
      <p:sp>
        <p:nvSpPr>
          <p:cNvPr id="5" name="Text Placeholder 4">
            <a:extLst>
              <a:ext uri="{FF2B5EF4-FFF2-40B4-BE49-F238E27FC236}">
                <a16:creationId xmlns:a16="http://schemas.microsoft.com/office/drawing/2014/main" id="{A8227988-F5A1-184E-1CA2-F27D614C9FBE}"/>
              </a:ext>
            </a:extLst>
          </p:cNvPr>
          <p:cNvSpPr>
            <a:spLocks noGrp="1"/>
          </p:cNvSpPr>
          <p:nvPr>
            <p:ph type="body" sz="quarter" idx="13"/>
          </p:nvPr>
        </p:nvSpPr>
        <p:spPr>
          <a:xfrm>
            <a:off x="414881" y="6129851"/>
            <a:ext cx="11345332" cy="673739"/>
          </a:xfrm>
        </p:spPr>
        <p:txBody>
          <a:bodyPr/>
          <a:lstStyle/>
          <a:p>
            <a:r>
              <a:rPr lang="en-US" sz="1400" dirty="0"/>
              <a:t>after removing duplicates from the data of stable MCI and Converters, performance dropped significantly!</a:t>
            </a:r>
          </a:p>
        </p:txBody>
      </p:sp>
      <p:sp>
        <p:nvSpPr>
          <p:cNvPr id="6" name="Title 5">
            <a:extLst>
              <a:ext uri="{FF2B5EF4-FFF2-40B4-BE49-F238E27FC236}">
                <a16:creationId xmlns:a16="http://schemas.microsoft.com/office/drawing/2014/main" id="{3C5B8EDC-50B8-B73D-283F-05E60468F7B6}"/>
              </a:ext>
            </a:extLst>
          </p:cNvPr>
          <p:cNvSpPr>
            <a:spLocks noGrp="1"/>
          </p:cNvSpPr>
          <p:nvPr>
            <p:ph type="title"/>
          </p:nvPr>
        </p:nvSpPr>
        <p:spPr/>
        <p:txBody>
          <a:bodyPr/>
          <a:lstStyle/>
          <a:p>
            <a:r>
              <a:rPr lang="en-US" dirty="0"/>
              <a:t>Results GEC</a:t>
            </a:r>
          </a:p>
        </p:txBody>
      </p:sp>
      <p:sp>
        <p:nvSpPr>
          <p:cNvPr id="7" name="Text Placeholder 6">
            <a:extLst>
              <a:ext uri="{FF2B5EF4-FFF2-40B4-BE49-F238E27FC236}">
                <a16:creationId xmlns:a16="http://schemas.microsoft.com/office/drawing/2014/main" id="{2F1F2B02-274C-2B6F-5006-7058750C351F}"/>
              </a:ext>
            </a:extLst>
          </p:cNvPr>
          <p:cNvSpPr>
            <a:spLocks noGrp="1"/>
          </p:cNvSpPr>
          <p:nvPr>
            <p:ph type="body" sz="quarter" idx="14"/>
          </p:nvPr>
        </p:nvSpPr>
        <p:spPr/>
        <p:txBody>
          <a:bodyPr/>
          <a:lstStyle/>
          <a:p>
            <a:r>
              <a:rPr lang="en-US" dirty="0"/>
              <a:t>Mean Pooling (left) vs Attention Pooling (right)</a:t>
            </a:r>
          </a:p>
        </p:txBody>
      </p:sp>
      <p:pic>
        <p:nvPicPr>
          <p:cNvPr id="9" name="Picture 8">
            <a:extLst>
              <a:ext uri="{FF2B5EF4-FFF2-40B4-BE49-F238E27FC236}">
                <a16:creationId xmlns:a16="http://schemas.microsoft.com/office/drawing/2014/main" id="{94A35A0F-519D-1010-0DD6-50FABD797C16}"/>
              </a:ext>
            </a:extLst>
          </p:cNvPr>
          <p:cNvPicPr>
            <a:picLocks noChangeAspect="1"/>
          </p:cNvPicPr>
          <p:nvPr/>
        </p:nvPicPr>
        <p:blipFill>
          <a:blip r:embed="rId3"/>
          <a:stretch>
            <a:fillRect/>
          </a:stretch>
        </p:blipFill>
        <p:spPr>
          <a:xfrm>
            <a:off x="6494631" y="1973642"/>
            <a:ext cx="4561335" cy="3793433"/>
          </a:xfrm>
          <a:prstGeom prst="rect">
            <a:avLst/>
          </a:prstGeom>
        </p:spPr>
      </p:pic>
    </p:spTree>
    <p:extLst>
      <p:ext uri="{BB962C8B-B14F-4D97-AF65-F5344CB8AC3E}">
        <p14:creationId xmlns:p14="http://schemas.microsoft.com/office/powerpoint/2010/main" val="533147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1004</TotalTime>
  <Words>5570</Words>
  <Application>Microsoft Macintosh PowerPoint</Application>
  <PresentationFormat>Widescreen</PresentationFormat>
  <Paragraphs>549</Paragraphs>
  <Slides>66</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Aptos</vt:lpstr>
      <vt:lpstr>Aptos Display</vt:lpstr>
      <vt:lpstr>Arial</vt:lpstr>
      <vt:lpstr>BlinkMacSystemFont</vt:lpstr>
      <vt:lpstr>Cambria Math</vt:lpstr>
      <vt:lpstr>fkGroteskNeue</vt:lpstr>
      <vt:lpstr>Office Theme</vt:lpstr>
      <vt:lpstr>Master Thesis: Alzheimer Prediction</vt:lpstr>
      <vt:lpstr>Motivation</vt:lpstr>
      <vt:lpstr>Alzheimer’s Disease  Modifying treatment</vt:lpstr>
      <vt:lpstr>Current Paradigm</vt:lpstr>
      <vt:lpstr>Several Issues:  1. Functional "Collapse" Precedes Structural Atrophy 2. Burdensome for elderly patients. </vt:lpstr>
      <vt:lpstr>Several Issues:  1. Functional "Collapse" Precedes Structural Atrophy 2. Burdensome for elderly patients.  Can  we identify functionally vulnerable patients early on? </vt:lpstr>
      <vt:lpstr>Why resting-state fMRI?</vt:lpstr>
      <vt:lpstr>Why combine with deep learning?</vt:lpstr>
      <vt:lpstr>SoTA</vt:lpstr>
      <vt:lpstr>Usual Workflow for fMRI Preprocessing</vt:lpstr>
      <vt:lpstr>DL Frameworks (Related Work)</vt:lpstr>
      <vt:lpstr>Proposal</vt:lpstr>
      <vt:lpstr>My Proposal</vt:lpstr>
      <vt:lpstr>PowerPoint Presentation</vt:lpstr>
      <vt:lpstr>FOUR Parts for my Proposal  1. Explore other Parcellation Techniques 2. Improve Model + Explore SoTA Approaches 3. Explainability 4. Packaging in a UI Friendly Tool </vt:lpstr>
      <vt:lpstr>Parcellation</vt:lpstr>
      <vt:lpstr>Parcellation</vt:lpstr>
      <vt:lpstr>Parcellation</vt:lpstr>
      <vt:lpstr>Parcellation</vt:lpstr>
      <vt:lpstr>Atlas-free</vt:lpstr>
      <vt:lpstr>Diagnosis xAI</vt:lpstr>
      <vt:lpstr>Diagnosis xAI</vt:lpstr>
      <vt:lpstr>Diagnosis xAI</vt:lpstr>
      <vt:lpstr>Focus:  Find what works </vt:lpstr>
      <vt:lpstr>Focus:  Find what works Finetune</vt:lpstr>
      <vt:lpstr>PowerPoint Presentation</vt:lpstr>
      <vt:lpstr>PowerPoint Presentation</vt:lpstr>
      <vt:lpstr>Literature Review &amp; Next Steps</vt:lpstr>
      <vt:lpstr>Outline</vt:lpstr>
      <vt:lpstr>Theoretical Framework: fMRI as a Reliable Method for Brain Pathologies</vt:lpstr>
      <vt:lpstr>Theoretical Framework: MCI and The Alzheimer’s Disease Continuum</vt:lpstr>
      <vt:lpstr>Current Approach: GAAE Model for Anomaly Detection</vt:lpstr>
      <vt:lpstr>Literature Review</vt:lpstr>
      <vt:lpstr>Literature Review</vt:lpstr>
      <vt:lpstr>Literature Review</vt:lpstr>
      <vt:lpstr>Literature Review: Conversion Risk and Temporal Prognosis</vt:lpstr>
      <vt:lpstr>Literature Review: Conversion Risk and Temporal Prognosis</vt:lpstr>
      <vt:lpstr>Literature Review: Conversion Risk and Temporal Prognosis</vt:lpstr>
      <vt:lpstr>Literature Review: SOTA Papers List</vt:lpstr>
      <vt:lpstr>Pretraining: Model Architecture Fraj Yassine Lakhal TUM School of Computation, Information and Technology </vt:lpstr>
      <vt:lpstr>Outline</vt:lpstr>
      <vt:lpstr>DELCODE Dataset</vt:lpstr>
      <vt:lpstr>DELCODE Dataset</vt:lpstr>
      <vt:lpstr>DELCODE Dataset</vt:lpstr>
      <vt:lpstr>Statistical Tests (Converters vs non-Converters)</vt:lpstr>
      <vt:lpstr>Statistical Tests (Converters vs non-Converters)</vt:lpstr>
      <vt:lpstr>Statistical Tests (Converters vs non-Converters)</vt:lpstr>
      <vt:lpstr>Statistical Tests (Converters vs non-Converters)</vt:lpstr>
      <vt:lpstr>Statistical Tests (Converters vs non-Converters)</vt:lpstr>
      <vt:lpstr>Statistical Tests (Converters vs non-Converters)</vt:lpstr>
      <vt:lpstr>Statistical Tests (Converters vs non-Converters)</vt:lpstr>
      <vt:lpstr>Pretrained Model Architecture</vt:lpstr>
      <vt:lpstr>Pretrained Model Architecture</vt:lpstr>
      <vt:lpstr>Pretrained Model Architecture</vt:lpstr>
      <vt:lpstr>Pretraining:  Results + Classification  Fraj Yassine Lakhal TUM School of Computation, Information and Technology </vt:lpstr>
      <vt:lpstr>Outline</vt:lpstr>
      <vt:lpstr>Unsupervised contrastive graph learning for resting-state functional MRI analysis and brain disorder detection  (Weng et al. 2023)</vt:lpstr>
      <vt:lpstr>Self-supervised graph contrastive learning with diffusion augmentation for functional MRI analysis and brain disorder detection (Weng et al. 2025)</vt:lpstr>
      <vt:lpstr>Diffusion Models and Slicing Windows</vt:lpstr>
      <vt:lpstr>Diffusion Models and Slicing Windows</vt:lpstr>
      <vt:lpstr>Diffusion Models and Slicing Windows</vt:lpstr>
      <vt:lpstr>Self-supervised Learning with Adaptive Graph Structure and Function Representation for Cross-Dataset Brain Disorder Diagnosis (Chen et al. 2024)</vt:lpstr>
      <vt:lpstr>Guiding fusion of dynamic functional and effective connectivity in spatio-temporal graph neural network for brain disorder classification (Chen et al. 2025)</vt:lpstr>
      <vt:lpstr>Cost-Sensitive Weighted Contrastive Learning Based on Graph Convolutional Networks for Imbalanced Alzheimer’s Disease Staging (Hu et al. 2024)</vt:lpstr>
      <vt:lpstr>Pretrained Model: Latent Vector Study</vt:lpstr>
      <vt:lpstr>Results GEC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Lakhal, Fraj Yassine</dc:creator>
  <cp:lastModifiedBy>Lakhal, Fraj Yassine</cp:lastModifiedBy>
  <cp:revision>4</cp:revision>
  <dcterms:created xsi:type="dcterms:W3CDTF">2025-12-02T16:03:13Z</dcterms:created>
  <dcterms:modified xsi:type="dcterms:W3CDTF">2026-01-29T14:39:25Z</dcterms:modified>
</cp:coreProperties>
</file>