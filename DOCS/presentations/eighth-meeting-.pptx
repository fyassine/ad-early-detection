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theme/theme5.xml" ContentType="application/vnd.openxmlformats-officedocument.theme+xml"/>
  <Override PartName="/ppt/slideLayouts/slideLayout1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39"/>
  </p:notesMasterIdLst>
  <p:handoutMasterIdLst>
    <p:handoutMasterId r:id="rId40"/>
  </p:handoutMasterIdLst>
  <p:sldIdLst>
    <p:sldId id="355" r:id="rId7"/>
    <p:sldId id="467" r:id="rId8"/>
    <p:sldId id="472" r:id="rId9"/>
    <p:sldId id="471" r:id="rId10"/>
    <p:sldId id="473" r:id="rId11"/>
    <p:sldId id="442" r:id="rId12"/>
    <p:sldId id="469" r:id="rId13"/>
    <p:sldId id="441" r:id="rId14"/>
    <p:sldId id="470" r:id="rId15"/>
    <p:sldId id="468" r:id="rId16"/>
    <p:sldId id="474" r:id="rId17"/>
    <p:sldId id="357" r:id="rId18"/>
    <p:sldId id="356" r:id="rId19"/>
    <p:sldId id="369" r:id="rId20"/>
    <p:sldId id="370" r:id="rId21"/>
    <p:sldId id="392" r:id="rId22"/>
    <p:sldId id="371" r:id="rId23"/>
    <p:sldId id="372" r:id="rId24"/>
    <p:sldId id="373" r:id="rId25"/>
    <p:sldId id="375" r:id="rId26"/>
    <p:sldId id="394" r:id="rId27"/>
    <p:sldId id="376" r:id="rId28"/>
    <p:sldId id="393" r:id="rId29"/>
    <p:sldId id="391" r:id="rId30"/>
    <p:sldId id="390" r:id="rId31"/>
    <p:sldId id="378" r:id="rId32"/>
    <p:sldId id="377" r:id="rId33"/>
    <p:sldId id="389" r:id="rId34"/>
    <p:sldId id="379" r:id="rId35"/>
    <p:sldId id="395" r:id="rId36"/>
    <p:sldId id="380" r:id="rId37"/>
    <p:sldId id="381" r:id="rId38"/>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93"/>
    <a:srgbClr val="98C6EA"/>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88" autoAdjust="0"/>
    <p:restoredTop sz="88272" autoAdjust="0"/>
  </p:normalViewPr>
  <p:slideViewPr>
    <p:cSldViewPr snapToGrid="0">
      <p:cViewPr varScale="1">
        <p:scale>
          <a:sx n="173" d="100"/>
          <a:sy n="173" d="100"/>
        </p:scale>
        <p:origin x="200" y="1048"/>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486981848787888"/>
          <c:y val="2.9693859117812735E-3"/>
          <c:w val="0.4620606955380594"/>
          <c:h val="0.94046776541596178"/>
        </c:manualLayout>
      </c:layout>
      <c:barChart>
        <c:barDir val="bar"/>
        <c:grouping val="clustered"/>
        <c:varyColors val="0"/>
        <c:ser>
          <c:idx val="0"/>
          <c:order val="0"/>
          <c:tx>
            <c:strRef>
              <c:f>Tabelle1!$B$1</c:f>
              <c:strCache>
                <c:ptCount val="1"/>
                <c:pt idx="0">
                  <c:v>Datenreihe 1</c:v>
                </c:pt>
              </c:strCache>
            </c:strRef>
          </c:tx>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1B8-0F4C-898D-12584B14E9AB}"/>
            </c:ext>
          </c:extLst>
        </c:ser>
        <c:ser>
          <c:idx val="1"/>
          <c:order val="1"/>
          <c:tx>
            <c:strRef>
              <c:f>Tabelle1!$C$1</c:f>
              <c:strCache>
                <c:ptCount val="1"/>
                <c:pt idx="0">
                  <c:v>Datenreihe 2</c:v>
                </c:pt>
              </c:strCache>
            </c:strRef>
          </c:tx>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1B8-0F4C-898D-12584B14E9AB}"/>
            </c:ext>
          </c:extLst>
        </c:ser>
        <c:ser>
          <c:idx val="2"/>
          <c:order val="2"/>
          <c:tx>
            <c:strRef>
              <c:f>Tabelle1!$D$1</c:f>
              <c:strCache>
                <c:ptCount val="1"/>
                <c:pt idx="0">
                  <c:v>Datenreihe 3</c:v>
                </c:pt>
              </c:strCache>
            </c:strRef>
          </c:tx>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1B8-0F4C-898D-12584B14E9AB}"/>
            </c:ext>
          </c:extLst>
        </c:ser>
        <c:dLbls>
          <c:showLegendKey val="0"/>
          <c:showVal val="0"/>
          <c:showCatName val="0"/>
          <c:showSerName val="0"/>
          <c:showPercent val="0"/>
          <c:showBubbleSize val="0"/>
        </c:dLbls>
        <c:gapWidth val="150"/>
        <c:axId val="55609984"/>
        <c:axId val="55632256"/>
      </c:barChart>
      <c:catAx>
        <c:axId val="55609984"/>
        <c:scaling>
          <c:orientation val="maxMin"/>
        </c:scaling>
        <c:delete val="0"/>
        <c:axPos val="l"/>
        <c:numFmt formatCode="General" sourceLinked="0"/>
        <c:majorTickMark val="out"/>
        <c:minorTickMark val="none"/>
        <c:tickLblPos val="nextTo"/>
        <c:spPr>
          <a:ln>
            <a:noFill/>
          </a:ln>
        </c:spPr>
        <c:txPr>
          <a:bodyPr/>
          <a:lstStyle/>
          <a:p>
            <a:pPr>
              <a:defRPr sz="1200"/>
            </a:pPr>
            <a:endParaRPr lang="de-DE"/>
          </a:p>
        </c:txPr>
        <c:crossAx val="55632256"/>
        <c:crosses val="autoZero"/>
        <c:auto val="1"/>
        <c:lblAlgn val="ctr"/>
        <c:lblOffset val="100"/>
        <c:noMultiLvlLbl val="0"/>
      </c:catAx>
      <c:valAx>
        <c:axId val="55632256"/>
        <c:scaling>
          <c:orientation val="minMax"/>
        </c:scaling>
        <c:delete val="1"/>
        <c:axPos val="t"/>
        <c:numFmt formatCode="General" sourceLinked="1"/>
        <c:majorTickMark val="out"/>
        <c:minorTickMark val="none"/>
        <c:tickLblPos val="none"/>
        <c:crossAx val="55609984"/>
        <c:crosses val="autoZero"/>
        <c:crossBetween val="between"/>
      </c:valAx>
      <c:spPr>
        <a:noFill/>
        <a:ln w="25400">
          <a:noFill/>
        </a:ln>
      </c:spPr>
    </c:plotArea>
    <c:legend>
      <c:legendPos val="r"/>
      <c:legendEntry>
        <c:idx val="0"/>
        <c:txPr>
          <a:bodyPr/>
          <a:lstStyle/>
          <a:p>
            <a:pPr>
              <a:defRPr sz="1200"/>
            </a:pPr>
            <a:endParaRPr lang="de-DE"/>
          </a:p>
        </c:txPr>
      </c:legendEntry>
      <c:legendEntry>
        <c:idx val="1"/>
        <c:txPr>
          <a:bodyPr/>
          <a:lstStyle/>
          <a:p>
            <a:pPr>
              <a:defRPr sz="1200"/>
            </a:pPr>
            <a:endParaRPr lang="de-DE"/>
          </a:p>
        </c:txPr>
      </c:legendEntry>
      <c:legendEntry>
        <c:idx val="2"/>
        <c:txPr>
          <a:bodyPr/>
          <a:lstStyle/>
          <a:p>
            <a:pPr>
              <a:defRPr sz="1200"/>
            </a:pPr>
            <a:endParaRPr lang="de-DE"/>
          </a:p>
        </c:txPr>
      </c:legendEntry>
      <c:layout>
        <c:manualLayout>
          <c:xMode val="edge"/>
          <c:yMode val="edge"/>
          <c:x val="0.80149253731343284"/>
          <c:y val="0.52835304493820856"/>
          <c:w val="0.17581008344106258"/>
          <c:h val="0.39444292135547893"/>
        </c:manualLayout>
      </c:layout>
      <c:overlay val="0"/>
    </c:legend>
    <c:plotVisOnly val="1"/>
    <c:dispBlanksAs val="gap"/>
    <c:showDLblsOverMax val="0"/>
  </c:chart>
  <c:txPr>
    <a:bodyPr/>
    <a:lstStyle/>
    <a:p>
      <a:pPr>
        <a:defRPr sz="16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917781378035195E-2"/>
          <c:y val="4.8713503858794326E-2"/>
          <c:w val="0.72089832193327852"/>
          <c:h val="0.71127185070697474"/>
        </c:manualLayout>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E77-7A46-A340-586A45AE84A2}"/>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E77-7A46-A340-586A45AE84A2}"/>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E77-7A46-A340-586A45AE84A2}"/>
            </c:ext>
          </c:extLst>
        </c:ser>
        <c:dLbls>
          <c:showLegendKey val="0"/>
          <c:showVal val="0"/>
          <c:showCatName val="0"/>
          <c:showSerName val="0"/>
          <c:showPercent val="0"/>
          <c:showBubbleSize val="0"/>
        </c:dLbls>
        <c:gapWidth val="219"/>
        <c:overlap val="-27"/>
        <c:axId val="55849728"/>
        <c:axId val="55851264"/>
      </c:barChart>
      <c:catAx>
        <c:axId val="5584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crossAx val="55851264"/>
        <c:crosses val="autoZero"/>
        <c:auto val="1"/>
        <c:lblAlgn val="ctr"/>
        <c:lblOffset val="100"/>
        <c:noMultiLvlLbl val="0"/>
      </c:catAx>
      <c:valAx>
        <c:axId val="5585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55849728"/>
        <c:crosses val="autoZero"/>
        <c:crossBetween val="between"/>
      </c:valAx>
      <c:spPr>
        <a:noFill/>
        <a:ln>
          <a:noFill/>
        </a:ln>
        <a:effectLst/>
      </c:spPr>
    </c:plotArea>
    <c:legend>
      <c:legendPos val="b"/>
      <c:layout>
        <c:manualLayout>
          <c:xMode val="edge"/>
          <c:yMode val="edge"/>
          <c:x val="0.8154296124150936"/>
          <c:y val="0.49854001583135465"/>
          <c:w val="0.17871519121995594"/>
          <c:h val="0.29683382888669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06/07/2026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06/07/2026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2</a:t>
            </a:fld>
            <a:endParaRPr lang="en-GB"/>
          </a:p>
        </p:txBody>
      </p:sp>
    </p:spTree>
    <p:extLst>
      <p:ext uri="{BB962C8B-B14F-4D97-AF65-F5344CB8AC3E}">
        <p14:creationId xmlns:p14="http://schemas.microsoft.com/office/powerpoint/2010/main" val="361531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 through the new models? </a:t>
            </a:r>
            <a:br>
              <a:rPr lang="en-US" dirty="0"/>
            </a:br>
            <a:r>
              <a:rPr lang="en-US" dirty="0"/>
              <a:t>- Rational behind the GRU (Longitudinal Data not too long) and the VGAE (64 latent vector dimensions were not enough to reconstruct the </a:t>
            </a:r>
            <a:r>
              <a:rPr lang="en-US" dirty="0" err="1"/>
              <a:t>fmri</a:t>
            </a:r>
            <a:r>
              <a:rPr lang="en-US" dirty="0"/>
              <a:t>)?</a:t>
            </a:r>
          </a:p>
          <a:p>
            <a:r>
              <a:rPr lang="en-US" dirty="0"/>
              <a:t>- Rationale behind using tangent space</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6</a:t>
            </a:fld>
            <a:endParaRPr lang="en-GB"/>
          </a:p>
        </p:txBody>
      </p:sp>
    </p:spTree>
    <p:extLst>
      <p:ext uri="{BB962C8B-B14F-4D97-AF65-F5344CB8AC3E}">
        <p14:creationId xmlns:p14="http://schemas.microsoft.com/office/powerpoint/2010/main" val="3827539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7</a:t>
            </a:fld>
            <a:endParaRPr lang="en-GB"/>
          </a:p>
        </p:txBody>
      </p:sp>
    </p:spTree>
    <p:extLst>
      <p:ext uri="{BB962C8B-B14F-4D97-AF65-F5344CB8AC3E}">
        <p14:creationId xmlns:p14="http://schemas.microsoft.com/office/powerpoint/2010/main" val="3480956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9499F-90F4-B64B-F412-B507000B1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1FA593-34FB-E701-3BB9-414CBD28A8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6C310B-9396-DED2-46CB-0F381FBB75D4}"/>
              </a:ext>
            </a:extLst>
          </p:cNvPr>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a:extLst>
              <a:ext uri="{FF2B5EF4-FFF2-40B4-BE49-F238E27FC236}">
                <a16:creationId xmlns:a16="http://schemas.microsoft.com/office/drawing/2014/main" id="{D9D5593A-DA7A-E427-E324-ED00038650A5}"/>
              </a:ext>
            </a:extLst>
          </p:cNvPr>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1067554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ADB46-7C21-A652-FE93-A79BDA165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AEB72-1F90-199B-6B77-6DE2F452AA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7E9064-1C1F-00EC-F55F-EDFBDB447B2E}"/>
              </a:ext>
            </a:extLst>
          </p:cNvPr>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a:extLst>
              <a:ext uri="{FF2B5EF4-FFF2-40B4-BE49-F238E27FC236}">
                <a16:creationId xmlns:a16="http://schemas.microsoft.com/office/drawing/2014/main" id="{AFA529F5-F298-AF4E-D12E-109E32445FF1}"/>
              </a:ext>
            </a:extLst>
          </p:cNvPr>
          <p:cNvSpPr>
            <a:spLocks noGrp="1"/>
          </p:cNvSpPr>
          <p:nvPr>
            <p:ph type="sldNum" sz="quarter" idx="5"/>
          </p:nvPr>
        </p:nvSpPr>
        <p:spPr/>
        <p:txBody>
          <a:bodyPr/>
          <a:lstStyle/>
          <a:p>
            <a:pPr>
              <a:defRPr/>
            </a:pPr>
            <a:fld id="{00AFC6D0-44D5-4EB7-828F-6F464F83D79A}" type="slidenum">
              <a:rPr lang="en-GB" smtClean="0"/>
              <a:pPr>
                <a:defRPr/>
              </a:pPr>
              <a:t>9</a:t>
            </a:fld>
            <a:endParaRPr lang="en-GB"/>
          </a:p>
        </p:txBody>
      </p:sp>
    </p:spTree>
    <p:extLst>
      <p:ext uri="{BB962C8B-B14F-4D97-AF65-F5344CB8AC3E}">
        <p14:creationId xmlns:p14="http://schemas.microsoft.com/office/powerpoint/2010/main" val="3053967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21</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32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013565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useBgFill="1">
        <p:nvSpPr>
          <p:cNvPr id="6" name="Textplatzhalter 7"/>
          <p:cNvSpPr>
            <a:spLocks noGrp="1"/>
          </p:cNvSpPr>
          <p:nvPr>
            <p:ph type="body" sz="quarter" idx="13" hasCustomPrompt="1"/>
          </p:nvPr>
        </p:nvSpPr>
        <p:spPr>
          <a:xfrm>
            <a:off x="311162"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74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339187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w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wmf"/><Relationship Id="rId4" Type="http://schemas.openxmlformats.org/officeDocument/2006/relationships/slideLayout" Target="../slideLayouts/slideLayout9.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5"/>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712" r:id="rId2"/>
    <p:sldLayoutId id="2147483713" r:id="rId3"/>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a:solidFill>
                  <a:schemeClr val="tx2"/>
                </a:solidFill>
                <a:latin typeface="+mn-lt"/>
              </a:rPr>
              <a:t>TUM</a:t>
            </a:r>
            <a:r>
              <a:rPr lang="de-DE" sz="800" baseline="0" dirty="0">
                <a:solidFill>
                  <a:schemeClr val="tx2"/>
                </a:solidFill>
                <a:latin typeface="+mn-lt"/>
              </a:rPr>
              <a:t> School </a:t>
            </a:r>
            <a:r>
              <a:rPr lang="de-DE" sz="800" baseline="0" dirty="0" err="1">
                <a:solidFill>
                  <a:schemeClr val="tx2"/>
                </a:solidFill>
                <a:latin typeface="+mn-lt"/>
              </a:rPr>
              <a:t>of</a:t>
            </a:r>
            <a:r>
              <a:rPr lang="de-DE" sz="800" dirty="0">
                <a:solidFill>
                  <a:schemeClr val="tx2"/>
                </a:solidFill>
                <a:latin typeface="+mn-lt"/>
              </a:rPr>
              <a:t> 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975215" y="1476375"/>
            <a:ext cx="3819542" cy="3333750"/>
          </a:xfrm>
          <a:prstGeom prst="rect">
            <a:avLst/>
          </a:prstGeom>
        </p:spPr>
      </p:pic>
      <p:sp>
        <p:nvSpPr>
          <p:cNvPr id="5" name="Titel 4"/>
          <p:cNvSpPr>
            <a:spLocks noGrp="1"/>
          </p:cNvSpPr>
          <p:nvPr>
            <p:ph type="title"/>
          </p:nvPr>
        </p:nvSpPr>
        <p:spPr/>
        <p:txBody>
          <a:bodyPr/>
          <a:lstStyle/>
          <a:p>
            <a:endParaRPr lang="de-DE"/>
          </a:p>
        </p:txBody>
      </p:sp>
      <p:sp>
        <p:nvSpPr>
          <p:cNvPr id="3" name="Inhaltsplatzhalter 2"/>
          <p:cNvSpPr>
            <a:spLocks noGrp="1"/>
          </p:cNvSpPr>
          <p:nvPr>
            <p:ph idx="10"/>
          </p:nvPr>
        </p:nvSpPr>
        <p:spPr/>
        <p:txBody>
          <a:bodyPr/>
          <a:lstStyle/>
          <a:p>
            <a:r>
              <a:rPr lang="de-DE" dirty="0"/>
              <a:t>Referent</a:t>
            </a:r>
          </a:p>
          <a:p>
            <a:r>
              <a:rPr lang="de-DE" dirty="0"/>
              <a:t>Technische Universität München</a:t>
            </a:r>
          </a:p>
          <a:p>
            <a:r>
              <a:rPr lang="de-DE" dirty="0"/>
              <a:t>TUM School </a:t>
            </a:r>
            <a:r>
              <a:rPr lang="de-DE" dirty="0" err="1"/>
              <a:t>of</a:t>
            </a:r>
            <a:r>
              <a:rPr lang="de-DE" dirty="0"/>
              <a:t> Musterverfahren</a:t>
            </a:r>
          </a:p>
          <a:p>
            <a:r>
              <a:rPr lang="de-DE" dirty="0"/>
              <a:t>Lehrstuhl für Mustertechnik</a:t>
            </a:r>
          </a:p>
          <a:p>
            <a:r>
              <a:rPr lang="de-DE" dirty="0"/>
              <a:t>Ort, Datum (Schreibweise: 00. Januar 2015)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5157AB-FEB9-4189-92A3-D6F22A9889E2}"/>
              </a:ext>
            </a:extLst>
          </p:cNvPr>
          <p:cNvPicPr>
            <a:picLocks noGrp="1" noChangeAspect="1"/>
          </p:cNvPicPr>
          <p:nvPr>
            <p:ph idx="1"/>
          </p:nvPr>
        </p:nvPicPr>
        <p:blipFill>
          <a:blip r:embed="rId3"/>
          <a:stretch>
            <a:fillRect/>
          </a:stretch>
        </p:blipFill>
        <p:spPr>
          <a:xfrm>
            <a:off x="88298" y="1614401"/>
            <a:ext cx="5939125" cy="2662098"/>
          </a:xfrm>
          <a:prstGeom prst="rect">
            <a:avLst/>
          </a:prstGeom>
          <a:ln>
            <a:solidFill>
              <a:schemeClr val="tx1"/>
            </a:solidFill>
          </a:ln>
        </p:spPr>
      </p:pic>
      <p:sp>
        <p:nvSpPr>
          <p:cNvPr id="4" name="Title 3">
            <a:extLst>
              <a:ext uri="{FF2B5EF4-FFF2-40B4-BE49-F238E27FC236}">
                <a16:creationId xmlns:a16="http://schemas.microsoft.com/office/drawing/2014/main" id="{CD74F5ED-9BE3-53FD-830B-68673BFC28EE}"/>
              </a:ext>
            </a:extLst>
          </p:cNvPr>
          <p:cNvSpPr>
            <a:spLocks noGrp="1"/>
          </p:cNvSpPr>
          <p:nvPr>
            <p:ph type="title"/>
          </p:nvPr>
        </p:nvSpPr>
        <p:spPr/>
        <p:txBody>
          <a:bodyPr/>
          <a:lstStyle/>
          <a:p>
            <a:r>
              <a:rPr lang="en-US" dirty="0"/>
              <a:t>Last meeting’s Recap</a:t>
            </a:r>
          </a:p>
        </p:txBody>
      </p:sp>
      <p:sp>
        <p:nvSpPr>
          <p:cNvPr id="7" name="Text Placeholder 2">
            <a:extLst>
              <a:ext uri="{FF2B5EF4-FFF2-40B4-BE49-F238E27FC236}">
                <a16:creationId xmlns:a16="http://schemas.microsoft.com/office/drawing/2014/main" id="{7230990F-6831-45A9-6DCC-FC57628A2513}"/>
              </a:ext>
            </a:extLst>
          </p:cNvPr>
          <p:cNvSpPr>
            <a:spLocks noGrp="1"/>
          </p:cNvSpPr>
          <p:nvPr>
            <p:ph type="body" sz="quarter" idx="13"/>
          </p:nvPr>
        </p:nvSpPr>
        <p:spPr>
          <a:xfrm>
            <a:off x="311161" y="4359949"/>
            <a:ext cx="8508999" cy="497688"/>
          </a:xfrm>
        </p:spPr>
        <p:txBody>
          <a:bodyPr/>
          <a:lstStyle/>
          <a:p>
            <a:r>
              <a:rPr lang="en-US" sz="1100" b="1" u="sng" dirty="0">
                <a:solidFill>
                  <a:srgbClr val="FF0000"/>
                </a:solidFill>
              </a:rPr>
              <a:t>Leakage Issue: </a:t>
            </a:r>
            <a:r>
              <a:rPr lang="en-US" sz="1100" b="1" dirty="0">
                <a:solidFill>
                  <a:srgbClr val="FF0000"/>
                </a:solidFill>
              </a:rPr>
              <a:t>Patients appeared in the Encoder’s training split, also appeared in the classification’s model test data</a:t>
            </a:r>
          </a:p>
          <a:p>
            <a:r>
              <a:rPr lang="en-US" sz="1100" b="1" i="1" u="sng" dirty="0">
                <a:solidFill>
                  <a:srgbClr val="FF0000"/>
                </a:solidFill>
              </a:rPr>
              <a:t>TODO 1:</a:t>
            </a:r>
            <a:br>
              <a:rPr lang="en-US" sz="1100" b="1" dirty="0">
                <a:solidFill>
                  <a:srgbClr val="FF0000"/>
                </a:solidFill>
              </a:rPr>
            </a:br>
            <a:r>
              <a:rPr lang="en-US" sz="1100" b="1" dirty="0">
                <a:solidFill>
                  <a:srgbClr val="FF0000"/>
                </a:solidFill>
              </a:rPr>
              <a:t>(Point raised by Chantal) </a:t>
            </a:r>
            <a:r>
              <a:rPr lang="en-US" sz="1100" b="1" i="1" dirty="0">
                <a:solidFill>
                  <a:srgbClr val="FF0000"/>
                </a:solidFill>
              </a:rPr>
              <a:t>since the encoder does not see the labels, the AUC should theoretically not be affected, however model AUC dropped on average by around 0,1?</a:t>
            </a:r>
            <a:endParaRPr lang="en-US" sz="1100" i="1" dirty="0">
              <a:solidFill>
                <a:srgbClr val="FF0000"/>
              </a:solidFill>
            </a:endParaRPr>
          </a:p>
        </p:txBody>
      </p:sp>
      <p:sp>
        <p:nvSpPr>
          <p:cNvPr id="9" name="TextBox 8">
            <a:extLst>
              <a:ext uri="{FF2B5EF4-FFF2-40B4-BE49-F238E27FC236}">
                <a16:creationId xmlns:a16="http://schemas.microsoft.com/office/drawing/2014/main" id="{6EA21340-01C1-2909-15B5-0C91D53D4385}"/>
              </a:ext>
            </a:extLst>
          </p:cNvPr>
          <p:cNvSpPr txBox="1"/>
          <p:nvPr/>
        </p:nvSpPr>
        <p:spPr>
          <a:xfrm>
            <a:off x="6918377" y="1345841"/>
            <a:ext cx="1594283" cy="276999"/>
          </a:xfrm>
          <a:prstGeom prst="rect">
            <a:avLst/>
          </a:prstGeom>
          <a:noFill/>
        </p:spPr>
        <p:txBody>
          <a:bodyPr wrap="none" rtlCol="0">
            <a:spAutoFit/>
          </a:bodyPr>
          <a:lstStyle/>
          <a:p>
            <a:r>
              <a:rPr lang="en-US" sz="1200" dirty="0"/>
              <a:t>Test Dataset Results</a:t>
            </a:r>
          </a:p>
        </p:txBody>
      </p:sp>
      <p:pic>
        <p:nvPicPr>
          <p:cNvPr id="10" name="Picture 9">
            <a:extLst>
              <a:ext uri="{FF2B5EF4-FFF2-40B4-BE49-F238E27FC236}">
                <a16:creationId xmlns:a16="http://schemas.microsoft.com/office/drawing/2014/main" id="{9248CD45-9B94-C7C5-E3F1-41D048AD9490}"/>
              </a:ext>
            </a:extLst>
          </p:cNvPr>
          <p:cNvPicPr>
            <a:picLocks noChangeAspect="1"/>
          </p:cNvPicPr>
          <p:nvPr/>
        </p:nvPicPr>
        <p:blipFill>
          <a:blip r:embed="rId4"/>
          <a:stretch>
            <a:fillRect/>
          </a:stretch>
        </p:blipFill>
        <p:spPr>
          <a:xfrm>
            <a:off x="6027423" y="1614400"/>
            <a:ext cx="3054233" cy="2662099"/>
          </a:xfrm>
          <a:prstGeom prst="rect">
            <a:avLst/>
          </a:prstGeom>
          <a:ln>
            <a:solidFill>
              <a:schemeClr val="tx1"/>
            </a:solidFill>
          </a:ln>
        </p:spPr>
      </p:pic>
      <p:sp>
        <p:nvSpPr>
          <p:cNvPr id="11" name="TextBox 10">
            <a:extLst>
              <a:ext uri="{FF2B5EF4-FFF2-40B4-BE49-F238E27FC236}">
                <a16:creationId xmlns:a16="http://schemas.microsoft.com/office/drawing/2014/main" id="{EB5E9284-28C1-1888-1D44-016CAE04967D}"/>
              </a:ext>
            </a:extLst>
          </p:cNvPr>
          <p:cNvSpPr txBox="1"/>
          <p:nvPr/>
        </p:nvSpPr>
        <p:spPr>
          <a:xfrm>
            <a:off x="2396825" y="1345841"/>
            <a:ext cx="952505" cy="276999"/>
          </a:xfrm>
          <a:prstGeom prst="rect">
            <a:avLst/>
          </a:prstGeom>
          <a:noFill/>
        </p:spPr>
        <p:txBody>
          <a:bodyPr wrap="none" rtlCol="0">
            <a:spAutoFit/>
          </a:bodyPr>
          <a:lstStyle/>
          <a:p>
            <a:r>
              <a:rPr lang="en-US" sz="1200" dirty="0"/>
              <a:t>CV Results</a:t>
            </a:r>
          </a:p>
        </p:txBody>
      </p:sp>
      <p:sp>
        <p:nvSpPr>
          <p:cNvPr id="2" name="Text Placeholder 4">
            <a:extLst>
              <a:ext uri="{FF2B5EF4-FFF2-40B4-BE49-F238E27FC236}">
                <a16:creationId xmlns:a16="http://schemas.microsoft.com/office/drawing/2014/main" id="{C9BBD479-4FE8-C3A6-7FA3-40EBF57F8424}"/>
              </a:ext>
            </a:extLst>
          </p:cNvPr>
          <p:cNvSpPr txBox="1">
            <a:spLocks/>
          </p:cNvSpPr>
          <p:nvPr/>
        </p:nvSpPr>
        <p:spPr>
          <a:xfrm>
            <a:off x="311161" y="783551"/>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0" hangingPunct="0"/>
            <a:r>
              <a:rPr lang="en-US" dirty="0">
                <a:solidFill>
                  <a:schemeClr val="tx2"/>
                </a:solidFill>
              </a:rPr>
              <a:t>Dataset-level </a:t>
            </a:r>
            <a:r>
              <a:rPr lang="en-US" dirty="0" err="1">
                <a:solidFill>
                  <a:schemeClr val="tx2"/>
                </a:solidFill>
              </a:rPr>
              <a:t>n_patients</a:t>
            </a:r>
            <a:r>
              <a:rPr lang="en-US" dirty="0">
                <a:solidFill>
                  <a:schemeClr val="tx2"/>
                </a:solidFill>
              </a:rPr>
              <a:t> and n_scans</a:t>
            </a:r>
          </a:p>
        </p:txBody>
      </p:sp>
    </p:spTree>
    <p:extLst>
      <p:ext uri="{BB962C8B-B14F-4D97-AF65-F5344CB8AC3E}">
        <p14:creationId xmlns:p14="http://schemas.microsoft.com/office/powerpoint/2010/main" val="3040143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10DD63-5546-BA55-F66B-6C9A263CC875}"/>
              </a:ext>
            </a:extLst>
          </p:cNvPr>
          <p:cNvSpPr>
            <a:spLocks noGrp="1"/>
          </p:cNvSpPr>
          <p:nvPr>
            <p:ph idx="1"/>
          </p:nvPr>
        </p:nvSpPr>
        <p:spPr/>
        <p:txBody>
          <a:bodyPr/>
          <a:lstStyle/>
          <a:p>
            <a:r>
              <a:rPr lang="en-US" sz="1100" b="1" dirty="0"/>
              <a:t>concrete historical leak </a:t>
            </a:r>
            <a:r>
              <a:rPr lang="en-US" sz="1100" b="1" i="1" dirty="0"/>
              <a:t>was</a:t>
            </a:r>
            <a:r>
              <a:rPr lang="en-US" sz="1100" b="1" dirty="0"/>
              <a:t> found — in a sibling directory, not this repo.</a:t>
            </a:r>
            <a:r>
              <a:rPr lang="en-US" sz="1100" dirty="0"/>
              <a:t> /mnt/e/fyassine/_ad-early-detection is an older, separate checkout (its own .git, last touched ~Feb 2026) containing the direct ancestor of today's split generators: data/Data-Delcode/create_gaae_data_splits.py (predecessor of create_pretrain_data_splits.py) and create_gec_data_splits.py (predecessor of create_downstream_data_splits.py). Its docstring literally says </a:t>
            </a:r>
            <a:r>
              <a:rPr lang="en-US" sz="1100" i="1" dirty="0"/>
              <a:t>"GAAE test includes GEC test patients for consistent holdout evaluation"</a:t>
            </a:r>
            <a:r>
              <a:rPr lang="en-US" sz="1100" dirty="0"/>
              <a:t> — and reading the code confirms it only reserves GEC's </a:t>
            </a:r>
            <a:r>
              <a:rPr lang="en-US" sz="1100" b="1" dirty="0"/>
              <a:t>test</a:t>
            </a:r>
            <a:r>
              <a:rPr lang="en-US" sz="1100" dirty="0"/>
              <a:t> patients out of GAAE's free 60/20/20 split; it never reserves GEC's </a:t>
            </a:r>
            <a:r>
              <a:rPr lang="en-US" sz="1100" b="1" dirty="0"/>
              <a:t>validation</a:t>
            </a:r>
            <a:r>
              <a:rPr lang="en-US" sz="1100" dirty="0"/>
              <a:t> patients. I verified this directly against the actual on-disk split JSONs in that directory (no reconstruction needed):</a:t>
            </a:r>
          </a:p>
          <a:p>
            <a:r>
              <a:rPr lang="en-US" sz="1100" dirty="0"/>
              <a:t>GAAE train ∩ GEC test  = 0    (protected — matches the "test" story only partially)</a:t>
            </a:r>
          </a:p>
          <a:p>
            <a:r>
              <a:rPr lang="en-US" sz="1100" dirty="0"/>
              <a:t>GAAE train ∩ GEC val   = 69 / 106   (65% of the downstream validation cohort was</a:t>
            </a:r>
          </a:p>
          <a:p>
            <a:r>
              <a:rPr lang="en-US" sz="1100" dirty="0"/>
              <a:t>                                      also in the encoder's own training set)</a:t>
            </a:r>
          </a:p>
          <a:p>
            <a:endParaRPr lang="en-US" sz="1100" dirty="0"/>
          </a:p>
          <a:p>
            <a:r>
              <a:rPr lang="en-US" sz="1100" dirty="0"/>
              <a:t>Today's create_pretrain_data_splits.py fixes exactly this class of bug by reserving </a:t>
            </a:r>
            <a:r>
              <a:rPr lang="en-US" sz="1100" b="1" dirty="0"/>
              <a:t>both</a:t>
            </a:r>
            <a:r>
              <a:rPr lang="en-US" sz="1100" dirty="0"/>
              <a:t> downstream val and downstream test into pretrain's val and test respectively (verified: current on-disk pretrain_test ⊇ downstream_test, pretrain_val ⊇ downstream_val, with zero overlap of either into pretrain_train).</a:t>
            </a:r>
          </a:p>
        </p:txBody>
      </p:sp>
      <p:sp>
        <p:nvSpPr>
          <p:cNvPr id="3" name="Slide Number Placeholder 2">
            <a:extLst>
              <a:ext uri="{FF2B5EF4-FFF2-40B4-BE49-F238E27FC236}">
                <a16:creationId xmlns:a16="http://schemas.microsoft.com/office/drawing/2014/main" id="{847797E7-E829-31C1-9BFE-5CE9D3041E9B}"/>
              </a:ext>
            </a:extLst>
          </p:cNvPr>
          <p:cNvSpPr>
            <a:spLocks noGrp="1"/>
          </p:cNvSpPr>
          <p:nvPr>
            <p:ph type="sldNum" sz="quarter" idx="11"/>
          </p:nvPr>
        </p:nvSpPr>
        <p:spPr/>
        <p:txBody>
          <a:bodyPr/>
          <a:lstStyle/>
          <a:p>
            <a:fld id="{CE58CB1E-F828-4F11-99E0-327109AF9DA4}" type="slidenum">
              <a:rPr lang="de-DE" smtClean="0"/>
              <a:pPr/>
              <a:t>3</a:t>
            </a:fld>
            <a:endParaRPr lang="de-DE" dirty="0"/>
          </a:p>
        </p:txBody>
      </p:sp>
      <p:sp>
        <p:nvSpPr>
          <p:cNvPr id="4" name="Footer Placeholder 3">
            <a:extLst>
              <a:ext uri="{FF2B5EF4-FFF2-40B4-BE49-F238E27FC236}">
                <a16:creationId xmlns:a16="http://schemas.microsoft.com/office/drawing/2014/main" id="{184AFF00-7D81-7061-C7C9-026CAD9FB692}"/>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8F5E5CB0-D724-CB55-89E7-1765BEFC0529}"/>
              </a:ext>
            </a:extLst>
          </p:cNvPr>
          <p:cNvSpPr>
            <a:spLocks noGrp="1"/>
          </p:cNvSpPr>
          <p:nvPr>
            <p:ph type="body" sz="quarter" idx="13"/>
          </p:nvPr>
        </p:nvSpPr>
        <p:spPr/>
        <p:txBody>
          <a:bodyPr/>
          <a:lstStyle/>
          <a:p>
            <a:endParaRPr lang="en-US"/>
          </a:p>
        </p:txBody>
      </p:sp>
      <p:sp>
        <p:nvSpPr>
          <p:cNvPr id="6" name="Title 5">
            <a:extLst>
              <a:ext uri="{FF2B5EF4-FFF2-40B4-BE49-F238E27FC236}">
                <a16:creationId xmlns:a16="http://schemas.microsoft.com/office/drawing/2014/main" id="{2F078692-188C-BEB3-F7F1-5627A3AA5EDE}"/>
              </a:ext>
            </a:extLst>
          </p:cNvPr>
          <p:cNvSpPr>
            <a:spLocks noGrp="1"/>
          </p:cNvSpPr>
          <p:nvPr>
            <p:ph type="title"/>
          </p:nvPr>
        </p:nvSpPr>
        <p:spPr/>
        <p:txBody>
          <a:bodyPr/>
          <a:lstStyle/>
          <a:p>
            <a:r>
              <a:rPr lang="en-US" dirty="0"/>
              <a:t>Apparent Problem: Data Leak</a:t>
            </a:r>
          </a:p>
        </p:txBody>
      </p:sp>
    </p:spTree>
    <p:extLst>
      <p:ext uri="{BB962C8B-B14F-4D97-AF65-F5344CB8AC3E}">
        <p14:creationId xmlns:p14="http://schemas.microsoft.com/office/powerpoint/2010/main" val="184174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55FB4A-D72D-659E-1FF3-86E003FD5A1C}"/>
              </a:ext>
            </a:extLst>
          </p:cNvPr>
          <p:cNvSpPr>
            <a:spLocks noGrp="1"/>
          </p:cNvSpPr>
          <p:nvPr>
            <p:ph idx="1"/>
          </p:nvPr>
        </p:nvSpPr>
        <p:spPr/>
        <p:txBody>
          <a:bodyPr/>
          <a:lstStyle/>
          <a:p>
            <a:r>
              <a:rPr lang="en-US" sz="1100" b="1" dirty="0"/>
              <a:t>A verified, non-split confound: the downstream model architecture also shrank in the same refactor.</a:t>
            </a:r>
            <a:r>
              <a:rPr lang="en-US" sz="1100" dirty="0"/>
              <a:t> </a:t>
            </a:r>
          </a:p>
          <a:p>
            <a:r>
              <a:rPr lang="en-US" sz="1100" dirty="0"/>
              <a:t>Diffing training_config between a legacy-notebook run using the </a:t>
            </a:r>
            <a:r>
              <a:rPr lang="en-US" sz="1100" i="1" dirty="0"/>
              <a:t>same</a:t>
            </a:r>
            <a:r>
              <a:rPr lang="en-US" sz="1100" dirty="0"/>
              <a:t> GAAE checkpoint as "after" </a:t>
            </a:r>
          </a:p>
          <a:p>
            <a:r>
              <a:rPr lang="en-US" sz="1100" dirty="0"/>
              <a:t>(copper-river-6-349c3823d-2026-06-19_23-38-25, commit 349c3823d) against the "after" run (commit d9655b0db) shows real hyperparameter deltas bundled into the adapter rewrite: lstm_hidden 128→32, lstm_layers 2→1, classifier_hidden 64→32, plus new standardize_features: true and weight_decay: 0.0001 that didn't exist before. </a:t>
            </a:r>
          </a:p>
          <a:p>
            <a:endParaRPr lang="en-US" sz="1100" dirty="0"/>
          </a:p>
          <a:p>
            <a:r>
              <a:rPr lang="en-US" sz="1100" dirty="0"/>
              <a:t>Any of these could move AUC well beyond 0.1 on their own, independent of any split fix. (That specific pair's test AUC actually went 0.53→0.81, i.e. </a:t>
            </a:r>
            <a:r>
              <a:rPr lang="en-US" sz="1100" i="1" dirty="0"/>
              <a:t>up</a:t>
            </a:r>
            <a:r>
              <a:rPr lang="en-US" sz="1100" dirty="0"/>
              <a:t> — a further sign that a simple "old=inflated, new=honest" reading of any single pair is unsafe; this particular intermediate run also looks partially degenerate, sensitivity=1.0/specificity=0.25, and needs its own explanation before being used as evidence of anything.)</a:t>
            </a:r>
          </a:p>
        </p:txBody>
      </p:sp>
      <p:sp>
        <p:nvSpPr>
          <p:cNvPr id="3" name="Slide Number Placeholder 2">
            <a:extLst>
              <a:ext uri="{FF2B5EF4-FFF2-40B4-BE49-F238E27FC236}">
                <a16:creationId xmlns:a16="http://schemas.microsoft.com/office/drawing/2014/main" id="{C939216E-9070-67A3-B3A8-5212E6629207}"/>
              </a:ext>
            </a:extLst>
          </p:cNvPr>
          <p:cNvSpPr>
            <a:spLocks noGrp="1"/>
          </p:cNvSpPr>
          <p:nvPr>
            <p:ph type="sldNum" sz="quarter" idx="11"/>
          </p:nvPr>
        </p:nvSpPr>
        <p:spPr/>
        <p:txBody>
          <a:bodyPr/>
          <a:lstStyle/>
          <a:p>
            <a:fld id="{CE58CB1E-F828-4F11-99E0-327109AF9DA4}" type="slidenum">
              <a:rPr lang="de-DE" smtClean="0"/>
              <a:pPr/>
              <a:t>4</a:t>
            </a:fld>
            <a:endParaRPr lang="de-DE" dirty="0"/>
          </a:p>
        </p:txBody>
      </p:sp>
      <p:sp>
        <p:nvSpPr>
          <p:cNvPr id="4" name="Footer Placeholder 3">
            <a:extLst>
              <a:ext uri="{FF2B5EF4-FFF2-40B4-BE49-F238E27FC236}">
                <a16:creationId xmlns:a16="http://schemas.microsoft.com/office/drawing/2014/main" id="{45A662E5-4CE5-3C9E-311E-A453B1FA6330}"/>
              </a:ext>
            </a:extLst>
          </p:cNvPr>
          <p:cNvSpPr>
            <a:spLocks noGrp="1"/>
          </p:cNvSpPr>
          <p:nvPr>
            <p:ph type="ftr" sz="quarter" idx="12"/>
          </p:nvPr>
        </p:nvSpPr>
        <p:spPr/>
        <p:txBody>
          <a:bodyPr/>
          <a:lstStyle/>
          <a:p>
            <a:r>
              <a:rPr lang="de-DE" dirty="0"/>
              <a:t>Fraj Yassine Lakhal (TUM)</a:t>
            </a:r>
            <a:endParaRPr lang="en-US" dirty="0"/>
          </a:p>
        </p:txBody>
      </p:sp>
      <p:sp>
        <p:nvSpPr>
          <p:cNvPr id="5" name="Text Placeholder 4">
            <a:extLst>
              <a:ext uri="{FF2B5EF4-FFF2-40B4-BE49-F238E27FC236}">
                <a16:creationId xmlns:a16="http://schemas.microsoft.com/office/drawing/2014/main" id="{BCFD8ECB-49E8-0843-A58E-CCAEFD8DB25A}"/>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43BAA8DD-5EC3-059C-13E7-09AC27D6801B}"/>
              </a:ext>
            </a:extLst>
          </p:cNvPr>
          <p:cNvSpPr>
            <a:spLocks noGrp="1"/>
          </p:cNvSpPr>
          <p:nvPr>
            <p:ph type="title"/>
          </p:nvPr>
        </p:nvSpPr>
        <p:spPr/>
        <p:txBody>
          <a:bodyPr/>
          <a:lstStyle/>
          <a:p>
            <a:r>
              <a:rPr lang="en-US" dirty="0"/>
              <a:t>Suspect Causes: Model Changes (LSTM)</a:t>
            </a:r>
          </a:p>
        </p:txBody>
      </p:sp>
    </p:spTree>
    <p:extLst>
      <p:ext uri="{BB962C8B-B14F-4D97-AF65-F5344CB8AC3E}">
        <p14:creationId xmlns:p14="http://schemas.microsoft.com/office/powerpoint/2010/main" val="402489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DB2B8B-BF2B-27E9-C2BB-65A15003689D}"/>
              </a:ext>
            </a:extLst>
          </p:cNvPr>
          <p:cNvSpPr>
            <a:spLocks noGrp="1"/>
          </p:cNvSpPr>
          <p:nvPr>
            <p:ph idx="1"/>
          </p:nvPr>
        </p:nvSpPr>
        <p:spPr/>
        <p:txBody>
          <a:bodyPr/>
          <a:lstStyle/>
          <a:p>
            <a:r>
              <a:rPr lang="en-US" sz="1100" b="1" dirty="0"/>
              <a:t>A second, independent leak-adjacent bug currently in the live codebase</a:t>
            </a:r>
            <a:r>
              <a:rPr lang="en-US" sz="1100" dirty="0"/>
              <a:t> (not historical, still true today, worth flagging even though out of scope for changes right now): CLASSIFIER/model/GELSTM/models.py's freeze_encoder() sets requires_grad_(False) on the encoder but never puts its BatchNorm submodules into .eval(). GELSTM/train.py calls whole-model .train() every epoch, so encoder_bn1/encoder_bn2's running statistics keep updating on downstream CV batches even though gradients are frozen. CLASSIFIER/adapters/gec.py and gep.py </a:t>
            </a:r>
            <a:r>
              <a:rPr lang="en-US" sz="1100" i="1" dirty="0"/>
              <a:t>do</a:t>
            </a:r>
            <a:r>
              <a:rPr lang="en-US" sz="1100" dirty="0"/>
              <a:t> call .eval() after freezing; GELSTM's adapter doesn't. This doesn't leak the held-out test set (CV pool is train+val only), but it means the "frozen" encoder is never really static across separate downstream runs — an extra noise source when comparing any two GELSTM runs to each other.</a:t>
            </a:r>
          </a:p>
        </p:txBody>
      </p:sp>
      <p:sp>
        <p:nvSpPr>
          <p:cNvPr id="3" name="Slide Number Placeholder 2">
            <a:extLst>
              <a:ext uri="{FF2B5EF4-FFF2-40B4-BE49-F238E27FC236}">
                <a16:creationId xmlns:a16="http://schemas.microsoft.com/office/drawing/2014/main" id="{D2E797F5-EBA4-8C7F-0ED9-D90AB58D6136}"/>
              </a:ext>
            </a:extLst>
          </p:cNvPr>
          <p:cNvSpPr>
            <a:spLocks noGrp="1"/>
          </p:cNvSpPr>
          <p:nvPr>
            <p:ph type="sldNum" sz="quarter" idx="11"/>
          </p:nvPr>
        </p:nvSpPr>
        <p:spPr/>
        <p:txBody>
          <a:bodyPr/>
          <a:lstStyle/>
          <a:p>
            <a:fld id="{CE58CB1E-F828-4F11-99E0-327109AF9DA4}" type="slidenum">
              <a:rPr lang="de-DE" smtClean="0"/>
              <a:pPr/>
              <a:t>5</a:t>
            </a:fld>
            <a:endParaRPr lang="de-DE" dirty="0"/>
          </a:p>
        </p:txBody>
      </p:sp>
      <p:sp>
        <p:nvSpPr>
          <p:cNvPr id="4" name="Footer Placeholder 3">
            <a:extLst>
              <a:ext uri="{FF2B5EF4-FFF2-40B4-BE49-F238E27FC236}">
                <a16:creationId xmlns:a16="http://schemas.microsoft.com/office/drawing/2014/main" id="{875210D7-1551-EFDA-66CD-1675A7861C96}"/>
              </a:ext>
            </a:extLst>
          </p:cNvPr>
          <p:cNvSpPr>
            <a:spLocks noGrp="1"/>
          </p:cNvSpPr>
          <p:nvPr>
            <p:ph type="ftr" sz="quarter" idx="12"/>
          </p:nvPr>
        </p:nvSpPr>
        <p:spPr/>
        <p:txBody>
          <a:bodyPr/>
          <a:lstStyle/>
          <a:p>
            <a:r>
              <a:rPr lang="de-DE"/>
              <a:t>Fraj Yassine Lakhal (TUM)</a:t>
            </a:r>
            <a:endParaRPr lang="en-US" dirty="0"/>
          </a:p>
        </p:txBody>
      </p:sp>
      <p:sp>
        <p:nvSpPr>
          <p:cNvPr id="5" name="Text Placeholder 4">
            <a:extLst>
              <a:ext uri="{FF2B5EF4-FFF2-40B4-BE49-F238E27FC236}">
                <a16:creationId xmlns:a16="http://schemas.microsoft.com/office/drawing/2014/main" id="{136FB661-2FB4-D122-B5C4-A126AD0EADE3}"/>
              </a:ext>
            </a:extLst>
          </p:cNvPr>
          <p:cNvSpPr>
            <a:spLocks noGrp="1"/>
          </p:cNvSpPr>
          <p:nvPr>
            <p:ph type="body" sz="quarter" idx="13"/>
          </p:nvPr>
        </p:nvSpPr>
        <p:spPr/>
        <p:txBody>
          <a:bodyPr/>
          <a:lstStyle/>
          <a:p>
            <a:endParaRPr lang="en-US"/>
          </a:p>
        </p:txBody>
      </p:sp>
      <p:sp>
        <p:nvSpPr>
          <p:cNvPr id="6" name="Title 5">
            <a:extLst>
              <a:ext uri="{FF2B5EF4-FFF2-40B4-BE49-F238E27FC236}">
                <a16:creationId xmlns:a16="http://schemas.microsoft.com/office/drawing/2014/main" id="{77CB7C54-49FB-F093-11B5-047686E4F038}"/>
              </a:ext>
            </a:extLst>
          </p:cNvPr>
          <p:cNvSpPr>
            <a:spLocks noGrp="1"/>
          </p:cNvSpPr>
          <p:nvPr>
            <p:ph type="title"/>
          </p:nvPr>
        </p:nvSpPr>
        <p:spPr/>
        <p:txBody>
          <a:bodyPr/>
          <a:lstStyle/>
          <a:p>
            <a:r>
              <a:rPr lang="en-US" dirty="0"/>
              <a:t>Testing the Hypothesis: On testing without the encoder</a:t>
            </a:r>
          </a:p>
        </p:txBody>
      </p:sp>
    </p:spTree>
    <p:extLst>
      <p:ext uri="{BB962C8B-B14F-4D97-AF65-F5344CB8AC3E}">
        <p14:creationId xmlns:p14="http://schemas.microsoft.com/office/powerpoint/2010/main" val="3942529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6A6A72-5733-02DD-65EB-738E5137781C}"/>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6" name="Title 5">
            <a:extLst>
              <a:ext uri="{FF2B5EF4-FFF2-40B4-BE49-F238E27FC236}">
                <a16:creationId xmlns:a16="http://schemas.microsoft.com/office/drawing/2014/main" id="{92399EB0-CEA1-6D34-6D90-B2BD11B7CEA8}"/>
              </a:ext>
            </a:extLst>
          </p:cNvPr>
          <p:cNvSpPr>
            <a:spLocks noGrp="1"/>
          </p:cNvSpPr>
          <p:nvPr>
            <p:ph type="title"/>
          </p:nvPr>
        </p:nvSpPr>
        <p:spPr/>
        <p:txBody>
          <a:bodyPr/>
          <a:lstStyle/>
          <a:p>
            <a:r>
              <a:rPr lang="en-US" dirty="0"/>
              <a:t>Most Recent Results</a:t>
            </a:r>
          </a:p>
        </p:txBody>
      </p:sp>
      <p:sp>
        <p:nvSpPr>
          <p:cNvPr id="14" name="Text Placeholder 4">
            <a:extLst>
              <a:ext uri="{FF2B5EF4-FFF2-40B4-BE49-F238E27FC236}">
                <a16:creationId xmlns:a16="http://schemas.microsoft.com/office/drawing/2014/main" id="{056D70FD-067B-43C6-8D54-84D142E4AE08}"/>
              </a:ext>
            </a:extLst>
          </p:cNvPr>
          <p:cNvSpPr>
            <a:spLocks noGrp="1"/>
          </p:cNvSpPr>
          <p:nvPr>
            <p:ph type="body" sz="quarter" idx="13"/>
          </p:nvPr>
        </p:nvSpPr>
        <p:spPr>
          <a:xfrm>
            <a:off x="311161" y="783551"/>
            <a:ext cx="8508999" cy="505304"/>
          </a:xfrm>
        </p:spPr>
        <p:txBody>
          <a:bodyPr/>
          <a:lstStyle/>
          <a:p>
            <a:r>
              <a:rPr lang="en-US" dirty="0">
                <a:solidFill>
                  <a:schemeClr val="bg2"/>
                </a:solidFill>
              </a:rPr>
              <a:t>Moving to a VAE for the GAAE (Pretext model)</a:t>
            </a:r>
          </a:p>
        </p:txBody>
      </p:sp>
      <p:pic>
        <p:nvPicPr>
          <p:cNvPr id="20" name="Picture 19">
            <a:extLst>
              <a:ext uri="{FF2B5EF4-FFF2-40B4-BE49-F238E27FC236}">
                <a16:creationId xmlns:a16="http://schemas.microsoft.com/office/drawing/2014/main" id="{0650EB50-8185-0082-DFDF-DCC4A65DFEC4}"/>
              </a:ext>
            </a:extLst>
          </p:cNvPr>
          <p:cNvPicPr>
            <a:picLocks noChangeAspect="1"/>
          </p:cNvPicPr>
          <p:nvPr/>
        </p:nvPicPr>
        <p:blipFill>
          <a:blip r:embed="rId3"/>
          <a:stretch>
            <a:fillRect/>
          </a:stretch>
        </p:blipFill>
        <p:spPr>
          <a:xfrm>
            <a:off x="2023044" y="1098367"/>
            <a:ext cx="5085231" cy="1591799"/>
          </a:xfrm>
          <a:prstGeom prst="rect">
            <a:avLst/>
          </a:prstGeom>
        </p:spPr>
      </p:pic>
      <p:pic>
        <p:nvPicPr>
          <p:cNvPr id="21" name="Picture 20">
            <a:extLst>
              <a:ext uri="{FF2B5EF4-FFF2-40B4-BE49-F238E27FC236}">
                <a16:creationId xmlns:a16="http://schemas.microsoft.com/office/drawing/2014/main" id="{56E2F219-2489-D808-B358-58E059B5358E}"/>
              </a:ext>
            </a:extLst>
          </p:cNvPr>
          <p:cNvPicPr>
            <a:picLocks noChangeAspect="1"/>
          </p:cNvPicPr>
          <p:nvPr/>
        </p:nvPicPr>
        <p:blipFill>
          <a:blip r:embed="rId4"/>
          <a:stretch>
            <a:fillRect/>
          </a:stretch>
        </p:blipFill>
        <p:spPr>
          <a:xfrm>
            <a:off x="2023043" y="2698546"/>
            <a:ext cx="5085231" cy="1588069"/>
          </a:xfrm>
          <a:prstGeom prst="rect">
            <a:avLst/>
          </a:prstGeom>
        </p:spPr>
      </p:pic>
      <p:pic>
        <p:nvPicPr>
          <p:cNvPr id="23" name="Picture 22">
            <a:extLst>
              <a:ext uri="{FF2B5EF4-FFF2-40B4-BE49-F238E27FC236}">
                <a16:creationId xmlns:a16="http://schemas.microsoft.com/office/drawing/2014/main" id="{AC3B226E-A01C-79B4-2F14-9F8C90B74F84}"/>
              </a:ext>
            </a:extLst>
          </p:cNvPr>
          <p:cNvPicPr>
            <a:picLocks noChangeAspect="1"/>
          </p:cNvPicPr>
          <p:nvPr/>
        </p:nvPicPr>
        <p:blipFill>
          <a:blip r:embed="rId5"/>
          <a:stretch>
            <a:fillRect/>
          </a:stretch>
        </p:blipFill>
        <p:spPr>
          <a:xfrm>
            <a:off x="2023042" y="4328616"/>
            <a:ext cx="5085231" cy="663291"/>
          </a:xfrm>
          <a:prstGeom prst="rect">
            <a:avLst/>
          </a:prstGeom>
        </p:spPr>
      </p:pic>
      <p:sp>
        <p:nvSpPr>
          <p:cNvPr id="26" name="Text Placeholder 2">
            <a:extLst>
              <a:ext uri="{FF2B5EF4-FFF2-40B4-BE49-F238E27FC236}">
                <a16:creationId xmlns:a16="http://schemas.microsoft.com/office/drawing/2014/main" id="{CADF5B54-E2AB-AA68-D63C-DDF39606CB95}"/>
              </a:ext>
            </a:extLst>
          </p:cNvPr>
          <p:cNvSpPr txBox="1">
            <a:spLocks/>
          </p:cNvSpPr>
          <p:nvPr/>
        </p:nvSpPr>
        <p:spPr>
          <a:xfrm>
            <a:off x="311159" y="1806779"/>
            <a:ext cx="1711881" cy="168535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1:</a:t>
            </a:r>
            <a:br>
              <a:rPr lang="en-US" sz="1100" b="1" dirty="0">
                <a:solidFill>
                  <a:srgbClr val="FF0000"/>
                </a:solidFill>
              </a:rPr>
            </a:br>
            <a:r>
              <a:rPr lang="en-US" sz="1100" b="1" dirty="0">
                <a:solidFill>
                  <a:srgbClr val="FF0000"/>
                </a:solidFill>
              </a:rPr>
              <a:t>Check if the Pretext model even helps the classifier, so how the performance of the classifier looks like without it</a:t>
            </a:r>
            <a:endParaRPr lang="en-US" sz="1100" i="1" dirty="0">
              <a:solidFill>
                <a:srgbClr val="FF0000"/>
              </a:solidFill>
            </a:endParaRPr>
          </a:p>
        </p:txBody>
      </p:sp>
    </p:spTree>
    <p:extLst>
      <p:ext uri="{BB962C8B-B14F-4D97-AF65-F5344CB8AC3E}">
        <p14:creationId xmlns:p14="http://schemas.microsoft.com/office/powerpoint/2010/main" val="371073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298CEE-3F21-3543-1B0A-15D4BFD617FD}"/>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6" name="Title 5">
            <a:extLst>
              <a:ext uri="{FF2B5EF4-FFF2-40B4-BE49-F238E27FC236}">
                <a16:creationId xmlns:a16="http://schemas.microsoft.com/office/drawing/2014/main" id="{35F19753-14AC-2D00-07DE-1ACC0D6B0356}"/>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F8886EE7-3744-4461-9822-87D0C7AB22BC}"/>
              </a:ext>
            </a:extLst>
          </p:cNvPr>
          <p:cNvSpPr>
            <a:spLocks noGrp="1"/>
          </p:cNvSpPr>
          <p:nvPr>
            <p:ph type="body" sz="quarter" idx="13"/>
          </p:nvPr>
        </p:nvSpPr>
        <p:spPr>
          <a:xfrm>
            <a:off x="311161" y="783551"/>
            <a:ext cx="8508999" cy="505304"/>
          </a:xfrm>
        </p:spPr>
        <p:txBody>
          <a:bodyPr/>
          <a:lstStyle/>
          <a:p>
            <a:r>
              <a:rPr lang="en-US" dirty="0">
                <a:solidFill>
                  <a:srgbClr val="005293"/>
                </a:solidFill>
              </a:rPr>
              <a:t>Dataset-level </a:t>
            </a:r>
            <a:r>
              <a:rPr lang="en-US" dirty="0" err="1">
                <a:solidFill>
                  <a:srgbClr val="005293"/>
                </a:solidFill>
              </a:rPr>
              <a:t>n_patients</a:t>
            </a:r>
            <a:r>
              <a:rPr lang="en-US" dirty="0">
                <a:solidFill>
                  <a:srgbClr val="005293"/>
                </a:solidFill>
              </a:rPr>
              <a:t> and </a:t>
            </a:r>
            <a:r>
              <a:rPr lang="en-US" dirty="0" err="1">
                <a:solidFill>
                  <a:srgbClr val="005293"/>
                </a:solidFill>
              </a:rPr>
              <a:t>n_scans</a:t>
            </a:r>
            <a:endParaRPr lang="en-US" dirty="0">
              <a:solidFill>
                <a:srgbClr val="005293"/>
              </a:solidFill>
            </a:endParaRPr>
          </a:p>
        </p:txBody>
      </p:sp>
      <p:pic>
        <p:nvPicPr>
          <p:cNvPr id="18" name="Picture 17">
            <a:extLst>
              <a:ext uri="{FF2B5EF4-FFF2-40B4-BE49-F238E27FC236}">
                <a16:creationId xmlns:a16="http://schemas.microsoft.com/office/drawing/2014/main" id="{9C7BD6F1-FCDE-6A7D-DBB1-4EE695D806FE}"/>
              </a:ext>
            </a:extLst>
          </p:cNvPr>
          <p:cNvPicPr>
            <a:picLocks noChangeAspect="1"/>
          </p:cNvPicPr>
          <p:nvPr/>
        </p:nvPicPr>
        <p:blipFill>
          <a:blip r:embed="rId3"/>
          <a:stretch>
            <a:fillRect/>
          </a:stretch>
        </p:blipFill>
        <p:spPr>
          <a:xfrm>
            <a:off x="2044773" y="1425262"/>
            <a:ext cx="5054453" cy="2815138"/>
          </a:xfrm>
          <a:prstGeom prst="rect">
            <a:avLst/>
          </a:prstGeom>
        </p:spPr>
      </p:pic>
      <p:sp>
        <p:nvSpPr>
          <p:cNvPr id="5" name="Text Placeholder 2">
            <a:extLst>
              <a:ext uri="{FF2B5EF4-FFF2-40B4-BE49-F238E27FC236}">
                <a16:creationId xmlns:a16="http://schemas.microsoft.com/office/drawing/2014/main" id="{CB004956-47CD-E080-62DA-9CB167B2F395}"/>
              </a:ext>
            </a:extLst>
          </p:cNvPr>
          <p:cNvSpPr txBox="1">
            <a:spLocks/>
          </p:cNvSpPr>
          <p:nvPr/>
        </p:nvSpPr>
        <p:spPr>
          <a:xfrm>
            <a:off x="2044773" y="4185193"/>
            <a:ext cx="4730161" cy="664847"/>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2:</a:t>
            </a:r>
            <a:br>
              <a:rPr lang="en-US" sz="1100" b="1" dirty="0">
                <a:solidFill>
                  <a:srgbClr val="FF0000"/>
                </a:solidFill>
              </a:rPr>
            </a:br>
            <a:r>
              <a:rPr lang="en-US" sz="1100" b="1" dirty="0">
                <a:solidFill>
                  <a:srgbClr val="FF0000"/>
                </a:solidFill>
              </a:rPr>
              <a:t>Find out why there is a big difference between ad patients in WHOLE DELCODE and in the pretrain pool</a:t>
            </a:r>
            <a:endParaRPr lang="en-US" sz="1100" i="1" dirty="0">
              <a:solidFill>
                <a:srgbClr val="FF0000"/>
              </a:solidFill>
            </a:endParaRPr>
          </a:p>
        </p:txBody>
      </p:sp>
    </p:spTree>
    <p:extLst>
      <p:ext uri="{BB962C8B-B14F-4D97-AF65-F5344CB8AC3E}">
        <p14:creationId xmlns:p14="http://schemas.microsoft.com/office/powerpoint/2010/main" val="1323795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9FFF0-8F84-D620-5545-0BD84CF8DBA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F121469-F370-3AA6-0E39-AC4DAFF49CBA}"/>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6" name="Title 5">
            <a:extLst>
              <a:ext uri="{FF2B5EF4-FFF2-40B4-BE49-F238E27FC236}">
                <a16:creationId xmlns:a16="http://schemas.microsoft.com/office/drawing/2014/main" id="{2056962A-DA15-91E9-BE32-5B3919BD455B}"/>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A6C11714-2701-F38B-4A2B-227A0D44D0E7}"/>
              </a:ext>
            </a:extLst>
          </p:cNvPr>
          <p:cNvSpPr>
            <a:spLocks noGrp="1"/>
          </p:cNvSpPr>
          <p:nvPr>
            <p:ph type="body" sz="quarter" idx="13"/>
          </p:nvPr>
        </p:nvSpPr>
        <p:spPr>
          <a:xfrm>
            <a:off x="311161" y="783551"/>
            <a:ext cx="8508999" cy="505304"/>
          </a:xfrm>
        </p:spPr>
        <p:txBody>
          <a:bodyPr/>
          <a:lstStyle/>
          <a:p>
            <a:r>
              <a:rPr lang="en-US" dirty="0">
                <a:solidFill>
                  <a:srgbClr val="005293"/>
                </a:solidFill>
              </a:rPr>
              <a:t>Dataset-level </a:t>
            </a:r>
            <a:r>
              <a:rPr lang="en-US" dirty="0" err="1">
                <a:solidFill>
                  <a:srgbClr val="005293"/>
                </a:solidFill>
              </a:rPr>
              <a:t>n_patients</a:t>
            </a:r>
            <a:r>
              <a:rPr lang="en-US" dirty="0">
                <a:solidFill>
                  <a:srgbClr val="005293"/>
                </a:solidFill>
              </a:rPr>
              <a:t> and </a:t>
            </a:r>
            <a:r>
              <a:rPr lang="en-US" dirty="0" err="1">
                <a:solidFill>
                  <a:srgbClr val="005293"/>
                </a:solidFill>
              </a:rPr>
              <a:t>n_scans</a:t>
            </a:r>
            <a:endParaRPr lang="en-US" dirty="0">
              <a:solidFill>
                <a:srgbClr val="005293"/>
              </a:solidFill>
            </a:endParaRPr>
          </a:p>
        </p:txBody>
      </p:sp>
      <p:pic>
        <p:nvPicPr>
          <p:cNvPr id="2" name="Picture 1">
            <a:extLst>
              <a:ext uri="{FF2B5EF4-FFF2-40B4-BE49-F238E27FC236}">
                <a16:creationId xmlns:a16="http://schemas.microsoft.com/office/drawing/2014/main" id="{8C57A4B0-6B00-2FCD-66EF-63DD795972FA}"/>
              </a:ext>
            </a:extLst>
          </p:cNvPr>
          <p:cNvPicPr>
            <a:picLocks noChangeAspect="1"/>
          </p:cNvPicPr>
          <p:nvPr/>
        </p:nvPicPr>
        <p:blipFill>
          <a:blip r:embed="rId3"/>
          <a:stretch>
            <a:fillRect/>
          </a:stretch>
        </p:blipFill>
        <p:spPr>
          <a:xfrm>
            <a:off x="1625600" y="1398136"/>
            <a:ext cx="5424496" cy="3295896"/>
          </a:xfrm>
          <a:prstGeom prst="rect">
            <a:avLst/>
          </a:prstGeom>
        </p:spPr>
      </p:pic>
    </p:spTree>
    <p:extLst>
      <p:ext uri="{BB962C8B-B14F-4D97-AF65-F5344CB8AC3E}">
        <p14:creationId xmlns:p14="http://schemas.microsoft.com/office/powerpoint/2010/main" val="2790550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1975B-7B41-FA99-5EA1-80FFCD8640E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28A763-8512-F297-FD91-F83018077625}"/>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6" name="Title 5">
            <a:extLst>
              <a:ext uri="{FF2B5EF4-FFF2-40B4-BE49-F238E27FC236}">
                <a16:creationId xmlns:a16="http://schemas.microsoft.com/office/drawing/2014/main" id="{C6463F65-8DDB-8233-A112-568061AFA74C}"/>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57AE079B-775E-DF89-CE79-B868DFB81DAE}"/>
              </a:ext>
            </a:extLst>
          </p:cNvPr>
          <p:cNvSpPr>
            <a:spLocks noGrp="1"/>
          </p:cNvSpPr>
          <p:nvPr>
            <p:ph type="body" sz="quarter" idx="13"/>
          </p:nvPr>
        </p:nvSpPr>
        <p:spPr>
          <a:xfrm>
            <a:off x="311161" y="783551"/>
            <a:ext cx="8508999" cy="505304"/>
          </a:xfrm>
        </p:spPr>
        <p:txBody>
          <a:bodyPr/>
          <a:lstStyle/>
          <a:p>
            <a:r>
              <a:rPr lang="en-US" dirty="0">
                <a:solidFill>
                  <a:srgbClr val="005293"/>
                </a:solidFill>
              </a:rPr>
              <a:t>Dataset-level </a:t>
            </a:r>
            <a:r>
              <a:rPr lang="en-US" dirty="0" err="1">
                <a:solidFill>
                  <a:srgbClr val="005293"/>
                </a:solidFill>
              </a:rPr>
              <a:t>n_patients</a:t>
            </a:r>
            <a:r>
              <a:rPr lang="en-US" dirty="0">
                <a:solidFill>
                  <a:srgbClr val="005293"/>
                </a:solidFill>
              </a:rPr>
              <a:t> and </a:t>
            </a:r>
            <a:r>
              <a:rPr lang="en-US" dirty="0" err="1">
                <a:solidFill>
                  <a:srgbClr val="005293"/>
                </a:solidFill>
              </a:rPr>
              <a:t>n_scans</a:t>
            </a:r>
            <a:endParaRPr lang="en-US" dirty="0">
              <a:solidFill>
                <a:srgbClr val="005293"/>
              </a:solidFill>
            </a:endParaRPr>
          </a:p>
        </p:txBody>
      </p:sp>
      <p:pic>
        <p:nvPicPr>
          <p:cNvPr id="8" name="Picture 7">
            <a:extLst>
              <a:ext uri="{FF2B5EF4-FFF2-40B4-BE49-F238E27FC236}">
                <a16:creationId xmlns:a16="http://schemas.microsoft.com/office/drawing/2014/main" id="{B2609ADB-F664-9526-185F-44A4AC0246FD}"/>
              </a:ext>
            </a:extLst>
          </p:cNvPr>
          <p:cNvPicPr>
            <a:picLocks noChangeAspect="1"/>
          </p:cNvPicPr>
          <p:nvPr/>
        </p:nvPicPr>
        <p:blipFill>
          <a:blip r:embed="rId3"/>
          <a:stretch>
            <a:fillRect/>
          </a:stretch>
        </p:blipFill>
        <p:spPr>
          <a:xfrm>
            <a:off x="870994" y="1036203"/>
            <a:ext cx="6337300" cy="3898900"/>
          </a:xfrm>
          <a:prstGeom prst="rect">
            <a:avLst/>
          </a:prstGeom>
        </p:spPr>
      </p:pic>
    </p:spTree>
    <p:extLst>
      <p:ext uri="{BB962C8B-B14F-4D97-AF65-F5344CB8AC3E}">
        <p14:creationId xmlns:p14="http://schemas.microsoft.com/office/powerpoint/2010/main" val="978507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98D149-059D-953D-C8EF-334952C61497}"/>
              </a:ext>
            </a:extLst>
          </p:cNvPr>
          <p:cNvSpPr>
            <a:spLocks noGrp="1"/>
          </p:cNvSpPr>
          <p:nvPr>
            <p:ph idx="1"/>
          </p:nvPr>
        </p:nvSpPr>
        <p:spPr/>
        <p:txBody>
          <a:bodyPr/>
          <a:lstStyle/>
          <a:p>
            <a:r>
              <a:rPr lang="en-US" sz="1100" dirty="0"/>
              <a:t>## </a:t>
            </a:r>
            <a:r>
              <a:rPr lang="en-US" sz="1100" b="1" dirty="0"/>
              <a:t>Early-Detection Curve: AUC vs. Number of Visits Used</a:t>
            </a:r>
            <a:endParaRPr lang="en-US" sz="1100" dirty="0"/>
          </a:p>
          <a:p>
            <a:r>
              <a:rPr lang="en-US" sz="1100" dirty="0"/>
              <a:t>Shared `early_detection_table`: for each N it restricts every test subject with `T &gt;= N` visits to their first N (via `truncate_to_n_visits`) and re-scores with `</a:t>
            </a:r>
            <a:r>
              <a:rPr lang="en-US" sz="1100" dirty="0" err="1"/>
              <a:t>eval_split</a:t>
            </a:r>
            <a:r>
              <a:rPr lang="en-US" sz="1100" dirty="0"/>
              <a:t>`.</a:t>
            </a:r>
          </a:p>
        </p:txBody>
      </p:sp>
      <p:sp>
        <p:nvSpPr>
          <p:cNvPr id="3" name="Slide Number Placeholder 2">
            <a:extLst>
              <a:ext uri="{FF2B5EF4-FFF2-40B4-BE49-F238E27FC236}">
                <a16:creationId xmlns:a16="http://schemas.microsoft.com/office/drawing/2014/main" id="{CB535F0F-6DB8-E623-16FE-8DBEAE29D70B}"/>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5" name="Text Placeholder 4">
            <a:extLst>
              <a:ext uri="{FF2B5EF4-FFF2-40B4-BE49-F238E27FC236}">
                <a16:creationId xmlns:a16="http://schemas.microsoft.com/office/drawing/2014/main" id="{13CAB836-7F6B-2FB2-03B3-967197A2C55E}"/>
              </a:ext>
            </a:extLst>
          </p:cNvPr>
          <p:cNvSpPr>
            <a:spLocks noGrp="1"/>
          </p:cNvSpPr>
          <p:nvPr>
            <p:ph type="body" sz="quarter" idx="13"/>
          </p:nvPr>
        </p:nvSpPr>
        <p:spPr>
          <a:xfrm>
            <a:off x="319090" y="842955"/>
            <a:ext cx="8508999" cy="505304"/>
          </a:xfrm>
        </p:spPr>
        <p:txBody>
          <a:bodyPr/>
          <a:lstStyle/>
          <a:p>
            <a:r>
              <a:rPr lang="en-US" dirty="0">
                <a:solidFill>
                  <a:schemeClr val="bg2"/>
                </a:solidFill>
              </a:rPr>
              <a:t>LSTM truncated visits and their AUCs </a:t>
            </a:r>
          </a:p>
        </p:txBody>
      </p:sp>
      <p:sp>
        <p:nvSpPr>
          <p:cNvPr id="6" name="Title 5">
            <a:extLst>
              <a:ext uri="{FF2B5EF4-FFF2-40B4-BE49-F238E27FC236}">
                <a16:creationId xmlns:a16="http://schemas.microsoft.com/office/drawing/2014/main" id="{956CDA4C-7DE4-0314-FFCA-40F2D1A66EC2}"/>
              </a:ext>
            </a:extLst>
          </p:cNvPr>
          <p:cNvSpPr>
            <a:spLocks noGrp="1"/>
          </p:cNvSpPr>
          <p:nvPr>
            <p:ph type="title"/>
          </p:nvPr>
        </p:nvSpPr>
        <p:spPr/>
        <p:txBody>
          <a:bodyPr/>
          <a:lstStyle/>
          <a:p>
            <a:r>
              <a:rPr lang="en-US" dirty="0"/>
              <a:t>Most Recent Results</a:t>
            </a:r>
          </a:p>
        </p:txBody>
      </p:sp>
      <p:pic>
        <p:nvPicPr>
          <p:cNvPr id="7" name="Picture 6">
            <a:extLst>
              <a:ext uri="{FF2B5EF4-FFF2-40B4-BE49-F238E27FC236}">
                <a16:creationId xmlns:a16="http://schemas.microsoft.com/office/drawing/2014/main" id="{552A4675-9312-70A2-B552-E426DFDB9BB2}"/>
              </a:ext>
            </a:extLst>
          </p:cNvPr>
          <p:cNvPicPr>
            <a:picLocks noChangeAspect="1"/>
          </p:cNvPicPr>
          <p:nvPr/>
        </p:nvPicPr>
        <p:blipFill>
          <a:blip r:embed="rId2"/>
          <a:stretch>
            <a:fillRect/>
          </a:stretch>
        </p:blipFill>
        <p:spPr>
          <a:xfrm>
            <a:off x="503354" y="2875790"/>
            <a:ext cx="2998468" cy="1287221"/>
          </a:xfrm>
          <a:prstGeom prst="rect">
            <a:avLst/>
          </a:prstGeom>
        </p:spPr>
      </p:pic>
      <p:pic>
        <p:nvPicPr>
          <p:cNvPr id="8" name="Picture 7">
            <a:extLst>
              <a:ext uri="{FF2B5EF4-FFF2-40B4-BE49-F238E27FC236}">
                <a16:creationId xmlns:a16="http://schemas.microsoft.com/office/drawing/2014/main" id="{71315835-3027-611F-ABF4-C0FB17EB4587}"/>
              </a:ext>
            </a:extLst>
          </p:cNvPr>
          <p:cNvPicPr>
            <a:picLocks noChangeAspect="1"/>
          </p:cNvPicPr>
          <p:nvPr/>
        </p:nvPicPr>
        <p:blipFill>
          <a:blip r:embed="rId3"/>
          <a:stretch>
            <a:fillRect/>
          </a:stretch>
        </p:blipFill>
        <p:spPr>
          <a:xfrm>
            <a:off x="3686086" y="2571750"/>
            <a:ext cx="5318339" cy="1895303"/>
          </a:xfrm>
          <a:prstGeom prst="rect">
            <a:avLst/>
          </a:prstGeom>
        </p:spPr>
      </p:pic>
      <p:sp>
        <p:nvSpPr>
          <p:cNvPr id="9" name="Text Placeholder 2">
            <a:extLst>
              <a:ext uri="{FF2B5EF4-FFF2-40B4-BE49-F238E27FC236}">
                <a16:creationId xmlns:a16="http://schemas.microsoft.com/office/drawing/2014/main" id="{4EE5BA6E-4A86-3069-9E73-ABBE7207DCA1}"/>
              </a:ext>
            </a:extLst>
          </p:cNvPr>
          <p:cNvSpPr txBox="1">
            <a:spLocks/>
          </p:cNvSpPr>
          <p:nvPr/>
        </p:nvSpPr>
        <p:spPr>
          <a:xfrm>
            <a:off x="311161" y="435994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3: </a:t>
            </a:r>
            <a:br>
              <a:rPr lang="en-US" sz="1100" b="1" dirty="0">
                <a:solidFill>
                  <a:srgbClr val="FF0000"/>
                </a:solidFill>
              </a:rPr>
            </a:br>
            <a:r>
              <a:rPr lang="en-US" sz="1100" b="1" dirty="0">
                <a:solidFill>
                  <a:srgbClr val="FF0000"/>
                </a:solidFill>
              </a:rPr>
              <a:t>Find out why LTSM’s AUC jumps from 0.55 to 0.80 when presented with two visits instead of just 1</a:t>
            </a:r>
            <a:endParaRPr lang="en-US" sz="1100" i="1" dirty="0">
              <a:solidFill>
                <a:srgbClr val="FF0000"/>
              </a:solidFill>
            </a:endParaRPr>
          </a:p>
        </p:txBody>
      </p:sp>
    </p:spTree>
    <p:extLst>
      <p:ext uri="{BB962C8B-B14F-4D97-AF65-F5344CB8AC3E}">
        <p14:creationId xmlns:p14="http://schemas.microsoft.com/office/powerpoint/2010/main" val="3769475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162346-3E45-EA27-A867-CB2023071955}"/>
              </a:ext>
            </a:extLst>
          </p:cNvPr>
          <p:cNvSpPr>
            <a:spLocks noGrp="1"/>
          </p:cNvSpPr>
          <p:nvPr>
            <p:ph idx="1"/>
          </p:nvPr>
        </p:nvSpPr>
        <p:spPr/>
        <p:txBody>
          <a:bodyPr/>
          <a:lstStyle/>
          <a:p>
            <a:endParaRPr lang="en-US" dirty="0"/>
          </a:p>
        </p:txBody>
      </p:sp>
      <p:sp>
        <p:nvSpPr>
          <p:cNvPr id="3" name="Slide Number Placeholder 2">
            <a:extLst>
              <a:ext uri="{FF2B5EF4-FFF2-40B4-BE49-F238E27FC236}">
                <a16:creationId xmlns:a16="http://schemas.microsoft.com/office/drawing/2014/main" id="{63F8965E-5945-B4F1-66FE-161440C6A8E7}"/>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4" name="Footer Placeholder 3">
            <a:extLst>
              <a:ext uri="{FF2B5EF4-FFF2-40B4-BE49-F238E27FC236}">
                <a16:creationId xmlns:a16="http://schemas.microsoft.com/office/drawing/2014/main" id="{E25C7748-7C5E-F25F-0B76-C02B32942EBC}"/>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D544B06F-874F-E02E-E030-C7DDD4E7DA18}"/>
              </a:ext>
            </a:extLst>
          </p:cNvPr>
          <p:cNvSpPr>
            <a:spLocks noGrp="1"/>
          </p:cNvSpPr>
          <p:nvPr>
            <p:ph type="body" sz="quarter" idx="13"/>
          </p:nvPr>
        </p:nvSpPr>
        <p:spPr/>
        <p:txBody>
          <a:bodyPr/>
          <a:lstStyle/>
          <a:p>
            <a:endParaRPr lang="en-US" dirty="0"/>
          </a:p>
        </p:txBody>
      </p:sp>
      <p:sp>
        <p:nvSpPr>
          <p:cNvPr id="6" name="Title 5">
            <a:extLst>
              <a:ext uri="{FF2B5EF4-FFF2-40B4-BE49-F238E27FC236}">
                <a16:creationId xmlns:a16="http://schemas.microsoft.com/office/drawing/2014/main" id="{AB6A4CCB-D289-336B-CDE4-B2F5FA07A31D}"/>
              </a:ext>
            </a:extLst>
          </p:cNvPr>
          <p:cNvSpPr>
            <a:spLocks noGrp="1"/>
          </p:cNvSpPr>
          <p:nvPr>
            <p:ph type="title"/>
          </p:nvPr>
        </p:nvSpPr>
        <p:spPr/>
        <p:txBody>
          <a:bodyPr/>
          <a:lstStyle/>
          <a:p>
            <a:endParaRPr lang="en-US" dirty="0"/>
          </a:p>
        </p:txBody>
      </p:sp>
      <p:sp>
        <p:nvSpPr>
          <p:cNvPr id="7" name="Text Placeholder 2">
            <a:extLst>
              <a:ext uri="{FF2B5EF4-FFF2-40B4-BE49-F238E27FC236}">
                <a16:creationId xmlns:a16="http://schemas.microsoft.com/office/drawing/2014/main" id="{3D831C33-5B29-D646-DF27-42729065AB30}"/>
              </a:ext>
            </a:extLst>
          </p:cNvPr>
          <p:cNvSpPr txBox="1">
            <a:spLocks/>
          </p:cNvSpPr>
          <p:nvPr/>
        </p:nvSpPr>
        <p:spPr>
          <a:xfrm>
            <a:off x="311161" y="435994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4: </a:t>
            </a:r>
            <a:br>
              <a:rPr lang="en-US" sz="1100" b="1" dirty="0">
                <a:solidFill>
                  <a:srgbClr val="FF0000"/>
                </a:solidFill>
              </a:rPr>
            </a:br>
            <a:r>
              <a:rPr lang="en-US" sz="1100" b="1" dirty="0">
                <a:solidFill>
                  <a:srgbClr val="FF0000"/>
                </a:solidFill>
              </a:rPr>
              <a:t>Choose another paper </a:t>
            </a:r>
            <a:r>
              <a:rPr lang="en-US" sz="1100" b="1">
                <a:solidFill>
                  <a:srgbClr val="FF0000"/>
                </a:solidFill>
              </a:rPr>
              <a:t>as baseline</a:t>
            </a:r>
            <a:endParaRPr lang="en-US" sz="1100" i="1" dirty="0">
              <a:solidFill>
                <a:srgbClr val="FF0000"/>
              </a:solidFill>
            </a:endParaRPr>
          </a:p>
        </p:txBody>
      </p:sp>
    </p:spTree>
    <p:extLst>
      <p:ext uri="{BB962C8B-B14F-4D97-AF65-F5344CB8AC3E}">
        <p14:creationId xmlns:p14="http://schemas.microsoft.com/office/powerpoint/2010/main" val="1486239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endParaRPr lang="de-DE"/>
          </a:p>
        </p:txBody>
      </p:sp>
      <p:sp>
        <p:nvSpPr>
          <p:cNvPr id="3" name="Inhaltsplatzhalter 2"/>
          <p:cNvSpPr>
            <a:spLocks noGrp="1"/>
          </p:cNvSpPr>
          <p:nvPr>
            <p:ph idx="10"/>
          </p:nvPr>
        </p:nvSpPr>
        <p:spPr/>
        <p:txBody>
          <a:bodyPr/>
          <a:lstStyle/>
          <a:p>
            <a:r>
              <a:rPr lang="de-DE"/>
              <a:t>Dr. rer. nat. Erika Mustermann</a:t>
            </a:r>
          </a:p>
          <a:p>
            <a:r>
              <a:rPr lang="de-DE"/>
              <a:t>München, 27. März 2015</a:t>
            </a:r>
            <a:endParaRPr lang="de-D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p:cNvSpPr>
            <a:spLocks noGrp="1"/>
          </p:cNvSpPr>
          <p:nvPr>
            <p:ph type="title"/>
          </p:nvPr>
        </p:nvSpPr>
        <p:spPr/>
        <p:txBody>
          <a:bodyPr/>
          <a:lstStyle/>
          <a:p>
            <a:endParaRPr lang="de-DE"/>
          </a:p>
        </p:txBody>
      </p:sp>
      <p:sp>
        <p:nvSpPr>
          <p:cNvPr id="3" name="Inhaltsplatzhalter 2"/>
          <p:cNvSpPr>
            <a:spLocks noGrp="1"/>
          </p:cNvSpPr>
          <p:nvPr>
            <p:ph idx="10"/>
          </p:nvPr>
        </p:nvSpPr>
        <p:spPr/>
        <p:txBody>
          <a:bodyPr/>
          <a:lstStyle/>
          <a:p>
            <a:r>
              <a:rPr lang="de-DE"/>
              <a:t>Dr. rer. nat. Erika Mustermann</a:t>
            </a:r>
          </a:p>
          <a:p>
            <a:r>
              <a:rPr lang="de-DE"/>
              <a:t>München, 27. März 2015</a:t>
            </a:r>
            <a:endParaRPr lang="de-D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endParaRPr lang="de-DE" dirty="0"/>
          </a:p>
          <a:p>
            <a:r>
              <a:rPr lang="de-DE" dirty="0"/>
              <a:t>Dieser Folienmaster gilt bei offiziellen Präsentationen im Rahmen der TUM.</a:t>
            </a:r>
            <a:br>
              <a:rPr lang="de-DE" dirty="0"/>
            </a:br>
            <a:r>
              <a:rPr lang="de-DE" dirty="0"/>
              <a:t>Es ist darauf zu achten, dass wir uns in einem durchgängigen Layout präsentieren.</a:t>
            </a:r>
          </a:p>
          <a:p>
            <a:endParaRPr lang="de-DE" dirty="0"/>
          </a:p>
          <a:p>
            <a:r>
              <a:rPr lang="de-DE" dirty="0"/>
              <a:t>Abweichungen vom vorgegebenen Layout bitte auf ein Minimum reduzieren.</a:t>
            </a:r>
          </a:p>
        </p:txBody>
      </p:sp>
      <p:sp>
        <p:nvSpPr>
          <p:cNvPr id="3" name="Titel 2"/>
          <p:cNvSpPr>
            <a:spLocks noGrp="1"/>
          </p:cNvSpPr>
          <p:nvPr>
            <p:ph type="title"/>
          </p:nvPr>
        </p:nvSpPr>
        <p:spPr/>
        <p:txBody>
          <a:bodyPr/>
          <a:lstStyle/>
          <a:p>
            <a:r>
              <a:rPr lang="de-DE" dirty="0"/>
              <a:t>Gültigkeit der Masterfolien</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14</a:t>
            </a:fld>
            <a:endParaRPr lang="de-DE" dirty="0"/>
          </a:p>
        </p:txBody>
      </p:sp>
      <p:sp>
        <p:nvSpPr>
          <p:cNvPr id="7"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endParaRPr lang="de-DE" dirty="0"/>
          </a:p>
          <a:p>
            <a:r>
              <a:rPr lang="de-DE" dirty="0"/>
              <a:t>Als Grundlage dient der Corporate Design Style Guide der TUM.</a:t>
            </a:r>
            <a:br>
              <a:rPr lang="de-DE" dirty="0"/>
            </a:br>
            <a:r>
              <a:rPr lang="de-DE" dirty="0"/>
              <a:t>Die Präsentationsvorlage ist auf gute Lesbarkeit und klare Darstellung von Informationen optimiert.</a:t>
            </a:r>
          </a:p>
        </p:txBody>
      </p:sp>
      <p:sp>
        <p:nvSpPr>
          <p:cNvPr id="3" name="Titel 2"/>
          <p:cNvSpPr>
            <a:spLocks noGrp="1"/>
          </p:cNvSpPr>
          <p:nvPr>
            <p:ph type="title"/>
          </p:nvPr>
        </p:nvSpPr>
        <p:spPr/>
        <p:txBody>
          <a:bodyPr/>
          <a:lstStyle/>
          <a:p>
            <a:r>
              <a:rPr lang="de-DE" dirty="0"/>
              <a:t>Grundlage der Masterfolien</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15</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19090" y="1847850"/>
            <a:ext cx="8508999" cy="2998470"/>
          </a:xfrm>
        </p:spPr>
        <p:txBody>
          <a:bodyPr/>
          <a:lstStyle/>
          <a:p>
            <a:r>
              <a:rPr lang="de-DE" dirty="0"/>
              <a:t>Als Grundlage dient der Corporate Design Style Guide der TUM.</a:t>
            </a:r>
            <a:br>
              <a:rPr lang="de-DE" dirty="0"/>
            </a:br>
            <a:r>
              <a:rPr lang="de-DE" dirty="0"/>
              <a:t>Die Präsentationsvorlage ist auf gute Lesbarkeit und klare Darstellung von Informationen optimiert.</a:t>
            </a:r>
          </a:p>
        </p:txBody>
      </p:sp>
      <p:sp>
        <p:nvSpPr>
          <p:cNvPr id="3" name="Titel 2"/>
          <p:cNvSpPr>
            <a:spLocks noGrp="1"/>
          </p:cNvSpPr>
          <p:nvPr>
            <p:ph type="title"/>
          </p:nvPr>
        </p:nvSpPr>
        <p:spPr>
          <a:xfrm>
            <a:off x="319090" y="904500"/>
            <a:ext cx="8508999" cy="838575"/>
          </a:xfrm>
        </p:spPr>
        <p:txBody>
          <a:bodyPr/>
          <a:lstStyle/>
          <a:p>
            <a:r>
              <a:rPr lang="de-DE" dirty="0"/>
              <a:t>Hier steht eine Überschrift</a:t>
            </a:r>
            <a:br>
              <a:rPr lang="de-DE" dirty="0"/>
            </a:br>
            <a:r>
              <a:rPr lang="de-DE" dirty="0"/>
              <a:t>max. 2-zeilig</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16</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Das Grundprinzip ist, Informationen bestmöglich zu transportieren. Dazu muss vor allem die Schrift einheitlich und für alle im Raum lesbar sein. </a:t>
            </a:r>
          </a:p>
          <a:p>
            <a:endParaRPr lang="de-DE" dirty="0"/>
          </a:p>
          <a:p>
            <a:r>
              <a:rPr lang="de-DE" dirty="0"/>
              <a:t>Schriftart: Arial</a:t>
            </a:r>
          </a:p>
          <a:p>
            <a:r>
              <a:rPr lang="de-DE" dirty="0"/>
              <a:t>Schriftgrößen: 25 | 18 | 14 | 11</a:t>
            </a:r>
          </a:p>
          <a:p>
            <a:r>
              <a:rPr lang="de-DE" dirty="0"/>
              <a:t>Zeilenabstand: 1,15mm</a:t>
            </a:r>
          </a:p>
          <a:p>
            <a:endParaRPr lang="de-DE" dirty="0"/>
          </a:p>
          <a:p>
            <a:r>
              <a:rPr lang="de-DE" dirty="0"/>
              <a:t>Die Einstellungen sind in den Textfeldern und Textfeldvorlagen dieses </a:t>
            </a:r>
            <a:r>
              <a:rPr lang="de-DE" dirty="0" err="1"/>
              <a:t>ppt</a:t>
            </a:r>
            <a:r>
              <a:rPr lang="de-DE" dirty="0"/>
              <a:t>-Masters als Standard eingestellt. Bei Diagrammen und Tabellen muss die Schriftgröße ggf. angepasst werden. Für Auszeichnungen im Fließtext kann auch fett markiert werden. Bei großer Distanz bzw. kleinem Präsentationsmedium kann der Schriftgrad notfalls proportional erhöht werden.</a:t>
            </a:r>
          </a:p>
        </p:txBody>
      </p:sp>
      <p:sp>
        <p:nvSpPr>
          <p:cNvPr id="3" name="Titel 2"/>
          <p:cNvSpPr>
            <a:spLocks noGrp="1"/>
          </p:cNvSpPr>
          <p:nvPr>
            <p:ph type="title"/>
          </p:nvPr>
        </p:nvSpPr>
        <p:spPr/>
        <p:txBody>
          <a:bodyPr/>
          <a:lstStyle/>
          <a:p>
            <a:r>
              <a:rPr lang="de-DE" dirty="0"/>
              <a:t>Schrift</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17</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Als erstes soll mit schwarz und weiß gearbeitet werden.</a:t>
            </a:r>
            <a:br>
              <a:rPr lang="de-DE" dirty="0"/>
            </a:br>
            <a:r>
              <a:rPr lang="de-DE" dirty="0"/>
              <a:t>Für Aufwändigere Darstellungen sind Farben mit Bedacht und in möglichst geringem Umfang einzusetzen.</a:t>
            </a:r>
            <a:br>
              <a:rPr lang="de-DE" dirty="0"/>
            </a:br>
            <a:r>
              <a:rPr lang="de-DE" dirty="0"/>
              <a:t>In diesem Folienmaster ist die Farbpalette festgelegt.</a:t>
            </a:r>
          </a:p>
          <a:p>
            <a:endParaRPr lang="de-DE" dirty="0"/>
          </a:p>
          <a:p>
            <a:r>
              <a:rPr lang="de-DE" dirty="0"/>
              <a:t>Zuerst mit den Primärfarben arbeiten.</a:t>
            </a:r>
          </a:p>
          <a:p>
            <a:endParaRPr lang="de-DE" dirty="0"/>
          </a:p>
          <a:p>
            <a:endParaRPr lang="de-DE" dirty="0"/>
          </a:p>
          <a:p>
            <a:r>
              <a:rPr lang="de-DE" dirty="0"/>
              <a:t>Für z.B. komplexe Diagramme stehen noch Sekundärfarben zur Verfügung.</a:t>
            </a:r>
          </a:p>
          <a:p>
            <a:endParaRPr lang="de-DE" dirty="0"/>
          </a:p>
          <a:p>
            <a:endParaRPr lang="de-DE" dirty="0"/>
          </a:p>
          <a:p>
            <a:r>
              <a:rPr lang="de-DE" dirty="0"/>
              <a:t>Gering im Einsatz sind die Akzentfarben.</a:t>
            </a:r>
          </a:p>
          <a:p>
            <a:endParaRPr lang="de-DE" dirty="0"/>
          </a:p>
        </p:txBody>
      </p:sp>
      <p:sp>
        <p:nvSpPr>
          <p:cNvPr id="3" name="Titel 2"/>
          <p:cNvSpPr>
            <a:spLocks noGrp="1"/>
          </p:cNvSpPr>
          <p:nvPr>
            <p:ph type="title"/>
          </p:nvPr>
        </p:nvSpPr>
        <p:spPr/>
        <p:txBody>
          <a:bodyPr/>
          <a:lstStyle/>
          <a:p>
            <a:r>
              <a:rPr lang="de-DE" dirty="0"/>
              <a:t>Farben</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18</a:t>
            </a:fld>
            <a:endParaRPr lang="de-DE" dirty="0"/>
          </a:p>
        </p:txBody>
      </p:sp>
      <p:sp>
        <p:nvSpPr>
          <p:cNvPr id="19" name="Fußzeilenplatzhalter 4"/>
          <p:cNvSpPr>
            <a:spLocks noGrp="1"/>
          </p:cNvSpPr>
          <p:nvPr>
            <p:ph type="ftr" sz="quarter" idx="12"/>
          </p:nvPr>
        </p:nvSpPr>
        <p:spPr/>
        <p:txBody>
          <a:bodyPr/>
          <a:lstStyle/>
          <a:p>
            <a:r>
              <a:rPr lang="de-DE" dirty="0"/>
              <a:t>Dr. </a:t>
            </a:r>
            <a:r>
              <a:rPr lang="de-DE" dirty="0" err="1"/>
              <a:t>rer</a:t>
            </a:r>
            <a:r>
              <a:rPr lang="de-DE" dirty="0"/>
              <a:t>. nat. Erika Mustermann (TUM) | kann beliebig erweitert werden | Infos mit Strich trennen</a:t>
            </a:r>
            <a:endParaRPr lang="en-US" dirty="0"/>
          </a:p>
        </p:txBody>
      </p:sp>
      <p:sp>
        <p:nvSpPr>
          <p:cNvPr id="14" name="Rechteck 13"/>
          <p:cNvSpPr/>
          <p:nvPr/>
        </p:nvSpPr>
        <p:spPr>
          <a:xfrm>
            <a:off x="321735" y="2882902"/>
            <a:ext cx="855132" cy="1841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accent1"/>
              </a:solidFill>
            </a:endParaRPr>
          </a:p>
        </p:txBody>
      </p:sp>
      <p:sp>
        <p:nvSpPr>
          <p:cNvPr id="24" name="Rechteck 23"/>
          <p:cNvSpPr/>
          <p:nvPr/>
        </p:nvSpPr>
        <p:spPr>
          <a:xfrm>
            <a:off x="1295402" y="2882902"/>
            <a:ext cx="855132" cy="184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tx1"/>
              </a:solidFill>
            </a:endParaRPr>
          </a:p>
        </p:txBody>
      </p:sp>
      <p:sp>
        <p:nvSpPr>
          <p:cNvPr id="25" name="Rechteck 24"/>
          <p:cNvSpPr/>
          <p:nvPr/>
        </p:nvSpPr>
        <p:spPr>
          <a:xfrm>
            <a:off x="2260602" y="2882902"/>
            <a:ext cx="855132" cy="184148"/>
          </a:xfrm>
          <a:prstGeom prst="rect">
            <a:avLst/>
          </a:prstGeom>
          <a:solidFill>
            <a:schemeClr val="bg1"/>
          </a:solidFill>
          <a:ln w="6350"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6" name="Rechteck 25"/>
          <p:cNvSpPr/>
          <p:nvPr/>
        </p:nvSpPr>
        <p:spPr>
          <a:xfrm>
            <a:off x="321735" y="3594102"/>
            <a:ext cx="855132" cy="1841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7" name="Rechteck 26"/>
          <p:cNvSpPr/>
          <p:nvPr/>
        </p:nvSpPr>
        <p:spPr>
          <a:xfrm>
            <a:off x="1295402" y="3594102"/>
            <a:ext cx="855132" cy="18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8" name="Rechteck 27"/>
          <p:cNvSpPr/>
          <p:nvPr/>
        </p:nvSpPr>
        <p:spPr>
          <a:xfrm>
            <a:off x="2260602" y="3594102"/>
            <a:ext cx="855132" cy="1841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9" name="Rechteck 28"/>
          <p:cNvSpPr/>
          <p:nvPr/>
        </p:nvSpPr>
        <p:spPr>
          <a:xfrm>
            <a:off x="3225802" y="3594102"/>
            <a:ext cx="855132" cy="184148"/>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6" name="Rechteck 35"/>
          <p:cNvSpPr/>
          <p:nvPr/>
        </p:nvSpPr>
        <p:spPr>
          <a:xfrm>
            <a:off x="321735" y="4328320"/>
            <a:ext cx="855132" cy="1841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7" name="Rechteck 36"/>
          <p:cNvSpPr/>
          <p:nvPr/>
        </p:nvSpPr>
        <p:spPr>
          <a:xfrm>
            <a:off x="1295402" y="4328320"/>
            <a:ext cx="855132" cy="184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8" name="Rechteck 37"/>
          <p:cNvSpPr/>
          <p:nvPr/>
        </p:nvSpPr>
        <p:spPr>
          <a:xfrm>
            <a:off x="2260602" y="4328320"/>
            <a:ext cx="855132" cy="1841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Kurze und knappe Texte, Fließtexte linksbündig, kein Blocksatz</a:t>
            </a:r>
          </a:p>
          <a:p>
            <a:endParaRPr lang="de-DE" dirty="0"/>
          </a:p>
          <a:p>
            <a:r>
              <a:rPr lang="de-DE" dirty="0"/>
              <a:t>Beispiel:</a:t>
            </a:r>
          </a:p>
          <a:p>
            <a:r>
              <a:rPr lang="de-DE" dirty="0" err="1"/>
              <a:t>Tem</a:t>
            </a:r>
            <a:r>
              <a:rPr lang="de-DE" dirty="0"/>
              <a:t> </a:t>
            </a:r>
            <a:r>
              <a:rPr lang="de-DE" dirty="0" err="1"/>
              <a:t>soluptam</a:t>
            </a:r>
            <a:r>
              <a:rPr lang="de-DE" dirty="0"/>
              <a:t>, </a:t>
            </a:r>
            <a:r>
              <a:rPr lang="de-DE" dirty="0" err="1"/>
              <a:t>nisi</a:t>
            </a:r>
            <a:r>
              <a:rPr lang="de-DE" dirty="0"/>
              <a:t> </a:t>
            </a:r>
            <a:r>
              <a:rPr lang="de-DE" dirty="0" err="1"/>
              <a:t>as</a:t>
            </a:r>
            <a:r>
              <a:rPr lang="de-DE" dirty="0"/>
              <a:t> </a:t>
            </a:r>
            <a:r>
              <a:rPr lang="de-DE" dirty="0" err="1"/>
              <a:t>verum</a:t>
            </a:r>
            <a:r>
              <a:rPr lang="de-DE" dirty="0"/>
              <a:t> </a:t>
            </a:r>
            <a:r>
              <a:rPr lang="de-DE" dirty="0" err="1"/>
              <a:t>ereprehendam</a:t>
            </a:r>
            <a:r>
              <a:rPr lang="de-DE" dirty="0"/>
              <a:t> </a:t>
            </a:r>
            <a:r>
              <a:rPr lang="de-DE" dirty="0" err="1"/>
              <a:t>at</a:t>
            </a:r>
            <a:r>
              <a:rPr lang="de-DE" dirty="0"/>
              <a:t> </a:t>
            </a:r>
            <a:r>
              <a:rPr lang="de-DE" dirty="0" err="1"/>
              <a:t>acculpa</a:t>
            </a:r>
            <a:r>
              <a:rPr lang="de-DE" dirty="0"/>
              <a:t> </a:t>
            </a:r>
            <a:r>
              <a:rPr lang="de-DE" dirty="0" err="1"/>
              <a:t>quidisq</a:t>
            </a:r>
            <a:r>
              <a:rPr lang="de-DE" dirty="0"/>
              <a:t> </a:t>
            </a:r>
            <a:r>
              <a:rPr lang="de-DE" dirty="0" err="1"/>
              <a:t>uissit</a:t>
            </a:r>
            <a:r>
              <a:rPr lang="de-DE" dirty="0"/>
              <a:t> </a:t>
            </a:r>
            <a:r>
              <a:rPr lang="de-DE" dirty="0" err="1"/>
              <a:t>volupta</a:t>
            </a:r>
            <a:r>
              <a:rPr lang="de-DE" dirty="0"/>
              <a:t> </a:t>
            </a:r>
            <a:r>
              <a:rPr lang="de-DE" dirty="0" err="1"/>
              <a:t>tusdant</a:t>
            </a:r>
            <a:r>
              <a:rPr lang="de-DE" dirty="0"/>
              <a:t> </a:t>
            </a:r>
            <a:r>
              <a:rPr lang="de-DE" dirty="0" err="1"/>
              <a:t>utem</a:t>
            </a:r>
            <a:r>
              <a:rPr lang="de-DE" dirty="0"/>
              <a:t> </a:t>
            </a:r>
            <a:r>
              <a:rPr lang="de-DE" dirty="0" err="1"/>
              <a:t>as</a:t>
            </a:r>
            <a:r>
              <a:rPr lang="de-DE" dirty="0"/>
              <a:t> </a:t>
            </a:r>
            <a:r>
              <a:rPr lang="de-DE" dirty="0" err="1"/>
              <a:t>etur</a:t>
            </a:r>
            <a:r>
              <a:rPr lang="de-DE" dirty="0"/>
              <a:t>, </a:t>
            </a:r>
            <a:r>
              <a:rPr lang="de-DE" dirty="0" err="1"/>
              <a:t>odi</a:t>
            </a:r>
            <a:r>
              <a:rPr lang="de-DE" dirty="0"/>
              <a:t> </a:t>
            </a:r>
            <a:r>
              <a:rPr lang="de-DE" dirty="0" err="1"/>
              <a:t>odis</a:t>
            </a:r>
            <a:r>
              <a:rPr lang="de-DE" dirty="0"/>
              <a:t> es </a:t>
            </a:r>
            <a:r>
              <a:rPr lang="de-DE" dirty="0" err="1"/>
              <a:t>doluptiae</a:t>
            </a:r>
            <a:r>
              <a:rPr lang="de-DE" dirty="0"/>
              <a:t> dem </a:t>
            </a:r>
            <a:r>
              <a:rPr lang="de-DE" dirty="0" err="1"/>
              <a:t>nimaion</a:t>
            </a:r>
            <a:r>
              <a:rPr lang="de-DE" dirty="0"/>
              <a:t> </a:t>
            </a:r>
            <a:r>
              <a:rPr lang="de-DE" dirty="0" err="1"/>
              <a:t>con</a:t>
            </a:r>
            <a:r>
              <a:rPr lang="de-DE" dirty="0"/>
              <a:t> </a:t>
            </a:r>
            <a:r>
              <a:rPr lang="de-DE" dirty="0" err="1"/>
              <a:t>nossinctenis</a:t>
            </a:r>
            <a:r>
              <a:rPr lang="de-DE" dirty="0"/>
              <a:t> </a:t>
            </a:r>
            <a:r>
              <a:rPr lang="de-DE" dirty="0" err="1"/>
              <a:t>pora</a:t>
            </a:r>
            <a:r>
              <a:rPr lang="de-DE" dirty="0"/>
              <a:t> </a:t>
            </a:r>
            <a:r>
              <a:rPr lang="de-DE" dirty="0" err="1"/>
              <a:t>quam</a:t>
            </a:r>
            <a:r>
              <a:rPr lang="de-DE" dirty="0"/>
              <a:t> </a:t>
            </a:r>
            <a:r>
              <a:rPr lang="de-DE" dirty="0" err="1"/>
              <a:t>voloria</a:t>
            </a:r>
            <a:r>
              <a:rPr lang="de-DE" dirty="0"/>
              <a:t> </a:t>
            </a:r>
            <a:r>
              <a:rPr lang="de-DE" dirty="0" err="1"/>
              <a:t>consenimus</a:t>
            </a:r>
            <a:r>
              <a:rPr lang="de-DE" dirty="0"/>
              <a:t> </a:t>
            </a:r>
            <a:r>
              <a:rPr lang="de-DE" dirty="0" err="1"/>
              <a:t>blabore</a:t>
            </a:r>
            <a:r>
              <a:rPr lang="de-DE" dirty="0"/>
              <a:t> </a:t>
            </a:r>
            <a:r>
              <a:rPr lang="de-DE" dirty="0" err="1"/>
              <a:t>everfer</a:t>
            </a:r>
            <a:r>
              <a:rPr lang="de-DE" dirty="0"/>
              <a:t> </a:t>
            </a:r>
            <a:r>
              <a:rPr lang="de-DE" dirty="0" err="1"/>
              <a:t>epeliquo</a:t>
            </a:r>
            <a:r>
              <a:rPr lang="de-DE" dirty="0"/>
              <a:t> </a:t>
            </a:r>
            <a:r>
              <a:rPr lang="de-DE" dirty="0" err="1"/>
              <a:t>maio</a:t>
            </a:r>
            <a:r>
              <a:rPr lang="de-DE" dirty="0"/>
              <a:t> </a:t>
            </a:r>
            <a:r>
              <a:rPr lang="de-DE" dirty="0" err="1"/>
              <a:t>etur</a:t>
            </a:r>
            <a:r>
              <a:rPr lang="de-DE" dirty="0"/>
              <a:t>.</a:t>
            </a:r>
          </a:p>
        </p:txBody>
      </p:sp>
      <p:sp>
        <p:nvSpPr>
          <p:cNvPr id="3" name="Titel 2"/>
          <p:cNvSpPr>
            <a:spLocks noGrp="1"/>
          </p:cNvSpPr>
          <p:nvPr>
            <p:ph type="title"/>
          </p:nvPr>
        </p:nvSpPr>
        <p:spPr/>
        <p:txBody>
          <a:bodyPr/>
          <a:lstStyle/>
          <a:p>
            <a:r>
              <a:rPr lang="de-DE" dirty="0"/>
              <a:t>Texte</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19</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a:t>schlichte Darstellung von Informationen</a:t>
            </a:r>
          </a:p>
          <a:p>
            <a:endParaRPr lang="de-DE"/>
          </a:p>
          <a:p>
            <a:r>
              <a:rPr lang="de-DE"/>
              <a:t>reduzierte Farben</a:t>
            </a:r>
          </a:p>
          <a:p>
            <a:endParaRPr lang="de-DE"/>
          </a:p>
          <a:p>
            <a:r>
              <a:rPr lang="de-DE"/>
              <a:t>Rahmen und Überlagerungen nach Möglichkeit vermeiden</a:t>
            </a:r>
          </a:p>
          <a:p>
            <a:endParaRPr lang="de-DE" dirty="0"/>
          </a:p>
        </p:txBody>
      </p:sp>
      <p:sp>
        <p:nvSpPr>
          <p:cNvPr id="3" name="Titel 2"/>
          <p:cNvSpPr>
            <a:spLocks noGrp="1"/>
          </p:cNvSpPr>
          <p:nvPr>
            <p:ph type="title"/>
          </p:nvPr>
        </p:nvSpPr>
        <p:spPr/>
        <p:txBody>
          <a:bodyPr/>
          <a:lstStyle/>
          <a:p>
            <a:r>
              <a:rPr lang="de-DE"/>
              <a:t>Bilder - Allgemein</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20</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Bei kleinen Aufzählungen auf Aufzählungszeichen verzichten und ggf. zusätzliche Leerzeile</a:t>
            </a:r>
          </a:p>
          <a:p>
            <a:r>
              <a:rPr lang="de-DE" dirty="0"/>
              <a:t>Nur die wesentlichen Punkte nennen und Themen auf verschiedene Seiten splitten.</a:t>
            </a:r>
          </a:p>
          <a:p>
            <a:r>
              <a:rPr lang="de-DE" dirty="0"/>
              <a:t>Punkt 1</a:t>
            </a:r>
          </a:p>
          <a:p>
            <a:r>
              <a:rPr lang="de-DE" dirty="0"/>
              <a:t>Punkt 2</a:t>
            </a:r>
          </a:p>
          <a:p>
            <a:endParaRPr lang="de-DE" dirty="0"/>
          </a:p>
          <a:p>
            <a:r>
              <a:rPr lang="de-DE" dirty="0"/>
              <a:t>Wenn Unterpunkte in einer Aufzählung nötig sind ist ein Einrücken mit – möglich</a:t>
            </a:r>
          </a:p>
          <a:p>
            <a:pPr lvl="1"/>
            <a:r>
              <a:rPr lang="de-DE" dirty="0"/>
              <a:t>Unterpunkt 1</a:t>
            </a:r>
          </a:p>
          <a:p>
            <a:pPr lvl="2"/>
            <a:r>
              <a:rPr lang="de-DE" dirty="0"/>
              <a:t>Unterpunkt 1</a:t>
            </a:r>
          </a:p>
          <a:p>
            <a:pPr lvl="2"/>
            <a:r>
              <a:rPr lang="de-DE" dirty="0"/>
              <a:t>Unterpunkt 2</a:t>
            </a:r>
          </a:p>
          <a:p>
            <a:endParaRPr lang="de-DE" dirty="0"/>
          </a:p>
          <a:p>
            <a:r>
              <a:rPr lang="de-DE" dirty="0"/>
              <a:t>Bei größeren Listen die Standardeinstellung • verwenden</a:t>
            </a:r>
          </a:p>
          <a:p>
            <a:pPr lvl="1"/>
            <a:r>
              <a:rPr lang="de-DE" dirty="0"/>
              <a:t>Unterpunkt 1</a:t>
            </a:r>
          </a:p>
          <a:p>
            <a:pPr lvl="1"/>
            <a:r>
              <a:rPr lang="de-DE" dirty="0"/>
              <a:t>Unterpunkt 2</a:t>
            </a:r>
          </a:p>
          <a:p>
            <a:pPr lvl="1">
              <a:buNone/>
            </a:pPr>
            <a:endParaRPr lang="de-DE" dirty="0"/>
          </a:p>
        </p:txBody>
      </p:sp>
      <p:sp>
        <p:nvSpPr>
          <p:cNvPr id="3" name="Titel 2"/>
          <p:cNvSpPr>
            <a:spLocks noGrp="1"/>
          </p:cNvSpPr>
          <p:nvPr>
            <p:ph type="title"/>
          </p:nvPr>
        </p:nvSpPr>
        <p:spPr/>
        <p:txBody>
          <a:bodyPr/>
          <a:lstStyle/>
          <a:p>
            <a:r>
              <a:rPr lang="de-DE"/>
              <a:t>Aufzählung</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21</a:t>
            </a:fld>
            <a:endParaRPr lang="de-DE" dirty="0"/>
          </a:p>
        </p:txBody>
      </p:sp>
      <p:sp>
        <p:nvSpPr>
          <p:cNvPr id="5"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22</a:t>
            </a:fld>
            <a:endParaRPr lang="de-DE" dirty="0"/>
          </a:p>
        </p:txBody>
      </p:sp>
      <p:sp>
        <p:nvSpPr>
          <p:cNvPr id="10"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14" name="Inhaltsplatzhalter 13"/>
          <p:cNvSpPr>
            <a:spLocks noGrp="1"/>
          </p:cNvSpPr>
          <p:nvPr>
            <p:ph sz="quarter" idx="18"/>
          </p:nvPr>
        </p:nvSpPr>
        <p:spPr/>
        <p:txBody>
          <a:bodyPr/>
          <a:lstStyle/>
          <a:p>
            <a:endParaRPr lang="de-DE"/>
          </a:p>
        </p:txBody>
      </p:sp>
      <p:sp>
        <p:nvSpPr>
          <p:cNvPr id="13" name="Bildplatzhalter 12"/>
          <p:cNvSpPr>
            <a:spLocks noGrp="1"/>
          </p:cNvSpPr>
          <p:nvPr>
            <p:ph type="pic" sz="quarter" idx="14"/>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idx="14"/>
          </p:nvPr>
        </p:nvSpPr>
        <p:spPr/>
        <p:txBody>
          <a:bodyPr/>
          <a:lstStyle/>
          <a:p>
            <a:r>
              <a:rPr lang="de-DE"/>
              <a:t>Überschrift 2</a:t>
            </a:r>
          </a:p>
          <a:p>
            <a:r>
              <a:rPr lang="de-DE"/>
              <a:t>Hier steht ein einleitender oder beschreibender Fließtext und nach Wunsch eine Aufzählung</a:t>
            </a:r>
          </a:p>
          <a:p>
            <a:r>
              <a:rPr lang="de-DE"/>
              <a:t>Punkt 1</a:t>
            </a:r>
          </a:p>
          <a:p>
            <a:endParaRPr lang="de-DE"/>
          </a:p>
          <a:p>
            <a:r>
              <a:rPr lang="de-DE"/>
              <a:t>Punkt 2</a:t>
            </a:r>
          </a:p>
          <a:p>
            <a:endParaRPr lang="de-DE"/>
          </a:p>
          <a:p>
            <a:r>
              <a:rPr lang="de-DE"/>
              <a:t>Punkt 3</a:t>
            </a:r>
          </a:p>
          <a:p>
            <a:endParaRPr lang="de-DE"/>
          </a:p>
          <a:p>
            <a:r>
              <a:rPr lang="de-DE"/>
              <a:t>Punkt 4</a:t>
            </a:r>
          </a:p>
          <a:p>
            <a:endParaRPr lang="de-DE"/>
          </a:p>
          <a:p>
            <a:endParaRPr lang="de-DE" dirty="0"/>
          </a:p>
        </p:txBody>
      </p:sp>
      <p:sp>
        <p:nvSpPr>
          <p:cNvPr id="13" name="Inhaltsplatzhalter 12"/>
          <p:cNvSpPr>
            <a:spLocks noGrp="1"/>
          </p:cNvSpPr>
          <p:nvPr>
            <p:ph idx="15"/>
          </p:nvPr>
        </p:nvSpPr>
        <p:spPr/>
        <p:txBody>
          <a:bodyPr/>
          <a:lstStyle/>
          <a:p>
            <a:endParaRPr lang="de-DE"/>
          </a:p>
        </p:txBody>
      </p:sp>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6"/>
          </p:nvPr>
        </p:nvSpPr>
        <p:spPr/>
        <p:txBody>
          <a:bodyPr/>
          <a:lstStyle/>
          <a:p>
            <a:fld id="{CE58CB1E-F828-4F11-99E0-327109AF9DA4}" type="slidenum">
              <a:rPr lang="de-DE" smtClean="0"/>
              <a:pPr/>
              <a:t>23</a:t>
            </a:fld>
            <a:endParaRPr lang="de-DE" dirty="0"/>
          </a:p>
        </p:txBody>
      </p:sp>
      <p:sp>
        <p:nvSpPr>
          <p:cNvPr id="7" name="Fußzeilenplatzhalter 4"/>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nhaltsplatzhalter 12"/>
          <p:cNvSpPr>
            <a:spLocks noGrp="1"/>
          </p:cNvSpPr>
          <p:nvPr>
            <p:ph idx="1"/>
          </p:nvPr>
        </p:nvSpPr>
        <p:spPr/>
        <p:txBody>
          <a:bodyPr/>
          <a:lstStyle/>
          <a:p>
            <a:endParaRPr lang="de-DE"/>
          </a:p>
        </p:txBody>
      </p:sp>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1"/>
          </p:nvPr>
        </p:nvSpPr>
        <p:spPr/>
        <p:txBody>
          <a:bodyPr/>
          <a:lstStyle/>
          <a:p>
            <a:fld id="{CE58CB1E-F828-4F11-99E0-327109AF9DA4}" type="slidenum">
              <a:rPr lang="de-DE" smtClean="0"/>
              <a:pPr/>
              <a:t>24</a:t>
            </a:fld>
            <a:endParaRPr lang="de-DE" dirty="0"/>
          </a:p>
        </p:txBody>
      </p:sp>
      <p:sp>
        <p:nvSpPr>
          <p:cNvPr id="8"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25</a:t>
            </a:fld>
            <a:endParaRPr lang="de-DE" dirty="0"/>
          </a:p>
        </p:txBody>
      </p:sp>
      <p:sp>
        <p:nvSpPr>
          <p:cNvPr id="6" name="Fußzeilenplatzhalter 5"/>
          <p:cNvSpPr>
            <a:spLocks noGrp="1"/>
          </p:cNvSpPr>
          <p:nvPr>
            <p:ph type="ftr" sz="quarter" idx="16"/>
          </p:nvPr>
        </p:nvSpPr>
        <p:spPr/>
        <p:txBody>
          <a:bodyPr/>
          <a:lstStyle/>
          <a:p>
            <a:r>
              <a:rPr lang="de-DE" noProof="0"/>
              <a:t>Dr. rer. nat. Erika Mustermann (TUM) | kann beliebig erweitert werden | Infos mit Strich trennen</a:t>
            </a:r>
          </a:p>
        </p:txBody>
      </p:sp>
      <p:sp>
        <p:nvSpPr>
          <p:cNvPr id="7" name="Bildplatzhalter 6"/>
          <p:cNvSpPr>
            <a:spLocks noGrp="1"/>
          </p:cNvSpPr>
          <p:nvPr>
            <p:ph type="pic" sz="quarter" idx="17"/>
          </p:nvPr>
        </p:nvSpPr>
        <p:spPr/>
        <p:txBody>
          <a:bodyPr/>
          <a:lstStyle/>
          <a:p>
            <a:endParaRPr lang="en-US"/>
          </a:p>
        </p:txBody>
      </p:sp>
      <p:sp>
        <p:nvSpPr>
          <p:cNvPr id="3" name="Textplatzhalter 2"/>
          <p:cNvSpPr>
            <a:spLocks noGrp="1"/>
          </p:cNvSpPr>
          <p:nvPr>
            <p:ph type="body" sz="quarter" idx="18"/>
          </p:nvPr>
        </p:nvSpPr>
        <p:spPr>
          <a:prstGeom prst="rect">
            <a:avLst/>
          </a:prstGeom>
        </p:spPr>
        <p:txBody>
          <a:bodyPr/>
          <a:lstStyle/>
          <a:p>
            <a:r>
              <a:rPr lang="de-DE" dirty="0"/>
              <a:t>Bildbeschreibung</a:t>
            </a:r>
            <a:br>
              <a:rPr lang="de-DE" dirty="0"/>
            </a:br>
            <a:r>
              <a:rPr lang="de-DE" dirty="0"/>
              <a:t>oberer Bildrand: Begrenzung durch Text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Nicht formatfüllende Bilder</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26</a:t>
            </a:fld>
            <a:endParaRPr lang="de-DE" dirty="0"/>
          </a:p>
        </p:txBody>
      </p:sp>
      <p:sp>
        <p:nvSpPr>
          <p:cNvPr id="10"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Bildplatzhalter 6"/>
          <p:cNvSpPr>
            <a:spLocks noGrp="1"/>
          </p:cNvSpPr>
          <p:nvPr>
            <p:ph type="pic" sz="quarter" idx="17"/>
          </p:nvPr>
        </p:nvSpPr>
        <p:spPr/>
        <p:txBody>
          <a:bodyPr/>
          <a:lstStyle/>
          <a:p>
            <a:endParaRPr lang="en-US"/>
          </a:p>
        </p:txBody>
      </p:sp>
      <p:sp>
        <p:nvSpPr>
          <p:cNvPr id="3" name="Textplatzhalter 2"/>
          <p:cNvSpPr>
            <a:spLocks noGrp="1"/>
          </p:cNvSpPr>
          <p:nvPr>
            <p:ph type="body" sz="quarter" idx="18"/>
          </p:nvPr>
        </p:nvSpPr>
        <p:spPr>
          <a:prstGeom prst="rect">
            <a:avLst/>
          </a:prstGeom>
        </p:spPr>
        <p:txBody>
          <a:bodyPr/>
          <a:lstStyle/>
          <a:p>
            <a:r>
              <a:rPr lang="de-DE"/>
              <a:t>Weißer bzw. transparenter Hintergrund</a:t>
            </a:r>
            <a:br>
              <a:rPr lang="de-DE"/>
            </a:br>
            <a:r>
              <a:rPr lang="de-DE"/>
              <a:t>mit genug Freiraum anordnen</a:t>
            </a:r>
            <a:endParaRPr lang="de-DE"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ildplatzhalter 9"/>
          <p:cNvSpPr>
            <a:spLocks noGrp="1"/>
          </p:cNvSpPr>
          <p:nvPr>
            <p:ph type="pic" sz="quarter" idx="14"/>
          </p:nvPr>
        </p:nvSpPr>
        <p:spPr/>
        <p:txBody>
          <a:bodyPr/>
          <a:lstStyle/>
          <a:p>
            <a:endParaRPr lang="en-US"/>
          </a:p>
        </p:txBody>
      </p:sp>
      <p:sp>
        <p:nvSpPr>
          <p:cNvPr id="3" name="Titel 2"/>
          <p:cNvSpPr>
            <a:spLocks noGrp="1"/>
          </p:cNvSpPr>
          <p:nvPr>
            <p:ph type="title"/>
          </p:nvPr>
        </p:nvSpPr>
        <p:spPr/>
        <p:txBody>
          <a:bodyPr/>
          <a:lstStyle/>
          <a:p>
            <a:r>
              <a:rPr lang="de-DE"/>
              <a:t>Bilder Format füllend - maximale Bildgröße</a:t>
            </a:r>
            <a:endParaRPr lang="de-DE" dirty="0"/>
          </a:p>
        </p:txBody>
      </p:sp>
      <p:sp>
        <p:nvSpPr>
          <p:cNvPr id="4" name="Foliennummernplatzhalter 3"/>
          <p:cNvSpPr>
            <a:spLocks noGrp="1"/>
          </p:cNvSpPr>
          <p:nvPr>
            <p:ph type="sldNum" sz="quarter" idx="15"/>
          </p:nvPr>
        </p:nvSpPr>
        <p:spPr/>
        <p:txBody>
          <a:bodyPr/>
          <a:lstStyle/>
          <a:p>
            <a:fld id="{CE58CB1E-F828-4F11-99E0-327109AF9DA4}" type="slidenum">
              <a:rPr lang="de-DE" smtClean="0"/>
              <a:pPr/>
              <a:t>27</a:t>
            </a:fld>
            <a:endParaRPr lang="de-DE" dirty="0"/>
          </a:p>
        </p:txBody>
      </p:sp>
      <p:sp>
        <p:nvSpPr>
          <p:cNvPr id="5"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t>Nicht Format füllende Bilder</a:t>
            </a:r>
            <a:endParaRPr lang="de-DE" dirty="0"/>
          </a:p>
        </p:txBody>
      </p:sp>
      <p:sp>
        <p:nvSpPr>
          <p:cNvPr id="4" name="Foliennummernplatzhalter 3"/>
          <p:cNvSpPr>
            <a:spLocks noGrp="1"/>
          </p:cNvSpPr>
          <p:nvPr>
            <p:ph type="sldNum" sz="quarter" idx="15"/>
          </p:nvPr>
        </p:nvSpPr>
        <p:spPr/>
        <p:txBody>
          <a:bodyPr/>
          <a:lstStyle/>
          <a:p>
            <a:fld id="{CE58CB1E-F828-4F11-99E0-327109AF9DA4}" type="slidenum">
              <a:rPr lang="de-DE" smtClean="0"/>
              <a:pPr/>
              <a:t>28</a:t>
            </a:fld>
            <a:endParaRPr lang="de-DE" dirty="0"/>
          </a:p>
        </p:txBody>
      </p:sp>
      <p:sp>
        <p:nvSpPr>
          <p:cNvPr id="11"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Inhaltsplatzhalter 6"/>
          <p:cNvSpPr>
            <a:spLocks noGrp="1"/>
          </p:cNvSpPr>
          <p:nvPr>
            <p:ph sz="quarter" idx="18"/>
          </p:nvPr>
        </p:nvSpPr>
        <p:spPr/>
        <p:txBody>
          <a:bodyPr/>
          <a:lstStyle/>
          <a:p>
            <a:r>
              <a:rPr lang="de-DE"/>
              <a:t>Bilderklärung</a:t>
            </a:r>
            <a:endParaRPr lang="de-DE" dirty="0"/>
          </a:p>
        </p:txBody>
      </p:sp>
      <p:sp>
        <p:nvSpPr>
          <p:cNvPr id="8" name="Bildplatzhalter 7"/>
          <p:cNvSpPr>
            <a:spLocks noGrp="1"/>
          </p:cNvSpPr>
          <p:nvPr>
            <p:ph type="pic" sz="quarter" idx="14"/>
          </p:nvPr>
        </p:nvSpPr>
        <p:spPr/>
        <p:txBody>
          <a:bodyPr/>
          <a:lstStyle/>
          <a:p>
            <a:endParaRPr lang="en-US"/>
          </a:p>
        </p:txBody>
      </p:sp>
      <p:sp>
        <p:nvSpPr>
          <p:cNvPr id="2" name="Textplatzhalter 1"/>
          <p:cNvSpPr>
            <a:spLocks noGrp="1"/>
          </p:cNvSpPr>
          <p:nvPr>
            <p:ph type="body" sz="quarter" idx="19"/>
          </p:nvPr>
        </p:nvSpPr>
        <p:spPr>
          <a:prstGeom prst="rect">
            <a:avLst/>
          </a:prstGeom>
        </p:spPr>
        <p:txBody>
          <a:bodyPr/>
          <a:lstStyle/>
          <a:p>
            <a:r>
              <a:rPr lang="de-DE"/>
              <a:t>Alternativ mit formatfüllendem Hintergrund: 5 % schwarz</a:t>
            </a:r>
          </a:p>
          <a:p>
            <a:r>
              <a:rPr lang="de-DE"/>
              <a:t>Beschriftungen können zusätzlich neben den Bildern angebracht werden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nvPr>
        </p:nvGraphicFramePr>
        <p:xfrm>
          <a:off x="319088" y="214312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3" name="Titel 2"/>
          <p:cNvSpPr>
            <a:spLocks noGrp="1"/>
          </p:cNvSpPr>
          <p:nvPr>
            <p:ph type="title"/>
          </p:nvPr>
        </p:nvSpPr>
        <p:spPr/>
        <p:txBody>
          <a:bodyPr/>
          <a:lstStyle/>
          <a:p>
            <a:r>
              <a:rPr lang="de-DE"/>
              <a:t>Tabelle – Beispiel 1</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29</a:t>
            </a:fld>
            <a:endParaRPr lang="de-DE" dirty="0"/>
          </a:p>
        </p:txBody>
      </p:sp>
      <p:sp>
        <p:nvSpPr>
          <p:cNvPr id="10"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2" name="Textplatzhalter 1"/>
          <p:cNvSpPr>
            <a:spLocks noGrp="1"/>
          </p:cNvSpPr>
          <p:nvPr>
            <p:ph type="body" sz="quarter" idx="13"/>
          </p:nvPr>
        </p:nvSpPr>
        <p:spPr/>
        <p:txBody>
          <a:bodyPr/>
          <a:lstStyle/>
          <a:p>
            <a:r>
              <a:rPr lang="de-DE" dirty="0"/>
              <a:t>Tabelle ohne Farbe und kein Rand</a:t>
            </a:r>
            <a:br>
              <a:rPr lang="de-DE" dirty="0"/>
            </a:br>
            <a:r>
              <a:rPr lang="de-DE" dirty="0"/>
              <a:t>innerer Seitenrand links 0 cm, oben z.B. 0,5 cm (für genug Zeilenabstand innerhalb)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nvPr>
        </p:nvGraphicFramePr>
        <p:xfrm>
          <a:off x="319088" y="231457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54000" marR="0" marT="135000" marB="0" anchor="ct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54000" marR="0" marT="135000" marB="0" anchor="ct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54000" marR="0" marT="135000" marB="0" anchor="ct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54000" marR="0" marT="135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54000" marR="0" marT="135000" marB="0" anchor="ct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54000" marR="0" marT="135000" marB="0" anchor="ctr"/>
                </a:tc>
                <a:extLst>
                  <a:ext uri="{0D108BD9-81ED-4DB2-BD59-A6C34878D82A}">
                    <a16:rowId xmlns:a16="http://schemas.microsoft.com/office/drawing/2014/main" val="10004"/>
                  </a:ext>
                </a:extLst>
              </a:tr>
            </a:tbl>
          </a:graphicData>
        </a:graphic>
      </p:graphicFrame>
      <p:sp>
        <p:nvSpPr>
          <p:cNvPr id="3" name="Titel 2"/>
          <p:cNvSpPr>
            <a:spLocks noGrp="1"/>
          </p:cNvSpPr>
          <p:nvPr>
            <p:ph type="title"/>
          </p:nvPr>
        </p:nvSpPr>
        <p:spPr/>
        <p:txBody>
          <a:bodyPr/>
          <a:lstStyle/>
          <a:p>
            <a:r>
              <a:rPr lang="de-DE"/>
              <a:t>Tabelle – Beispiel 2</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30</a:t>
            </a:fld>
            <a:endParaRPr lang="de-DE" dirty="0"/>
          </a:p>
        </p:txBody>
      </p:sp>
      <p:sp>
        <p:nvSpPr>
          <p:cNvPr id="10"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2" name="Textplatzhalter 1"/>
          <p:cNvSpPr>
            <a:spLocks noGrp="1"/>
          </p:cNvSpPr>
          <p:nvPr>
            <p:ph type="body" sz="quarter" idx="13"/>
          </p:nvPr>
        </p:nvSpPr>
        <p:spPr/>
        <p:txBody>
          <a:bodyPr/>
          <a:lstStyle/>
          <a:p>
            <a:r>
              <a:rPr lang="de-DE"/>
              <a:t>Tabelle mit schwarzem Rand</a:t>
            </a:r>
            <a:br>
              <a:rPr lang="de-DE"/>
            </a:br>
            <a:r>
              <a:rPr lang="de-DE"/>
              <a:t>innerer Seitenrand links 0,15 cm, oben z.B. 0,5 cm (für genug Zeilenabstand innerhalb) </a:t>
            </a:r>
            <a:endParaRPr lang="de-DE"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Diagramme – Beispiel 1</a:t>
            </a:r>
            <a:endParaRPr lang="de-DE" dirty="0"/>
          </a:p>
        </p:txBody>
      </p:sp>
      <p:sp>
        <p:nvSpPr>
          <p:cNvPr id="5" name="Foliennummernplatzhalter 4"/>
          <p:cNvSpPr>
            <a:spLocks noGrp="1"/>
          </p:cNvSpPr>
          <p:nvPr>
            <p:ph type="sldNum" sz="quarter" idx="11"/>
          </p:nvPr>
        </p:nvSpPr>
        <p:spPr/>
        <p:txBody>
          <a:bodyPr/>
          <a:lstStyle/>
          <a:p>
            <a:fld id="{CE58CB1E-F828-4F11-99E0-327109AF9DA4}" type="slidenum">
              <a:rPr lang="de-DE" smtClean="0"/>
              <a:pPr/>
              <a:t>31</a:t>
            </a:fld>
            <a:endParaRPr lang="de-DE" dirty="0"/>
          </a:p>
        </p:txBody>
      </p:sp>
      <p:sp>
        <p:nvSpPr>
          <p:cNvPr id="9" name="Fußzeilenplatzhalter 4"/>
          <p:cNvSpPr>
            <a:spLocks noGrp="1"/>
          </p:cNvSpPr>
          <p:nvPr>
            <p:ph type="ftr" sz="quarter" idx="12"/>
          </p:nvPr>
        </p:nvSpPr>
        <p:spPr/>
        <p:txBody>
          <a:bodyPr/>
          <a:lstStyle/>
          <a:p>
            <a:r>
              <a:rPr lang="de-DE" dirty="0"/>
              <a:t>Dr. </a:t>
            </a:r>
            <a:r>
              <a:rPr lang="de-DE" dirty="0" err="1"/>
              <a:t>rer</a:t>
            </a:r>
            <a:r>
              <a:rPr lang="de-DE" dirty="0"/>
              <a:t>. nat. Erika Mustermann (TUM) | kann beliebig erweitert werden | Infos mit Strich trennen</a:t>
            </a:r>
            <a:endParaRPr lang="en-US" dirty="0"/>
          </a:p>
        </p:txBody>
      </p:sp>
      <p:sp>
        <p:nvSpPr>
          <p:cNvPr id="3" name="Textplatzhalter 2"/>
          <p:cNvSpPr>
            <a:spLocks noGrp="1"/>
          </p:cNvSpPr>
          <p:nvPr>
            <p:ph type="body" sz="quarter" idx="13"/>
          </p:nvPr>
        </p:nvSpPr>
        <p:spPr/>
        <p:txBody>
          <a:bodyPr/>
          <a:lstStyle/>
          <a:p>
            <a:r>
              <a:rPr lang="de-DE" dirty="0"/>
              <a:t>Nach Möglichkeit linksbündig bleiben</a:t>
            </a:r>
            <a:br>
              <a:rPr lang="de-DE" dirty="0"/>
            </a:br>
            <a:r>
              <a:rPr lang="de-DE" dirty="0"/>
              <a:t>Unnötige Striche und Balken vermeiden</a:t>
            </a:r>
          </a:p>
        </p:txBody>
      </p:sp>
      <p:graphicFrame>
        <p:nvGraphicFramePr>
          <p:cNvPr id="14" name="Inhaltsplatzhalter 13"/>
          <p:cNvGraphicFramePr>
            <a:graphicFrameLocks noGrp="1"/>
          </p:cNvGraphicFramePr>
          <p:nvPr>
            <p:ph idx="1"/>
          </p:nvPr>
        </p:nvGraphicFramePr>
        <p:xfrm>
          <a:off x="114300" y="2286000"/>
          <a:ext cx="9029700" cy="2352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Inhaltsplatzhalter 5"/>
          <p:cNvGraphicFramePr>
            <a:graphicFrameLocks noGrp="1"/>
          </p:cNvGraphicFramePr>
          <p:nvPr>
            <p:ph idx="1"/>
            <p:extLst>
              <p:ext uri="{D42A27DB-BD31-4B8C-83A1-F6EECF244321}">
                <p14:modId xmlns:p14="http://schemas.microsoft.com/office/powerpoint/2010/main" val="2021366215"/>
              </p:ext>
            </p:extLst>
          </p:nvPr>
        </p:nvGraphicFramePr>
        <p:xfrm>
          <a:off x="319088" y="1647825"/>
          <a:ext cx="8701087"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3" name="Titel 2"/>
          <p:cNvSpPr>
            <a:spLocks noGrp="1"/>
          </p:cNvSpPr>
          <p:nvPr>
            <p:ph type="title"/>
          </p:nvPr>
        </p:nvSpPr>
        <p:spPr/>
        <p:txBody>
          <a:bodyPr/>
          <a:lstStyle/>
          <a:p>
            <a:r>
              <a:rPr lang="de-DE"/>
              <a:t>Diagramme</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32</a:t>
            </a:fld>
            <a:endParaRPr lang="de-DE" dirty="0"/>
          </a:p>
        </p:txBody>
      </p:sp>
      <p:sp>
        <p:nvSpPr>
          <p:cNvPr id="7"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Titel 1</Template>
  <TotalTime>3265</TotalTime>
  <Words>2391</Words>
  <Application>Microsoft Macintosh PowerPoint</Application>
  <PresentationFormat>On-screen Show (16:9)</PresentationFormat>
  <Paragraphs>219</Paragraphs>
  <Slides>32</Slides>
  <Notes>8</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32</vt:i4>
      </vt:variant>
    </vt:vector>
  </HeadingPairs>
  <TitlesOfParts>
    <vt:vector size="43" baseType="lpstr">
      <vt:lpstr>Arial</vt:lpstr>
      <vt:lpstr>Calibri</vt:lpstr>
      <vt:lpstr>Courier New</vt:lpstr>
      <vt:lpstr>Symbol</vt:lpstr>
      <vt:lpstr>Wingdings</vt:lpstr>
      <vt:lpstr>Titel 1</vt:lpstr>
      <vt:lpstr>Titel 2</vt:lpstr>
      <vt:lpstr>Titel 3</vt:lpstr>
      <vt:lpstr>Inhalt</vt:lpstr>
      <vt:lpstr>Kapiteltrenner blau</vt:lpstr>
      <vt:lpstr>Kapiteltrenner schwarz</vt:lpstr>
      <vt:lpstr>PowerPoint Presentation</vt:lpstr>
      <vt:lpstr>Last meeting’s Recap</vt:lpstr>
      <vt:lpstr>Apparent Problem: Data Leak</vt:lpstr>
      <vt:lpstr>Suspect Causes: Model Changes (LSTM)</vt:lpstr>
      <vt:lpstr>Testing the Hypothesis: On testing without the encoder</vt:lpstr>
      <vt:lpstr>Most Recent Results</vt:lpstr>
      <vt:lpstr>Cohort Overview</vt:lpstr>
      <vt:lpstr>Cohort Overview</vt:lpstr>
      <vt:lpstr>Cohort Overview</vt:lpstr>
      <vt:lpstr>Most Recent Results</vt:lpstr>
      <vt:lpstr>PowerPoint Presentation</vt:lpstr>
      <vt:lpstr>PowerPoint Presentation</vt:lpstr>
      <vt:lpstr>PowerPoint Presentation</vt:lpstr>
      <vt:lpstr>Gültigkeit der Masterfolien</vt:lpstr>
      <vt:lpstr>Grundlage der Masterfolien</vt:lpstr>
      <vt:lpstr>Hier steht eine Überschrift max. 2-zeilig</vt:lpstr>
      <vt:lpstr>Schrift</vt:lpstr>
      <vt:lpstr>Farben</vt:lpstr>
      <vt:lpstr>Texte</vt:lpstr>
      <vt:lpstr>Bilder - Allgemein</vt:lpstr>
      <vt:lpstr>Aufzählung</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Lakhal, Fraj Yassine</dc:creator>
  <cp:lastModifiedBy>Lakhal, Fraj Yassine</cp:lastModifiedBy>
  <cp:revision>4</cp:revision>
  <cp:lastPrinted>2015-07-30T14:04:45Z</cp:lastPrinted>
  <dcterms:created xsi:type="dcterms:W3CDTF">2026-07-03T11:42:32Z</dcterms:created>
  <dcterms:modified xsi:type="dcterms:W3CDTF">2026-07-06T13:09:03Z</dcterms:modified>
</cp:coreProperties>
</file>