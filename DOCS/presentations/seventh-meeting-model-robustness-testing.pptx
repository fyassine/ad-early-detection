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48" r:id="rId4"/>
    <p:sldMasterId id="2147483684" r:id="rId5"/>
    <p:sldMasterId id="2147483697" r:id="rId6"/>
  </p:sldMasterIdLst>
  <p:notesMasterIdLst>
    <p:notesMasterId r:id="rId20"/>
  </p:notesMasterIdLst>
  <p:handoutMasterIdLst>
    <p:handoutMasterId r:id="rId21"/>
  </p:handoutMasterIdLst>
  <p:sldIdLst>
    <p:sldId id="437" r:id="rId7"/>
    <p:sldId id="438" r:id="rId8"/>
    <p:sldId id="467" r:id="rId9"/>
    <p:sldId id="440" r:id="rId10"/>
    <p:sldId id="443" r:id="rId11"/>
    <p:sldId id="446" r:id="rId12"/>
    <p:sldId id="447" r:id="rId13"/>
    <p:sldId id="445" r:id="rId14"/>
    <p:sldId id="442" r:id="rId15"/>
    <p:sldId id="448" r:id="rId16"/>
    <p:sldId id="468" r:id="rId17"/>
    <p:sldId id="451" r:id="rId18"/>
    <p:sldId id="450" r:id="rId19"/>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02" autoAdjust="0"/>
    <p:restoredTop sz="90573" autoAdjust="0"/>
  </p:normalViewPr>
  <p:slideViewPr>
    <p:cSldViewPr snapToGrid="0">
      <p:cViewPr varScale="1">
        <p:scale>
          <a:sx n="204" d="100"/>
          <a:sy n="204" d="100"/>
        </p:scale>
        <p:origin x="704" y="192"/>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03/07/2026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03/07/2026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txBody>
          <a:bodyPr/>
          <a:lstStyle/>
          <a:p>
            <a:endParaRPr lang="en-US"/>
          </a:p>
        </p:txBody>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3</a:t>
            </a:fld>
            <a:endParaRPr lang="en-GB"/>
          </a:p>
        </p:txBody>
      </p:sp>
    </p:spTree>
    <p:extLst>
      <p:ext uri="{BB962C8B-B14F-4D97-AF65-F5344CB8AC3E}">
        <p14:creationId xmlns:p14="http://schemas.microsoft.com/office/powerpoint/2010/main" val="361531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4</a:t>
            </a:fld>
            <a:endParaRPr lang="en-GB"/>
          </a:p>
        </p:txBody>
      </p:sp>
    </p:spTree>
    <p:extLst>
      <p:ext uri="{BB962C8B-B14F-4D97-AF65-F5344CB8AC3E}">
        <p14:creationId xmlns:p14="http://schemas.microsoft.com/office/powerpoint/2010/main" val="3480956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7A2C1-E0D2-C7D1-E650-73840B44D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BE5C9-68CB-8CE5-553A-49C2D1EF38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D3CB23-8EFE-F612-1390-0E8ECDC1A18E}"/>
              </a:ext>
            </a:extLst>
          </p:cNvPr>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a:extLst>
              <a:ext uri="{FF2B5EF4-FFF2-40B4-BE49-F238E27FC236}">
                <a16:creationId xmlns:a16="http://schemas.microsoft.com/office/drawing/2014/main" id="{8AA660E1-0953-0574-75FF-67B64CB9F362}"/>
              </a:ext>
            </a:extLst>
          </p:cNvPr>
          <p:cNvSpPr>
            <a:spLocks noGrp="1"/>
          </p:cNvSpPr>
          <p:nvPr>
            <p:ph type="sldNum" sz="quarter" idx="5"/>
          </p:nvPr>
        </p:nvSpPr>
        <p:spPr/>
        <p:txBody>
          <a:bodyPr/>
          <a:lstStyle/>
          <a:p>
            <a:pPr>
              <a:defRPr/>
            </a:pPr>
            <a:fld id="{00AFC6D0-44D5-4EB7-828F-6F464F83D79A}" type="slidenum">
              <a:rPr lang="en-GB" smtClean="0"/>
              <a:pPr>
                <a:defRPr/>
              </a:pPr>
              <a:t>5</a:t>
            </a:fld>
            <a:endParaRPr lang="en-GB"/>
          </a:p>
        </p:txBody>
      </p:sp>
    </p:spTree>
    <p:extLst>
      <p:ext uri="{BB962C8B-B14F-4D97-AF65-F5344CB8AC3E}">
        <p14:creationId xmlns:p14="http://schemas.microsoft.com/office/powerpoint/2010/main" val="2333977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13B8E-EC92-AE93-B0EF-19A6DEF13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066BD-DD72-6C83-2925-03B59F95B8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6F18EA-24B1-6C0C-EE00-899647596F9B}"/>
              </a:ext>
            </a:extLst>
          </p:cNvPr>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a:extLst>
              <a:ext uri="{FF2B5EF4-FFF2-40B4-BE49-F238E27FC236}">
                <a16:creationId xmlns:a16="http://schemas.microsoft.com/office/drawing/2014/main" id="{468633F8-E80A-8FAF-A77D-FAAF7C476BA8}"/>
              </a:ext>
            </a:extLst>
          </p:cNvPr>
          <p:cNvSpPr>
            <a:spLocks noGrp="1"/>
          </p:cNvSpPr>
          <p:nvPr>
            <p:ph type="sldNum" sz="quarter" idx="5"/>
          </p:nvPr>
        </p:nvSpPr>
        <p:spPr/>
        <p:txBody>
          <a:bodyPr/>
          <a:lstStyle/>
          <a:p>
            <a:pPr>
              <a:defRPr/>
            </a:pPr>
            <a:fld id="{00AFC6D0-44D5-4EB7-828F-6F464F83D79A}" type="slidenum">
              <a:rPr lang="en-GB" smtClean="0"/>
              <a:pPr>
                <a:defRPr/>
              </a:pPr>
              <a:t>6</a:t>
            </a:fld>
            <a:endParaRPr lang="en-GB"/>
          </a:p>
        </p:txBody>
      </p:sp>
    </p:spTree>
    <p:extLst>
      <p:ext uri="{BB962C8B-B14F-4D97-AF65-F5344CB8AC3E}">
        <p14:creationId xmlns:p14="http://schemas.microsoft.com/office/powerpoint/2010/main" val="848947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3076C-FA79-CE6A-8055-12FAEBDA0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A0FB4-367E-23DE-7080-DD8D8AE143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F6BE9E-7245-ACC4-F469-3C7F2877132C}"/>
              </a:ext>
            </a:extLst>
          </p:cNvPr>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a:extLst>
              <a:ext uri="{FF2B5EF4-FFF2-40B4-BE49-F238E27FC236}">
                <a16:creationId xmlns:a16="http://schemas.microsoft.com/office/drawing/2014/main" id="{FEB59814-6E67-5CB3-1CBE-45BECC605B8A}"/>
              </a:ext>
            </a:extLst>
          </p:cNvPr>
          <p:cNvSpPr>
            <a:spLocks noGrp="1"/>
          </p:cNvSpPr>
          <p:nvPr>
            <p:ph type="sldNum" sz="quarter" idx="5"/>
          </p:nvPr>
        </p:nvSpPr>
        <p:spPr/>
        <p:txBody>
          <a:bodyPr/>
          <a:lstStyle/>
          <a:p>
            <a:pPr>
              <a:defRPr/>
            </a:pPr>
            <a:fld id="{00AFC6D0-44D5-4EB7-828F-6F464F83D79A}" type="slidenum">
              <a:rPr lang="en-GB" smtClean="0"/>
              <a:pPr>
                <a:defRPr/>
              </a:pPr>
              <a:t>7</a:t>
            </a:fld>
            <a:endParaRPr lang="en-GB"/>
          </a:p>
        </p:txBody>
      </p:sp>
    </p:spTree>
    <p:extLst>
      <p:ext uri="{BB962C8B-B14F-4D97-AF65-F5344CB8AC3E}">
        <p14:creationId xmlns:p14="http://schemas.microsoft.com/office/powerpoint/2010/main" val="453737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07E28-3492-6F94-FC4E-9E446CDBC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E2FD1-36E7-888A-FE10-8CBE525120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D2F0D0-2BD3-0A31-78D4-07B945ADC297}"/>
              </a:ext>
            </a:extLst>
          </p:cNvPr>
          <p:cNvSpPr>
            <a:spLocks noGrp="1"/>
          </p:cNvSpPr>
          <p:nvPr>
            <p:ph type="body" idx="1"/>
          </p:nvPr>
        </p:nvSpPr>
        <p:spPr/>
        <p:txBody>
          <a:bodyPr/>
          <a:lstStyle/>
          <a:p>
            <a:r>
              <a:rPr lang="en-US" dirty="0"/>
              <a:t>I want to present, as per Shahrooz’s wish, what the data looks like:</a:t>
            </a:r>
          </a:p>
          <a:p>
            <a:r>
              <a:rPr lang="en-US" dirty="0"/>
              <a:t>- How is the data split actually? like how many visits per patient ?( Stephan was wrong here to assume the converters have on average more visits per patient, it’s true they drop early as they convert, but the data says they were screened more often)</a:t>
            </a:r>
          </a:p>
          <a:p>
            <a:r>
              <a:rPr lang="en-US" dirty="0"/>
              <a:t>- How the models were trained, how the model was tested: was it patient’s history-wise (all visits), or visit-wise? (this might be answered by the static and the longitudinal models)</a:t>
            </a:r>
          </a:p>
        </p:txBody>
      </p:sp>
      <p:sp>
        <p:nvSpPr>
          <p:cNvPr id="4" name="Slide Number Placeholder 3">
            <a:extLst>
              <a:ext uri="{FF2B5EF4-FFF2-40B4-BE49-F238E27FC236}">
                <a16:creationId xmlns:a16="http://schemas.microsoft.com/office/drawing/2014/main" id="{44CBDF09-C304-AAE9-D4A3-0830E7507D1B}"/>
              </a:ext>
            </a:extLst>
          </p:cNvPr>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28838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 through the new models? </a:t>
            </a:r>
            <a:br>
              <a:rPr lang="en-US" dirty="0"/>
            </a:br>
            <a:r>
              <a:rPr lang="en-US" dirty="0"/>
              <a:t>- Rational behind the GRU (Longitudinal Data not too long) and the VGAE (64 latent vector dimensions were not enough to reconstruct the </a:t>
            </a:r>
            <a:r>
              <a:rPr lang="en-US" dirty="0" err="1"/>
              <a:t>fmri</a:t>
            </a:r>
            <a:r>
              <a:rPr lang="en-US" dirty="0"/>
              <a:t>)?</a:t>
            </a:r>
          </a:p>
          <a:p>
            <a:r>
              <a:rPr lang="en-US" dirty="0"/>
              <a:t>- Rationale behind using tangent space</a:t>
            </a:r>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9</a:t>
            </a:fld>
            <a:endParaRPr lang="en-GB"/>
          </a:p>
        </p:txBody>
      </p:sp>
    </p:spTree>
    <p:extLst>
      <p:ext uri="{BB962C8B-B14F-4D97-AF65-F5344CB8AC3E}">
        <p14:creationId xmlns:p14="http://schemas.microsoft.com/office/powerpoint/2010/main" val="3827539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32075-3BD8-32CB-0CE5-AAE13F36B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EAA8D-AA21-5359-FB05-235F0D21A7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FE3A08-58E6-9360-0288-0E9877D35574}"/>
              </a:ext>
            </a:extLst>
          </p:cNvPr>
          <p:cNvSpPr>
            <a:spLocks noGrp="1"/>
          </p:cNvSpPr>
          <p:nvPr>
            <p:ph type="body" idx="1"/>
          </p:nvPr>
        </p:nvSpPr>
        <p:spPr/>
        <p:txBody>
          <a:bodyPr/>
          <a:lstStyle/>
          <a:p>
            <a:r>
              <a:rPr lang="en-US" dirty="0"/>
              <a:t>Go through the new models? </a:t>
            </a:r>
            <a:br>
              <a:rPr lang="en-US" dirty="0"/>
            </a:br>
            <a:r>
              <a:rPr lang="en-US" dirty="0"/>
              <a:t>- Rational behind the GRU (Longitudinal Data not too long) and the VGAE (64 latent vector dimensions were not enough to reconstruct the </a:t>
            </a:r>
            <a:r>
              <a:rPr lang="en-US" dirty="0" err="1"/>
              <a:t>fmri</a:t>
            </a:r>
            <a:r>
              <a:rPr lang="en-US" dirty="0"/>
              <a:t>)?</a:t>
            </a:r>
          </a:p>
          <a:p>
            <a:r>
              <a:rPr lang="en-US" dirty="0"/>
              <a:t>- Rationale behind using tangent space</a:t>
            </a:r>
          </a:p>
        </p:txBody>
      </p:sp>
      <p:sp>
        <p:nvSpPr>
          <p:cNvPr id="4" name="Slide Number Placeholder 3">
            <a:extLst>
              <a:ext uri="{FF2B5EF4-FFF2-40B4-BE49-F238E27FC236}">
                <a16:creationId xmlns:a16="http://schemas.microsoft.com/office/drawing/2014/main" id="{325E1D79-ADB9-1573-BA0E-11900957C4EA}"/>
              </a:ext>
            </a:extLst>
          </p:cNvPr>
          <p:cNvSpPr>
            <a:spLocks noGrp="1"/>
          </p:cNvSpPr>
          <p:nvPr>
            <p:ph type="sldNum" sz="quarter" idx="5"/>
          </p:nvPr>
        </p:nvSpPr>
        <p:spPr/>
        <p:txBody>
          <a:bodyPr/>
          <a:lstStyle/>
          <a:p>
            <a:pPr>
              <a:defRPr/>
            </a:pPr>
            <a:fld id="{00AFC6D0-44D5-4EB7-828F-6F464F83D79A}" type="slidenum">
              <a:rPr lang="en-GB" smtClean="0"/>
              <a:pPr>
                <a:defRPr/>
              </a:pPr>
              <a:t>10</a:t>
            </a:fld>
            <a:endParaRPr lang="en-GB"/>
          </a:p>
        </p:txBody>
      </p:sp>
    </p:spTree>
    <p:extLst>
      <p:ext uri="{BB962C8B-B14F-4D97-AF65-F5344CB8AC3E}">
        <p14:creationId xmlns:p14="http://schemas.microsoft.com/office/powerpoint/2010/main" val="3034171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5AA93-BF6C-F3B6-3597-340EB7CB8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C8DD3-2325-DDC6-1D02-0FF7F888B8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F95F4A-3508-2BC9-AE7F-A332110C8C32}"/>
              </a:ext>
            </a:extLst>
          </p:cNvPr>
          <p:cNvSpPr>
            <a:spLocks noGrp="1"/>
          </p:cNvSpPr>
          <p:nvPr>
            <p:ph type="body" idx="1"/>
          </p:nvPr>
        </p:nvSpPr>
        <p:spPr/>
        <p:txBody>
          <a:bodyPr/>
          <a:lstStyle/>
          <a:p>
            <a:r>
              <a:rPr lang="en-US" dirty="0"/>
              <a:t>Go through the new models? </a:t>
            </a:r>
            <a:br>
              <a:rPr lang="en-US" dirty="0"/>
            </a:br>
            <a:r>
              <a:rPr lang="en-US" dirty="0"/>
              <a:t>- Rational behind the GRU (Longitudinal Data not too long) and the VGAE (64 latent vector dimensions were not enough to reconstruct the </a:t>
            </a:r>
            <a:r>
              <a:rPr lang="en-US" dirty="0" err="1"/>
              <a:t>fmri</a:t>
            </a:r>
            <a:r>
              <a:rPr lang="en-US" dirty="0"/>
              <a:t>)?</a:t>
            </a:r>
          </a:p>
          <a:p>
            <a:r>
              <a:rPr lang="en-US" dirty="0"/>
              <a:t>- Rationale behind using tangent space</a:t>
            </a:r>
          </a:p>
        </p:txBody>
      </p:sp>
      <p:sp>
        <p:nvSpPr>
          <p:cNvPr id="4" name="Slide Number Placeholder 3">
            <a:extLst>
              <a:ext uri="{FF2B5EF4-FFF2-40B4-BE49-F238E27FC236}">
                <a16:creationId xmlns:a16="http://schemas.microsoft.com/office/drawing/2014/main" id="{E9FC26AF-8F43-A1B2-2C9B-F01B8EECC7F4}"/>
              </a:ext>
            </a:extLst>
          </p:cNvPr>
          <p:cNvSpPr>
            <a:spLocks noGrp="1"/>
          </p:cNvSpPr>
          <p:nvPr>
            <p:ph type="sldNum" sz="quarter" idx="5"/>
          </p:nvPr>
        </p:nvSpPr>
        <p:spPr/>
        <p:txBody>
          <a:bodyPr/>
          <a:lstStyle/>
          <a:p>
            <a:pPr>
              <a:defRPr/>
            </a:pPr>
            <a:fld id="{00AFC6D0-44D5-4EB7-828F-6F464F83D79A}" type="slidenum">
              <a:rPr lang="en-GB" smtClean="0"/>
              <a:pPr>
                <a:defRPr/>
              </a:pPr>
              <a:t>12</a:t>
            </a:fld>
            <a:endParaRPr lang="en-GB"/>
          </a:p>
        </p:txBody>
      </p:sp>
    </p:spTree>
    <p:extLst>
      <p:ext uri="{BB962C8B-B14F-4D97-AF65-F5344CB8AC3E}">
        <p14:creationId xmlns:p14="http://schemas.microsoft.com/office/powerpoint/2010/main" val="4006591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6303F-FB59-F7EF-71D6-BD4F13211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D0337-4D42-4841-7219-E2E5718CED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12404C-7A1A-6ED8-C967-F66F463E9258}"/>
              </a:ext>
            </a:extLst>
          </p:cNvPr>
          <p:cNvSpPr>
            <a:spLocks noGrp="1"/>
          </p:cNvSpPr>
          <p:nvPr>
            <p:ph type="body" idx="1"/>
          </p:nvPr>
        </p:nvSpPr>
        <p:spPr/>
        <p:txBody>
          <a:bodyPr/>
          <a:lstStyle/>
          <a:p>
            <a:r>
              <a:rPr lang="en-US" dirty="0"/>
              <a:t>Go through the new models? </a:t>
            </a:r>
            <a:br>
              <a:rPr lang="en-US" dirty="0"/>
            </a:br>
            <a:r>
              <a:rPr lang="en-US" dirty="0"/>
              <a:t>- Rational behind the GRU (Longitudinal Data not too long) and the VGAE (64 latent vector dimensions were not enough to reconstruct the </a:t>
            </a:r>
            <a:r>
              <a:rPr lang="en-US" dirty="0" err="1"/>
              <a:t>fmri</a:t>
            </a:r>
            <a:r>
              <a:rPr lang="en-US" dirty="0"/>
              <a:t>)?</a:t>
            </a:r>
          </a:p>
          <a:p>
            <a:r>
              <a:rPr lang="en-US" dirty="0"/>
              <a:t>- Rationale behind using tangent space</a:t>
            </a:r>
          </a:p>
        </p:txBody>
      </p:sp>
      <p:sp>
        <p:nvSpPr>
          <p:cNvPr id="4" name="Slide Number Placeholder 3">
            <a:extLst>
              <a:ext uri="{FF2B5EF4-FFF2-40B4-BE49-F238E27FC236}">
                <a16:creationId xmlns:a16="http://schemas.microsoft.com/office/drawing/2014/main" id="{6123A148-FB22-C25F-556D-88628F61AE5A}"/>
              </a:ext>
            </a:extLst>
          </p:cNvPr>
          <p:cNvSpPr>
            <a:spLocks noGrp="1"/>
          </p:cNvSpPr>
          <p:nvPr>
            <p:ph type="sldNum" sz="quarter" idx="5"/>
          </p:nvPr>
        </p:nvSpPr>
        <p:spPr/>
        <p:txBody>
          <a:bodyPr/>
          <a:lstStyle/>
          <a:p>
            <a:pPr>
              <a:defRPr/>
            </a:pPr>
            <a:fld id="{00AFC6D0-44D5-4EB7-828F-6F464F83D79A}" type="slidenum">
              <a:rPr lang="en-GB" smtClean="0"/>
              <a:pPr>
                <a:defRPr/>
              </a:pPr>
              <a:t>13</a:t>
            </a:fld>
            <a:endParaRPr lang="en-GB"/>
          </a:p>
        </p:txBody>
      </p:sp>
    </p:spTree>
    <p:extLst>
      <p:ext uri="{BB962C8B-B14F-4D97-AF65-F5344CB8AC3E}">
        <p14:creationId xmlns:p14="http://schemas.microsoft.com/office/powerpoint/2010/main" val="350783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Fraj Yassine Lakhal (TUM)</a:t>
            </a:r>
            <a:endParaRPr lang="en-US" dirty="0"/>
          </a:p>
        </p:txBody>
      </p:sp>
      <p:sp useBgFill="1">
        <p:nvSpPr>
          <p:cNvPr id="6" name="Textplatzhalter 7"/>
          <p:cNvSpPr>
            <a:spLocks noGrp="1"/>
          </p:cNvSpPr>
          <p:nvPr>
            <p:ph type="body" sz="quarter" idx="13" hasCustomPrompt="1"/>
          </p:nvPr>
        </p:nvSpPr>
        <p:spPr>
          <a:xfrm>
            <a:off x="311162"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74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872796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w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4.emf"/><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image" Target="../media/image1.wmf"/><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theme" Target="../theme/theme4.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5"/>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725" r:id="rId3"/>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190048" y="680462"/>
            <a:ext cx="5113390" cy="4463039"/>
          </a:xfrm>
          <a:prstGeom prst="rect">
            <a:avLst/>
          </a:prstGeom>
        </p:spPr>
      </p:pic>
      <p:sp>
        <p:nvSpPr>
          <p:cNvPr id="5" name="Titel 4"/>
          <p:cNvSpPr>
            <a:spLocks noGrp="1"/>
          </p:cNvSpPr>
          <p:nvPr>
            <p:ph type="title"/>
          </p:nvPr>
        </p:nvSpPr>
        <p:spPr>
          <a:xfrm>
            <a:off x="319091" y="881762"/>
            <a:ext cx="8508999" cy="1294368"/>
          </a:xfrm>
        </p:spPr>
        <p:txBody>
          <a:bodyPr>
            <a:normAutofit/>
          </a:bodyPr>
          <a:lstStyle/>
          <a:p>
            <a:pPr>
              <a:lnSpc>
                <a:spcPct val="100000"/>
              </a:lnSpc>
              <a:spcAft>
                <a:spcPts val="100"/>
              </a:spcAft>
            </a:pPr>
            <a:r>
              <a:rPr lang="en-US" sz="2800" b="1" dirty="0">
                <a:solidFill>
                  <a:srgbClr val="0064BD"/>
                </a:solidFill>
              </a:rPr>
              <a:t>Model Robustness</a:t>
            </a:r>
            <a:br>
              <a:rPr lang="en-US" sz="1000" b="1" dirty="0"/>
            </a:br>
            <a:r>
              <a:rPr lang="de-DE" sz="1400" b="1" dirty="0"/>
              <a:t>Fraj Yassine Lakhal</a:t>
            </a:r>
            <a:br>
              <a:rPr lang="de-DE" sz="1100" dirty="0"/>
            </a:br>
            <a:r>
              <a:rPr lang="en-US" sz="1400" dirty="0"/>
              <a:t>TUM School of Computation, Information and Technology</a:t>
            </a:r>
            <a:br>
              <a:rPr lang="de-DE" sz="1800" dirty="0"/>
            </a:br>
            <a:endParaRPr lang="en-US" sz="2800" b="1" dirty="0"/>
          </a:p>
        </p:txBody>
      </p:sp>
      <p:sp>
        <p:nvSpPr>
          <p:cNvPr id="3" name="Inhaltsplatzhalter 2"/>
          <p:cNvSpPr>
            <a:spLocks noGrp="1"/>
          </p:cNvSpPr>
          <p:nvPr>
            <p:ph idx="10"/>
          </p:nvPr>
        </p:nvSpPr>
        <p:spPr>
          <a:xfrm>
            <a:off x="315913" y="2590647"/>
            <a:ext cx="3682547" cy="2606968"/>
          </a:xfrm>
        </p:spPr>
        <p:txBody>
          <a:bodyPr/>
          <a:lstStyle/>
          <a:p>
            <a:r>
              <a:rPr lang="en-US" sz="900" b="1" dirty="0"/>
              <a:t>Functional Neuroimaging, LMU</a:t>
            </a:r>
          </a:p>
          <a:p>
            <a:r>
              <a:rPr lang="de-DE" sz="900" dirty="0">
                <a:solidFill>
                  <a:schemeClr val="bg1">
                    <a:lumMod val="50000"/>
                  </a:schemeClr>
                </a:solidFill>
              </a:rPr>
              <a:t>Supervisor: </a:t>
            </a:r>
            <a:r>
              <a:rPr lang="de-DE" sz="900" dirty="0"/>
              <a:t>Dr. med. Stephan Wunderlich</a:t>
            </a:r>
          </a:p>
          <a:p>
            <a:endParaRPr lang="de-DE" sz="900" i="1" dirty="0"/>
          </a:p>
          <a:p>
            <a:r>
              <a:rPr lang="en-US" sz="900" b="1" dirty="0"/>
              <a:t>Computer Aided Medical Procedures &amp; Augmented Reality, TUM</a:t>
            </a:r>
          </a:p>
          <a:p>
            <a:r>
              <a:rPr lang="en-US" sz="900" dirty="0">
                <a:solidFill>
                  <a:schemeClr val="bg1">
                    <a:lumMod val="50000"/>
                  </a:schemeClr>
                </a:solidFill>
              </a:rPr>
              <a:t>Supervisor(s): </a:t>
            </a:r>
            <a:r>
              <a:rPr lang="en-US" sz="900" dirty="0"/>
              <a:t>M.Sc. Chantal Pellegrini, Dr. Shahrooz Faghihroohi</a:t>
            </a:r>
            <a:endParaRPr lang="en-US" sz="900" i="1" dirty="0"/>
          </a:p>
          <a:p>
            <a:endParaRPr lang="en-US" i="1" dirty="0"/>
          </a:p>
          <a:p>
            <a:endParaRPr lang="en-US" i="1" dirty="0"/>
          </a:p>
        </p:txBody>
      </p:sp>
      <p:sp>
        <p:nvSpPr>
          <p:cNvPr id="7" name="TextBox 6">
            <a:extLst>
              <a:ext uri="{FF2B5EF4-FFF2-40B4-BE49-F238E27FC236}">
                <a16:creationId xmlns:a16="http://schemas.microsoft.com/office/drawing/2014/main" id="{4184250C-65B7-1FC9-52C3-8EE2008FD156}"/>
              </a:ext>
            </a:extLst>
          </p:cNvPr>
          <p:cNvSpPr txBox="1"/>
          <p:nvPr/>
        </p:nvSpPr>
        <p:spPr>
          <a:xfrm>
            <a:off x="228851" y="4891328"/>
            <a:ext cx="4572000" cy="215444"/>
          </a:xfrm>
          <a:prstGeom prst="rect">
            <a:avLst/>
          </a:prstGeom>
          <a:noFill/>
        </p:spPr>
        <p:txBody>
          <a:bodyPr wrap="square">
            <a:spAutoFit/>
          </a:bodyPr>
          <a:lstStyle/>
          <a:p>
            <a:r>
              <a:rPr lang="de-DE" sz="800" b="1" dirty="0">
                <a:solidFill>
                  <a:schemeClr val="tx2"/>
                </a:solidFill>
              </a:rPr>
              <a:t>München, 23.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B1DB-4910-167E-E17D-B4B97FBC680E}"/>
              </a:ext>
            </a:extLst>
          </p:cNvPr>
          <p:cNvSpPr>
            <a:spLocks noGrp="1"/>
          </p:cNvSpPr>
          <p:nvPr>
            <p:ph type="title"/>
          </p:nvPr>
        </p:nvSpPr>
        <p:spPr/>
        <p:txBody>
          <a:bodyPr>
            <a:normAutofit/>
          </a:bodyPr>
          <a:lstStyle/>
          <a:p>
            <a:r>
              <a:rPr lang="en-US" dirty="0"/>
              <a:t>Outline</a:t>
            </a:r>
          </a:p>
        </p:txBody>
      </p:sp>
      <p:sp>
        <p:nvSpPr>
          <p:cNvPr id="3" name="Content Placeholder 2">
            <a:extLst>
              <a:ext uri="{FF2B5EF4-FFF2-40B4-BE49-F238E27FC236}">
                <a16:creationId xmlns:a16="http://schemas.microsoft.com/office/drawing/2014/main" id="{DD3A8A73-19FF-22C9-E806-AD5937F9EBA9}"/>
              </a:ext>
            </a:extLst>
          </p:cNvPr>
          <p:cNvSpPr>
            <a:spLocks noGrp="1"/>
          </p:cNvSpPr>
          <p:nvPr>
            <p:ph idx="10"/>
          </p:nvPr>
        </p:nvSpPr>
        <p:spPr>
          <a:xfrm>
            <a:off x="319088" y="1484040"/>
            <a:ext cx="8508999" cy="2924675"/>
          </a:xfrm>
        </p:spPr>
        <p:txBody>
          <a:bodyPr>
            <a:normAutofit/>
          </a:bodyPr>
          <a:lstStyle/>
          <a:p>
            <a:r>
              <a:rPr lang="en-US" dirty="0"/>
              <a:t>Last meeting’s Recap</a:t>
            </a:r>
          </a:p>
          <a:p>
            <a:r>
              <a:rPr lang="en-US" dirty="0"/>
              <a:t>Cohort Overview</a:t>
            </a:r>
          </a:p>
          <a:p>
            <a:r>
              <a:rPr lang="en-US" dirty="0"/>
              <a:t>Most Recent Results</a:t>
            </a:r>
          </a:p>
          <a:p>
            <a:r>
              <a:rPr lang="en-US" dirty="0"/>
              <a:t>Possibility of Deadline Extension</a:t>
            </a:r>
          </a:p>
          <a:p>
            <a:endParaRPr lang="en-US" dirty="0"/>
          </a:p>
        </p:txBody>
      </p:sp>
      <p:sp>
        <p:nvSpPr>
          <p:cNvPr id="5" name="Text Placeholder 2">
            <a:extLst>
              <a:ext uri="{FF2B5EF4-FFF2-40B4-BE49-F238E27FC236}">
                <a16:creationId xmlns:a16="http://schemas.microsoft.com/office/drawing/2014/main" id="{7C7276CC-853B-15C9-874B-4BCC67E55D36}"/>
              </a:ext>
            </a:extLst>
          </p:cNvPr>
          <p:cNvSpPr txBox="1">
            <a:spLocks/>
          </p:cNvSpPr>
          <p:nvPr/>
        </p:nvSpPr>
        <p:spPr>
          <a:xfrm>
            <a:off x="1425858" y="3611012"/>
            <a:ext cx="8508999" cy="497688"/>
          </a:xfrm>
          <a:prstGeom prst="rect">
            <a:avLst/>
          </a:prstGeom>
        </p:spPr>
        <p:txBody>
          <a:bodyPr/>
          <a:lst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b="1" dirty="0">
                <a:solidFill>
                  <a:srgbClr val="FF0000"/>
                </a:solidFill>
              </a:rPr>
              <a:t>Please find the </a:t>
            </a:r>
            <a:r>
              <a:rPr lang="en-US" sz="1800" b="1" i="1" u="sng" dirty="0">
                <a:solidFill>
                  <a:srgbClr val="FF0000"/>
                </a:solidFill>
              </a:rPr>
              <a:t>TODOs</a:t>
            </a:r>
            <a:r>
              <a:rPr lang="en-US" sz="1800" b="1" dirty="0">
                <a:solidFill>
                  <a:srgbClr val="FF0000"/>
                </a:solidFill>
              </a:rPr>
              <a:t> in their </a:t>
            </a:r>
            <a:r>
              <a:rPr lang="en-US" sz="1800" b="1" dirty="0" err="1">
                <a:solidFill>
                  <a:srgbClr val="FF0000"/>
                </a:solidFill>
              </a:rPr>
              <a:t>refernce</a:t>
            </a:r>
            <a:r>
              <a:rPr lang="en-US" sz="1800" b="1" dirty="0">
                <a:solidFill>
                  <a:srgbClr val="FF0000"/>
                </a:solidFill>
              </a:rPr>
              <a:t> slides</a:t>
            </a:r>
            <a:endParaRPr lang="en-US" sz="1800" i="1" dirty="0">
              <a:solidFill>
                <a:srgbClr val="FF0000"/>
              </a:solidFill>
            </a:endParaRPr>
          </a:p>
        </p:txBody>
      </p:sp>
    </p:spTree>
    <p:extLst>
      <p:ext uri="{BB962C8B-B14F-4D97-AF65-F5344CB8AC3E}">
        <p14:creationId xmlns:p14="http://schemas.microsoft.com/office/powerpoint/2010/main" val="3961515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5157AB-FEB9-4189-92A3-D6F22A9889E2}"/>
              </a:ext>
            </a:extLst>
          </p:cNvPr>
          <p:cNvPicPr>
            <a:picLocks noGrp="1" noChangeAspect="1"/>
          </p:cNvPicPr>
          <p:nvPr>
            <p:ph idx="1"/>
          </p:nvPr>
        </p:nvPicPr>
        <p:blipFill>
          <a:blip r:embed="rId3"/>
          <a:stretch>
            <a:fillRect/>
          </a:stretch>
        </p:blipFill>
        <p:spPr>
          <a:xfrm>
            <a:off x="88298" y="1614401"/>
            <a:ext cx="5939125" cy="2662098"/>
          </a:xfrm>
          <a:prstGeom prst="rect">
            <a:avLst/>
          </a:prstGeom>
          <a:ln>
            <a:solidFill>
              <a:schemeClr val="tx1"/>
            </a:solidFill>
          </a:ln>
        </p:spPr>
      </p:pic>
      <p:sp>
        <p:nvSpPr>
          <p:cNvPr id="4" name="Title 3">
            <a:extLst>
              <a:ext uri="{FF2B5EF4-FFF2-40B4-BE49-F238E27FC236}">
                <a16:creationId xmlns:a16="http://schemas.microsoft.com/office/drawing/2014/main" id="{CD74F5ED-9BE3-53FD-830B-68673BFC28EE}"/>
              </a:ext>
            </a:extLst>
          </p:cNvPr>
          <p:cNvSpPr>
            <a:spLocks noGrp="1"/>
          </p:cNvSpPr>
          <p:nvPr>
            <p:ph type="title"/>
          </p:nvPr>
        </p:nvSpPr>
        <p:spPr/>
        <p:txBody>
          <a:bodyPr/>
          <a:lstStyle/>
          <a:p>
            <a:r>
              <a:rPr lang="en-US" dirty="0"/>
              <a:t>Last meeting’s Recap</a:t>
            </a:r>
          </a:p>
        </p:txBody>
      </p:sp>
      <p:sp>
        <p:nvSpPr>
          <p:cNvPr id="7" name="Text Placeholder 2">
            <a:extLst>
              <a:ext uri="{FF2B5EF4-FFF2-40B4-BE49-F238E27FC236}">
                <a16:creationId xmlns:a16="http://schemas.microsoft.com/office/drawing/2014/main" id="{7230990F-6831-45A9-6DCC-FC57628A2513}"/>
              </a:ext>
            </a:extLst>
          </p:cNvPr>
          <p:cNvSpPr>
            <a:spLocks noGrp="1"/>
          </p:cNvSpPr>
          <p:nvPr>
            <p:ph type="body" sz="quarter" idx="13"/>
          </p:nvPr>
        </p:nvSpPr>
        <p:spPr>
          <a:xfrm>
            <a:off x="311161" y="4359949"/>
            <a:ext cx="8508999" cy="497688"/>
          </a:xfrm>
        </p:spPr>
        <p:txBody>
          <a:bodyPr/>
          <a:lstStyle/>
          <a:p>
            <a:r>
              <a:rPr lang="en-US" sz="1100" b="1" u="sng" dirty="0">
                <a:solidFill>
                  <a:srgbClr val="FF0000"/>
                </a:solidFill>
              </a:rPr>
              <a:t>Leakage Issue: </a:t>
            </a:r>
            <a:r>
              <a:rPr lang="en-US" sz="1100" b="1" dirty="0">
                <a:solidFill>
                  <a:srgbClr val="FF0000"/>
                </a:solidFill>
              </a:rPr>
              <a:t>Patients appeared in the Encoder’s training split, also appeared in the classification’s model test data</a:t>
            </a:r>
          </a:p>
          <a:p>
            <a:r>
              <a:rPr lang="en-US" sz="1100" b="1" i="1" u="sng" dirty="0">
                <a:solidFill>
                  <a:srgbClr val="FF0000"/>
                </a:solidFill>
              </a:rPr>
              <a:t>TODO 1:</a:t>
            </a:r>
            <a:br>
              <a:rPr lang="en-US" sz="1100" b="1" dirty="0">
                <a:solidFill>
                  <a:srgbClr val="FF0000"/>
                </a:solidFill>
              </a:rPr>
            </a:br>
            <a:r>
              <a:rPr lang="en-US" sz="1100" b="1" dirty="0">
                <a:solidFill>
                  <a:srgbClr val="FF0000"/>
                </a:solidFill>
              </a:rPr>
              <a:t>(Point raised by Chantal) </a:t>
            </a:r>
            <a:r>
              <a:rPr lang="en-US" sz="1100" b="1" i="1" dirty="0">
                <a:solidFill>
                  <a:srgbClr val="FF0000"/>
                </a:solidFill>
              </a:rPr>
              <a:t>since the encoder does not see the labels, the AUC should theoretically not be affected, however model AUC dropped on average by around 0,1?</a:t>
            </a:r>
            <a:endParaRPr lang="en-US" sz="1100" i="1" dirty="0">
              <a:solidFill>
                <a:srgbClr val="FF0000"/>
              </a:solidFill>
            </a:endParaRPr>
          </a:p>
        </p:txBody>
      </p:sp>
      <p:sp>
        <p:nvSpPr>
          <p:cNvPr id="9" name="TextBox 8">
            <a:extLst>
              <a:ext uri="{FF2B5EF4-FFF2-40B4-BE49-F238E27FC236}">
                <a16:creationId xmlns:a16="http://schemas.microsoft.com/office/drawing/2014/main" id="{6EA21340-01C1-2909-15B5-0C91D53D4385}"/>
              </a:ext>
            </a:extLst>
          </p:cNvPr>
          <p:cNvSpPr txBox="1"/>
          <p:nvPr/>
        </p:nvSpPr>
        <p:spPr>
          <a:xfrm>
            <a:off x="6918377" y="1345841"/>
            <a:ext cx="1594283" cy="276999"/>
          </a:xfrm>
          <a:prstGeom prst="rect">
            <a:avLst/>
          </a:prstGeom>
          <a:noFill/>
        </p:spPr>
        <p:txBody>
          <a:bodyPr wrap="none" rtlCol="0">
            <a:spAutoFit/>
          </a:bodyPr>
          <a:lstStyle/>
          <a:p>
            <a:r>
              <a:rPr lang="en-US" sz="1200" dirty="0"/>
              <a:t>Test Dataset Results</a:t>
            </a:r>
          </a:p>
        </p:txBody>
      </p:sp>
      <p:pic>
        <p:nvPicPr>
          <p:cNvPr id="10" name="Picture 9">
            <a:extLst>
              <a:ext uri="{FF2B5EF4-FFF2-40B4-BE49-F238E27FC236}">
                <a16:creationId xmlns:a16="http://schemas.microsoft.com/office/drawing/2014/main" id="{9248CD45-9B94-C7C5-E3F1-41D048AD9490}"/>
              </a:ext>
            </a:extLst>
          </p:cNvPr>
          <p:cNvPicPr>
            <a:picLocks noChangeAspect="1"/>
          </p:cNvPicPr>
          <p:nvPr/>
        </p:nvPicPr>
        <p:blipFill>
          <a:blip r:embed="rId4"/>
          <a:stretch>
            <a:fillRect/>
          </a:stretch>
        </p:blipFill>
        <p:spPr>
          <a:xfrm>
            <a:off x="6027423" y="1614400"/>
            <a:ext cx="3054233" cy="2662099"/>
          </a:xfrm>
          <a:prstGeom prst="rect">
            <a:avLst/>
          </a:prstGeom>
          <a:ln>
            <a:solidFill>
              <a:schemeClr val="tx1"/>
            </a:solidFill>
          </a:ln>
        </p:spPr>
      </p:pic>
      <p:sp>
        <p:nvSpPr>
          <p:cNvPr id="11" name="TextBox 10">
            <a:extLst>
              <a:ext uri="{FF2B5EF4-FFF2-40B4-BE49-F238E27FC236}">
                <a16:creationId xmlns:a16="http://schemas.microsoft.com/office/drawing/2014/main" id="{EB5E9284-28C1-1888-1D44-016CAE04967D}"/>
              </a:ext>
            </a:extLst>
          </p:cNvPr>
          <p:cNvSpPr txBox="1"/>
          <p:nvPr/>
        </p:nvSpPr>
        <p:spPr>
          <a:xfrm>
            <a:off x="2396825" y="1345841"/>
            <a:ext cx="952505" cy="276999"/>
          </a:xfrm>
          <a:prstGeom prst="rect">
            <a:avLst/>
          </a:prstGeom>
          <a:noFill/>
        </p:spPr>
        <p:txBody>
          <a:bodyPr wrap="none" rtlCol="0">
            <a:spAutoFit/>
          </a:bodyPr>
          <a:lstStyle/>
          <a:p>
            <a:r>
              <a:rPr lang="en-US" sz="1200" dirty="0"/>
              <a:t>CV Results</a:t>
            </a:r>
          </a:p>
        </p:txBody>
      </p:sp>
      <p:sp>
        <p:nvSpPr>
          <p:cNvPr id="2" name="Text Placeholder 4">
            <a:extLst>
              <a:ext uri="{FF2B5EF4-FFF2-40B4-BE49-F238E27FC236}">
                <a16:creationId xmlns:a16="http://schemas.microsoft.com/office/drawing/2014/main" id="{C9BBD479-4FE8-C3A6-7FA3-40EBF57F8424}"/>
              </a:ext>
            </a:extLst>
          </p:cNvPr>
          <p:cNvSpPr txBox="1">
            <a:spLocks/>
          </p:cNvSpPr>
          <p:nvPr/>
        </p:nvSpPr>
        <p:spPr>
          <a:xfrm>
            <a:off x="311161" y="783551"/>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0" hangingPunct="0"/>
            <a:r>
              <a:rPr lang="en-US" dirty="0">
                <a:solidFill>
                  <a:schemeClr val="tx2"/>
                </a:solidFill>
              </a:rPr>
              <a:t>Dataset-level </a:t>
            </a:r>
            <a:r>
              <a:rPr lang="en-US" dirty="0" err="1">
                <a:solidFill>
                  <a:schemeClr val="tx2"/>
                </a:solidFill>
              </a:rPr>
              <a:t>n_patients</a:t>
            </a:r>
            <a:r>
              <a:rPr lang="en-US" dirty="0">
                <a:solidFill>
                  <a:schemeClr val="tx2"/>
                </a:solidFill>
              </a:rPr>
              <a:t> and n_scans</a:t>
            </a:r>
          </a:p>
        </p:txBody>
      </p:sp>
    </p:spTree>
    <p:extLst>
      <p:ext uri="{BB962C8B-B14F-4D97-AF65-F5344CB8AC3E}">
        <p14:creationId xmlns:p14="http://schemas.microsoft.com/office/powerpoint/2010/main" val="3040143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298CEE-3F21-3543-1B0A-15D4BFD617FD}"/>
              </a:ext>
            </a:extLst>
          </p:cNvPr>
          <p:cNvSpPr>
            <a:spLocks noGrp="1"/>
          </p:cNvSpPr>
          <p:nvPr>
            <p:ph type="sldNum" sz="quarter" idx="11"/>
          </p:nvPr>
        </p:nvSpPr>
        <p:spPr/>
        <p:txBody>
          <a:bodyPr/>
          <a:lstStyle/>
          <a:p>
            <a:fld id="{CE58CB1E-F828-4F11-99E0-327109AF9DA4}" type="slidenum">
              <a:rPr lang="de-DE" smtClean="0"/>
              <a:pPr/>
              <a:t>4</a:t>
            </a:fld>
            <a:endParaRPr lang="de-DE" dirty="0"/>
          </a:p>
        </p:txBody>
      </p:sp>
      <p:sp>
        <p:nvSpPr>
          <p:cNvPr id="6" name="Title 5">
            <a:extLst>
              <a:ext uri="{FF2B5EF4-FFF2-40B4-BE49-F238E27FC236}">
                <a16:creationId xmlns:a16="http://schemas.microsoft.com/office/drawing/2014/main" id="{35F19753-14AC-2D00-07DE-1ACC0D6B0356}"/>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F8886EE7-3744-4461-9822-87D0C7AB22BC}"/>
              </a:ext>
            </a:extLst>
          </p:cNvPr>
          <p:cNvSpPr>
            <a:spLocks noGrp="1"/>
          </p:cNvSpPr>
          <p:nvPr>
            <p:ph type="body" sz="quarter" idx="13"/>
          </p:nvPr>
        </p:nvSpPr>
        <p:spPr>
          <a:xfrm>
            <a:off x="311161" y="783551"/>
            <a:ext cx="8508999" cy="505304"/>
          </a:xfrm>
        </p:spPr>
        <p:txBody>
          <a:bodyPr/>
          <a:lstStyle/>
          <a:p>
            <a:r>
              <a:rPr lang="en-US" dirty="0">
                <a:solidFill>
                  <a:schemeClr val="bg2"/>
                </a:solidFill>
              </a:rPr>
              <a:t>Dataset-level </a:t>
            </a:r>
            <a:r>
              <a:rPr lang="en-US" dirty="0" err="1">
                <a:solidFill>
                  <a:schemeClr val="bg2"/>
                </a:solidFill>
              </a:rPr>
              <a:t>n_patients</a:t>
            </a:r>
            <a:r>
              <a:rPr lang="en-US" dirty="0">
                <a:solidFill>
                  <a:schemeClr val="bg2"/>
                </a:solidFill>
              </a:rPr>
              <a:t> and </a:t>
            </a:r>
            <a:r>
              <a:rPr lang="en-US" dirty="0" err="1">
                <a:solidFill>
                  <a:schemeClr val="bg2"/>
                </a:solidFill>
              </a:rPr>
              <a:t>n_scans</a:t>
            </a:r>
            <a:endParaRPr lang="en-US" dirty="0">
              <a:solidFill>
                <a:schemeClr val="bg2"/>
              </a:solidFill>
            </a:endParaRPr>
          </a:p>
        </p:txBody>
      </p:sp>
      <p:pic>
        <p:nvPicPr>
          <p:cNvPr id="18" name="Picture 17">
            <a:extLst>
              <a:ext uri="{FF2B5EF4-FFF2-40B4-BE49-F238E27FC236}">
                <a16:creationId xmlns:a16="http://schemas.microsoft.com/office/drawing/2014/main" id="{9C7BD6F1-FCDE-6A7D-DBB1-4EE695D806FE}"/>
              </a:ext>
            </a:extLst>
          </p:cNvPr>
          <p:cNvPicPr>
            <a:picLocks noChangeAspect="1"/>
          </p:cNvPicPr>
          <p:nvPr/>
        </p:nvPicPr>
        <p:blipFill>
          <a:blip r:embed="rId3"/>
          <a:stretch>
            <a:fillRect/>
          </a:stretch>
        </p:blipFill>
        <p:spPr>
          <a:xfrm>
            <a:off x="2044773" y="1425262"/>
            <a:ext cx="5054453" cy="2815138"/>
          </a:xfrm>
          <a:prstGeom prst="rect">
            <a:avLst/>
          </a:prstGeom>
        </p:spPr>
      </p:pic>
      <p:sp>
        <p:nvSpPr>
          <p:cNvPr id="5" name="Text Placeholder 2">
            <a:extLst>
              <a:ext uri="{FF2B5EF4-FFF2-40B4-BE49-F238E27FC236}">
                <a16:creationId xmlns:a16="http://schemas.microsoft.com/office/drawing/2014/main" id="{CB004956-47CD-E080-62DA-9CB167B2F395}"/>
              </a:ext>
            </a:extLst>
          </p:cNvPr>
          <p:cNvSpPr txBox="1">
            <a:spLocks/>
          </p:cNvSpPr>
          <p:nvPr/>
        </p:nvSpPr>
        <p:spPr>
          <a:xfrm>
            <a:off x="2044773" y="4185193"/>
            <a:ext cx="4730161" cy="664847"/>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2:</a:t>
            </a:r>
            <a:br>
              <a:rPr lang="en-US" sz="1100" b="1" dirty="0">
                <a:solidFill>
                  <a:srgbClr val="FF0000"/>
                </a:solidFill>
              </a:rPr>
            </a:br>
            <a:r>
              <a:rPr lang="en-US" sz="1100" b="1" dirty="0">
                <a:solidFill>
                  <a:srgbClr val="FF0000"/>
                </a:solidFill>
              </a:rPr>
              <a:t>Find out why there is a big difference between ad patients in WHOLE DELCODE and in the pretrain pool</a:t>
            </a:r>
            <a:endParaRPr lang="en-US" sz="1100" i="1" dirty="0">
              <a:solidFill>
                <a:srgbClr val="FF0000"/>
              </a:solidFill>
            </a:endParaRPr>
          </a:p>
        </p:txBody>
      </p:sp>
    </p:spTree>
    <p:extLst>
      <p:ext uri="{BB962C8B-B14F-4D97-AF65-F5344CB8AC3E}">
        <p14:creationId xmlns:p14="http://schemas.microsoft.com/office/powerpoint/2010/main" val="87896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15621-D104-EF49-AE3F-EB3FE67EE2C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C7817D8-D8D6-DAA0-C138-BBD01EF591F7}"/>
              </a:ext>
            </a:extLst>
          </p:cNvPr>
          <p:cNvSpPr>
            <a:spLocks noGrp="1"/>
          </p:cNvSpPr>
          <p:nvPr>
            <p:ph type="sldNum" sz="quarter" idx="11"/>
          </p:nvPr>
        </p:nvSpPr>
        <p:spPr/>
        <p:txBody>
          <a:bodyPr/>
          <a:lstStyle/>
          <a:p>
            <a:fld id="{CE58CB1E-F828-4F11-99E0-327109AF9DA4}" type="slidenum">
              <a:rPr lang="de-DE" smtClean="0"/>
              <a:pPr/>
              <a:t>5</a:t>
            </a:fld>
            <a:endParaRPr lang="de-DE" dirty="0"/>
          </a:p>
        </p:txBody>
      </p:sp>
      <p:sp>
        <p:nvSpPr>
          <p:cNvPr id="6" name="Title 5">
            <a:extLst>
              <a:ext uri="{FF2B5EF4-FFF2-40B4-BE49-F238E27FC236}">
                <a16:creationId xmlns:a16="http://schemas.microsoft.com/office/drawing/2014/main" id="{62BAA97D-DF3A-D851-2AF3-66B9FA82289A}"/>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C90E8877-91B4-C249-FE6D-09DD3805F1F6}"/>
              </a:ext>
            </a:extLst>
          </p:cNvPr>
          <p:cNvSpPr>
            <a:spLocks noGrp="1"/>
          </p:cNvSpPr>
          <p:nvPr>
            <p:ph type="body" sz="quarter" idx="13"/>
          </p:nvPr>
        </p:nvSpPr>
        <p:spPr>
          <a:xfrm>
            <a:off x="311161" y="783551"/>
            <a:ext cx="8508999" cy="505304"/>
          </a:xfrm>
        </p:spPr>
        <p:txBody>
          <a:bodyPr/>
          <a:lstStyle/>
          <a:p>
            <a:r>
              <a:rPr lang="en-US" dirty="0">
                <a:solidFill>
                  <a:schemeClr val="bg2"/>
                </a:solidFill>
              </a:rPr>
              <a:t>Dataset-level </a:t>
            </a:r>
            <a:r>
              <a:rPr lang="en-US" dirty="0" err="1">
                <a:solidFill>
                  <a:schemeClr val="bg2"/>
                </a:solidFill>
              </a:rPr>
              <a:t>n_patients</a:t>
            </a:r>
            <a:r>
              <a:rPr lang="en-US" dirty="0">
                <a:solidFill>
                  <a:schemeClr val="bg2"/>
                </a:solidFill>
              </a:rPr>
              <a:t> and </a:t>
            </a:r>
            <a:r>
              <a:rPr lang="en-US" dirty="0" err="1">
                <a:solidFill>
                  <a:schemeClr val="bg2"/>
                </a:solidFill>
              </a:rPr>
              <a:t>n_scans</a:t>
            </a:r>
            <a:endParaRPr lang="en-US" dirty="0">
              <a:solidFill>
                <a:schemeClr val="bg2"/>
              </a:solidFill>
            </a:endParaRPr>
          </a:p>
        </p:txBody>
      </p:sp>
      <p:pic>
        <p:nvPicPr>
          <p:cNvPr id="8" name="Picture 7">
            <a:extLst>
              <a:ext uri="{FF2B5EF4-FFF2-40B4-BE49-F238E27FC236}">
                <a16:creationId xmlns:a16="http://schemas.microsoft.com/office/drawing/2014/main" id="{27F5A95D-84C2-9AEF-6116-1272FABF5295}"/>
              </a:ext>
            </a:extLst>
          </p:cNvPr>
          <p:cNvPicPr>
            <a:picLocks noChangeAspect="1"/>
          </p:cNvPicPr>
          <p:nvPr/>
        </p:nvPicPr>
        <p:blipFill>
          <a:blip r:embed="rId3"/>
          <a:stretch>
            <a:fillRect/>
          </a:stretch>
        </p:blipFill>
        <p:spPr>
          <a:xfrm>
            <a:off x="547258" y="2576570"/>
            <a:ext cx="7772400" cy="2067072"/>
          </a:xfrm>
          <a:prstGeom prst="rect">
            <a:avLst/>
          </a:prstGeom>
        </p:spPr>
      </p:pic>
    </p:spTree>
    <p:extLst>
      <p:ext uri="{BB962C8B-B14F-4D97-AF65-F5344CB8AC3E}">
        <p14:creationId xmlns:p14="http://schemas.microsoft.com/office/powerpoint/2010/main" val="1558264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F85B-ED1F-3B37-D84F-49DC4B2F31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705B46-DE09-BD4B-E127-43C5F3D301AD}"/>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6" name="Title 5">
            <a:extLst>
              <a:ext uri="{FF2B5EF4-FFF2-40B4-BE49-F238E27FC236}">
                <a16:creationId xmlns:a16="http://schemas.microsoft.com/office/drawing/2014/main" id="{2CD5EFA1-704F-962C-8D13-6F953842201B}"/>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7ECF8658-E25A-9A49-4601-12A88E17B86E}"/>
              </a:ext>
            </a:extLst>
          </p:cNvPr>
          <p:cNvSpPr>
            <a:spLocks noGrp="1"/>
          </p:cNvSpPr>
          <p:nvPr>
            <p:ph type="body" sz="quarter" idx="13"/>
          </p:nvPr>
        </p:nvSpPr>
        <p:spPr>
          <a:xfrm>
            <a:off x="311161" y="783551"/>
            <a:ext cx="8508999" cy="505304"/>
          </a:xfrm>
        </p:spPr>
        <p:txBody>
          <a:bodyPr/>
          <a:lstStyle/>
          <a:p>
            <a:r>
              <a:rPr lang="en-US" dirty="0">
                <a:solidFill>
                  <a:schemeClr val="bg2"/>
                </a:solidFill>
              </a:rPr>
              <a:t>Dataset-level </a:t>
            </a:r>
            <a:r>
              <a:rPr lang="en-US" dirty="0" err="1">
                <a:solidFill>
                  <a:schemeClr val="bg2"/>
                </a:solidFill>
              </a:rPr>
              <a:t>n_patients</a:t>
            </a:r>
            <a:r>
              <a:rPr lang="en-US" dirty="0">
                <a:solidFill>
                  <a:schemeClr val="bg2"/>
                </a:solidFill>
              </a:rPr>
              <a:t> and </a:t>
            </a:r>
            <a:r>
              <a:rPr lang="en-US" dirty="0" err="1">
                <a:solidFill>
                  <a:schemeClr val="bg2"/>
                </a:solidFill>
              </a:rPr>
              <a:t>n_scans</a:t>
            </a:r>
            <a:endParaRPr lang="en-US" dirty="0">
              <a:solidFill>
                <a:schemeClr val="bg2"/>
              </a:solidFill>
            </a:endParaRPr>
          </a:p>
        </p:txBody>
      </p:sp>
      <p:pic>
        <p:nvPicPr>
          <p:cNvPr id="8" name="Picture 7">
            <a:extLst>
              <a:ext uri="{FF2B5EF4-FFF2-40B4-BE49-F238E27FC236}">
                <a16:creationId xmlns:a16="http://schemas.microsoft.com/office/drawing/2014/main" id="{E153A07B-C030-3C47-5723-5B5ABD7B5015}"/>
              </a:ext>
            </a:extLst>
          </p:cNvPr>
          <p:cNvPicPr>
            <a:picLocks noChangeAspect="1"/>
          </p:cNvPicPr>
          <p:nvPr/>
        </p:nvPicPr>
        <p:blipFill>
          <a:blip r:embed="rId3"/>
          <a:stretch>
            <a:fillRect/>
          </a:stretch>
        </p:blipFill>
        <p:spPr>
          <a:xfrm>
            <a:off x="547258" y="2576570"/>
            <a:ext cx="7772400" cy="2067072"/>
          </a:xfrm>
          <a:prstGeom prst="rect">
            <a:avLst/>
          </a:prstGeom>
        </p:spPr>
      </p:pic>
      <p:pic>
        <p:nvPicPr>
          <p:cNvPr id="13" name="Picture 12">
            <a:extLst>
              <a:ext uri="{FF2B5EF4-FFF2-40B4-BE49-F238E27FC236}">
                <a16:creationId xmlns:a16="http://schemas.microsoft.com/office/drawing/2014/main" id="{550356A8-8DC3-7D82-27DC-565A6EF4802B}"/>
              </a:ext>
            </a:extLst>
          </p:cNvPr>
          <p:cNvPicPr>
            <a:picLocks noChangeAspect="1"/>
          </p:cNvPicPr>
          <p:nvPr/>
        </p:nvPicPr>
        <p:blipFill>
          <a:blip r:embed="rId4"/>
          <a:stretch>
            <a:fillRect/>
          </a:stretch>
        </p:blipFill>
        <p:spPr>
          <a:xfrm>
            <a:off x="4880472" y="708513"/>
            <a:ext cx="2974555" cy="1656714"/>
          </a:xfrm>
          <a:prstGeom prst="rect">
            <a:avLst/>
          </a:prstGeom>
        </p:spPr>
      </p:pic>
      <p:cxnSp>
        <p:nvCxnSpPr>
          <p:cNvPr id="16" name="Straight Arrow Connector 15">
            <a:extLst>
              <a:ext uri="{FF2B5EF4-FFF2-40B4-BE49-F238E27FC236}">
                <a16:creationId xmlns:a16="http://schemas.microsoft.com/office/drawing/2014/main" id="{B1569E8E-1824-F1E0-A2B0-DF9280B00E3B}"/>
              </a:ext>
            </a:extLst>
          </p:cNvPr>
          <p:cNvCxnSpPr>
            <a:stCxn id="8" idx="0"/>
            <a:endCxn id="13" idx="1"/>
          </p:cNvCxnSpPr>
          <p:nvPr/>
        </p:nvCxnSpPr>
        <p:spPr>
          <a:xfrm flipV="1">
            <a:off x="4433458" y="1536870"/>
            <a:ext cx="447014" cy="1039700"/>
          </a:xfrm>
          <a:prstGeom prst="straightConnector1">
            <a:avLst/>
          </a:prstGeom>
          <a:ln w="28575">
            <a:solidFill>
              <a:srgbClr val="FF0000"/>
            </a:solidFill>
            <a:tailEnd type="triangle"/>
          </a:ln>
        </p:spPr>
        <p:style>
          <a:lnRef idx="1">
            <a:schemeClr val="accent5"/>
          </a:lnRef>
          <a:fillRef idx="0">
            <a:schemeClr val="accent5"/>
          </a:fillRef>
          <a:effectRef idx="0">
            <a:schemeClr val="accent5"/>
          </a:effectRef>
          <a:fontRef idx="minor">
            <a:schemeClr val="tx1"/>
          </a:fontRef>
        </p:style>
      </p:cxnSp>
      <p:sp>
        <p:nvSpPr>
          <p:cNvPr id="19" name="TextBox 18">
            <a:extLst>
              <a:ext uri="{FF2B5EF4-FFF2-40B4-BE49-F238E27FC236}">
                <a16:creationId xmlns:a16="http://schemas.microsoft.com/office/drawing/2014/main" id="{E6E27B20-6EDC-C352-5AF4-C74DED02132A}"/>
              </a:ext>
            </a:extLst>
          </p:cNvPr>
          <p:cNvSpPr txBox="1"/>
          <p:nvPr/>
        </p:nvSpPr>
        <p:spPr>
          <a:xfrm>
            <a:off x="1475015" y="1713970"/>
            <a:ext cx="3261823" cy="524374"/>
          </a:xfrm>
          <a:prstGeom prst="rect">
            <a:avLst/>
          </a:prstGeom>
          <a:noFill/>
        </p:spPr>
        <p:txBody>
          <a:bodyPr wrap="square" lIns="0" tIns="0" rIns="0" bIns="0" rtlCol="0">
            <a:spAutoFit/>
          </a:bodyPr>
          <a:lstStyle/>
          <a:p>
            <a:pPr>
              <a:lnSpc>
                <a:spcPts val="1350"/>
              </a:lnSpc>
              <a:buNone/>
            </a:pPr>
            <a:r>
              <a:rPr lang="en-US" sz="1050" dirty="0">
                <a:solidFill>
                  <a:srgbClr val="FF0000"/>
                </a:solidFill>
                <a:latin typeface="+mn-lt"/>
                <a:cs typeface="+mn-cs"/>
              </a:rPr>
              <a:t>GAAE pretraining treats these as </a:t>
            </a:r>
            <a:r>
              <a:rPr lang="en-US" sz="1050" b="1" i="1" dirty="0">
                <a:solidFill>
                  <a:srgbClr val="FF0000"/>
                </a:solidFill>
                <a:latin typeface="+mn-lt"/>
                <a:cs typeface="+mn-cs"/>
              </a:rPr>
              <a:t>static / cross-sectional: </a:t>
            </a:r>
          </a:p>
          <a:p>
            <a:pPr>
              <a:lnSpc>
                <a:spcPts val="1350"/>
              </a:lnSpc>
              <a:buNone/>
            </a:pPr>
            <a:r>
              <a:rPr lang="en-US" sz="1050" b="1" i="1" dirty="0">
                <a:solidFill>
                  <a:srgbClr val="FF0000"/>
                </a:solidFill>
                <a:latin typeface="+mn-lt"/>
                <a:cs typeface="+mn-cs"/>
              </a:rPr>
              <a:t>n_scans = 1 </a:t>
            </a:r>
            <a:r>
              <a:rPr lang="en-US" sz="1050" dirty="0">
                <a:solidFill>
                  <a:srgbClr val="FF0000"/>
                </a:solidFill>
                <a:latin typeface="+mn-lt"/>
                <a:cs typeface="+mn-cs"/>
              </a:rPr>
              <a:t>for every single </a:t>
            </a:r>
            <a:r>
              <a:rPr lang="en-US" sz="1050" b="1" i="1" dirty="0">
                <a:solidFill>
                  <a:srgbClr val="FF0000"/>
                </a:solidFill>
                <a:latin typeface="+mn-lt"/>
                <a:cs typeface="+mn-cs"/>
              </a:rPr>
              <a:t>`ad`/`healthy` </a:t>
            </a:r>
            <a:r>
              <a:rPr lang="en-US" sz="1050" dirty="0">
                <a:solidFill>
                  <a:srgbClr val="FF0000"/>
                </a:solidFill>
                <a:latin typeface="+mn-lt"/>
                <a:cs typeface="+mn-cs"/>
              </a:rPr>
              <a:t>patient</a:t>
            </a:r>
          </a:p>
        </p:txBody>
      </p:sp>
    </p:spTree>
    <p:extLst>
      <p:ext uri="{BB962C8B-B14F-4D97-AF65-F5344CB8AC3E}">
        <p14:creationId xmlns:p14="http://schemas.microsoft.com/office/powerpoint/2010/main" val="2999363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E777E-BC98-2425-47CD-37DF3F49507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6F3BDC-AE01-D12B-DC6D-2257296FF821}"/>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6" name="Title 5">
            <a:extLst>
              <a:ext uri="{FF2B5EF4-FFF2-40B4-BE49-F238E27FC236}">
                <a16:creationId xmlns:a16="http://schemas.microsoft.com/office/drawing/2014/main" id="{701A02FB-17CB-700E-48CA-93BD525EAA3C}"/>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BCB0ECDD-B0DE-47E3-C253-B6C82D143F64}"/>
              </a:ext>
            </a:extLst>
          </p:cNvPr>
          <p:cNvSpPr>
            <a:spLocks noGrp="1"/>
          </p:cNvSpPr>
          <p:nvPr>
            <p:ph type="body" sz="quarter" idx="13"/>
          </p:nvPr>
        </p:nvSpPr>
        <p:spPr>
          <a:xfrm>
            <a:off x="311161" y="783551"/>
            <a:ext cx="8508999" cy="505304"/>
          </a:xfrm>
        </p:spPr>
        <p:txBody>
          <a:bodyPr/>
          <a:lstStyle/>
          <a:p>
            <a:r>
              <a:rPr lang="en-US" dirty="0">
                <a:solidFill>
                  <a:schemeClr val="bg2"/>
                </a:solidFill>
              </a:rPr>
              <a:t>Dataset-level </a:t>
            </a:r>
            <a:r>
              <a:rPr lang="en-US" dirty="0" err="1">
                <a:solidFill>
                  <a:schemeClr val="bg2"/>
                </a:solidFill>
              </a:rPr>
              <a:t>n_patients</a:t>
            </a:r>
            <a:r>
              <a:rPr lang="en-US" dirty="0">
                <a:solidFill>
                  <a:schemeClr val="bg2"/>
                </a:solidFill>
              </a:rPr>
              <a:t> and </a:t>
            </a:r>
            <a:r>
              <a:rPr lang="en-US" dirty="0" err="1">
                <a:solidFill>
                  <a:schemeClr val="bg2"/>
                </a:solidFill>
              </a:rPr>
              <a:t>n_scans</a:t>
            </a:r>
            <a:endParaRPr lang="en-US" dirty="0">
              <a:solidFill>
                <a:schemeClr val="bg2"/>
              </a:solidFill>
            </a:endParaRPr>
          </a:p>
        </p:txBody>
      </p:sp>
      <p:pic>
        <p:nvPicPr>
          <p:cNvPr id="8" name="Picture 7">
            <a:extLst>
              <a:ext uri="{FF2B5EF4-FFF2-40B4-BE49-F238E27FC236}">
                <a16:creationId xmlns:a16="http://schemas.microsoft.com/office/drawing/2014/main" id="{8CD30241-5CBB-6B6D-BFED-666F3AD905BB}"/>
              </a:ext>
            </a:extLst>
          </p:cNvPr>
          <p:cNvPicPr>
            <a:picLocks noChangeAspect="1"/>
          </p:cNvPicPr>
          <p:nvPr/>
        </p:nvPicPr>
        <p:blipFill>
          <a:blip r:embed="rId3"/>
          <a:stretch>
            <a:fillRect/>
          </a:stretch>
        </p:blipFill>
        <p:spPr>
          <a:xfrm>
            <a:off x="547258" y="2643566"/>
            <a:ext cx="7772400" cy="2067072"/>
          </a:xfrm>
          <a:prstGeom prst="rect">
            <a:avLst/>
          </a:prstGeom>
        </p:spPr>
      </p:pic>
      <p:pic>
        <p:nvPicPr>
          <p:cNvPr id="2" name="Picture 1">
            <a:extLst>
              <a:ext uri="{FF2B5EF4-FFF2-40B4-BE49-F238E27FC236}">
                <a16:creationId xmlns:a16="http://schemas.microsoft.com/office/drawing/2014/main" id="{77A4D682-BF9E-C8FD-135C-D194E767086A}"/>
              </a:ext>
            </a:extLst>
          </p:cNvPr>
          <p:cNvPicPr>
            <a:picLocks noChangeAspect="1"/>
          </p:cNvPicPr>
          <p:nvPr/>
        </p:nvPicPr>
        <p:blipFill>
          <a:blip r:embed="rId4"/>
          <a:stretch>
            <a:fillRect/>
          </a:stretch>
        </p:blipFill>
        <p:spPr>
          <a:xfrm>
            <a:off x="3468588" y="633318"/>
            <a:ext cx="3345344" cy="1863229"/>
          </a:xfrm>
          <a:prstGeom prst="rect">
            <a:avLst/>
          </a:prstGeom>
        </p:spPr>
      </p:pic>
      <p:cxnSp>
        <p:nvCxnSpPr>
          <p:cNvPr id="4" name="Straight Arrow Connector 3">
            <a:extLst>
              <a:ext uri="{FF2B5EF4-FFF2-40B4-BE49-F238E27FC236}">
                <a16:creationId xmlns:a16="http://schemas.microsoft.com/office/drawing/2014/main" id="{184B5812-168B-EEC4-8A03-723501986B8E}"/>
              </a:ext>
            </a:extLst>
          </p:cNvPr>
          <p:cNvCxnSpPr>
            <a:cxnSpLocks/>
          </p:cNvCxnSpPr>
          <p:nvPr/>
        </p:nvCxnSpPr>
        <p:spPr>
          <a:xfrm flipH="1" flipV="1">
            <a:off x="6494443" y="2216844"/>
            <a:ext cx="638979" cy="559407"/>
          </a:xfrm>
          <a:prstGeom prst="straightConnector1">
            <a:avLst/>
          </a:prstGeom>
          <a:ln w="28575">
            <a:solidFill>
              <a:srgbClr val="FF0000"/>
            </a:solidFill>
            <a:tailEnd type="triangle"/>
          </a:ln>
        </p:spPr>
        <p:style>
          <a:lnRef idx="1">
            <a:schemeClr val="accent5"/>
          </a:lnRef>
          <a:fillRef idx="0">
            <a:schemeClr val="accent5"/>
          </a:fillRef>
          <a:effectRef idx="0">
            <a:schemeClr val="accent5"/>
          </a:effectRef>
          <a:fontRef idx="minor">
            <a:schemeClr val="tx1"/>
          </a:fontRef>
        </p:style>
      </p:cxnSp>
      <p:sp>
        <p:nvSpPr>
          <p:cNvPr id="5" name="TextBox 4">
            <a:extLst>
              <a:ext uri="{FF2B5EF4-FFF2-40B4-BE49-F238E27FC236}">
                <a16:creationId xmlns:a16="http://schemas.microsoft.com/office/drawing/2014/main" id="{8B499866-6AB3-E1D7-5FFC-7521C3C4DEB7}"/>
              </a:ext>
            </a:extLst>
          </p:cNvPr>
          <p:cNvSpPr txBox="1"/>
          <p:nvPr/>
        </p:nvSpPr>
        <p:spPr>
          <a:xfrm>
            <a:off x="7017657" y="1148001"/>
            <a:ext cx="1962248" cy="1601592"/>
          </a:xfrm>
          <a:prstGeom prst="rect">
            <a:avLst/>
          </a:prstGeom>
          <a:noFill/>
        </p:spPr>
        <p:txBody>
          <a:bodyPr wrap="square" lIns="0" tIns="0" rIns="0" bIns="0" rtlCol="0">
            <a:spAutoFit/>
          </a:bodyPr>
          <a:lstStyle/>
          <a:p>
            <a:pPr>
              <a:lnSpc>
                <a:spcPts val="1350"/>
              </a:lnSpc>
              <a:buNone/>
            </a:pPr>
            <a:r>
              <a:rPr lang="en-US" sz="1050" b="1" i="1" dirty="0">
                <a:solidFill>
                  <a:srgbClr val="FF0000"/>
                </a:solidFill>
              </a:rPr>
              <a:t>Remark: </a:t>
            </a:r>
            <a:r>
              <a:rPr lang="en-US" sz="1050" dirty="0">
                <a:solidFill>
                  <a:srgbClr val="FF0000"/>
                </a:solidFill>
              </a:rPr>
              <a:t>converters average ~3.4 scans stable MCI ~2.8 scans</a:t>
            </a:r>
          </a:p>
          <a:p>
            <a:pPr>
              <a:lnSpc>
                <a:spcPts val="1350"/>
              </a:lnSpc>
              <a:buNone/>
            </a:pPr>
            <a:endParaRPr lang="en-US" sz="1050" dirty="0">
              <a:solidFill>
                <a:srgbClr val="FF0000"/>
              </a:solidFill>
              <a:latin typeface="+mn-lt"/>
              <a:cs typeface="+mn-cs"/>
            </a:endParaRPr>
          </a:p>
          <a:p>
            <a:pPr>
              <a:lnSpc>
                <a:spcPts val="1350"/>
              </a:lnSpc>
              <a:buNone/>
            </a:pPr>
            <a:r>
              <a:rPr lang="en-US" sz="1050" dirty="0">
                <a:solidFill>
                  <a:srgbClr val="FF0000"/>
                </a:solidFill>
                <a:latin typeface="+mn-lt"/>
                <a:cs typeface="+mn-cs"/>
              </a:rPr>
              <a:t>It’s true converters get AD scans subtracted </a:t>
            </a:r>
            <a:r>
              <a:rPr lang="en-US" sz="1050" b="1" i="1" dirty="0">
                <a:solidFill>
                  <a:srgbClr val="FF0000"/>
                </a:solidFill>
                <a:latin typeface="+mn-lt"/>
                <a:cs typeface="+mn-cs"/>
              </a:rPr>
              <a:t>but</a:t>
            </a:r>
            <a:r>
              <a:rPr lang="en-US" sz="1050" dirty="0">
                <a:solidFill>
                  <a:srgbClr val="FF0000"/>
                </a:solidFill>
                <a:latin typeface="+mn-lt"/>
                <a:cs typeface="+mn-cs"/>
              </a:rPr>
              <a:t> </a:t>
            </a:r>
            <a:r>
              <a:rPr lang="en-US" sz="1050" dirty="0">
                <a:solidFill>
                  <a:srgbClr val="FF0000"/>
                </a:solidFill>
              </a:rPr>
              <a:t>you need to stick around to be called a converter" and leaving early defaults you into the stable bucket</a:t>
            </a:r>
            <a:endParaRPr lang="en-US" sz="1050" dirty="0">
              <a:solidFill>
                <a:srgbClr val="FF0000"/>
              </a:solidFill>
              <a:latin typeface="+mn-lt"/>
              <a:cs typeface="+mn-cs"/>
            </a:endParaRPr>
          </a:p>
        </p:txBody>
      </p:sp>
    </p:spTree>
    <p:extLst>
      <p:ext uri="{BB962C8B-B14F-4D97-AF65-F5344CB8AC3E}">
        <p14:creationId xmlns:p14="http://schemas.microsoft.com/office/powerpoint/2010/main" val="332767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A49BB-4885-476D-EA95-8F3776F322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99EF0A-A7CC-3391-376A-65DC7C04026B}"/>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6" name="Title 5">
            <a:extLst>
              <a:ext uri="{FF2B5EF4-FFF2-40B4-BE49-F238E27FC236}">
                <a16:creationId xmlns:a16="http://schemas.microsoft.com/office/drawing/2014/main" id="{6F3B6EC2-7625-DA57-57F6-72D8C356ECB2}"/>
              </a:ext>
            </a:extLst>
          </p:cNvPr>
          <p:cNvSpPr>
            <a:spLocks noGrp="1"/>
          </p:cNvSpPr>
          <p:nvPr>
            <p:ph type="title"/>
          </p:nvPr>
        </p:nvSpPr>
        <p:spPr/>
        <p:txBody>
          <a:bodyPr/>
          <a:lstStyle/>
          <a:p>
            <a:r>
              <a:rPr lang="en-US" dirty="0"/>
              <a:t>Cohort Overview</a:t>
            </a:r>
          </a:p>
        </p:txBody>
      </p:sp>
      <p:sp>
        <p:nvSpPr>
          <p:cNvPr id="12" name="Text Placeholder 4">
            <a:extLst>
              <a:ext uri="{FF2B5EF4-FFF2-40B4-BE49-F238E27FC236}">
                <a16:creationId xmlns:a16="http://schemas.microsoft.com/office/drawing/2014/main" id="{3968F505-487D-7080-A5D1-AD36669E9A7E}"/>
              </a:ext>
            </a:extLst>
          </p:cNvPr>
          <p:cNvSpPr>
            <a:spLocks noGrp="1"/>
          </p:cNvSpPr>
          <p:nvPr>
            <p:ph type="body" sz="quarter" idx="13"/>
          </p:nvPr>
        </p:nvSpPr>
        <p:spPr>
          <a:xfrm>
            <a:off x="311161" y="783551"/>
            <a:ext cx="8508999" cy="505304"/>
          </a:xfrm>
        </p:spPr>
        <p:txBody>
          <a:bodyPr/>
          <a:lstStyle/>
          <a:p>
            <a:r>
              <a:rPr lang="en-US" dirty="0">
                <a:solidFill>
                  <a:schemeClr val="bg2"/>
                </a:solidFill>
              </a:rPr>
              <a:t>Split-level statistics</a:t>
            </a:r>
          </a:p>
        </p:txBody>
      </p:sp>
      <p:pic>
        <p:nvPicPr>
          <p:cNvPr id="2" name="Picture 1">
            <a:extLst>
              <a:ext uri="{FF2B5EF4-FFF2-40B4-BE49-F238E27FC236}">
                <a16:creationId xmlns:a16="http://schemas.microsoft.com/office/drawing/2014/main" id="{6C01ED24-CD24-ACFB-DECE-6F4383195D54}"/>
              </a:ext>
            </a:extLst>
          </p:cNvPr>
          <p:cNvPicPr>
            <a:picLocks noChangeAspect="1"/>
          </p:cNvPicPr>
          <p:nvPr/>
        </p:nvPicPr>
        <p:blipFill>
          <a:blip r:embed="rId3"/>
          <a:stretch>
            <a:fillRect/>
          </a:stretch>
        </p:blipFill>
        <p:spPr>
          <a:xfrm>
            <a:off x="1527468" y="1608994"/>
            <a:ext cx="6089064" cy="2401147"/>
          </a:xfrm>
          <a:prstGeom prst="rect">
            <a:avLst/>
          </a:prstGeom>
        </p:spPr>
      </p:pic>
    </p:spTree>
    <p:extLst>
      <p:ext uri="{BB962C8B-B14F-4D97-AF65-F5344CB8AC3E}">
        <p14:creationId xmlns:p14="http://schemas.microsoft.com/office/powerpoint/2010/main" val="4122647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6A6A72-5733-02DD-65EB-738E5137781C}"/>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6" name="Title 5">
            <a:extLst>
              <a:ext uri="{FF2B5EF4-FFF2-40B4-BE49-F238E27FC236}">
                <a16:creationId xmlns:a16="http://schemas.microsoft.com/office/drawing/2014/main" id="{92399EB0-CEA1-6D34-6D90-B2BD11B7CEA8}"/>
              </a:ext>
            </a:extLst>
          </p:cNvPr>
          <p:cNvSpPr>
            <a:spLocks noGrp="1"/>
          </p:cNvSpPr>
          <p:nvPr>
            <p:ph type="title"/>
          </p:nvPr>
        </p:nvSpPr>
        <p:spPr/>
        <p:txBody>
          <a:bodyPr/>
          <a:lstStyle/>
          <a:p>
            <a:r>
              <a:rPr lang="en-US" dirty="0"/>
              <a:t>Most Recent Results</a:t>
            </a:r>
          </a:p>
        </p:txBody>
      </p:sp>
      <p:sp>
        <p:nvSpPr>
          <p:cNvPr id="14" name="Text Placeholder 4">
            <a:extLst>
              <a:ext uri="{FF2B5EF4-FFF2-40B4-BE49-F238E27FC236}">
                <a16:creationId xmlns:a16="http://schemas.microsoft.com/office/drawing/2014/main" id="{056D70FD-067B-43C6-8D54-84D142E4AE08}"/>
              </a:ext>
            </a:extLst>
          </p:cNvPr>
          <p:cNvSpPr>
            <a:spLocks noGrp="1"/>
          </p:cNvSpPr>
          <p:nvPr>
            <p:ph type="body" sz="quarter" idx="13"/>
          </p:nvPr>
        </p:nvSpPr>
        <p:spPr>
          <a:xfrm>
            <a:off x="311161" y="783551"/>
            <a:ext cx="8508999" cy="505304"/>
          </a:xfrm>
        </p:spPr>
        <p:txBody>
          <a:bodyPr/>
          <a:lstStyle/>
          <a:p>
            <a:r>
              <a:rPr lang="en-US" dirty="0">
                <a:solidFill>
                  <a:schemeClr val="bg2"/>
                </a:solidFill>
              </a:rPr>
              <a:t>Moving to a VAE for the GAAE (Pretext model)</a:t>
            </a:r>
          </a:p>
        </p:txBody>
      </p:sp>
      <p:pic>
        <p:nvPicPr>
          <p:cNvPr id="20" name="Picture 19">
            <a:extLst>
              <a:ext uri="{FF2B5EF4-FFF2-40B4-BE49-F238E27FC236}">
                <a16:creationId xmlns:a16="http://schemas.microsoft.com/office/drawing/2014/main" id="{0650EB50-8185-0082-DFDF-DCC4A65DFEC4}"/>
              </a:ext>
            </a:extLst>
          </p:cNvPr>
          <p:cNvPicPr>
            <a:picLocks noChangeAspect="1"/>
          </p:cNvPicPr>
          <p:nvPr/>
        </p:nvPicPr>
        <p:blipFill>
          <a:blip r:embed="rId3"/>
          <a:stretch>
            <a:fillRect/>
          </a:stretch>
        </p:blipFill>
        <p:spPr>
          <a:xfrm>
            <a:off x="2023044" y="1098367"/>
            <a:ext cx="5085231" cy="1591799"/>
          </a:xfrm>
          <a:prstGeom prst="rect">
            <a:avLst/>
          </a:prstGeom>
        </p:spPr>
      </p:pic>
      <p:pic>
        <p:nvPicPr>
          <p:cNvPr id="21" name="Picture 20">
            <a:extLst>
              <a:ext uri="{FF2B5EF4-FFF2-40B4-BE49-F238E27FC236}">
                <a16:creationId xmlns:a16="http://schemas.microsoft.com/office/drawing/2014/main" id="{56E2F219-2489-D808-B358-58E059B5358E}"/>
              </a:ext>
            </a:extLst>
          </p:cNvPr>
          <p:cNvPicPr>
            <a:picLocks noChangeAspect="1"/>
          </p:cNvPicPr>
          <p:nvPr/>
        </p:nvPicPr>
        <p:blipFill>
          <a:blip r:embed="rId4"/>
          <a:stretch>
            <a:fillRect/>
          </a:stretch>
        </p:blipFill>
        <p:spPr>
          <a:xfrm>
            <a:off x="2023043" y="2698546"/>
            <a:ext cx="5085231" cy="1588069"/>
          </a:xfrm>
          <a:prstGeom prst="rect">
            <a:avLst/>
          </a:prstGeom>
        </p:spPr>
      </p:pic>
      <p:pic>
        <p:nvPicPr>
          <p:cNvPr id="23" name="Picture 22">
            <a:extLst>
              <a:ext uri="{FF2B5EF4-FFF2-40B4-BE49-F238E27FC236}">
                <a16:creationId xmlns:a16="http://schemas.microsoft.com/office/drawing/2014/main" id="{AC3B226E-A01C-79B4-2F14-9F8C90B74F84}"/>
              </a:ext>
            </a:extLst>
          </p:cNvPr>
          <p:cNvPicPr>
            <a:picLocks noChangeAspect="1"/>
          </p:cNvPicPr>
          <p:nvPr/>
        </p:nvPicPr>
        <p:blipFill>
          <a:blip r:embed="rId5"/>
          <a:stretch>
            <a:fillRect/>
          </a:stretch>
        </p:blipFill>
        <p:spPr>
          <a:xfrm>
            <a:off x="2023042" y="4328616"/>
            <a:ext cx="5085231" cy="663291"/>
          </a:xfrm>
          <a:prstGeom prst="rect">
            <a:avLst/>
          </a:prstGeom>
        </p:spPr>
      </p:pic>
      <p:sp>
        <p:nvSpPr>
          <p:cNvPr id="26" name="Text Placeholder 2">
            <a:extLst>
              <a:ext uri="{FF2B5EF4-FFF2-40B4-BE49-F238E27FC236}">
                <a16:creationId xmlns:a16="http://schemas.microsoft.com/office/drawing/2014/main" id="{CADF5B54-E2AB-AA68-D63C-DDF39606CB95}"/>
              </a:ext>
            </a:extLst>
          </p:cNvPr>
          <p:cNvSpPr txBox="1">
            <a:spLocks/>
          </p:cNvSpPr>
          <p:nvPr/>
        </p:nvSpPr>
        <p:spPr>
          <a:xfrm>
            <a:off x="311159" y="1806779"/>
            <a:ext cx="1711881" cy="168535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1:</a:t>
            </a:r>
            <a:br>
              <a:rPr lang="en-US" sz="1100" b="1" dirty="0">
                <a:solidFill>
                  <a:srgbClr val="FF0000"/>
                </a:solidFill>
              </a:rPr>
            </a:br>
            <a:r>
              <a:rPr lang="en-US" sz="1100" b="1" dirty="0">
                <a:solidFill>
                  <a:srgbClr val="FF0000"/>
                </a:solidFill>
              </a:rPr>
              <a:t>Check if the Pretext model even helps the classifier, so how the performance of the classifier looks like without it</a:t>
            </a:r>
            <a:endParaRPr lang="en-US" sz="1100" i="1" dirty="0">
              <a:solidFill>
                <a:srgbClr val="FF0000"/>
              </a:solidFill>
            </a:endParaRPr>
          </a:p>
        </p:txBody>
      </p:sp>
    </p:spTree>
    <p:extLst>
      <p:ext uri="{BB962C8B-B14F-4D97-AF65-F5344CB8AC3E}">
        <p14:creationId xmlns:p14="http://schemas.microsoft.com/office/powerpoint/2010/main" val="3710732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77EA-0AED-14C4-CB29-CFFD28E1CA08}"/>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6741322-4BB4-DDE2-497E-7C255E2C4279}"/>
              </a:ext>
            </a:extLst>
          </p:cNvPr>
          <p:cNvPicPr>
            <a:picLocks noGrp="1" noChangeAspect="1"/>
          </p:cNvPicPr>
          <p:nvPr>
            <p:ph idx="1"/>
          </p:nvPr>
        </p:nvPicPr>
        <p:blipFill>
          <a:blip r:embed="rId3"/>
          <a:stretch>
            <a:fillRect/>
          </a:stretch>
        </p:blipFill>
        <p:spPr>
          <a:xfrm>
            <a:off x="311162" y="1070273"/>
            <a:ext cx="5009228" cy="1922146"/>
          </a:xfrm>
          <a:prstGeom prst="rect">
            <a:avLst/>
          </a:prstGeom>
        </p:spPr>
      </p:pic>
      <p:sp>
        <p:nvSpPr>
          <p:cNvPr id="3" name="Slide Number Placeholder 2">
            <a:extLst>
              <a:ext uri="{FF2B5EF4-FFF2-40B4-BE49-F238E27FC236}">
                <a16:creationId xmlns:a16="http://schemas.microsoft.com/office/drawing/2014/main" id="{49537325-5D7E-B5AB-7488-760873F826E9}"/>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6" name="Title 5">
            <a:extLst>
              <a:ext uri="{FF2B5EF4-FFF2-40B4-BE49-F238E27FC236}">
                <a16:creationId xmlns:a16="http://schemas.microsoft.com/office/drawing/2014/main" id="{E8136239-8E58-CCFE-EA98-8DF98ACBCD4E}"/>
              </a:ext>
            </a:extLst>
          </p:cNvPr>
          <p:cNvSpPr>
            <a:spLocks noGrp="1"/>
          </p:cNvSpPr>
          <p:nvPr>
            <p:ph type="title"/>
          </p:nvPr>
        </p:nvSpPr>
        <p:spPr/>
        <p:txBody>
          <a:bodyPr/>
          <a:lstStyle/>
          <a:p>
            <a:r>
              <a:rPr lang="en-US" dirty="0"/>
              <a:t>Most Recent Results</a:t>
            </a:r>
          </a:p>
        </p:txBody>
      </p:sp>
      <p:pic>
        <p:nvPicPr>
          <p:cNvPr id="11" name="Picture 10">
            <a:extLst>
              <a:ext uri="{FF2B5EF4-FFF2-40B4-BE49-F238E27FC236}">
                <a16:creationId xmlns:a16="http://schemas.microsoft.com/office/drawing/2014/main" id="{AB757AE0-D225-429C-F1CA-09C203BAFE79}"/>
              </a:ext>
            </a:extLst>
          </p:cNvPr>
          <p:cNvPicPr>
            <a:picLocks noChangeAspect="1"/>
          </p:cNvPicPr>
          <p:nvPr/>
        </p:nvPicPr>
        <p:blipFill>
          <a:blip r:embed="rId4"/>
          <a:stretch>
            <a:fillRect/>
          </a:stretch>
        </p:blipFill>
        <p:spPr>
          <a:xfrm>
            <a:off x="5576698" y="1146902"/>
            <a:ext cx="2721757" cy="1768889"/>
          </a:xfrm>
          <a:prstGeom prst="rect">
            <a:avLst/>
          </a:prstGeom>
        </p:spPr>
      </p:pic>
      <p:pic>
        <p:nvPicPr>
          <p:cNvPr id="2" name="Picture 1">
            <a:extLst>
              <a:ext uri="{FF2B5EF4-FFF2-40B4-BE49-F238E27FC236}">
                <a16:creationId xmlns:a16="http://schemas.microsoft.com/office/drawing/2014/main" id="{54978FFC-90B5-A221-A294-2B81B07042FA}"/>
              </a:ext>
            </a:extLst>
          </p:cNvPr>
          <p:cNvPicPr>
            <a:picLocks noChangeAspect="1"/>
          </p:cNvPicPr>
          <p:nvPr/>
        </p:nvPicPr>
        <p:blipFill>
          <a:blip r:embed="rId5"/>
          <a:stretch>
            <a:fillRect/>
          </a:stretch>
        </p:blipFill>
        <p:spPr>
          <a:xfrm>
            <a:off x="257175" y="3045865"/>
            <a:ext cx="5009230" cy="1922146"/>
          </a:xfrm>
          <a:prstGeom prst="rect">
            <a:avLst/>
          </a:prstGeom>
        </p:spPr>
      </p:pic>
      <p:pic>
        <p:nvPicPr>
          <p:cNvPr id="8" name="Picture 7">
            <a:extLst>
              <a:ext uri="{FF2B5EF4-FFF2-40B4-BE49-F238E27FC236}">
                <a16:creationId xmlns:a16="http://schemas.microsoft.com/office/drawing/2014/main" id="{3ED00609-FB7F-EDD1-CEC1-8D6CD4410E15}"/>
              </a:ext>
            </a:extLst>
          </p:cNvPr>
          <p:cNvPicPr>
            <a:picLocks noChangeAspect="1"/>
          </p:cNvPicPr>
          <p:nvPr/>
        </p:nvPicPr>
        <p:blipFill>
          <a:blip r:embed="rId6"/>
          <a:stretch>
            <a:fillRect/>
          </a:stretch>
        </p:blipFill>
        <p:spPr>
          <a:xfrm>
            <a:off x="5576698" y="3143426"/>
            <a:ext cx="2721757" cy="1824585"/>
          </a:xfrm>
          <a:prstGeom prst="rect">
            <a:avLst/>
          </a:prstGeom>
        </p:spPr>
      </p:pic>
      <p:sp>
        <p:nvSpPr>
          <p:cNvPr id="9" name="Rectangle 8">
            <a:extLst>
              <a:ext uri="{FF2B5EF4-FFF2-40B4-BE49-F238E27FC236}">
                <a16:creationId xmlns:a16="http://schemas.microsoft.com/office/drawing/2014/main" id="{4C85C1F4-DCC1-BA2D-BE51-BAA54AE56F03}"/>
              </a:ext>
            </a:extLst>
          </p:cNvPr>
          <p:cNvSpPr/>
          <p:nvPr/>
        </p:nvSpPr>
        <p:spPr>
          <a:xfrm>
            <a:off x="2930487" y="1295458"/>
            <a:ext cx="1140246" cy="2248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 name="Rectangle 9">
            <a:extLst>
              <a:ext uri="{FF2B5EF4-FFF2-40B4-BE49-F238E27FC236}">
                <a16:creationId xmlns:a16="http://schemas.microsoft.com/office/drawing/2014/main" id="{E7F972F2-22E8-3169-6239-9906B19FA940}"/>
              </a:ext>
            </a:extLst>
          </p:cNvPr>
          <p:cNvSpPr/>
          <p:nvPr/>
        </p:nvSpPr>
        <p:spPr>
          <a:xfrm>
            <a:off x="2864385" y="3276018"/>
            <a:ext cx="1140246" cy="2248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Tree>
    <p:extLst>
      <p:ext uri="{BB962C8B-B14F-4D97-AF65-F5344CB8AC3E}">
        <p14:creationId xmlns:p14="http://schemas.microsoft.com/office/powerpoint/2010/main" val="3324821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98D149-059D-953D-C8EF-334952C61497}"/>
              </a:ext>
            </a:extLst>
          </p:cNvPr>
          <p:cNvSpPr>
            <a:spLocks noGrp="1"/>
          </p:cNvSpPr>
          <p:nvPr>
            <p:ph idx="1"/>
          </p:nvPr>
        </p:nvSpPr>
        <p:spPr/>
        <p:txBody>
          <a:bodyPr/>
          <a:lstStyle/>
          <a:p>
            <a:r>
              <a:rPr lang="en-US" sz="1100" dirty="0"/>
              <a:t>## </a:t>
            </a:r>
            <a:r>
              <a:rPr lang="en-US" sz="1100" b="1" dirty="0"/>
              <a:t>Early-Detection Curve: AUC vs. Number of Visits Used</a:t>
            </a:r>
            <a:endParaRPr lang="en-US" sz="1100" dirty="0"/>
          </a:p>
          <a:p>
            <a:r>
              <a:rPr lang="en-US" sz="1100" dirty="0"/>
              <a:t>Shared `early_detection_table`: for each N it restricts every test subject with `T &gt;= N` visits to their first N (via `truncate_to_n_visits`) and re-scores with `</a:t>
            </a:r>
            <a:r>
              <a:rPr lang="en-US" sz="1100" dirty="0" err="1"/>
              <a:t>eval_split</a:t>
            </a:r>
            <a:r>
              <a:rPr lang="en-US" sz="1100" dirty="0"/>
              <a:t>`.</a:t>
            </a:r>
          </a:p>
        </p:txBody>
      </p:sp>
      <p:sp>
        <p:nvSpPr>
          <p:cNvPr id="3" name="Slide Number Placeholder 2">
            <a:extLst>
              <a:ext uri="{FF2B5EF4-FFF2-40B4-BE49-F238E27FC236}">
                <a16:creationId xmlns:a16="http://schemas.microsoft.com/office/drawing/2014/main" id="{CB535F0F-6DB8-E623-16FE-8DBEAE29D70B}"/>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5" name="Text Placeholder 4">
            <a:extLst>
              <a:ext uri="{FF2B5EF4-FFF2-40B4-BE49-F238E27FC236}">
                <a16:creationId xmlns:a16="http://schemas.microsoft.com/office/drawing/2014/main" id="{13CAB836-7F6B-2FB2-03B3-967197A2C55E}"/>
              </a:ext>
            </a:extLst>
          </p:cNvPr>
          <p:cNvSpPr>
            <a:spLocks noGrp="1"/>
          </p:cNvSpPr>
          <p:nvPr>
            <p:ph type="body" sz="quarter" idx="13"/>
          </p:nvPr>
        </p:nvSpPr>
        <p:spPr>
          <a:xfrm>
            <a:off x="319090" y="842955"/>
            <a:ext cx="8508999" cy="505304"/>
          </a:xfrm>
        </p:spPr>
        <p:txBody>
          <a:bodyPr/>
          <a:lstStyle/>
          <a:p>
            <a:r>
              <a:rPr lang="en-US" dirty="0">
                <a:solidFill>
                  <a:schemeClr val="bg2"/>
                </a:solidFill>
              </a:rPr>
              <a:t>LSTM truncated visits and their AUCs </a:t>
            </a:r>
          </a:p>
        </p:txBody>
      </p:sp>
      <p:sp>
        <p:nvSpPr>
          <p:cNvPr id="6" name="Title 5">
            <a:extLst>
              <a:ext uri="{FF2B5EF4-FFF2-40B4-BE49-F238E27FC236}">
                <a16:creationId xmlns:a16="http://schemas.microsoft.com/office/drawing/2014/main" id="{956CDA4C-7DE4-0314-FFCA-40F2D1A66EC2}"/>
              </a:ext>
            </a:extLst>
          </p:cNvPr>
          <p:cNvSpPr>
            <a:spLocks noGrp="1"/>
          </p:cNvSpPr>
          <p:nvPr>
            <p:ph type="title"/>
          </p:nvPr>
        </p:nvSpPr>
        <p:spPr/>
        <p:txBody>
          <a:bodyPr/>
          <a:lstStyle/>
          <a:p>
            <a:r>
              <a:rPr lang="en-US" dirty="0"/>
              <a:t>Most Recent Results</a:t>
            </a:r>
          </a:p>
        </p:txBody>
      </p:sp>
      <p:pic>
        <p:nvPicPr>
          <p:cNvPr id="7" name="Picture 6">
            <a:extLst>
              <a:ext uri="{FF2B5EF4-FFF2-40B4-BE49-F238E27FC236}">
                <a16:creationId xmlns:a16="http://schemas.microsoft.com/office/drawing/2014/main" id="{552A4675-9312-70A2-B552-E426DFDB9BB2}"/>
              </a:ext>
            </a:extLst>
          </p:cNvPr>
          <p:cNvPicPr>
            <a:picLocks noChangeAspect="1"/>
          </p:cNvPicPr>
          <p:nvPr/>
        </p:nvPicPr>
        <p:blipFill>
          <a:blip r:embed="rId2"/>
          <a:stretch>
            <a:fillRect/>
          </a:stretch>
        </p:blipFill>
        <p:spPr>
          <a:xfrm>
            <a:off x="503354" y="2875790"/>
            <a:ext cx="2998468" cy="1287221"/>
          </a:xfrm>
          <a:prstGeom prst="rect">
            <a:avLst/>
          </a:prstGeom>
        </p:spPr>
      </p:pic>
      <p:pic>
        <p:nvPicPr>
          <p:cNvPr id="8" name="Picture 7">
            <a:extLst>
              <a:ext uri="{FF2B5EF4-FFF2-40B4-BE49-F238E27FC236}">
                <a16:creationId xmlns:a16="http://schemas.microsoft.com/office/drawing/2014/main" id="{71315835-3027-611F-ABF4-C0FB17EB4587}"/>
              </a:ext>
            </a:extLst>
          </p:cNvPr>
          <p:cNvPicPr>
            <a:picLocks noChangeAspect="1"/>
          </p:cNvPicPr>
          <p:nvPr/>
        </p:nvPicPr>
        <p:blipFill>
          <a:blip r:embed="rId3"/>
          <a:stretch>
            <a:fillRect/>
          </a:stretch>
        </p:blipFill>
        <p:spPr>
          <a:xfrm>
            <a:off x="3686086" y="2571750"/>
            <a:ext cx="5318339" cy="1895303"/>
          </a:xfrm>
          <a:prstGeom prst="rect">
            <a:avLst/>
          </a:prstGeom>
        </p:spPr>
      </p:pic>
      <p:sp>
        <p:nvSpPr>
          <p:cNvPr id="9" name="Text Placeholder 2">
            <a:extLst>
              <a:ext uri="{FF2B5EF4-FFF2-40B4-BE49-F238E27FC236}">
                <a16:creationId xmlns:a16="http://schemas.microsoft.com/office/drawing/2014/main" id="{4EE5BA6E-4A86-3069-9E73-ABBE7207DCA1}"/>
              </a:ext>
            </a:extLst>
          </p:cNvPr>
          <p:cNvSpPr txBox="1">
            <a:spLocks/>
          </p:cNvSpPr>
          <p:nvPr/>
        </p:nvSpPr>
        <p:spPr>
          <a:xfrm>
            <a:off x="311161" y="435994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lnSpc>
                <a:spcPct val="114000"/>
              </a:lnSpc>
              <a:spcBef>
                <a:spcPct val="0"/>
              </a:spcBef>
              <a:spcAft>
                <a:spcPct val="0"/>
              </a:spcAft>
              <a:defRPr lang="de-DE" sz="1400" kern="1200" noProof="0" dirty="0" smtClean="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b="1" i="1" u="sng" dirty="0">
                <a:solidFill>
                  <a:srgbClr val="FF0000"/>
                </a:solidFill>
              </a:rPr>
              <a:t>TODO 3: </a:t>
            </a:r>
            <a:br>
              <a:rPr lang="en-US" sz="1100" b="1" dirty="0">
                <a:solidFill>
                  <a:srgbClr val="FF0000"/>
                </a:solidFill>
              </a:rPr>
            </a:br>
            <a:r>
              <a:rPr lang="en-US" sz="1100" b="1" dirty="0">
                <a:solidFill>
                  <a:srgbClr val="FF0000"/>
                </a:solidFill>
              </a:rPr>
              <a:t>Find out why LTSM’s AUC jumps from 0.55 to 0.80 when presented with two visits instead of just 1</a:t>
            </a:r>
            <a:endParaRPr lang="en-US" sz="1100" i="1" dirty="0">
              <a:solidFill>
                <a:srgbClr val="FF0000"/>
              </a:solidFill>
            </a:endParaRPr>
          </a:p>
        </p:txBody>
      </p:sp>
    </p:spTree>
    <p:extLst>
      <p:ext uri="{BB962C8B-B14F-4D97-AF65-F5344CB8AC3E}">
        <p14:creationId xmlns:p14="http://schemas.microsoft.com/office/powerpoint/2010/main" val="3769475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0127B-258F-9610-B423-14D399C8687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89817-8862-772C-F145-A425AF3A6779}"/>
              </a:ext>
            </a:extLst>
          </p:cNvPr>
          <p:cNvSpPr>
            <a:spLocks noGrp="1"/>
          </p:cNvSpPr>
          <p:nvPr>
            <p:ph type="sldNum" sz="quarter" idx="11"/>
          </p:nvPr>
        </p:nvSpPr>
        <p:spPr/>
        <p:txBody>
          <a:bodyPr/>
          <a:lstStyle/>
          <a:p>
            <a:fld id="{CE58CB1E-F828-4F11-99E0-327109AF9DA4}" type="slidenum">
              <a:rPr lang="de-DE" smtClean="0"/>
              <a:pPr/>
              <a:t>12</a:t>
            </a:fld>
            <a:endParaRPr lang="de-DE" dirty="0"/>
          </a:p>
        </p:txBody>
      </p:sp>
      <p:sp>
        <p:nvSpPr>
          <p:cNvPr id="6" name="Title 5">
            <a:extLst>
              <a:ext uri="{FF2B5EF4-FFF2-40B4-BE49-F238E27FC236}">
                <a16:creationId xmlns:a16="http://schemas.microsoft.com/office/drawing/2014/main" id="{3F5754C3-D2F1-37E1-82D7-BBDF17646DE6}"/>
              </a:ext>
            </a:extLst>
          </p:cNvPr>
          <p:cNvSpPr>
            <a:spLocks noGrp="1"/>
          </p:cNvSpPr>
          <p:nvPr>
            <p:ph type="title"/>
          </p:nvPr>
        </p:nvSpPr>
        <p:spPr/>
        <p:txBody>
          <a:bodyPr/>
          <a:lstStyle/>
          <a:p>
            <a:r>
              <a:rPr lang="en-US" dirty="0"/>
              <a:t>Most Recent Results</a:t>
            </a:r>
          </a:p>
        </p:txBody>
      </p:sp>
      <p:pic>
        <p:nvPicPr>
          <p:cNvPr id="2" name="Picture 1">
            <a:extLst>
              <a:ext uri="{FF2B5EF4-FFF2-40B4-BE49-F238E27FC236}">
                <a16:creationId xmlns:a16="http://schemas.microsoft.com/office/drawing/2014/main" id="{04E1CB71-477B-2A31-A6E8-F6BA022B6BD4}"/>
              </a:ext>
            </a:extLst>
          </p:cNvPr>
          <p:cNvPicPr>
            <a:picLocks noChangeAspect="1"/>
          </p:cNvPicPr>
          <p:nvPr/>
        </p:nvPicPr>
        <p:blipFill>
          <a:blip r:embed="rId3"/>
          <a:stretch>
            <a:fillRect/>
          </a:stretch>
        </p:blipFill>
        <p:spPr>
          <a:xfrm>
            <a:off x="494893" y="1201655"/>
            <a:ext cx="3862280" cy="3302529"/>
          </a:xfrm>
          <a:prstGeom prst="rect">
            <a:avLst/>
          </a:prstGeom>
        </p:spPr>
      </p:pic>
      <p:pic>
        <p:nvPicPr>
          <p:cNvPr id="8" name="Picture 7">
            <a:extLst>
              <a:ext uri="{FF2B5EF4-FFF2-40B4-BE49-F238E27FC236}">
                <a16:creationId xmlns:a16="http://schemas.microsoft.com/office/drawing/2014/main" id="{A9C5309C-263B-1D33-30CF-3DE253DADC6A}"/>
              </a:ext>
            </a:extLst>
          </p:cNvPr>
          <p:cNvPicPr>
            <a:picLocks noChangeAspect="1"/>
          </p:cNvPicPr>
          <p:nvPr/>
        </p:nvPicPr>
        <p:blipFill>
          <a:blip r:embed="rId4"/>
          <a:stretch>
            <a:fillRect/>
          </a:stretch>
        </p:blipFill>
        <p:spPr>
          <a:xfrm>
            <a:off x="4708965" y="1201655"/>
            <a:ext cx="3862280" cy="3302530"/>
          </a:xfrm>
          <a:prstGeom prst="rect">
            <a:avLst/>
          </a:prstGeom>
        </p:spPr>
      </p:pic>
    </p:spTree>
    <p:extLst>
      <p:ext uri="{BB962C8B-B14F-4D97-AF65-F5344CB8AC3E}">
        <p14:creationId xmlns:p14="http://schemas.microsoft.com/office/powerpoint/2010/main" val="349669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7612-840B-B6A5-B0CE-8A20229A8EDF}"/>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3D4356B-9E82-0F86-B54C-E51C7247F2C6}"/>
              </a:ext>
            </a:extLst>
          </p:cNvPr>
          <p:cNvPicPr>
            <a:picLocks noGrp="1" noChangeAspect="1"/>
          </p:cNvPicPr>
          <p:nvPr>
            <p:ph idx="1"/>
          </p:nvPr>
        </p:nvPicPr>
        <p:blipFill>
          <a:blip r:embed="rId3"/>
          <a:stretch>
            <a:fillRect/>
          </a:stretch>
        </p:blipFill>
        <p:spPr>
          <a:xfrm>
            <a:off x="311162" y="1213753"/>
            <a:ext cx="5009228" cy="1922146"/>
          </a:xfrm>
          <a:prstGeom prst="rect">
            <a:avLst/>
          </a:prstGeom>
        </p:spPr>
      </p:pic>
      <p:sp>
        <p:nvSpPr>
          <p:cNvPr id="3" name="Slide Number Placeholder 2">
            <a:extLst>
              <a:ext uri="{FF2B5EF4-FFF2-40B4-BE49-F238E27FC236}">
                <a16:creationId xmlns:a16="http://schemas.microsoft.com/office/drawing/2014/main" id="{E1E4E84F-FC7A-EE2C-CF6B-1F5F3AED884A}"/>
              </a:ext>
            </a:extLst>
          </p:cNvPr>
          <p:cNvSpPr>
            <a:spLocks noGrp="1"/>
          </p:cNvSpPr>
          <p:nvPr>
            <p:ph type="sldNum" sz="quarter" idx="11"/>
          </p:nvPr>
        </p:nvSpPr>
        <p:spPr/>
        <p:txBody>
          <a:bodyPr/>
          <a:lstStyle/>
          <a:p>
            <a:fld id="{CE58CB1E-F828-4F11-99E0-327109AF9DA4}" type="slidenum">
              <a:rPr lang="de-DE" smtClean="0"/>
              <a:pPr/>
              <a:t>13</a:t>
            </a:fld>
            <a:endParaRPr lang="de-DE" dirty="0"/>
          </a:p>
        </p:txBody>
      </p:sp>
      <p:sp>
        <p:nvSpPr>
          <p:cNvPr id="6" name="Title 5">
            <a:extLst>
              <a:ext uri="{FF2B5EF4-FFF2-40B4-BE49-F238E27FC236}">
                <a16:creationId xmlns:a16="http://schemas.microsoft.com/office/drawing/2014/main" id="{EED93406-61F7-5992-E980-5C8FA66CE536}"/>
              </a:ext>
            </a:extLst>
          </p:cNvPr>
          <p:cNvSpPr>
            <a:spLocks noGrp="1"/>
          </p:cNvSpPr>
          <p:nvPr>
            <p:ph type="title"/>
          </p:nvPr>
        </p:nvSpPr>
        <p:spPr/>
        <p:txBody>
          <a:bodyPr/>
          <a:lstStyle/>
          <a:p>
            <a:r>
              <a:rPr lang="en-US" dirty="0"/>
              <a:t>Most Recent Results</a:t>
            </a:r>
          </a:p>
        </p:txBody>
      </p:sp>
      <p:pic>
        <p:nvPicPr>
          <p:cNvPr id="11" name="Picture 10">
            <a:extLst>
              <a:ext uri="{FF2B5EF4-FFF2-40B4-BE49-F238E27FC236}">
                <a16:creationId xmlns:a16="http://schemas.microsoft.com/office/drawing/2014/main" id="{53226848-723F-4EDB-74B4-2CAD956ACFED}"/>
              </a:ext>
            </a:extLst>
          </p:cNvPr>
          <p:cNvPicPr>
            <a:picLocks noChangeAspect="1"/>
          </p:cNvPicPr>
          <p:nvPr/>
        </p:nvPicPr>
        <p:blipFill>
          <a:blip r:embed="rId4"/>
          <a:stretch>
            <a:fillRect/>
          </a:stretch>
        </p:blipFill>
        <p:spPr>
          <a:xfrm>
            <a:off x="5610852" y="1376631"/>
            <a:ext cx="2561039" cy="1664436"/>
          </a:xfrm>
          <a:prstGeom prst="rect">
            <a:avLst/>
          </a:prstGeom>
        </p:spPr>
      </p:pic>
      <p:pic>
        <p:nvPicPr>
          <p:cNvPr id="2" name="Picture 1">
            <a:extLst>
              <a:ext uri="{FF2B5EF4-FFF2-40B4-BE49-F238E27FC236}">
                <a16:creationId xmlns:a16="http://schemas.microsoft.com/office/drawing/2014/main" id="{CAED8E9F-BCE0-2CC9-C447-2579D4565388}"/>
              </a:ext>
            </a:extLst>
          </p:cNvPr>
          <p:cNvPicPr>
            <a:picLocks noChangeAspect="1"/>
          </p:cNvPicPr>
          <p:nvPr/>
        </p:nvPicPr>
        <p:blipFill>
          <a:blip r:embed="rId5"/>
          <a:stretch>
            <a:fillRect/>
          </a:stretch>
        </p:blipFill>
        <p:spPr>
          <a:xfrm>
            <a:off x="218928" y="3135899"/>
            <a:ext cx="5193696" cy="1992930"/>
          </a:xfrm>
          <a:prstGeom prst="rect">
            <a:avLst/>
          </a:prstGeom>
        </p:spPr>
      </p:pic>
      <p:pic>
        <p:nvPicPr>
          <p:cNvPr id="8" name="Picture 7">
            <a:extLst>
              <a:ext uri="{FF2B5EF4-FFF2-40B4-BE49-F238E27FC236}">
                <a16:creationId xmlns:a16="http://schemas.microsoft.com/office/drawing/2014/main" id="{AC22EC96-C6FC-CEDF-0772-2B9949B1F8EF}"/>
              </a:ext>
            </a:extLst>
          </p:cNvPr>
          <p:cNvPicPr>
            <a:picLocks noChangeAspect="1"/>
          </p:cNvPicPr>
          <p:nvPr/>
        </p:nvPicPr>
        <p:blipFill>
          <a:blip r:embed="rId6"/>
          <a:stretch>
            <a:fillRect/>
          </a:stretch>
        </p:blipFill>
        <p:spPr>
          <a:xfrm>
            <a:off x="5668282" y="3366691"/>
            <a:ext cx="2701642" cy="1531345"/>
          </a:xfrm>
          <a:prstGeom prst="rect">
            <a:avLst/>
          </a:prstGeom>
        </p:spPr>
      </p:pic>
      <p:sp>
        <p:nvSpPr>
          <p:cNvPr id="9" name="Text Placeholder 4">
            <a:extLst>
              <a:ext uri="{FF2B5EF4-FFF2-40B4-BE49-F238E27FC236}">
                <a16:creationId xmlns:a16="http://schemas.microsoft.com/office/drawing/2014/main" id="{D0522C54-8E88-05F1-4752-C82BF3741C26}"/>
              </a:ext>
            </a:extLst>
          </p:cNvPr>
          <p:cNvSpPr>
            <a:spLocks noGrp="1"/>
          </p:cNvSpPr>
          <p:nvPr>
            <p:ph type="body" sz="quarter" idx="13"/>
          </p:nvPr>
        </p:nvSpPr>
        <p:spPr>
          <a:xfrm>
            <a:off x="311161" y="783551"/>
            <a:ext cx="8508999" cy="505304"/>
          </a:xfrm>
        </p:spPr>
        <p:txBody>
          <a:bodyPr/>
          <a:lstStyle/>
          <a:p>
            <a:r>
              <a:rPr lang="en-US" dirty="0">
                <a:solidFill>
                  <a:schemeClr val="bg2"/>
                </a:solidFill>
              </a:rPr>
              <a:t>LSTM vs GRU</a:t>
            </a:r>
          </a:p>
        </p:txBody>
      </p:sp>
      <p:sp>
        <p:nvSpPr>
          <p:cNvPr id="10" name="Rectangle 9">
            <a:extLst>
              <a:ext uri="{FF2B5EF4-FFF2-40B4-BE49-F238E27FC236}">
                <a16:creationId xmlns:a16="http://schemas.microsoft.com/office/drawing/2014/main" id="{D8655EF0-4C51-7DCE-9837-2695BC748006}"/>
              </a:ext>
            </a:extLst>
          </p:cNvPr>
          <p:cNvSpPr/>
          <p:nvPr/>
        </p:nvSpPr>
        <p:spPr>
          <a:xfrm>
            <a:off x="7019103" y="3169002"/>
            <a:ext cx="1941466" cy="62630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r>
              <a:rPr lang="en-US" sz="1050" dirty="0"/>
              <a:t>GRU perform in general better on shorter longitudinal than LSTMs data</a:t>
            </a:r>
          </a:p>
        </p:txBody>
      </p:sp>
      <p:sp>
        <p:nvSpPr>
          <p:cNvPr id="12" name="Rectangle 11">
            <a:extLst>
              <a:ext uri="{FF2B5EF4-FFF2-40B4-BE49-F238E27FC236}">
                <a16:creationId xmlns:a16="http://schemas.microsoft.com/office/drawing/2014/main" id="{C0748D5D-6D53-6816-9C30-CBAC3BB95545}"/>
              </a:ext>
            </a:extLst>
          </p:cNvPr>
          <p:cNvSpPr/>
          <p:nvPr/>
        </p:nvSpPr>
        <p:spPr>
          <a:xfrm>
            <a:off x="2974554" y="3366691"/>
            <a:ext cx="1140246" cy="2248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3" name="Rectangle 12">
            <a:extLst>
              <a:ext uri="{FF2B5EF4-FFF2-40B4-BE49-F238E27FC236}">
                <a16:creationId xmlns:a16="http://schemas.microsoft.com/office/drawing/2014/main" id="{F9025287-39B7-5505-D17F-A9BE65350A6F}"/>
              </a:ext>
            </a:extLst>
          </p:cNvPr>
          <p:cNvSpPr/>
          <p:nvPr/>
        </p:nvSpPr>
        <p:spPr>
          <a:xfrm>
            <a:off x="2974554" y="1445927"/>
            <a:ext cx="1140246" cy="2248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Tree>
    <p:extLst>
      <p:ext uri="{BB962C8B-B14F-4D97-AF65-F5344CB8AC3E}">
        <p14:creationId xmlns:p14="http://schemas.microsoft.com/office/powerpoint/2010/main" val="2933789501"/>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2948</TotalTime>
  <Words>1132</Words>
  <Application>Microsoft Macintosh PowerPoint</Application>
  <PresentationFormat>On-screen Show (16:9)</PresentationFormat>
  <Paragraphs>92</Paragraphs>
  <Slides>13</Slides>
  <Notes>11</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13</vt:i4>
      </vt:variant>
    </vt:vector>
  </HeadingPairs>
  <TitlesOfParts>
    <vt:vector size="24" baseType="lpstr">
      <vt:lpstr>Arial</vt:lpstr>
      <vt:lpstr>Calibri</vt:lpstr>
      <vt:lpstr>Courier New</vt:lpstr>
      <vt:lpstr>Symbol</vt:lpstr>
      <vt:lpstr>Wingdings</vt:lpstr>
      <vt:lpstr>Titel 1</vt:lpstr>
      <vt:lpstr>Title Blank</vt:lpstr>
      <vt:lpstr>Titel 2</vt:lpstr>
      <vt:lpstr>Inhalt</vt:lpstr>
      <vt:lpstr>Kapiteltrenner blau</vt:lpstr>
      <vt:lpstr>Kapiteltrenner schwarz</vt:lpstr>
      <vt:lpstr>Model Robustness Fraj Yassine Lakhal TUM School of Computation, Information and Technology </vt:lpstr>
      <vt:lpstr>Outline</vt:lpstr>
      <vt:lpstr>Last meeting’s Recap</vt:lpstr>
      <vt:lpstr>Cohort Overview</vt:lpstr>
      <vt:lpstr>Cohort Overview</vt:lpstr>
      <vt:lpstr>Cohort Overview</vt:lpstr>
      <vt:lpstr>Cohort Overview</vt:lpstr>
      <vt:lpstr>Cohort Overview</vt:lpstr>
      <vt:lpstr>Most Recent Results</vt:lpstr>
      <vt:lpstr>Most Recent Results</vt:lpstr>
      <vt:lpstr>Most Recent Results</vt:lpstr>
      <vt:lpstr>Most Recent Results</vt:lpstr>
      <vt:lpstr>Most Recent Results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Lakhal, Fraj Yassine</cp:lastModifiedBy>
  <cp:revision>13</cp:revision>
  <cp:lastPrinted>2015-07-30T14:04:45Z</cp:lastPrinted>
  <dcterms:created xsi:type="dcterms:W3CDTF">2020-10-03T23:03:33Z</dcterms:created>
  <dcterms:modified xsi:type="dcterms:W3CDTF">2026-07-04T15:01:42Z</dcterms:modified>
</cp:coreProperties>
</file>